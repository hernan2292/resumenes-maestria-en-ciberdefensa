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complementaria a la técnica: mismo proyecto, pero mostrado como recorrido de uso — sin nombres de algoritmos, pensada para que cualquiera entienda qué pasa con su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recorrer los pasos, conviene dejar claro quién es quién: el paciente manda sobre su propia información, y el médico solo entra cuando el paciente lo invita, por un tiempo limitado.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único momento donde se crean las claves del paciente. Sin tecnicismos: se genera un candado compartible y una llave privada, y la llave nunca se transmite a ningún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paso muestra la gestión de datos en la subida: el sellado ocurre en el dispositivo del médico, nunca en el servidor. El servidor recibe algo que ya no puede leer, y tampoco el médico que lo subió puede volver a abrirlo.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Acá se muestra, sin nombrar la técnica, la propiedad central de la búsqueda cifrada: el sistema puede encontrar coincidencias sin nunca ver ni la palabra buscada ni el contenido de los documentos.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paso de delegación: el paciente arma y firma un paquete de permiso con vencimiento, dirigido a un médico puntual. El sistema lo custodia pero no puede abrirlo.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paso cierra el círculo: el médico usa el permiso para buscar y leer, todo limitado a la ventana de tiempo que el paciente definió.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formas de terminar un permiso: automática por vencimiento, o manual por decisión del paciente. En ambos casos el efecto es inmediato.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síntesis de la gestión de información: cada navegador ve su propia información en claro; el servidor, en el medio, solo maneja información sellada — nunca contenido real ni palabras de búsqueda.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mecanismo de emergencia: cambiar la clave maestra no solo cambia la contraseña, invalida matemáticamente todo acceso previamente otorgado.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cuatro mensajes simples, sin jerga, que resumen el recorrido completo — dueño de sus datos, todo sellado antes de salir del navegador, acceso siempre temporal, y un botón de pánico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1.png"/><Relationship Id="rId6" Type="http://schemas.openxmlformats.org/officeDocument/2006/relationships/image" Target="../media/image-9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937760" cy="4937760"/>
          </a:xfrm>
          <a:prstGeom prst="ellipse">
            <a:avLst/>
          </a:prstGeom>
          <a:solidFill>
            <a:srgbClr val="1E2E5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1E2E5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5" name="Image 0" descr="/tmp/osa_pres/icons/hospit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8961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488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 — HISTORIA CLÍNICA DIGITAL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a paso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348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completo de la aplicación: qué hace el paciente, qué hace el médico, y qué pasa con la información en el medio.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486400"/>
            <a:ext cx="6035040" cy="502920"/>
          </a:xfrm>
          <a:prstGeom prst="roundRect">
            <a:avLst>
              <a:gd name="adj" fmla="val 18182"/>
            </a:avLst>
          </a:prstGeom>
          <a:solidFill>
            <a:srgbClr val="1E2E5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54864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visual — sin detalle técnico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 · Cómo funciona OSA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roles, dos vistas de la misma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777240" cy="777240"/>
          </a:xfrm>
          <a:prstGeom prst="ellipse">
            <a:avLst/>
          </a:prstGeom>
          <a:solidFill>
            <a:srgbClr val="15213E"/>
          </a:solidFill>
          <a:ln/>
        </p:spPr>
      </p:sp>
      <p:pic>
        <p:nvPicPr>
          <p:cNvPr id="6" name="Image 0" descr="/tmp/osa_pres/icons/us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441" y="1929841"/>
            <a:ext cx="575158" cy="5751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828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8036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dueño absoluto de su información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y busca su propio historial médico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qué médico puede acceder, y por cuánto tiempo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cortar ese acceso en cualquier momento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45352" y="146304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15213E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1828800"/>
            <a:ext cx="777240" cy="7772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1" name="Image 1" descr="/tmp/osa_pres/icons/userM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153" y="192984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16952" y="1828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611112" y="288036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estudios y notas para un paciente puntual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puede buscar y ver historiales si el paciente se lo permitió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permiso tiene fecha de vencimiento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puede acceder a otros pacientes sin autorización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OSA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EMPIEZA ACÁ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paciente crea su cuenta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05695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5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7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pPr algn="ctr" indent="0" marL="0">
              <a:buNone/>
            </a:pPr>
            <a:r>
              <a:rPr lang="en-US" sz="1250" spc="100" kern="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15213E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1920240"/>
            <a:ext cx="914400" cy="9144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8" name="Image 0" descr="/tmp/osa_pres/icons/idCar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2039112"/>
            <a:ext cx="676656" cy="676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46120" y="2377440"/>
            <a:ext cx="960120" cy="0"/>
          </a:xfrm>
          <a:prstGeom prst="line">
            <a:avLst/>
          </a:prstGeom>
          <a:noFill/>
          <a:ln w="19050">
            <a:solidFill>
              <a:srgbClr val="AEB6D6"/>
            </a:solidFill>
            <a:prstDash val="dash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343400" y="1920240"/>
            <a:ext cx="914400" cy="9144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1" name="Image 1" descr="/tmp/osa_pres/icons/ke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03911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contraseña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candado y una llave, solo suyos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14400" y="3749040"/>
            <a:ext cx="4663440" cy="2103120"/>
          </a:xfrm>
          <a:prstGeom prst="roundRect">
            <a:avLst>
              <a:gd name="adj" fmla="val 3478"/>
            </a:avLst>
          </a:prstGeom>
          <a:solidFill>
            <a:srgbClr val="1E2E56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188720" y="39776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momento del registro, el navegador arma automáticamente ese candado y esa llave. El candado se puede compartir — sirve para que le manden cosas. La llave nunca sale de ahí.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72200" y="155448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pasa, en criollo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492240" y="2450592"/>
            <a:ext cx="310896" cy="3108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49224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931152" y="23500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elige un usuario y una contraseña, como en cualquier app.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492240" y="3346704"/>
            <a:ext cx="310896" cy="3108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49224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6931152" y="3246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eso, su navegador genera —sin que tenga que hacer nada más— un candado y una llave únicos.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92240" y="4242816"/>
            <a:ext cx="310896" cy="3108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49224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931152" y="414223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candado queda guardado en el sistema: cualquier médico lo va a poder usar para mandarle cosas selladas.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492240" y="5138928"/>
            <a:ext cx="310896" cy="3108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492240" y="5138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6931152" y="503834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llave se queda únicamente en su navegador. Nadie más la tiene — ni siquiera el sistema.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492240" y="58064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5213E"/>
          </a:solidFill>
          <a:ln/>
        </p:spPr>
      </p:sp>
      <p:pic>
        <p:nvPicPr>
          <p:cNvPr id="31" name="Image 2" descr="/tmp/osa_pres/icons/lo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5888736"/>
            <a:ext cx="219456" cy="219456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858000" y="5806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8183880" y="5806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llave nunca sale del navegador del paciente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OSA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LA INFORMACIÓN — SUBIDA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médico sube un estudio para el paciente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05695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5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7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pPr algn="ctr" indent="0" marL="0">
              <a:buNone/>
            </a:pPr>
            <a:r>
              <a:rPr lang="en-US" sz="1250" spc="100" kern="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40180" y="1801368"/>
            <a:ext cx="731520" cy="731520"/>
          </a:xfrm>
          <a:prstGeom prst="ellipse">
            <a:avLst/>
          </a:prstGeom>
          <a:solidFill>
            <a:srgbClr val="15213E"/>
          </a:solidFill>
          <a:ln/>
        </p:spPr>
      </p:sp>
      <p:pic>
        <p:nvPicPr>
          <p:cNvPr id="8" name="Image 0" descr="/tmp/osa_pres/icons/userM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5278" y="1896466"/>
            <a:ext cx="541325" cy="5413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médico busca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paciente por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código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1600200"/>
            <a:ext cx="3444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85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07664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9204" y="1801368"/>
            <a:ext cx="731520" cy="731520"/>
          </a:xfrm>
          <a:prstGeom prst="ellipse">
            <a:avLst/>
          </a:prstGeom>
          <a:solidFill>
            <a:srgbClr val="15213E"/>
          </a:solidFill>
          <a:ln/>
        </p:spPr>
      </p:sp>
      <p:pic>
        <p:nvPicPr>
          <p:cNvPr id="13" name="Image 1" descr="/tmp/osa_pres/icons/fileUpload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302" y="1896466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99104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 el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o la nota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922264" y="1600200"/>
            <a:ext cx="3444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85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66688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5213E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58228" y="1801368"/>
            <a:ext cx="731520" cy="73152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8" name="Image 2" descr="/tmp/osa_pres/icons/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326" y="1896466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8128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sella con el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candado del paciente,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mismo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8781288" y="1600200"/>
            <a:ext cx="3444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85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9125712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17252" y="1801368"/>
            <a:ext cx="731520" cy="731520"/>
          </a:xfrm>
          <a:prstGeom prst="ellipse">
            <a:avLst/>
          </a:prstGeom>
          <a:solidFill>
            <a:srgbClr val="15213E"/>
          </a:solidFill>
          <a:ln/>
        </p:spPr>
      </p:sp>
      <p:pic>
        <p:nvPicPr>
          <p:cNvPr id="23" name="Image 3" descr="/tmp/osa_pres/icons/databas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350" y="1896466"/>
            <a:ext cx="541325" cy="5413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17152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sellado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333756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868680" y="3566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importante: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868680" y="3977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sellado pasa en la computadora del médico, antes de que el archivo viaje a ningún lado. Lo que llega al sistema es una “caja cerrada” que solo el candado del paciente puede abrir — ni siquiera el propio médico puede volver a abrirla después.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868680" y="54406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5213E"/>
          </a:solidFill>
          <a:ln/>
        </p:spPr>
      </p:sp>
      <p:pic>
        <p:nvPicPr>
          <p:cNvPr id="29" name="Image 4" descr="/tmp/osa_pres/icons/lo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522976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34440" y="5440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2468880" y="5440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 guardado en el sistema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949440" y="54406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4FBF6"/>
          </a:solidFill>
          <a:ln w="12700">
            <a:solidFill>
              <a:srgbClr val="17B8A6"/>
            </a:solidFill>
            <a:prstDash val="solid"/>
          </a:ln>
        </p:spPr>
      </p:sp>
      <p:pic>
        <p:nvPicPr>
          <p:cNvPr id="33" name="Image 5" descr="/tmp/osa_pres/icons/ey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5522976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315200" y="5440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8549640" y="5440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contenido, en la pantalla del médico, antes de subirlo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OSA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LA INFORMACIÓN — BÚSQUEDA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paciente busca en su propio historial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05695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5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7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pPr algn="ctr" indent="0" marL="0">
              <a:buNone/>
            </a:pPr>
            <a:r>
              <a:rPr lang="en-US" sz="1250" spc="100" kern="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88920" y="1965960"/>
            <a:ext cx="1005840" cy="1005840"/>
          </a:xfrm>
          <a:prstGeom prst="ellipse">
            <a:avLst/>
          </a:prstGeom>
          <a:solidFill>
            <a:srgbClr val="15213E"/>
          </a:solidFill>
          <a:ln/>
        </p:spPr>
      </p:sp>
      <p:pic>
        <p:nvPicPr>
          <p:cNvPr id="8" name="Image 0" descr="/tmp/osa_pres/icons/search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9679" y="2096719"/>
            <a:ext cx="744322" cy="7443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88720" y="324612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88720" y="3246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“glucosa”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291840" y="3794760"/>
            <a:ext cx="0" cy="365760"/>
          </a:xfrm>
          <a:prstGeom prst="line">
            <a:avLst/>
          </a:prstGeom>
          <a:noFill/>
          <a:ln w="19050">
            <a:solidFill>
              <a:srgbClr val="AEB6D6"/>
            </a:solidFill>
            <a:prstDash val="dash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554480" y="4297680"/>
            <a:ext cx="685800" cy="685800"/>
          </a:xfrm>
          <a:prstGeom prst="ellipse">
            <a:avLst/>
          </a:prstGeom>
          <a:solidFill>
            <a:srgbClr val="1E2E56"/>
          </a:solidFill>
          <a:ln/>
        </p:spPr>
      </p:sp>
      <p:pic>
        <p:nvPicPr>
          <p:cNvPr id="13" name="Image 1" descr="/tmp/osa_pres/icons/databas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634" y="4386834"/>
            <a:ext cx="507492" cy="5074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017520" y="4297680"/>
            <a:ext cx="685800" cy="685800"/>
          </a:xfrm>
          <a:prstGeom prst="ellipse">
            <a:avLst/>
          </a:prstGeom>
          <a:solidFill>
            <a:srgbClr val="1E2E56"/>
          </a:solidFill>
          <a:ln/>
        </p:spPr>
      </p:sp>
      <p:pic>
        <p:nvPicPr>
          <p:cNvPr id="15" name="Image 2" descr="/tmp/osa_pres/icons/database_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674" y="4386834"/>
            <a:ext cx="507492" cy="5074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480560" y="4297680"/>
            <a:ext cx="685800" cy="685800"/>
          </a:xfrm>
          <a:prstGeom prst="ellipse">
            <a:avLst/>
          </a:prstGeom>
          <a:solidFill>
            <a:srgbClr val="1E2E56"/>
          </a:solidFill>
          <a:ln/>
        </p:spPr>
      </p:sp>
      <p:pic>
        <p:nvPicPr>
          <p:cNvPr id="17" name="Image 3" descr="/tmp/osa_pres/icons/database_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714" y="4386834"/>
            <a:ext cx="507492" cy="5074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5120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los documentos que la mencionan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172200" y="155448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pasa, en criollo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492240" y="2450592"/>
            <a:ext cx="310896" cy="3108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49224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6931152" y="2331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escribe una palabra en el buscador, como en cualquier historial médico digital.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92240" y="3502152"/>
            <a:ext cx="310896" cy="3108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492240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6931152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encuentra los documentos correctos sin tener que abrirlos ni leerlos.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492240" y="4553712"/>
            <a:ext cx="310896" cy="3108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49224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6931152" y="4434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documentos encontrados se abren y se leen recién en la pantalla del paciente.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492240" y="5532120"/>
            <a:ext cx="4846320" cy="502920"/>
          </a:xfrm>
          <a:prstGeom prst="roundRect">
            <a:avLst>
              <a:gd name="adj" fmla="val 14545"/>
            </a:avLst>
          </a:prstGeom>
          <a:solidFill>
            <a:srgbClr val="E4FBF6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6675120" y="55321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nunca llega a saber qué palabra se buscó.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OSA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LA INFORMACIÓN — PERMISOS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paciente le da acceso temporal a un médico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05695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5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7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pPr algn="ctr" indent="0" marL="0">
              <a:buNone/>
            </a:pPr>
            <a:r>
              <a:rPr lang="en-US" sz="1250" spc="100" kern="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15213E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868680" cy="86868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8" name="Image 0" descr="/tmp/osa_pres/icons/us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208" y="2033168"/>
            <a:ext cx="642823" cy="64282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09160" y="1920240"/>
            <a:ext cx="868680" cy="86868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0" name="Image 1" descr="/tmp/osa_pres/icons/userM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088" y="2033168"/>
            <a:ext cx="642823" cy="64282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88920" y="3063240"/>
            <a:ext cx="1051560" cy="1051560"/>
          </a:xfrm>
          <a:prstGeom prst="ellipse">
            <a:avLst/>
          </a:prstGeom>
          <a:solidFill>
            <a:srgbClr val="1E2E56"/>
          </a:solidFill>
          <a:ln/>
        </p:spPr>
      </p:sp>
      <p:pic>
        <p:nvPicPr>
          <p:cNvPr id="12" name="Image 2" descr="/tmp/osa_pres/icons/handshak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623" y="3199943"/>
            <a:ext cx="778154" cy="7781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2960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4434840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914400" y="4434840"/>
            <a:ext cx="4663440" cy="1463040"/>
          </a:xfrm>
          <a:prstGeom prst="roundRect">
            <a:avLst>
              <a:gd name="adj" fmla="val 5000"/>
            </a:avLst>
          </a:prstGeom>
          <a:solidFill>
            <a:srgbClr val="1E2E56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43000" y="4645152"/>
            <a:ext cx="566928" cy="566928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7" name="Image 3" descr="/tmp/osa_pres/icons/clo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701" y="4718853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874520" y="461772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vencimiento: por ejemplo, 45 minutos, lo que dura la consulta.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172200" y="155448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pasa, en criollo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492240" y="2450592"/>
            <a:ext cx="310896" cy="3108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49224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6931152" y="2331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elige a un médico puntual y por cuánto tiempo le da acceso — por ejemplo, mientras dura una consulta.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92240" y="3502152"/>
            <a:ext cx="310896" cy="3108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492240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6931152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permiso se entrega en un paquete sellado especialmente para ese médico: nadie más lo puede usar.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492240" y="4553712"/>
            <a:ext cx="310896" cy="3108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49224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6931152" y="4434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lo firma, como una firma digital, para que quede constancia de que fue él quien lo autorizó.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492240" y="56235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5213E"/>
          </a:solidFill>
          <a:ln/>
        </p:spPr>
      </p:sp>
      <p:pic>
        <p:nvPicPr>
          <p:cNvPr id="31" name="Image 4" descr="/tmp/osa_pres/icons/lo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705856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858000" y="5623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183880" y="56235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guarda el paquete, pero no lo puede abrir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OSA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LA INFORMACIÓN — USO DEL PERMISO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médico busca, mientras dura el permiso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05695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5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7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</a:t>
            </a:r>
            <a:pPr algn="ctr" indent="0" marL="0">
              <a:buNone/>
            </a:pPr>
            <a:r>
              <a:rPr lang="en-US" sz="1250" spc="100" kern="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40180" y="1801368"/>
            <a:ext cx="731520" cy="731520"/>
          </a:xfrm>
          <a:prstGeom prst="ellipse">
            <a:avLst/>
          </a:prstGeom>
          <a:solidFill>
            <a:srgbClr val="15213E"/>
          </a:solidFill>
          <a:ln/>
        </p:spPr>
      </p:sp>
      <p:pic>
        <p:nvPicPr>
          <p:cNvPr id="8" name="Image 0" descr="/tmp/osa_pres/icons/unlo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5278" y="1896466"/>
            <a:ext cx="541325" cy="5413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paquete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 propia llave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1600200"/>
            <a:ext cx="3444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85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07664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9204" y="1801368"/>
            <a:ext cx="731520" cy="731520"/>
          </a:xfrm>
          <a:prstGeom prst="ellipse">
            <a:avLst/>
          </a:prstGeom>
          <a:solidFill>
            <a:srgbClr val="15213E"/>
          </a:solidFill>
          <a:ln/>
        </p:spPr>
      </p:sp>
      <p:pic>
        <p:nvPicPr>
          <p:cNvPr id="13" name="Image 1" descr="/tmp/osa_pres/icons/search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302" y="1896466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99104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términos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la consulta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922264" y="1600200"/>
            <a:ext cx="3444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85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66688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58228" y="1801368"/>
            <a:ext cx="731520" cy="731520"/>
          </a:xfrm>
          <a:prstGeom prst="ellipse">
            <a:avLst/>
          </a:prstGeom>
          <a:solidFill>
            <a:srgbClr val="15213E"/>
          </a:solidFill>
          <a:ln/>
        </p:spPr>
      </p:sp>
      <p:pic>
        <p:nvPicPr>
          <p:cNvPr id="18" name="Image 2" descr="/tmp/osa_pres/icons/ey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326" y="1896466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8128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los documentos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coinciden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8781288" y="1600200"/>
            <a:ext cx="3444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85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9125712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5213E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17252" y="1801368"/>
            <a:ext cx="731520" cy="73152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23" name="Image 3" descr="/tmp/osa_pres/icons/clo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350" y="1896466"/>
            <a:ext cx="541325" cy="5413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17152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Todo, dentro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tiempo permitido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333756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868680" y="3566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importante: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868680" y="3977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médico abre el paquete que el paciente le armó, y a partir de ahí busca y lee documentos como si tuviera el historial delante — pero solo mientras el permiso siga vigente, y solo de ese paciente.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868680" y="54406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4FBF6"/>
          </a:solidFill>
          <a:ln w="12700">
            <a:solidFill>
              <a:srgbClr val="17B8A6"/>
            </a:solidFill>
            <a:prstDash val="solid"/>
          </a:ln>
        </p:spPr>
      </p:sp>
      <p:pic>
        <p:nvPicPr>
          <p:cNvPr id="29" name="Image 4" descr="/tmp/osa_pres/icons/ey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522976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34440" y="5440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2468880" y="5440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documentos, solo en la pantalla del médico y solo durante la consulta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OSA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LA INFORMACIÓN — CIERRE DEL PERMISO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permiso termina: solo o a pedido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05695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5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7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</a:t>
            </a:r>
            <a:pPr algn="ctr" indent="0" marL="0">
              <a:buNone/>
            </a:pPr>
            <a:r>
              <a:rPr lang="en-US" sz="1250" spc="100" kern="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97480" y="1920240"/>
            <a:ext cx="914400" cy="914400"/>
          </a:xfrm>
          <a:prstGeom prst="ellipse">
            <a:avLst/>
          </a:prstGeom>
          <a:solidFill>
            <a:srgbClr val="15213E"/>
          </a:solidFill>
          <a:ln/>
        </p:spPr>
      </p:sp>
      <p:pic>
        <p:nvPicPr>
          <p:cNvPr id="8" name="Image 0" descr="/tmp/osa_pres/icons/clo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52" y="2039112"/>
            <a:ext cx="676656" cy="6766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vence solo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61188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cumple el tiempo que el paciente definió, el permiso deja de funcionar automáticamente. El médico no puede volver a buscar ni ver nada nuevo de ese paciente.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45352" y="155448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15213E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394192" y="1920240"/>
            <a:ext cx="914400" cy="9144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3" name="Image 1" descr="/tmp/osa_pres/icons/ba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064" y="2039112"/>
            <a:ext cx="676656" cy="6766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19672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el paciente lo corta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702552" y="361188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puede cancelar un permiso activo en cualquier momento, con un solo clic — antes de que se cumpla el tiempo, sin tener que dar ninguna explicación.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OSA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PANORAMA COMPLETO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ve qué, en cada parte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4709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783080"/>
            <a:ext cx="822960" cy="822960"/>
          </a:xfrm>
          <a:prstGeom prst="ellipse">
            <a:avLst/>
          </a:prstGeom>
          <a:solidFill>
            <a:srgbClr val="15213E"/>
          </a:solidFill>
          <a:ln/>
        </p:spPr>
      </p:sp>
      <p:pic>
        <p:nvPicPr>
          <p:cNvPr id="6" name="Image 0" descr="/tmp/osa_pres/icons/laptop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365" y="18900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697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Navegador</a:t>
            </a:r>
            <a:endParaRPr lang="en-US" sz="1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paciente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600200" y="34747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4FBF6"/>
          </a:solidFill>
          <a:ln w="12700">
            <a:solidFill>
              <a:srgbClr val="17B8A6"/>
            </a:solidFill>
            <a:prstDash val="solid"/>
          </a:ln>
        </p:spPr>
      </p:sp>
      <p:pic>
        <p:nvPicPr>
          <p:cNvPr id="9" name="Image 1" descr="/tmp/osa_pres/icons/ey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355701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65960" y="3474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34256" y="1508760"/>
            <a:ext cx="3520440" cy="4709160"/>
          </a:xfrm>
          <a:prstGeom prst="roundRect">
            <a:avLst>
              <a:gd name="adj" fmla="val 2078"/>
            </a:avLst>
          </a:prstGeom>
          <a:solidFill>
            <a:srgbClr val="15213E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82996" y="1783080"/>
            <a:ext cx="822960" cy="82296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3" name="Image 2" descr="/tmp/osa_pres/icons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981" y="1890065"/>
            <a:ext cx="608990" cy="6089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17136" y="2697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</a:t>
            </a:r>
            <a:endParaRPr lang="en-US" sz="1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(servidor)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385816" y="34747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5213E"/>
          </a:solidFill>
          <a:ln/>
        </p:spPr>
      </p:sp>
      <p:pic>
        <p:nvPicPr>
          <p:cNvPr id="16" name="Image 3" descr="/tmp/osa_pres/icons/lo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256" y="355701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751576" y="3474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119872" y="1508760"/>
            <a:ext cx="3520440" cy="4709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468612" y="1783080"/>
            <a:ext cx="822960" cy="822960"/>
          </a:xfrm>
          <a:prstGeom prst="ellipse">
            <a:avLst/>
          </a:prstGeom>
          <a:solidFill>
            <a:srgbClr val="15213E"/>
          </a:solidFill>
          <a:ln/>
        </p:spPr>
      </p:sp>
      <p:pic>
        <p:nvPicPr>
          <p:cNvPr id="20" name="Image 4" descr="/tmp/osa_pres/icons/laptop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597" y="1890065"/>
            <a:ext cx="608990" cy="60899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302752" y="2697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Navegador</a:t>
            </a:r>
            <a:endParaRPr lang="en-US" sz="1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médico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9171432" y="34747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4FBF6"/>
          </a:solidFill>
          <a:ln w="12700">
            <a:solidFill>
              <a:srgbClr val="17B8A6"/>
            </a:solidFill>
            <a:prstDash val="solid"/>
          </a:ln>
        </p:spPr>
      </p:sp>
      <p:pic>
        <p:nvPicPr>
          <p:cNvPr id="23" name="Image 5" descr="/tmp/osa_pres/icons/ey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2872" y="3557016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537192" y="3474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822960" y="4261104"/>
            <a:ext cx="91440" cy="91440"/>
          </a:xfrm>
          <a:prstGeom prst="ellipse">
            <a:avLst/>
          </a:prstGeom>
          <a:solidFill>
            <a:srgbClr val="6C6FD9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1051560" y="40965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propia información,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en claro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822960" y="4919472"/>
            <a:ext cx="91440" cy="91440"/>
          </a:xfrm>
          <a:prstGeom prst="ellipse">
            <a:avLst/>
          </a:prstGeom>
          <a:solidFill>
            <a:srgbClr val="6C6FD9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1051560" y="4754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permisos activos,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 quién se los dio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608576" y="4261104"/>
            <a:ext cx="91440" cy="9144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4837176" y="40965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Documentos, ya sellados —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los puede abrir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608576" y="4919472"/>
            <a:ext cx="91440" cy="9144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4837176" y="4754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 de búsqueda,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saber qué palabras hay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608576" y="5577840"/>
            <a:ext cx="91440" cy="9144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837176" y="54132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permisos, sin poder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abrirlos tampoco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394192" y="4261104"/>
            <a:ext cx="91440" cy="91440"/>
          </a:xfrm>
          <a:prstGeom prst="ellipse">
            <a:avLst/>
          </a:prstGeom>
          <a:solidFill>
            <a:srgbClr val="6C6FD9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8622792" y="40965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 que el paciente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permitió, y mientras dure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8394192" y="4919472"/>
            <a:ext cx="91440" cy="91440"/>
          </a:xfrm>
          <a:prstGeom prst="ellipse">
            <a:avLst/>
          </a:prstGeom>
          <a:solidFill>
            <a:srgbClr val="6C6FD9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8622792" y="4754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otros pacientes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OSA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EXTRA DE SEGURIDAD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Cambiar la contraseña invalida todo lo anterior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15213E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2103120"/>
            <a:ext cx="1051560" cy="105156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6" name="Image 0" descr="/tmp/osa_pres/icons/sync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5623" y="2239823"/>
            <a:ext cx="778154" cy="7781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383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paciente cambia su contraseña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39776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ejemplo, si sospecha que alguien más la conoce. El sistema arma un candado y una llave nuevos, y renueva el sellado de toda su información.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efecto inmediato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92240" y="2450592"/>
            <a:ext cx="310896" cy="3108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931152" y="2331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permisos que el paciente le había dado a algún médico dejan de funcionar en el acto.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92240" y="3502152"/>
            <a:ext cx="310896" cy="3108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92240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931152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acceso que se hubiera filtrado antes del cambio queda inservible.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92240" y="4553712"/>
            <a:ext cx="310896" cy="3108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9224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931152" y="4434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puede volver a delegar acceso normalmente, cuando quiera, con las claves nuevas.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OSA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cuatro ideas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es el dueño real de su información —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más puede verla sin su permiso explícito.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06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sella antes de salir de cada navegador —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solo guarda y transporta información sellada.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57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de un médico siempre es temporal y revocable —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vencimiento automático o con un clic del paciente.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7091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la contraseña es un botón de pánico real —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 en el acto cualquier acceso otorgado antes.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1E2E56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misma aplicación de la charla técnica — acá mostrada sin nombres de algoritmos, solo el recorrido de uso.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2026-08-28T00:44:34Z</dcterms:created>
  <dcterms:modified xsi:type="dcterms:W3CDTF">2026-08-28T00:44:34Z</dcterms:modified>
</cp:coreProperties>
</file>