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Esta presentación retoma el trabajo que hicimos sobre SSE en la materia de Criptografía, pero ahora desde Criptografía Avanzada y con foco en la parte asimétrica: qué problema resuelve, dónde falla, y cómo terminamos usándola en una aplicación real que además construimos como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trabajo anterior mostró que SSE resuelve búsqueda sobre datos cifrados con primitivas simétricas: PRF y PRP, un índice invertido cifrado y una jerarquía de seguridad CKA1 a CKA2. Hoy tomamos ese mismo problema y le agregamos una restricción real: múltiples partes que no comparten una clave secreta de antemano. Ahí es donde entra la parte asimétrica.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modelo original, Setup y Encrypt corren una sola vez del lado del dueño de los datos. Pero un historial clínico tiene, por diseño, más de un escritor legítimo: el propio paciente y los médicos que lo atienden. Ninguno de ellos puede recibir K_idx o K_enc del paciente por un canal casual — eso anularía todo el modelo zero-knowledge. El problema deja de ser 'cómo cifro para buscar' y pasa a ser 'cómo distribuyo capacidades criptográficas entre partes que no se conocían'.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PEKS invierte el modelo de SSE: en vez de una clave simétrica compartida, hay un par público/privado. Cualquiera con la clave pública puede cifrar una palabra; sólo el dueño de la clave privada puede emitir el permiso de búsqueda (el 'trapdoor'). El servidor sólo compara: no aprende la palabra, sólo si coincide con el permiso recibido. La construcción original de Boneh y coautores usa matemática de curvas elípticas más pesada (emparejamientos bilineales); no hace falta entrar en ese detalle salvo que lo pidan — alcanza con la idea de 'operación de clave pública, más cara que un HMAC'.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interesante: PEKS tiene una prueba de seguridad formal y aun así es explotable en la práctica. La prueba protege contra distinguir cifrados cuando NO tenés el permiso de búsqueda. Pero no dice nada sobre qué pasa cuando el atacante SÍ tiene un permiso — porque puede probar palabras candidatas usando la clave pública, que por definición es de acceso libre. En SSE simétrico esto no es posible directamente, porque no existe una clave pública contra la cual probar candidatos sin conocer el secreto.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amplía la comparación que ya habíamos hecho en el trabajo de cripto simétrica, pero ahora explicando el motivo estructural de cada fila: PEKS no es 'SSE pero más lento' — resuelve un problema distinto (multi-escritor sin canal secreto) y paga un costo distinto (una vulnerabilidad de diseño, no sólo de rendimiento).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paradigma KEM/DEM es la respuesta estándar de la industria a 'necesito clave pública pero no quiero pagar su costo por cada byte de datos'. La clave pública sólo transporta una clave simétrica efímera; toda la carga real —cifrar documentos, indexar, buscar con SSE-2— sigue siendo simétrica y rápida. Esto es literalmente lo que decidimos construir en la aplicación, en vez de implementar PEKS puro con emparejamientos.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OSA es la aplicación que construimos para bajar todo esto a tierra. La contraseña del paciente nunca sale del navegador: Argon2id deriva una semilla, y de esa semilla se ramifican cuatro cosas — un par asimétrico de identidad (X25519 para intercambio de claves, Ed25519 para firmar), una clave simétrica de documentos, una clave de índice SSE-2 y una clave de enmascaramiento. El servidor Go persiste todo cifrado y jamás ve ninguna de estas claves.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función es el KEM+DEM de la filmina anterior, tal cual corre en el navegador del médico y del paciente. Genera un par X25519 efímero por cada sobre, deriva el secreto ECDH, lo pasa por HKDF con un 'info' que separa dominios de uso — así el mismo secreto compartido nunca se reutiliza entre, por ejemplo, el sobre de K_doc y el sobre de una delegación — y cifra con AES-256-GCM. La corrección documentada en la adenda de seguridad fue justamente reemplazar el ECDH con P-256 de WebCrypto del pseudocódigo original por esta implementación consistente en X25519.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Ed25519 aporta lo que ECIES por sí solo no da: no repudio. El paciente firma el ticket completo — no repudio, y cualquiera puede verificar con su clave pública que fue efectivamente el paciente quien autorizó esa delegación con ese alcance y ese vencimiento. El servidor valida la firma y el TTL, pero el contenido cifrado (las claves de búsqueda y descifrado) permanece opaco para él en todo momento. El callout de abajo es uno de los bugs reales que documentamos al implementar esto: el pseudocódigo original sólo envolvía la clave del documento para la clave pública del paciente, así que un médico con una delegación activa podía ejecutar búsquedas SSE-2 y encontrar coincidencias, pero nunca tenía la clave privada del paciente para abrir el documento en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tres son, para mí, los bugs más interesantes de toda la implementación — documentados con detalle en la adenda de seguridad del proyecto, junto con otras 17 correcciones. Ninguno es un error de sintaxis: los tres son fallas de diseño zero-knowledge que sólo aparecen cuando el pseudocódigo de la especificación se convierte en un sistema real con un test de integración de punta a punta corriendo contra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parte asimétrica de SSE no reemplaza a la simétrica, la complementa exactamente donde la simétrica no puede llegar sola — repartir capacidades entre partes que no comparten un secreto de antemano. PEKS es la prueba de que esto es posible en teoría; el diseño híbrido KEM/DEM es la forma en que se usa en la práctica; y OSA es la evidencia de que, incluso con la teoría clara, hacerlo sin romper el modelo zero-knowledge requiere una revisión de seguridad tan rigurosa como el diseño criptográfico en sí. Muchas gracias, quedo a disposición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7F8F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13E"/>
        </a:solidFill>
      </p:bgPr>
    </p:bg>
    <p:spTree>
      <p:nvGrpSpPr>
        <p:cNvPr id="1" name=""/>
        <p:cNvGrpSpPr/>
        <p:nvPr/>
      </p:nvGrpSpPr>
      <p:grpSpPr>
        <a:xfrm>
          <a:off x="0" y="0"/>
          <a:ext cx="0" cy="0"/>
          <a:chOff x="0" y="0"/>
          <a:chExt cx="0" cy="0"/>
        </a:xfrm>
      </p:grpSpPr>
      <p:sp>
        <p:nvSpPr>
          <p:cNvPr id="2" name="Shape 0"/>
          <p:cNvSpPr/>
          <p:nvPr/>
        </p:nvSpPr>
        <p:spPr>
          <a:xfrm>
            <a:off x="9052560" y="-1463040"/>
            <a:ext cx="4937760" cy="4937760"/>
          </a:xfrm>
          <a:prstGeom prst="ellipse">
            <a:avLst/>
          </a:prstGeom>
          <a:solidFill>
            <a:srgbClr val="1E2E56"/>
          </a:solidFill>
          <a:ln/>
        </p:spPr>
      </p:sp>
      <p:sp>
        <p:nvSpPr>
          <p:cNvPr id="3" name="Shape 1"/>
          <p:cNvSpPr/>
          <p:nvPr/>
        </p:nvSpPr>
        <p:spPr>
          <a:xfrm>
            <a:off x="10607040" y="3291840"/>
            <a:ext cx="2926080" cy="2926080"/>
          </a:xfrm>
          <a:prstGeom prst="ellipse">
            <a:avLst/>
          </a:prstGeom>
          <a:solidFill>
            <a:srgbClr val="1E2E56"/>
          </a:solidFill>
          <a:ln/>
        </p:spPr>
      </p:sp>
      <p:sp>
        <p:nvSpPr>
          <p:cNvPr id="4" name="Shape 2"/>
          <p:cNvSpPr/>
          <p:nvPr/>
        </p:nvSpPr>
        <p:spPr>
          <a:xfrm>
            <a:off x="822960" y="777240"/>
            <a:ext cx="914400" cy="914400"/>
          </a:xfrm>
          <a:prstGeom prst="ellipse">
            <a:avLst/>
          </a:prstGeom>
          <a:solidFill>
            <a:srgbClr val="17B8A6"/>
          </a:solidFill>
          <a:ln/>
        </p:spPr>
      </p:sp>
      <p:pic>
        <p:nvPicPr>
          <p:cNvPr id="5" name="Image 0" descr="/tmp/osa_pres/icons/key_navy.png">    </p:cNvPr>
          <p:cNvPicPr>
            <a:picLocks noChangeAspect="1"/>
          </p:cNvPicPr>
          <p:nvPr/>
        </p:nvPicPr>
        <p:blipFill>
          <a:blip r:embed="rId1"/>
          <a:stretch>
            <a:fillRect/>
          </a:stretch>
        </p:blipFill>
        <p:spPr>
          <a:xfrm>
            <a:off x="941832" y="896112"/>
            <a:ext cx="676656" cy="676656"/>
          </a:xfrm>
          <a:prstGeom prst="rect">
            <a:avLst/>
          </a:prstGeom>
        </p:spPr>
      </p:pic>
      <p:sp>
        <p:nvSpPr>
          <p:cNvPr id="6" name="Text 3"/>
          <p:cNvSpPr txBox="1"/>
          <p:nvPr/>
        </p:nvSpPr>
        <p:spPr>
          <a:xfrm>
            <a:off x="822960" y="2148840"/>
            <a:ext cx="9601200" cy="320040"/>
          </a:xfrm>
          <a:prstGeom prst="rect">
            <a:avLst/>
          </a:prstGeom>
          <a:noFill/>
          <a:ln/>
        </p:spPr>
        <p:txBody>
          <a:bodyPr wrap="square" lIns="0" tIns="0" rIns="0" bIns="0" rtlCol="0" anchor="ctr"/>
          <a:lstStyle/>
          <a:p>
            <a:pPr indent="0" marL="0">
              <a:buNone/>
            </a:pPr>
            <a:r>
              <a:rPr lang="en-US" sz="1300" b="1" spc="200" kern="0" dirty="0">
                <a:solidFill>
                  <a:srgbClr val="17B8A6"/>
                </a:solidFill>
                <a:latin typeface="Calibri" pitchFamily="34" charset="0"/>
                <a:ea typeface="Calibri" pitchFamily="34" charset="-122"/>
                <a:cs typeface="Calibri" pitchFamily="34" charset="-120"/>
              </a:rPr>
              <a:t>CRIPTOGRAFÍA AVANZADA — MAESTRÍA EN CIBERDEFENSA</a:t>
            </a:r>
            <a:endParaRPr lang="en-US" sz="1300" dirty="0"/>
          </a:p>
        </p:txBody>
      </p:sp>
      <p:sp>
        <p:nvSpPr>
          <p:cNvPr id="7" name="Text 4"/>
          <p:cNvSpPr txBox="1"/>
          <p:nvPr/>
        </p:nvSpPr>
        <p:spPr>
          <a:xfrm>
            <a:off x="777240" y="2514600"/>
            <a:ext cx="9875520" cy="192024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SSE — Cifrado Asimétrico</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y el Modelo Híbrido</a:t>
            </a:r>
            <a:endParaRPr lang="en-US" sz="4600" dirty="0"/>
          </a:p>
        </p:txBody>
      </p:sp>
      <p:sp>
        <p:nvSpPr>
          <p:cNvPr id="8" name="Text 5"/>
          <p:cNvSpPr txBox="1"/>
          <p:nvPr/>
        </p:nvSpPr>
        <p:spPr>
          <a:xfrm>
            <a:off x="822960" y="4434840"/>
            <a:ext cx="8778240" cy="822960"/>
          </a:xfrm>
          <a:prstGeom prst="rect">
            <a:avLst/>
          </a:prstGeom>
          <a:noFill/>
          <a:ln/>
        </p:spPr>
        <p:txBody>
          <a:bodyPr wrap="square" lIns="0" tIns="0" rIns="0" bIns="0" rtlCol="0" anchor="ctr"/>
          <a:lstStyle/>
          <a:p>
            <a:pPr indent="0" marL="0">
              <a:lnSpc>
                <a:spcPct val="120000"/>
              </a:lnSpc>
              <a:buNone/>
            </a:pPr>
            <a:r>
              <a:rPr lang="en-US" sz="1600" dirty="0">
                <a:solidFill>
                  <a:srgbClr val="AEB6D6"/>
                </a:solidFill>
                <a:latin typeface="Calibri" pitchFamily="34" charset="0"/>
                <a:ea typeface="Calibri" pitchFamily="34" charset="-122"/>
                <a:cs typeface="Calibri" pitchFamily="34" charset="-120"/>
              </a:rPr>
              <a:t>De la búsqueda simétrica cifrada al intercambio de claves de clave pública: PEKS, ECIES sobre X25519, firmas Ed25519 y el caso de estudio OSA.</a:t>
            </a:r>
            <a:endParaRPr lang="en-US" sz="1600" dirty="0"/>
          </a:p>
        </p:txBody>
      </p:sp>
      <p:sp>
        <p:nvSpPr>
          <p:cNvPr id="9" name="Shape 6"/>
          <p:cNvSpPr/>
          <p:nvPr/>
        </p:nvSpPr>
        <p:spPr>
          <a:xfrm>
            <a:off x="822960" y="5486400"/>
            <a:ext cx="5394960" cy="502920"/>
          </a:xfrm>
          <a:prstGeom prst="roundRect">
            <a:avLst>
              <a:gd name="adj" fmla="val 18182"/>
            </a:avLst>
          </a:prstGeom>
          <a:solidFill>
            <a:srgbClr val="1E2E56"/>
          </a:solidFill>
          <a:ln/>
        </p:spPr>
      </p:sp>
      <p:sp>
        <p:nvSpPr>
          <p:cNvPr id="10" name="Text 7"/>
          <p:cNvSpPr txBox="1"/>
          <p:nvPr/>
        </p:nvSpPr>
        <p:spPr>
          <a:xfrm>
            <a:off x="960120" y="5486400"/>
            <a:ext cx="5120640" cy="50292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Continuación de: “SSE — Cifrado Simétrico”</a:t>
            </a:r>
            <a:endParaRPr lang="en-US" sz="1250" dirty="0"/>
          </a:p>
        </p:txBody>
      </p:sp>
      <p:sp>
        <p:nvSpPr>
          <p:cNvPr id="11" name="Text 8"/>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AEB6D6"/>
                </a:solidFill>
                <a:latin typeface="Calibri" pitchFamily="34" charset="0"/>
                <a:ea typeface="Calibri" pitchFamily="34" charset="-122"/>
                <a:cs typeface="Calibri" pitchFamily="34" charset="-120"/>
              </a:rPr>
              <a:t>Hernán · Trabajo final — Criptografía Avanzada</a:t>
            </a:r>
            <a:endParaRPr lang="en-US" sz="1050" dirty="0"/>
          </a:p>
        </p:txBody>
      </p:sp>
      <p:sp>
        <p:nvSpPr>
          <p:cNvPr id="12" name="Text 9"/>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AEB6D6"/>
                </a:solidFill>
                <a:latin typeface="Calibri" pitchFamily="34" charset="0"/>
                <a:ea typeface="Calibri" pitchFamily="34" charset="-122"/>
                <a:cs typeface="Calibri" pitchFamily="34" charset="-120"/>
              </a:rPr>
              <a:t>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PUNTO DE PARTIDA</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De lo simétrico a lo asimétrico</a:t>
            </a:r>
            <a:endParaRPr lang="en-US" sz="3200" dirty="0"/>
          </a:p>
        </p:txBody>
      </p:sp>
      <p:sp>
        <p:nvSpPr>
          <p:cNvPr id="4" name="Shape 2"/>
          <p:cNvSpPr/>
          <p:nvPr/>
        </p:nvSpPr>
        <p:spPr>
          <a:xfrm>
            <a:off x="548640" y="1417320"/>
            <a:ext cx="5212080" cy="4846320"/>
          </a:xfrm>
          <a:prstGeom prst="roundRect">
            <a:avLst>
              <a:gd name="adj" fmla="val 1509"/>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5" name="Shape 3"/>
          <p:cNvSpPr/>
          <p:nvPr/>
        </p:nvSpPr>
        <p:spPr>
          <a:xfrm>
            <a:off x="868680" y="1737360"/>
            <a:ext cx="548640" cy="548640"/>
          </a:xfrm>
          <a:prstGeom prst="ellipse">
            <a:avLst/>
          </a:prstGeom>
          <a:solidFill>
            <a:srgbClr val="15213E"/>
          </a:solidFill>
          <a:ln/>
        </p:spPr>
      </p:sp>
      <p:pic>
        <p:nvPicPr>
          <p:cNvPr id="6" name="Image 0" descr="/tmp/osa_pres/icons/lock_teal.png">    </p:cNvPr>
          <p:cNvPicPr>
            <a:picLocks noChangeAspect="1"/>
          </p:cNvPicPr>
          <p:nvPr/>
        </p:nvPicPr>
        <p:blipFill>
          <a:blip r:embed="rId1"/>
          <a:stretch>
            <a:fillRect/>
          </a:stretch>
        </p:blipFill>
        <p:spPr>
          <a:xfrm>
            <a:off x="940003" y="1808683"/>
            <a:ext cx="405994" cy="405994"/>
          </a:xfrm>
          <a:prstGeom prst="rect">
            <a:avLst/>
          </a:prstGeom>
        </p:spPr>
      </p:pic>
      <p:sp>
        <p:nvSpPr>
          <p:cNvPr id="7" name="Text 4"/>
          <p:cNvSpPr txBox="1"/>
          <p:nvPr/>
        </p:nvSpPr>
        <p:spPr>
          <a:xfrm>
            <a:off x="1554480" y="1737360"/>
            <a:ext cx="3931920" cy="548640"/>
          </a:xfrm>
          <a:prstGeom prst="rect">
            <a:avLst/>
          </a:prstGeom>
          <a:noFill/>
          <a:ln/>
        </p:spPr>
        <p:txBody>
          <a:bodyPr wrap="square" lIns="0" tIns="0" rIns="0" bIns="0" rtlCol="0" anchor="ctr"/>
          <a:lstStyle/>
          <a:p>
            <a:pPr indent="0" marL="0">
              <a:buNone/>
            </a:pPr>
            <a:r>
              <a:rPr lang="en-US" sz="1800" b="1" dirty="0">
                <a:solidFill>
                  <a:srgbClr val="15213E"/>
                </a:solidFill>
                <a:latin typeface="Cambria" pitchFamily="34" charset="0"/>
                <a:ea typeface="Cambria" pitchFamily="34" charset="-122"/>
                <a:cs typeface="Cambria" pitchFamily="34" charset="-120"/>
              </a:rPr>
              <a:t>Ya vimos (cripto simétrica)</a:t>
            </a:r>
            <a:endParaRPr lang="en-US" sz="1800" dirty="0"/>
          </a:p>
        </p:txBody>
      </p:sp>
      <p:sp>
        <p:nvSpPr>
          <p:cNvPr id="8" name="Text 5"/>
          <p:cNvSpPr txBox="1"/>
          <p:nvPr/>
        </p:nvSpPr>
        <p:spPr>
          <a:xfrm>
            <a:off x="868680" y="2468880"/>
            <a:ext cx="4572000" cy="34747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HMAC y AES como bloques base para cifrar e indexar</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Un índice invertido cifrado, para buscar sin descifrar todo</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De un modelo simple (SSE-1) a uno más seguro (SSE-2)</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Qué es aceptable que el servidor llegue a ver, y qué no</a:t>
            </a:r>
            <a:endParaRPr lang="en-US" sz="1450" dirty="0"/>
          </a:p>
          <a:p>
            <a:pPr marL="342900" indent="-342900">
              <a:lnSpc>
                <a:spcPct val="115000"/>
              </a:lnSpc>
              <a:spcAft>
                <a:spcPts val="1200"/>
              </a:spcAft>
              <a:buSzPct val="100000"/>
              <a:buChar char="–"/>
            </a:pPr>
            <a:r>
              <a:rPr lang="en-US" sz="1450" dirty="0">
                <a:solidFill>
                  <a:srgbClr val="1B2340"/>
                </a:solidFill>
                <a:latin typeface="Calibri" pitchFamily="34" charset="0"/>
                <a:ea typeface="Calibri" pitchFamily="34" charset="-122"/>
                <a:cs typeface="Calibri" pitchFamily="34" charset="-120"/>
              </a:rPr>
              <a:t>Referencia: Curtmola, Garay, Kamara, Ostrovsky (2006)</a:t>
            </a:r>
            <a:endParaRPr lang="en-US" sz="1450" dirty="0"/>
          </a:p>
        </p:txBody>
      </p:sp>
      <p:sp>
        <p:nvSpPr>
          <p:cNvPr id="9" name="Shape 6"/>
          <p:cNvSpPr/>
          <p:nvPr/>
        </p:nvSpPr>
        <p:spPr>
          <a:xfrm>
            <a:off x="6245352" y="1417320"/>
            <a:ext cx="5212080" cy="4846320"/>
          </a:xfrm>
          <a:prstGeom prst="roundRect">
            <a:avLst>
              <a:gd name="adj" fmla="val 1509"/>
            </a:avLst>
          </a:prstGeom>
          <a:solidFill>
            <a:srgbClr val="15213E"/>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0" name="Shape 7"/>
          <p:cNvSpPr/>
          <p:nvPr/>
        </p:nvSpPr>
        <p:spPr>
          <a:xfrm>
            <a:off x="6565392" y="1737360"/>
            <a:ext cx="548640" cy="548640"/>
          </a:xfrm>
          <a:prstGeom prst="ellipse">
            <a:avLst/>
          </a:prstGeom>
          <a:solidFill>
            <a:srgbClr val="17B8A6"/>
          </a:solidFill>
          <a:ln/>
        </p:spPr>
      </p:sp>
      <p:pic>
        <p:nvPicPr>
          <p:cNvPr id="11" name="Image 1" descr="/tmp/osa_pres/icons/key_navy.png">    </p:cNvPr>
          <p:cNvPicPr>
            <a:picLocks noChangeAspect="1"/>
          </p:cNvPicPr>
          <p:nvPr/>
        </p:nvPicPr>
        <p:blipFill>
          <a:blip r:embed="rId2"/>
          <a:stretch>
            <a:fillRect/>
          </a:stretch>
        </p:blipFill>
        <p:spPr>
          <a:xfrm>
            <a:off x="6636715" y="1808683"/>
            <a:ext cx="405994" cy="405994"/>
          </a:xfrm>
          <a:prstGeom prst="rect">
            <a:avLst/>
          </a:prstGeom>
        </p:spPr>
      </p:pic>
      <p:sp>
        <p:nvSpPr>
          <p:cNvPr id="12" name="Text 8"/>
          <p:cNvSpPr txBox="1"/>
          <p:nvPr/>
        </p:nvSpPr>
        <p:spPr>
          <a:xfrm>
            <a:off x="7251192" y="1737360"/>
            <a:ext cx="3931920" cy="54864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Hoy: la parte asimétrica</a:t>
            </a:r>
            <a:endParaRPr lang="en-US" sz="1800" dirty="0"/>
          </a:p>
        </p:txBody>
      </p:sp>
      <p:sp>
        <p:nvSpPr>
          <p:cNvPr id="13" name="Text 9"/>
          <p:cNvSpPr txBox="1"/>
          <p:nvPr/>
        </p:nvSpPr>
        <p:spPr>
          <a:xfrm>
            <a:off x="6565392" y="2468880"/>
            <a:ext cx="4572000" cy="34747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PEKS: buscar sobre datos cifrados con clave pública</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Por qué PEKS solo no alcanza (se puede adivinar la palabra)</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La solución real: combinar clave pública + clave simétrica</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Una firma digital, para que nadie niegue lo que autorizó</a:t>
            </a:r>
            <a:endParaRPr lang="en-US" sz="1450" dirty="0"/>
          </a:p>
          <a:p>
            <a:pPr marL="342900" indent="-342900">
              <a:lnSpc>
                <a:spcPct val="115000"/>
              </a:lnSpc>
              <a:spcAft>
                <a:spcPts val="1200"/>
              </a:spcAft>
              <a:buSzPct val="100000"/>
              <a:buChar char="–"/>
            </a:pPr>
            <a:r>
              <a:rPr lang="en-US" sz="1450" dirty="0">
                <a:solidFill>
                  <a:srgbClr val="AEB6D6"/>
                </a:solidFill>
                <a:latin typeface="Calibri" pitchFamily="34" charset="0"/>
                <a:ea typeface="Calibri" pitchFamily="34" charset="-122"/>
                <a:cs typeface="Calibri" pitchFamily="34" charset="-120"/>
              </a:rPr>
              <a:t>Caso de estudio propio: OSA, una historia clínica “a ciegas”</a:t>
            </a:r>
            <a:endParaRPr lang="en-US" sz="1450" dirty="0"/>
          </a:p>
        </p:txBody>
      </p:sp>
      <p:sp>
        <p:nvSpPr>
          <p:cNvPr id="14" name="Shape 10"/>
          <p:cNvSpPr/>
          <p:nvPr/>
        </p:nvSpPr>
        <p:spPr>
          <a:xfrm>
            <a:off x="5728716" y="3566160"/>
            <a:ext cx="548640" cy="548640"/>
          </a:xfrm>
          <a:prstGeom prst="ellipse">
            <a:avLst/>
          </a:prstGeom>
          <a:solidFill>
            <a:srgbClr val="17B8A6"/>
          </a:solidFill>
          <a:ln/>
        </p:spPr>
      </p:sp>
      <p:pic>
        <p:nvPicPr>
          <p:cNvPr id="15" name="Image 2" descr="/tmp/osa_pres/icons/arrowRight_navy.png">    </p:cNvPr>
          <p:cNvPicPr>
            <a:picLocks noChangeAspect="1"/>
          </p:cNvPicPr>
          <p:nvPr/>
        </p:nvPicPr>
        <p:blipFill>
          <a:blip r:embed="rId3"/>
          <a:stretch>
            <a:fillRect/>
          </a:stretch>
        </p:blipFill>
        <p:spPr>
          <a:xfrm>
            <a:off x="5800039" y="3637483"/>
            <a:ext cx="405994" cy="405994"/>
          </a:xfrm>
          <a:prstGeom prst="rect">
            <a:avLst/>
          </a:prstGeom>
        </p:spPr>
      </p:pic>
      <p:sp>
        <p:nvSpPr>
          <p:cNvPr id="16" name="Text 11"/>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17" name="Text 12"/>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EL PROBLEMA</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El límite del modelo simétrico: un solo dueño de K</a:t>
            </a:r>
            <a:endParaRPr lang="en-US" sz="3200" dirty="0"/>
          </a:p>
        </p:txBody>
      </p:sp>
      <p:sp>
        <p:nvSpPr>
          <p:cNvPr id="4" name="Text 2"/>
          <p:cNvSpPr txBox="1"/>
          <p:nvPr/>
        </p:nvSpPr>
        <p:spPr>
          <a:xfrm>
            <a:off x="548640" y="1371600"/>
            <a:ext cx="11064240" cy="548640"/>
          </a:xfrm>
          <a:prstGeom prst="rect">
            <a:avLst/>
          </a:prstGeom>
          <a:noFill/>
          <a:ln/>
        </p:spPr>
        <p:txBody>
          <a:bodyPr wrap="square" lIns="0" tIns="0" rIns="0" bIns="0" rtlCol="0" anchor="ctr"/>
          <a:lstStyle/>
          <a:p>
            <a:pPr indent="0" marL="0">
              <a:buNone/>
            </a:pPr>
            <a:r>
              <a:rPr lang="en-US" sz="1550" dirty="0">
                <a:solidFill>
                  <a:srgbClr val="5B6485"/>
                </a:solidFill>
                <a:latin typeface="Calibri" pitchFamily="34" charset="0"/>
                <a:ea typeface="Calibri" pitchFamily="34" charset="-122"/>
                <a:cs typeface="Calibri" pitchFamily="34" charset="-120"/>
              </a:rPr>
              <a:t>SSE clásico asume una única parte que posee K: cifra, indexa y busca. Ese supuesto se rompe apenas aparece un segundo escritor.</a:t>
            </a:r>
            <a:endParaRPr lang="en-US" sz="1550" dirty="0"/>
          </a:p>
        </p:txBody>
      </p:sp>
      <p:sp>
        <p:nvSpPr>
          <p:cNvPr id="5" name="Shape 3"/>
          <p:cNvSpPr/>
          <p:nvPr/>
        </p:nvSpPr>
        <p:spPr>
          <a:xfrm>
            <a:off x="548640" y="2148840"/>
            <a:ext cx="3520440" cy="2834640"/>
          </a:xfrm>
          <a:prstGeom prst="roundRect">
            <a:avLst>
              <a:gd name="adj" fmla="val 2581"/>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6" name="Shape 4"/>
          <p:cNvSpPr/>
          <p:nvPr/>
        </p:nvSpPr>
        <p:spPr>
          <a:xfrm>
            <a:off x="1943100" y="2468880"/>
            <a:ext cx="731520" cy="731520"/>
          </a:xfrm>
          <a:prstGeom prst="ellipse">
            <a:avLst/>
          </a:prstGeom>
          <a:solidFill>
            <a:srgbClr val="15213E"/>
          </a:solidFill>
          <a:ln/>
        </p:spPr>
      </p:sp>
      <p:pic>
        <p:nvPicPr>
          <p:cNvPr id="7" name="Image 0" descr="/tmp/osa_pres/icons/userMd_teal.png">    </p:cNvPr>
          <p:cNvPicPr>
            <a:picLocks noChangeAspect="1"/>
          </p:cNvPicPr>
          <p:nvPr/>
        </p:nvPicPr>
        <p:blipFill>
          <a:blip r:embed="rId1"/>
          <a:stretch>
            <a:fillRect/>
          </a:stretch>
        </p:blipFill>
        <p:spPr>
          <a:xfrm>
            <a:off x="2038198" y="2563978"/>
            <a:ext cx="541325" cy="541325"/>
          </a:xfrm>
          <a:prstGeom prst="rect">
            <a:avLst/>
          </a:prstGeom>
        </p:spPr>
      </p:pic>
      <p:sp>
        <p:nvSpPr>
          <p:cNvPr id="8" name="Text 5"/>
          <p:cNvSpPr txBox="1"/>
          <p:nvPr/>
        </p:nvSpPr>
        <p:spPr>
          <a:xfrm>
            <a:off x="777240" y="3383280"/>
            <a:ext cx="3063240" cy="457200"/>
          </a:xfrm>
          <a:prstGeom prst="rect">
            <a:avLst/>
          </a:prstGeom>
          <a:noFill/>
          <a:ln/>
        </p:spPr>
        <p:txBody>
          <a:bodyPr wrap="square" lIns="0" tIns="0" rIns="0" bIns="0" rtlCol="0" anchor="ctr"/>
          <a:lstStyle/>
          <a:p>
            <a:pPr algn="ctr" indent="0" marL="0">
              <a:buNone/>
            </a:pPr>
            <a:r>
              <a:rPr lang="en-US" sz="1550" b="1" dirty="0">
                <a:solidFill>
                  <a:srgbClr val="15213E"/>
                </a:solidFill>
                <a:latin typeface="Cambria" pitchFamily="34" charset="0"/>
                <a:ea typeface="Cambria" pitchFamily="34" charset="-122"/>
                <a:cs typeface="Cambria" pitchFamily="34" charset="-120"/>
              </a:rPr>
              <a:t>Escritura de terceros</a:t>
            </a:r>
            <a:endParaRPr lang="en-US" sz="1550" dirty="0"/>
          </a:p>
        </p:txBody>
      </p:sp>
      <p:sp>
        <p:nvSpPr>
          <p:cNvPr id="9" name="Text 6"/>
          <p:cNvSpPr txBox="1"/>
          <p:nvPr/>
        </p:nvSpPr>
        <p:spPr>
          <a:xfrm>
            <a:off x="822960" y="3840480"/>
            <a:ext cx="2971800" cy="1005840"/>
          </a:xfrm>
          <a:prstGeom prst="rect">
            <a:avLst/>
          </a:prstGeom>
          <a:noFill/>
          <a:ln/>
        </p:spPr>
        <p:txBody>
          <a:bodyPr wrap="square" lIns="0" tIns="0" rIns="0" bIns="0" rtlCol="0" anchor="ctr"/>
          <a:lstStyle/>
          <a:p>
            <a:pPr algn="ctr" indent="0" marL="0">
              <a:lnSpc>
                <a:spcPct val="115000"/>
              </a:lnSpc>
              <a:buNone/>
            </a:pPr>
            <a:r>
              <a:rPr lang="en-US" sz="1250" dirty="0">
                <a:solidFill>
                  <a:srgbClr val="5B6485"/>
                </a:solidFill>
                <a:latin typeface="Calibri" pitchFamily="34" charset="0"/>
                <a:ea typeface="Calibri" pitchFamily="34" charset="-122"/>
                <a:cs typeface="Calibri" pitchFamily="34" charset="-120"/>
              </a:rPr>
              <a:t>Un médico debe cifrar un documento PARA un paciente sin jamás poseer K_idx ni K_enc de ese paciente.</a:t>
            </a:r>
            <a:endParaRPr lang="en-US" sz="1250" dirty="0"/>
          </a:p>
        </p:txBody>
      </p:sp>
      <p:sp>
        <p:nvSpPr>
          <p:cNvPr id="10" name="Shape 7"/>
          <p:cNvSpPr/>
          <p:nvPr/>
        </p:nvSpPr>
        <p:spPr>
          <a:xfrm>
            <a:off x="4343400" y="2148840"/>
            <a:ext cx="3520440" cy="2834640"/>
          </a:xfrm>
          <a:prstGeom prst="roundRect">
            <a:avLst>
              <a:gd name="adj" fmla="val 2581"/>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1" name="Shape 8"/>
          <p:cNvSpPr/>
          <p:nvPr/>
        </p:nvSpPr>
        <p:spPr>
          <a:xfrm>
            <a:off x="5737860" y="2468880"/>
            <a:ext cx="731520" cy="731520"/>
          </a:xfrm>
          <a:prstGeom prst="ellipse">
            <a:avLst/>
          </a:prstGeom>
          <a:solidFill>
            <a:srgbClr val="15213E"/>
          </a:solidFill>
          <a:ln/>
        </p:spPr>
      </p:sp>
      <p:pic>
        <p:nvPicPr>
          <p:cNvPr id="12" name="Image 1" descr="/tmp/osa_pres/icons/clock_teal.png">    </p:cNvPr>
          <p:cNvPicPr>
            <a:picLocks noChangeAspect="1"/>
          </p:cNvPicPr>
          <p:nvPr/>
        </p:nvPicPr>
        <p:blipFill>
          <a:blip r:embed="rId2"/>
          <a:stretch>
            <a:fillRect/>
          </a:stretch>
        </p:blipFill>
        <p:spPr>
          <a:xfrm>
            <a:off x="5832958" y="2563978"/>
            <a:ext cx="541325" cy="541325"/>
          </a:xfrm>
          <a:prstGeom prst="rect">
            <a:avLst/>
          </a:prstGeom>
        </p:spPr>
      </p:pic>
      <p:sp>
        <p:nvSpPr>
          <p:cNvPr id="13" name="Text 9"/>
          <p:cNvSpPr txBox="1"/>
          <p:nvPr/>
        </p:nvSpPr>
        <p:spPr>
          <a:xfrm>
            <a:off x="4572000" y="3383280"/>
            <a:ext cx="3063240" cy="457200"/>
          </a:xfrm>
          <a:prstGeom prst="rect">
            <a:avLst/>
          </a:prstGeom>
          <a:noFill/>
          <a:ln/>
        </p:spPr>
        <p:txBody>
          <a:bodyPr wrap="square" lIns="0" tIns="0" rIns="0" bIns="0" rtlCol="0" anchor="ctr"/>
          <a:lstStyle/>
          <a:p>
            <a:pPr algn="ctr" indent="0" marL="0">
              <a:buNone/>
            </a:pPr>
            <a:r>
              <a:rPr lang="en-US" sz="1550" b="1" dirty="0">
                <a:solidFill>
                  <a:srgbClr val="15213E"/>
                </a:solidFill>
                <a:latin typeface="Cambria" pitchFamily="34" charset="0"/>
                <a:ea typeface="Cambria" pitchFamily="34" charset="-122"/>
                <a:cs typeface="Cambria" pitchFamily="34" charset="-120"/>
              </a:rPr>
              <a:t>Delegación temporal</a:t>
            </a:r>
            <a:endParaRPr lang="en-US" sz="1550" dirty="0"/>
          </a:p>
        </p:txBody>
      </p:sp>
      <p:sp>
        <p:nvSpPr>
          <p:cNvPr id="14" name="Text 10"/>
          <p:cNvSpPr txBox="1"/>
          <p:nvPr/>
        </p:nvSpPr>
        <p:spPr>
          <a:xfrm>
            <a:off x="4617720" y="3840480"/>
            <a:ext cx="2971800" cy="1005840"/>
          </a:xfrm>
          <a:prstGeom prst="rect">
            <a:avLst/>
          </a:prstGeom>
          <a:noFill/>
          <a:ln/>
        </p:spPr>
        <p:txBody>
          <a:bodyPr wrap="square" lIns="0" tIns="0" rIns="0" bIns="0" rtlCol="0" anchor="ctr"/>
          <a:lstStyle/>
          <a:p>
            <a:pPr algn="ctr" indent="0" marL="0">
              <a:lnSpc>
                <a:spcPct val="115000"/>
              </a:lnSpc>
              <a:buNone/>
            </a:pPr>
            <a:r>
              <a:rPr lang="en-US" sz="1250" dirty="0">
                <a:solidFill>
                  <a:srgbClr val="5B6485"/>
                </a:solidFill>
                <a:latin typeface="Calibri" pitchFamily="34" charset="0"/>
                <a:ea typeface="Calibri" pitchFamily="34" charset="-122"/>
                <a:cs typeface="Calibri" pitchFamily="34" charset="-120"/>
              </a:rPr>
              <a:t>El paciente debe delegar búsqueda a un médico por 45 minutos, de forma revocable, sin haberlo visto antes por un canal seguro.</a:t>
            </a:r>
            <a:endParaRPr lang="en-US" sz="1250" dirty="0"/>
          </a:p>
        </p:txBody>
      </p:sp>
      <p:sp>
        <p:nvSpPr>
          <p:cNvPr id="15" name="Shape 11"/>
          <p:cNvSpPr/>
          <p:nvPr/>
        </p:nvSpPr>
        <p:spPr>
          <a:xfrm>
            <a:off x="8138160" y="2148840"/>
            <a:ext cx="3520440" cy="2834640"/>
          </a:xfrm>
          <a:prstGeom prst="roundRect">
            <a:avLst>
              <a:gd name="adj" fmla="val 2581"/>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6" name="Shape 12"/>
          <p:cNvSpPr/>
          <p:nvPr/>
        </p:nvSpPr>
        <p:spPr>
          <a:xfrm>
            <a:off x="9532620" y="2468880"/>
            <a:ext cx="731520" cy="731520"/>
          </a:xfrm>
          <a:prstGeom prst="ellipse">
            <a:avLst/>
          </a:prstGeom>
          <a:solidFill>
            <a:srgbClr val="15213E"/>
          </a:solidFill>
          <a:ln/>
        </p:spPr>
      </p:sp>
      <p:pic>
        <p:nvPicPr>
          <p:cNvPr id="17" name="Image 2" descr="/tmp/osa_pres/icons/question_teal.png">    </p:cNvPr>
          <p:cNvPicPr>
            <a:picLocks noChangeAspect="1"/>
          </p:cNvPicPr>
          <p:nvPr/>
        </p:nvPicPr>
        <p:blipFill>
          <a:blip r:embed="rId3"/>
          <a:stretch>
            <a:fillRect/>
          </a:stretch>
        </p:blipFill>
        <p:spPr>
          <a:xfrm>
            <a:off x="9627718" y="2563978"/>
            <a:ext cx="541325" cy="541325"/>
          </a:xfrm>
          <a:prstGeom prst="rect">
            <a:avLst/>
          </a:prstGeom>
        </p:spPr>
      </p:pic>
      <p:sp>
        <p:nvSpPr>
          <p:cNvPr id="18" name="Text 13"/>
          <p:cNvSpPr txBox="1"/>
          <p:nvPr/>
        </p:nvSpPr>
        <p:spPr>
          <a:xfrm>
            <a:off x="8366760" y="3383280"/>
            <a:ext cx="3063240" cy="457200"/>
          </a:xfrm>
          <a:prstGeom prst="rect">
            <a:avLst/>
          </a:prstGeom>
          <a:noFill/>
          <a:ln/>
        </p:spPr>
        <p:txBody>
          <a:bodyPr wrap="square" lIns="0" tIns="0" rIns="0" bIns="0" rtlCol="0" anchor="ctr"/>
          <a:lstStyle/>
          <a:p>
            <a:pPr algn="ctr" indent="0" marL="0">
              <a:buNone/>
            </a:pPr>
            <a:r>
              <a:rPr lang="en-US" sz="1550" b="1" dirty="0">
                <a:solidFill>
                  <a:srgbClr val="15213E"/>
                </a:solidFill>
                <a:latin typeface="Cambria" pitchFamily="34" charset="0"/>
                <a:ea typeface="Cambria" pitchFamily="34" charset="-122"/>
                <a:cs typeface="Cambria" pitchFamily="34" charset="-120"/>
              </a:rPr>
              <a:t>Distribución de claves</a:t>
            </a:r>
            <a:endParaRPr lang="en-US" sz="1550" dirty="0"/>
          </a:p>
        </p:txBody>
      </p:sp>
      <p:sp>
        <p:nvSpPr>
          <p:cNvPr id="19" name="Text 14"/>
          <p:cNvSpPr txBox="1"/>
          <p:nvPr/>
        </p:nvSpPr>
        <p:spPr>
          <a:xfrm>
            <a:off x="8412480" y="3840480"/>
            <a:ext cx="2971800" cy="1005840"/>
          </a:xfrm>
          <a:prstGeom prst="rect">
            <a:avLst/>
          </a:prstGeom>
          <a:noFill/>
          <a:ln/>
        </p:spPr>
        <p:txBody>
          <a:bodyPr wrap="square" lIns="0" tIns="0" rIns="0" bIns="0" rtlCol="0" anchor="ctr"/>
          <a:lstStyle/>
          <a:p>
            <a:pPr algn="ctr" indent="0" marL="0">
              <a:lnSpc>
                <a:spcPct val="115000"/>
              </a:lnSpc>
              <a:buNone/>
            </a:pPr>
            <a:r>
              <a:rPr lang="en-US" sz="1250" dirty="0">
                <a:solidFill>
                  <a:srgbClr val="5B6485"/>
                </a:solidFill>
                <a:latin typeface="Calibri" pitchFamily="34" charset="0"/>
                <a:ea typeface="Calibri" pitchFamily="34" charset="-122"/>
                <a:cs typeface="Calibri" pitchFamily="34" charset="-120"/>
              </a:rPr>
              <a:t>Repartir 256 bits secretos por un canal no autenticado, en el momento, es exactamente el problema que la cripto simétrica no resuelve sola.</a:t>
            </a:r>
            <a:endParaRPr lang="en-US" sz="1250" dirty="0"/>
          </a:p>
        </p:txBody>
      </p:sp>
      <p:sp>
        <p:nvSpPr>
          <p:cNvPr id="20" name="Shape 15"/>
          <p:cNvSpPr/>
          <p:nvPr/>
        </p:nvSpPr>
        <p:spPr>
          <a:xfrm>
            <a:off x="548640" y="5257800"/>
            <a:ext cx="11091672" cy="868680"/>
          </a:xfrm>
          <a:prstGeom prst="roundRect">
            <a:avLst>
              <a:gd name="adj" fmla="val 8421"/>
            </a:avLst>
          </a:prstGeom>
          <a:solidFill>
            <a:srgbClr val="15213E"/>
          </a:solidFill>
          <a:ln w="12700">
            <a:solidFill>
              <a:srgbClr val="E2E5F0"/>
            </a:solidFill>
            <a:prstDash val="solid"/>
          </a:ln>
        </p:spPr>
      </p:sp>
      <p:sp>
        <p:nvSpPr>
          <p:cNvPr id="21" name="Text 16"/>
          <p:cNvSpPr txBox="1"/>
          <p:nvPr/>
        </p:nvSpPr>
        <p:spPr>
          <a:xfrm>
            <a:off x="914400" y="5257800"/>
            <a:ext cx="10332720" cy="86868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La salida clásica a un problema de distribución de claves siempre fue la misma: criptografía de clave pública.</a:t>
            </a:r>
            <a:endParaRPr lang="en-US" sz="1600" dirty="0"/>
          </a:p>
        </p:txBody>
      </p:sp>
      <p:sp>
        <p:nvSpPr>
          <p:cNvPr id="22" name="Text 17"/>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23" name="Text 18"/>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PUBLIC-KEY ENCRYPTION WITH KEYWORD SEARCH</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PEKS: cifrado de clave pública buscable</a:t>
            </a:r>
            <a:endParaRPr lang="en-US" sz="3200" dirty="0"/>
          </a:p>
        </p:txBody>
      </p:sp>
      <p:sp>
        <p:nvSpPr>
          <p:cNvPr id="4" name="Shape 2"/>
          <p:cNvSpPr/>
          <p:nvPr/>
        </p:nvSpPr>
        <p:spPr>
          <a:xfrm>
            <a:off x="548640" y="1417320"/>
            <a:ext cx="5029200" cy="4709160"/>
          </a:xfrm>
          <a:prstGeom prst="roundRect">
            <a:avLst>
              <a:gd name="adj" fmla="val 1553"/>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5" name="Shape 3"/>
          <p:cNvSpPr/>
          <p:nvPr/>
        </p:nvSpPr>
        <p:spPr>
          <a:xfrm>
            <a:off x="868680" y="1737360"/>
            <a:ext cx="594360" cy="594360"/>
          </a:xfrm>
          <a:prstGeom prst="ellipse">
            <a:avLst/>
          </a:prstGeom>
          <a:solidFill>
            <a:srgbClr val="15213E"/>
          </a:solidFill>
          <a:ln/>
        </p:spPr>
      </p:sp>
      <p:pic>
        <p:nvPicPr>
          <p:cNvPr id="6" name="Image 0" descr="/tmp/osa_pres/icons/envelope_teal.png">    </p:cNvPr>
          <p:cNvPicPr>
            <a:picLocks noChangeAspect="1"/>
          </p:cNvPicPr>
          <p:nvPr/>
        </p:nvPicPr>
        <p:blipFill>
          <a:blip r:embed="rId1"/>
          <a:stretch>
            <a:fillRect/>
          </a:stretch>
        </p:blipFill>
        <p:spPr>
          <a:xfrm>
            <a:off x="945947" y="1814627"/>
            <a:ext cx="439826" cy="439826"/>
          </a:xfrm>
          <a:prstGeom prst="rect">
            <a:avLst/>
          </a:prstGeom>
        </p:spPr>
      </p:pic>
      <p:sp>
        <p:nvSpPr>
          <p:cNvPr id="7" name="Text 4"/>
          <p:cNvSpPr txBox="1"/>
          <p:nvPr/>
        </p:nvSpPr>
        <p:spPr>
          <a:xfrm>
            <a:off x="1600200" y="1737360"/>
            <a:ext cx="3840480" cy="457200"/>
          </a:xfrm>
          <a:prstGeom prst="rect">
            <a:avLst/>
          </a:prstGeom>
          <a:noFill/>
          <a:ln/>
        </p:spPr>
        <p:txBody>
          <a:bodyPr wrap="square" lIns="0" tIns="0" rIns="0" bIns="0" rtlCol="0" anchor="ctr"/>
          <a:lstStyle/>
          <a:p>
            <a:pPr indent="0" marL="0">
              <a:buNone/>
            </a:pPr>
            <a:r>
              <a:rPr lang="en-US" sz="1600" b="1" dirty="0">
                <a:solidFill>
                  <a:srgbClr val="15213E"/>
                </a:solidFill>
                <a:latin typeface="Cambria" pitchFamily="34" charset="0"/>
                <a:ea typeface="Cambria" pitchFamily="34" charset="-122"/>
                <a:cs typeface="Cambria" pitchFamily="34" charset="-120"/>
              </a:rPr>
              <a:t>La motivación original</a:t>
            </a:r>
            <a:endParaRPr lang="en-US" sz="1600" dirty="0"/>
          </a:p>
        </p:txBody>
      </p:sp>
      <p:sp>
        <p:nvSpPr>
          <p:cNvPr id="8" name="Text 5"/>
          <p:cNvSpPr txBox="1"/>
          <p:nvPr/>
        </p:nvSpPr>
        <p:spPr>
          <a:xfrm>
            <a:off x="868680" y="2423160"/>
            <a:ext cx="4434840" cy="1371600"/>
          </a:xfrm>
          <a:prstGeom prst="rect">
            <a:avLst/>
          </a:prstGeom>
          <a:noFill/>
          <a:ln/>
        </p:spPr>
        <p:txBody>
          <a:bodyPr wrap="square" lIns="0" tIns="0" rIns="0" bIns="0" rtlCol="0" anchor="ctr"/>
          <a:lstStyle/>
          <a:p>
            <a:pPr indent="0" marL="0">
              <a:lnSpc>
                <a:spcPct val="120000"/>
              </a:lnSpc>
              <a:buNone/>
            </a:pPr>
            <a:r>
              <a:rPr lang="en-US" sz="1350" dirty="0">
                <a:solidFill>
                  <a:srgbClr val="1B2340"/>
                </a:solidFill>
                <a:latin typeface="Calibri" pitchFamily="34" charset="0"/>
                <a:ea typeface="Calibri" pitchFamily="34" charset="-122"/>
                <a:cs typeface="Calibri" pitchFamily="34" charset="-120"/>
              </a:rPr>
              <a:t>Correo cifrado buscable: cualquiera cifra un mensaje para Bob usando su clave PÚBLICA — sin coordinar ninguna clave secreta. Un gateway de correo, sin la clave privada de Bob, debe poder filtrar por palabra clave (ej. “urgente”) sin leer el contenido.</a:t>
            </a:r>
            <a:endParaRPr lang="en-US" sz="1350" dirty="0"/>
          </a:p>
        </p:txBody>
      </p:sp>
      <p:sp>
        <p:nvSpPr>
          <p:cNvPr id="9" name="Text 6"/>
          <p:cNvSpPr txBox="1"/>
          <p:nvPr/>
        </p:nvSpPr>
        <p:spPr>
          <a:xfrm>
            <a:off x="868680" y="3931920"/>
            <a:ext cx="4434840" cy="365760"/>
          </a:xfrm>
          <a:prstGeom prst="rect">
            <a:avLst/>
          </a:prstGeom>
          <a:noFill/>
          <a:ln/>
        </p:spPr>
        <p:txBody>
          <a:bodyPr wrap="square" lIns="0" tIns="0" rIns="0" bIns="0" rtlCol="0" anchor="ctr"/>
          <a:lstStyle/>
          <a:p>
            <a:pPr indent="0" marL="0">
              <a:buNone/>
            </a:pPr>
            <a:r>
              <a:rPr lang="en-US" sz="1200" i="1" dirty="0">
                <a:solidFill>
                  <a:srgbClr val="5B6485"/>
                </a:solidFill>
                <a:latin typeface="Calibri" pitchFamily="34" charset="0"/>
                <a:ea typeface="Calibri" pitchFamily="34" charset="-122"/>
                <a:cs typeface="Calibri" pitchFamily="34" charset="-120"/>
              </a:rPr>
              <a:t>Boneh, Di Crescenzo, Ostrovsky, Persiano — EUROCRYPT 2004</a:t>
            </a:r>
            <a:endParaRPr lang="en-US" sz="1200" dirty="0"/>
          </a:p>
        </p:txBody>
      </p:sp>
      <p:sp>
        <p:nvSpPr>
          <p:cNvPr id="10" name="Text 7"/>
          <p:cNvSpPr txBox="1"/>
          <p:nvPr/>
        </p:nvSpPr>
        <p:spPr>
          <a:xfrm>
            <a:off x="868680" y="4480560"/>
            <a:ext cx="4434840" cy="1371600"/>
          </a:xfrm>
          <a:prstGeom prst="rect">
            <a:avLst/>
          </a:prstGeom>
          <a:noFill/>
          <a:ln/>
        </p:spPr>
        <p:txBody>
          <a:bodyPr wrap="square" lIns="0" tIns="0" rIns="0" bIns="0" rtlCol="0" anchor="ctr"/>
          <a:lstStyle/>
          <a:p>
            <a:pPr indent="0" marL="0">
              <a:lnSpc>
                <a:spcPct val="120000"/>
              </a:lnSpc>
              <a:buNone/>
            </a:pPr>
            <a:r>
              <a:rPr lang="en-US" sz="1300" dirty="0">
                <a:solidFill>
                  <a:srgbClr val="5B6485"/>
                </a:solidFill>
                <a:latin typeface="Calibri" pitchFamily="34" charset="0"/>
                <a:ea typeface="Calibri" pitchFamily="34" charset="-122"/>
                <a:cs typeface="Calibri" pitchFamily="34" charset="-120"/>
              </a:rPr>
              <a:t>Base matemática: emparejamientos bilineales sobre curvas elípticas — emparentado con el IBE de Boneh–Franklin.</a:t>
            </a:r>
            <a:endParaRPr lang="en-US" sz="1300" dirty="0"/>
          </a:p>
        </p:txBody>
      </p:sp>
      <p:sp>
        <p:nvSpPr>
          <p:cNvPr id="11" name="Shape 8"/>
          <p:cNvSpPr/>
          <p:nvPr/>
        </p:nvSpPr>
        <p:spPr>
          <a:xfrm>
            <a:off x="5806440" y="1417320"/>
            <a:ext cx="5833872" cy="4709160"/>
          </a:xfrm>
          <a:prstGeom prst="roundRect">
            <a:avLst>
              <a:gd name="adj" fmla="val 1553"/>
            </a:avLst>
          </a:prstGeom>
          <a:solidFill>
            <a:srgbClr val="15213E"/>
          </a:solidFill>
          <a:ln w="12700">
            <a:solidFill>
              <a:srgbClr val="E2E5F0"/>
            </a:solidFill>
            <a:prstDash val="solid"/>
          </a:ln>
        </p:spPr>
      </p:sp>
      <p:sp>
        <p:nvSpPr>
          <p:cNvPr id="12" name="Text 9"/>
          <p:cNvSpPr txBox="1"/>
          <p:nvPr/>
        </p:nvSpPr>
        <p:spPr>
          <a:xfrm>
            <a:off x="6126480" y="1691640"/>
            <a:ext cx="521208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Cómo funciona, paso a paso</a:t>
            </a:r>
            <a:endParaRPr lang="en-US" sz="1600" dirty="0"/>
          </a:p>
        </p:txBody>
      </p:sp>
      <p:sp>
        <p:nvSpPr>
          <p:cNvPr id="13" name="Shape 10"/>
          <p:cNvSpPr/>
          <p:nvPr/>
        </p:nvSpPr>
        <p:spPr>
          <a:xfrm>
            <a:off x="6126480" y="2331720"/>
            <a:ext cx="5212080" cy="777240"/>
          </a:xfrm>
          <a:prstGeom prst="roundRect">
            <a:avLst>
              <a:gd name="adj" fmla="val 7059"/>
            </a:avLst>
          </a:prstGeom>
          <a:solidFill>
            <a:srgbClr val="1E2E56"/>
          </a:solidFill>
          <a:ln/>
        </p:spPr>
      </p:sp>
      <p:sp>
        <p:nvSpPr>
          <p:cNvPr id="14" name="Text 11"/>
          <p:cNvSpPr txBox="1"/>
          <p:nvPr/>
        </p:nvSpPr>
        <p:spPr>
          <a:xfrm>
            <a:off x="6309360" y="2404872"/>
            <a:ext cx="3657600" cy="292608"/>
          </a:xfrm>
          <a:prstGeom prst="rect">
            <a:avLst/>
          </a:prstGeom>
          <a:noFill/>
          <a:ln/>
        </p:spPr>
        <p:txBody>
          <a:bodyPr wrap="square" lIns="0" tIns="0" rIns="0" bIns="0" rtlCol="0" anchor="ctr"/>
          <a:lstStyle/>
          <a:p>
            <a:pPr indent="0" marL="0">
              <a:buNone/>
            </a:pPr>
            <a:r>
              <a:rPr lang="en-US" sz="1300" b="1" dirty="0">
                <a:solidFill>
                  <a:srgbClr val="17B8A6"/>
                </a:solidFill>
                <a:latin typeface="Calibri" pitchFamily="34" charset="0"/>
                <a:ea typeface="Calibri" pitchFamily="34" charset="-122"/>
                <a:cs typeface="Calibri" pitchFamily="34" charset="-120"/>
              </a:rPr>
              <a:t>1. Crear las claves</a:t>
            </a:r>
            <a:endParaRPr lang="en-US" sz="1300" dirty="0"/>
          </a:p>
        </p:txBody>
      </p:sp>
      <p:sp>
        <p:nvSpPr>
          <p:cNvPr id="15" name="Text 12"/>
          <p:cNvSpPr txBox="1"/>
          <p:nvPr/>
        </p:nvSpPr>
        <p:spPr>
          <a:xfrm>
            <a:off x="9784080" y="2404872"/>
            <a:ext cx="1417320" cy="292608"/>
          </a:xfrm>
          <a:prstGeom prst="rect">
            <a:avLst/>
          </a:prstGeom>
          <a:noFill/>
          <a:ln/>
        </p:spPr>
        <p:txBody>
          <a:bodyPr wrap="square" lIns="0" tIns="0" rIns="0" bIns="0" rtlCol="0" anchor="ctr"/>
          <a:lstStyle/>
          <a:p>
            <a:pPr algn="r" indent="0" marL="0">
              <a:buNone/>
            </a:pPr>
            <a:r>
              <a:rPr lang="en-US" sz="1050" i="1" dirty="0">
                <a:solidFill>
                  <a:srgbClr val="AEB6D6"/>
                </a:solidFill>
                <a:latin typeface="Calibri" pitchFamily="34" charset="0"/>
                <a:ea typeface="Calibri" pitchFamily="34" charset="-122"/>
                <a:cs typeface="Calibri" pitchFamily="34" charset="-120"/>
              </a:rPr>
              <a:t>KeyGen</a:t>
            </a:r>
            <a:endParaRPr lang="en-US" sz="1050" dirty="0"/>
          </a:p>
        </p:txBody>
      </p:sp>
      <p:sp>
        <p:nvSpPr>
          <p:cNvPr id="16" name="Text 13"/>
          <p:cNvSpPr txBox="1"/>
          <p:nvPr/>
        </p:nvSpPr>
        <p:spPr>
          <a:xfrm>
            <a:off x="6309360" y="2697480"/>
            <a:ext cx="4846320" cy="384048"/>
          </a:xfrm>
          <a:prstGeom prst="rect">
            <a:avLst/>
          </a:prstGeom>
          <a:noFill/>
          <a:ln/>
        </p:spPr>
        <p:txBody>
          <a:bodyPr wrap="square" lIns="0" tIns="0" rIns="0" bIns="0" rtlCol="0" anchor="ctr"/>
          <a:lstStyle/>
          <a:p>
            <a:pPr indent="0" marL="0">
              <a:lnSpc>
                <a:spcPct val="110000"/>
              </a:lnSpc>
              <a:buNone/>
            </a:pPr>
            <a:r>
              <a:rPr lang="en-US" sz="1100" dirty="0">
                <a:solidFill>
                  <a:srgbClr val="AEB6D6"/>
                </a:solidFill>
                <a:latin typeface="Calibri" pitchFamily="34" charset="0"/>
                <a:ea typeface="Calibri" pitchFamily="34" charset="-122"/>
                <a:cs typeface="Calibri" pitchFamily="34" charset="-120"/>
              </a:rPr>
              <a:t>Se genera un par: una PÚBLICA (se puede compartir con cualquiera) y una PRIVADA (se guarda en secreto).</a:t>
            </a:r>
            <a:endParaRPr lang="en-US" sz="1100" dirty="0"/>
          </a:p>
        </p:txBody>
      </p:sp>
      <p:sp>
        <p:nvSpPr>
          <p:cNvPr id="17" name="Shape 14"/>
          <p:cNvSpPr/>
          <p:nvPr/>
        </p:nvSpPr>
        <p:spPr>
          <a:xfrm>
            <a:off x="6126480" y="3291840"/>
            <a:ext cx="5212080" cy="777240"/>
          </a:xfrm>
          <a:prstGeom prst="roundRect">
            <a:avLst>
              <a:gd name="adj" fmla="val 7059"/>
            </a:avLst>
          </a:prstGeom>
          <a:solidFill>
            <a:srgbClr val="1E2E56"/>
          </a:solidFill>
          <a:ln/>
        </p:spPr>
      </p:sp>
      <p:sp>
        <p:nvSpPr>
          <p:cNvPr id="18" name="Text 15"/>
          <p:cNvSpPr txBox="1"/>
          <p:nvPr/>
        </p:nvSpPr>
        <p:spPr>
          <a:xfrm>
            <a:off x="6309360" y="3364992"/>
            <a:ext cx="3657600" cy="292608"/>
          </a:xfrm>
          <a:prstGeom prst="rect">
            <a:avLst/>
          </a:prstGeom>
          <a:noFill/>
          <a:ln/>
        </p:spPr>
        <p:txBody>
          <a:bodyPr wrap="square" lIns="0" tIns="0" rIns="0" bIns="0" rtlCol="0" anchor="ctr"/>
          <a:lstStyle/>
          <a:p>
            <a:pPr indent="0" marL="0">
              <a:buNone/>
            </a:pPr>
            <a:r>
              <a:rPr lang="en-US" sz="1300" b="1" dirty="0">
                <a:solidFill>
                  <a:srgbClr val="17B8A6"/>
                </a:solidFill>
                <a:latin typeface="Calibri" pitchFamily="34" charset="0"/>
                <a:ea typeface="Calibri" pitchFamily="34" charset="-122"/>
                <a:cs typeface="Calibri" pitchFamily="34" charset="-120"/>
              </a:rPr>
              <a:t>2. Cifrar una palabra</a:t>
            </a:r>
            <a:endParaRPr lang="en-US" sz="1300" dirty="0"/>
          </a:p>
        </p:txBody>
      </p:sp>
      <p:sp>
        <p:nvSpPr>
          <p:cNvPr id="19" name="Text 16"/>
          <p:cNvSpPr txBox="1"/>
          <p:nvPr/>
        </p:nvSpPr>
        <p:spPr>
          <a:xfrm>
            <a:off x="9784080" y="3364992"/>
            <a:ext cx="1417320" cy="292608"/>
          </a:xfrm>
          <a:prstGeom prst="rect">
            <a:avLst/>
          </a:prstGeom>
          <a:noFill/>
          <a:ln/>
        </p:spPr>
        <p:txBody>
          <a:bodyPr wrap="square" lIns="0" tIns="0" rIns="0" bIns="0" rtlCol="0" anchor="ctr"/>
          <a:lstStyle/>
          <a:p>
            <a:pPr algn="r" indent="0" marL="0">
              <a:buNone/>
            </a:pPr>
            <a:r>
              <a:rPr lang="en-US" sz="1050" i="1" dirty="0">
                <a:solidFill>
                  <a:srgbClr val="AEB6D6"/>
                </a:solidFill>
                <a:latin typeface="Calibri" pitchFamily="34" charset="0"/>
                <a:ea typeface="Calibri" pitchFamily="34" charset="-122"/>
                <a:cs typeface="Calibri" pitchFamily="34" charset="-120"/>
              </a:rPr>
              <a:t>PEKS</a:t>
            </a:r>
            <a:endParaRPr lang="en-US" sz="1050" dirty="0"/>
          </a:p>
        </p:txBody>
      </p:sp>
      <p:sp>
        <p:nvSpPr>
          <p:cNvPr id="20" name="Text 17"/>
          <p:cNvSpPr txBox="1"/>
          <p:nvPr/>
        </p:nvSpPr>
        <p:spPr>
          <a:xfrm>
            <a:off x="6309360" y="3657600"/>
            <a:ext cx="4846320" cy="384048"/>
          </a:xfrm>
          <a:prstGeom prst="rect">
            <a:avLst/>
          </a:prstGeom>
          <a:noFill/>
          <a:ln/>
        </p:spPr>
        <p:txBody>
          <a:bodyPr wrap="square" lIns="0" tIns="0" rIns="0" bIns="0" rtlCol="0" anchor="ctr"/>
          <a:lstStyle/>
          <a:p>
            <a:pPr indent="0" marL="0">
              <a:lnSpc>
                <a:spcPct val="110000"/>
              </a:lnSpc>
              <a:buNone/>
            </a:pPr>
            <a:r>
              <a:rPr lang="en-US" sz="1100" dirty="0">
                <a:solidFill>
                  <a:srgbClr val="AEB6D6"/>
                </a:solidFill>
                <a:latin typeface="Calibri" pitchFamily="34" charset="0"/>
                <a:ea typeface="Calibri" pitchFamily="34" charset="-122"/>
                <a:cs typeface="Calibri" pitchFamily="34" charset="-120"/>
              </a:rPr>
              <a:t>Cualquiera, usando solo la clave pública, puede cifrar una palabra sin coordinar nada con el dueño.</a:t>
            </a:r>
            <a:endParaRPr lang="en-US" sz="1100" dirty="0"/>
          </a:p>
        </p:txBody>
      </p:sp>
      <p:sp>
        <p:nvSpPr>
          <p:cNvPr id="21" name="Shape 18"/>
          <p:cNvSpPr/>
          <p:nvPr/>
        </p:nvSpPr>
        <p:spPr>
          <a:xfrm>
            <a:off x="6126480" y="4251960"/>
            <a:ext cx="5212080" cy="777240"/>
          </a:xfrm>
          <a:prstGeom prst="roundRect">
            <a:avLst>
              <a:gd name="adj" fmla="val 7059"/>
            </a:avLst>
          </a:prstGeom>
          <a:solidFill>
            <a:srgbClr val="1E2E56"/>
          </a:solidFill>
          <a:ln/>
        </p:spPr>
      </p:sp>
      <p:sp>
        <p:nvSpPr>
          <p:cNvPr id="22" name="Text 19"/>
          <p:cNvSpPr txBox="1"/>
          <p:nvPr/>
        </p:nvSpPr>
        <p:spPr>
          <a:xfrm>
            <a:off x="6309360" y="4325112"/>
            <a:ext cx="3657600" cy="292608"/>
          </a:xfrm>
          <a:prstGeom prst="rect">
            <a:avLst/>
          </a:prstGeom>
          <a:noFill/>
          <a:ln/>
        </p:spPr>
        <p:txBody>
          <a:bodyPr wrap="square" lIns="0" tIns="0" rIns="0" bIns="0" rtlCol="0" anchor="ctr"/>
          <a:lstStyle/>
          <a:p>
            <a:pPr indent="0" marL="0">
              <a:buNone/>
            </a:pPr>
            <a:r>
              <a:rPr lang="en-US" sz="1300" b="1" dirty="0">
                <a:solidFill>
                  <a:srgbClr val="17B8A6"/>
                </a:solidFill>
                <a:latin typeface="Calibri" pitchFamily="34" charset="0"/>
                <a:ea typeface="Calibri" pitchFamily="34" charset="-122"/>
                <a:cs typeface="Calibri" pitchFamily="34" charset="-120"/>
              </a:rPr>
              <a:t>3. Pedir permiso de búsqueda</a:t>
            </a:r>
            <a:endParaRPr lang="en-US" sz="1300" dirty="0"/>
          </a:p>
        </p:txBody>
      </p:sp>
      <p:sp>
        <p:nvSpPr>
          <p:cNvPr id="23" name="Text 20"/>
          <p:cNvSpPr txBox="1"/>
          <p:nvPr/>
        </p:nvSpPr>
        <p:spPr>
          <a:xfrm>
            <a:off x="9784080" y="4325112"/>
            <a:ext cx="1417320" cy="292608"/>
          </a:xfrm>
          <a:prstGeom prst="rect">
            <a:avLst/>
          </a:prstGeom>
          <a:noFill/>
          <a:ln/>
        </p:spPr>
        <p:txBody>
          <a:bodyPr wrap="square" lIns="0" tIns="0" rIns="0" bIns="0" rtlCol="0" anchor="ctr"/>
          <a:lstStyle/>
          <a:p>
            <a:pPr algn="r" indent="0" marL="0">
              <a:buNone/>
            </a:pPr>
            <a:r>
              <a:rPr lang="en-US" sz="1050" i="1" dirty="0">
                <a:solidFill>
                  <a:srgbClr val="AEB6D6"/>
                </a:solidFill>
                <a:latin typeface="Calibri" pitchFamily="34" charset="0"/>
                <a:ea typeface="Calibri" pitchFamily="34" charset="-122"/>
                <a:cs typeface="Calibri" pitchFamily="34" charset="-120"/>
              </a:rPr>
              <a:t>Trapdoor</a:t>
            </a:r>
            <a:endParaRPr lang="en-US" sz="1050" dirty="0"/>
          </a:p>
        </p:txBody>
      </p:sp>
      <p:sp>
        <p:nvSpPr>
          <p:cNvPr id="24" name="Text 21"/>
          <p:cNvSpPr txBox="1"/>
          <p:nvPr/>
        </p:nvSpPr>
        <p:spPr>
          <a:xfrm>
            <a:off x="6309360" y="4617720"/>
            <a:ext cx="4846320" cy="384048"/>
          </a:xfrm>
          <a:prstGeom prst="rect">
            <a:avLst/>
          </a:prstGeom>
          <a:noFill/>
          <a:ln/>
        </p:spPr>
        <p:txBody>
          <a:bodyPr wrap="square" lIns="0" tIns="0" rIns="0" bIns="0" rtlCol="0" anchor="ctr"/>
          <a:lstStyle/>
          <a:p>
            <a:pPr indent="0" marL="0">
              <a:lnSpc>
                <a:spcPct val="110000"/>
              </a:lnSpc>
              <a:buNone/>
            </a:pPr>
            <a:r>
              <a:rPr lang="en-US" sz="1100" dirty="0">
                <a:solidFill>
                  <a:srgbClr val="AEB6D6"/>
                </a:solidFill>
                <a:latin typeface="Calibri" pitchFamily="34" charset="0"/>
                <a:ea typeface="Calibri" pitchFamily="34" charset="-122"/>
                <a:cs typeface="Calibri" pitchFamily="34" charset="-120"/>
              </a:rPr>
              <a:t>Solo el dueño de la clave privada puede generar un “permiso” para buscar una palabra puntual.</a:t>
            </a:r>
            <a:endParaRPr lang="en-US" sz="1100" dirty="0"/>
          </a:p>
        </p:txBody>
      </p:sp>
      <p:sp>
        <p:nvSpPr>
          <p:cNvPr id="25" name="Shape 22"/>
          <p:cNvSpPr/>
          <p:nvPr/>
        </p:nvSpPr>
        <p:spPr>
          <a:xfrm>
            <a:off x="6126480" y="5212080"/>
            <a:ext cx="5212080" cy="777240"/>
          </a:xfrm>
          <a:prstGeom prst="roundRect">
            <a:avLst>
              <a:gd name="adj" fmla="val 7059"/>
            </a:avLst>
          </a:prstGeom>
          <a:solidFill>
            <a:srgbClr val="1E2E56"/>
          </a:solidFill>
          <a:ln/>
        </p:spPr>
      </p:sp>
      <p:sp>
        <p:nvSpPr>
          <p:cNvPr id="26" name="Text 23"/>
          <p:cNvSpPr txBox="1"/>
          <p:nvPr/>
        </p:nvSpPr>
        <p:spPr>
          <a:xfrm>
            <a:off x="6309360" y="5285232"/>
            <a:ext cx="3657600" cy="292608"/>
          </a:xfrm>
          <a:prstGeom prst="rect">
            <a:avLst/>
          </a:prstGeom>
          <a:noFill/>
          <a:ln/>
        </p:spPr>
        <p:txBody>
          <a:bodyPr wrap="square" lIns="0" tIns="0" rIns="0" bIns="0" rtlCol="0" anchor="ctr"/>
          <a:lstStyle/>
          <a:p>
            <a:pPr indent="0" marL="0">
              <a:buNone/>
            </a:pPr>
            <a:r>
              <a:rPr lang="en-US" sz="1300" b="1" dirty="0">
                <a:solidFill>
                  <a:srgbClr val="17B8A6"/>
                </a:solidFill>
                <a:latin typeface="Calibri" pitchFamily="34" charset="0"/>
                <a:ea typeface="Calibri" pitchFamily="34" charset="-122"/>
                <a:cs typeface="Calibri" pitchFamily="34" charset="-120"/>
              </a:rPr>
              <a:t>4. Comparar, sin leer</a:t>
            </a:r>
            <a:endParaRPr lang="en-US" sz="1300" dirty="0"/>
          </a:p>
        </p:txBody>
      </p:sp>
      <p:sp>
        <p:nvSpPr>
          <p:cNvPr id="27" name="Text 24"/>
          <p:cNvSpPr txBox="1"/>
          <p:nvPr/>
        </p:nvSpPr>
        <p:spPr>
          <a:xfrm>
            <a:off x="9784080" y="5285232"/>
            <a:ext cx="1417320" cy="292608"/>
          </a:xfrm>
          <a:prstGeom prst="rect">
            <a:avLst/>
          </a:prstGeom>
          <a:noFill/>
          <a:ln/>
        </p:spPr>
        <p:txBody>
          <a:bodyPr wrap="square" lIns="0" tIns="0" rIns="0" bIns="0" rtlCol="0" anchor="ctr"/>
          <a:lstStyle/>
          <a:p>
            <a:pPr algn="r" indent="0" marL="0">
              <a:buNone/>
            </a:pPr>
            <a:r>
              <a:rPr lang="en-US" sz="1050" i="1" dirty="0">
                <a:solidFill>
                  <a:srgbClr val="AEB6D6"/>
                </a:solidFill>
                <a:latin typeface="Calibri" pitchFamily="34" charset="0"/>
                <a:ea typeface="Calibri" pitchFamily="34" charset="-122"/>
                <a:cs typeface="Calibri" pitchFamily="34" charset="-120"/>
              </a:rPr>
              <a:t>Test</a:t>
            </a:r>
            <a:endParaRPr lang="en-US" sz="1050" dirty="0"/>
          </a:p>
        </p:txBody>
      </p:sp>
      <p:sp>
        <p:nvSpPr>
          <p:cNvPr id="28" name="Text 25"/>
          <p:cNvSpPr txBox="1"/>
          <p:nvPr/>
        </p:nvSpPr>
        <p:spPr>
          <a:xfrm>
            <a:off x="6309360" y="5577840"/>
            <a:ext cx="4846320" cy="384048"/>
          </a:xfrm>
          <a:prstGeom prst="rect">
            <a:avLst/>
          </a:prstGeom>
          <a:noFill/>
          <a:ln/>
        </p:spPr>
        <p:txBody>
          <a:bodyPr wrap="square" lIns="0" tIns="0" rIns="0" bIns="0" rtlCol="0" anchor="ctr"/>
          <a:lstStyle/>
          <a:p>
            <a:pPr indent="0" marL="0">
              <a:lnSpc>
                <a:spcPct val="110000"/>
              </a:lnSpc>
              <a:buNone/>
            </a:pPr>
            <a:r>
              <a:rPr lang="en-US" sz="1100" dirty="0">
                <a:solidFill>
                  <a:srgbClr val="AEB6D6"/>
                </a:solidFill>
                <a:latin typeface="Calibri" pitchFamily="34" charset="0"/>
                <a:ea typeface="Calibri" pitchFamily="34" charset="-122"/>
                <a:cs typeface="Calibri" pitchFamily="34" charset="-120"/>
              </a:rPr>
              <a:t>El servidor compara el permiso con lo cifrado y responde sí / no — nunca ve la palabra real.</a:t>
            </a:r>
            <a:endParaRPr lang="en-US" sz="1100" dirty="0"/>
          </a:p>
        </p:txBody>
      </p:sp>
      <p:sp>
        <p:nvSpPr>
          <p:cNvPr id="29" name="Text 26"/>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30" name="Text 27"/>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SEGURIDAD FORMAL VS. SEGURIDAD PRÁCTICA</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Semánticamente seguro… y aun así vulnerable</a:t>
            </a:r>
            <a:endParaRPr lang="en-US" sz="3200" dirty="0"/>
          </a:p>
        </p:txBody>
      </p:sp>
      <p:sp>
        <p:nvSpPr>
          <p:cNvPr id="4" name="Shape 2"/>
          <p:cNvSpPr/>
          <p:nvPr/>
        </p:nvSpPr>
        <p:spPr>
          <a:xfrm>
            <a:off x="548640" y="1417320"/>
            <a:ext cx="5394960" cy="3246120"/>
          </a:xfrm>
          <a:prstGeom prst="roundRect">
            <a:avLst>
              <a:gd name="adj" fmla="val 2254"/>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5" name="Shape 3"/>
          <p:cNvSpPr/>
          <p:nvPr/>
        </p:nvSpPr>
        <p:spPr>
          <a:xfrm>
            <a:off x="868680" y="1737360"/>
            <a:ext cx="594360" cy="594360"/>
          </a:xfrm>
          <a:prstGeom prst="ellipse">
            <a:avLst/>
          </a:prstGeom>
          <a:solidFill>
            <a:srgbClr val="15213E"/>
          </a:solidFill>
          <a:ln/>
        </p:spPr>
      </p:sp>
      <p:pic>
        <p:nvPicPr>
          <p:cNvPr id="6" name="Image 0" descr="/tmp/osa_pres/icons/shield_teal.png">    </p:cNvPr>
          <p:cNvPicPr>
            <a:picLocks noChangeAspect="1"/>
          </p:cNvPicPr>
          <p:nvPr/>
        </p:nvPicPr>
        <p:blipFill>
          <a:blip r:embed="rId1"/>
          <a:stretch>
            <a:fillRect/>
          </a:stretch>
        </p:blipFill>
        <p:spPr>
          <a:xfrm>
            <a:off x="945947" y="1814627"/>
            <a:ext cx="439826" cy="439826"/>
          </a:xfrm>
          <a:prstGeom prst="rect">
            <a:avLst/>
          </a:prstGeom>
        </p:spPr>
      </p:pic>
      <p:sp>
        <p:nvSpPr>
          <p:cNvPr id="7" name="Text 4"/>
          <p:cNvSpPr txBox="1"/>
          <p:nvPr/>
        </p:nvSpPr>
        <p:spPr>
          <a:xfrm>
            <a:off x="1600200" y="1737360"/>
            <a:ext cx="4206240" cy="548640"/>
          </a:xfrm>
          <a:prstGeom prst="rect">
            <a:avLst/>
          </a:prstGeom>
          <a:noFill/>
          <a:ln/>
        </p:spPr>
        <p:txBody>
          <a:bodyPr wrap="square" lIns="0" tIns="0" rIns="0" bIns="0" rtlCol="0" anchor="ctr"/>
          <a:lstStyle/>
          <a:p>
            <a:pPr indent="0" marL="0">
              <a:buNone/>
            </a:pPr>
            <a:r>
              <a:rPr lang="en-US" sz="1550" b="1" dirty="0">
                <a:solidFill>
                  <a:srgbClr val="15213E"/>
                </a:solidFill>
                <a:latin typeface="Cambria" pitchFamily="34" charset="0"/>
                <a:ea typeface="Cambria" pitchFamily="34" charset="-122"/>
                <a:cs typeface="Cambria" pitchFamily="34" charset="-120"/>
              </a:rPr>
              <a:t>Sin permiso, no se puede adivinar</a:t>
            </a:r>
            <a:endParaRPr lang="en-US" sz="1550" dirty="0"/>
          </a:p>
        </p:txBody>
      </p:sp>
      <p:sp>
        <p:nvSpPr>
          <p:cNvPr id="8" name="Text 5"/>
          <p:cNvSpPr txBox="1"/>
          <p:nvPr/>
        </p:nvSpPr>
        <p:spPr>
          <a:xfrm>
            <a:off x="868680" y="2468880"/>
            <a:ext cx="4754880" cy="1554480"/>
          </a:xfrm>
          <a:prstGeom prst="rect">
            <a:avLst/>
          </a:prstGeom>
          <a:noFill/>
          <a:ln/>
        </p:spPr>
        <p:txBody>
          <a:bodyPr wrap="square" lIns="0" tIns="0" rIns="0" bIns="0" rtlCol="0" anchor="ctr"/>
          <a:lstStyle/>
          <a:p>
            <a:pPr indent="0" marL="0">
              <a:lnSpc>
                <a:spcPct val="125000"/>
              </a:lnSpc>
              <a:buNone/>
            </a:pPr>
            <a:r>
              <a:rPr lang="en-US" sz="1400" dirty="0">
                <a:solidFill>
                  <a:srgbClr val="1B2340"/>
                </a:solidFill>
                <a:latin typeface="Calibri" pitchFamily="34" charset="0"/>
                <a:ea typeface="Calibri" pitchFamily="34" charset="-122"/>
                <a:cs typeface="Calibri" pitchFamily="34" charset="-120"/>
              </a:rPr>
              <a:t>Si no tenés el permiso de búsqueda de una palabra, el cifrado no te dice nada: es indistinguible del cifrado de cualquier otra palabra. Esto sí está formalmente probado.</a:t>
            </a:r>
            <a:endParaRPr lang="en-US" sz="1400" dirty="0"/>
          </a:p>
        </p:txBody>
      </p:sp>
      <p:sp>
        <p:nvSpPr>
          <p:cNvPr id="9" name="Text 6"/>
          <p:cNvSpPr txBox="1"/>
          <p:nvPr/>
        </p:nvSpPr>
        <p:spPr>
          <a:xfrm>
            <a:off x="868680" y="4160520"/>
            <a:ext cx="4754880" cy="320040"/>
          </a:xfrm>
          <a:prstGeom prst="rect">
            <a:avLst/>
          </a:prstGeom>
          <a:noFill/>
          <a:ln/>
        </p:spPr>
        <p:txBody>
          <a:bodyPr wrap="square" lIns="0" tIns="0" rIns="0" bIns="0" rtlCol="0" anchor="ctr"/>
          <a:lstStyle/>
          <a:p>
            <a:pPr indent="0" marL="0">
              <a:buNone/>
            </a:pPr>
            <a:r>
              <a:rPr lang="en-US" sz="1150" i="1" dirty="0">
                <a:solidFill>
                  <a:srgbClr val="5B6485"/>
                </a:solidFill>
                <a:latin typeface="Calibri" pitchFamily="34" charset="0"/>
                <a:ea typeface="Calibri" pitchFamily="34" charset="-122"/>
                <a:cs typeface="Calibri" pitchFamily="34" charset="-120"/>
              </a:rPr>
              <a:t>(propiedad formal: IND-CKA)</a:t>
            </a:r>
            <a:endParaRPr lang="en-US" sz="1150" dirty="0"/>
          </a:p>
        </p:txBody>
      </p:sp>
      <p:sp>
        <p:nvSpPr>
          <p:cNvPr id="10" name="Shape 7"/>
          <p:cNvSpPr/>
          <p:nvPr/>
        </p:nvSpPr>
        <p:spPr>
          <a:xfrm>
            <a:off x="6263640" y="1417320"/>
            <a:ext cx="5376672" cy="3246120"/>
          </a:xfrm>
          <a:prstGeom prst="roundRect">
            <a:avLst>
              <a:gd name="adj" fmla="val 2254"/>
            </a:avLst>
          </a:prstGeom>
          <a:solidFill>
            <a:srgbClr val="FFF6E9"/>
          </a:solidFill>
          <a:ln w="12700">
            <a:solidFill>
              <a:srgbClr val="E8A33D"/>
            </a:solidFill>
            <a:prstDash val="solid"/>
          </a:ln>
          <a:effectLst>
            <a:outerShdw sx="100000" sy="100000" kx="0" ky="0" algn="bl" rotWithShape="0" blurRad="101600" dist="38100" dir="5400000">
              <a:srgbClr val="1B2340">
                <a:alpha val="12000"/>
              </a:srgbClr>
            </a:outerShdw>
          </a:effectLst>
        </p:spPr>
      </p:sp>
      <p:sp>
        <p:nvSpPr>
          <p:cNvPr id="11" name="Shape 8"/>
          <p:cNvSpPr/>
          <p:nvPr/>
        </p:nvSpPr>
        <p:spPr>
          <a:xfrm>
            <a:off x="6583680" y="1737360"/>
            <a:ext cx="594360" cy="594360"/>
          </a:xfrm>
          <a:prstGeom prst="ellipse">
            <a:avLst/>
          </a:prstGeom>
          <a:solidFill>
            <a:srgbClr val="E8A33D"/>
          </a:solidFill>
          <a:ln/>
        </p:spPr>
      </p:sp>
      <p:pic>
        <p:nvPicPr>
          <p:cNvPr id="12" name="Image 1" descr="/tmp/osa_pres/icons/times_navy.png">    </p:cNvPr>
          <p:cNvPicPr>
            <a:picLocks noChangeAspect="1"/>
          </p:cNvPicPr>
          <p:nvPr/>
        </p:nvPicPr>
        <p:blipFill>
          <a:blip r:embed="rId2"/>
          <a:stretch>
            <a:fillRect/>
          </a:stretch>
        </p:blipFill>
        <p:spPr>
          <a:xfrm>
            <a:off x="6660947" y="1814627"/>
            <a:ext cx="439826" cy="439826"/>
          </a:xfrm>
          <a:prstGeom prst="rect">
            <a:avLst/>
          </a:prstGeom>
        </p:spPr>
      </p:pic>
      <p:sp>
        <p:nvSpPr>
          <p:cNvPr id="13" name="Text 9"/>
          <p:cNvSpPr txBox="1"/>
          <p:nvPr/>
        </p:nvSpPr>
        <p:spPr>
          <a:xfrm>
            <a:off x="7315200" y="1737360"/>
            <a:ext cx="4206240" cy="548640"/>
          </a:xfrm>
          <a:prstGeom prst="rect">
            <a:avLst/>
          </a:prstGeom>
          <a:noFill/>
          <a:ln/>
        </p:spPr>
        <p:txBody>
          <a:bodyPr wrap="square" lIns="0" tIns="0" rIns="0" bIns="0" rtlCol="0" anchor="ctr"/>
          <a:lstStyle/>
          <a:p>
            <a:pPr indent="0" marL="0">
              <a:buNone/>
            </a:pPr>
            <a:r>
              <a:rPr lang="en-US" sz="1550" b="1" dirty="0">
                <a:solidFill>
                  <a:srgbClr val="15213E"/>
                </a:solidFill>
                <a:latin typeface="Cambria" pitchFamily="34" charset="0"/>
                <a:ea typeface="Cambria" pitchFamily="34" charset="-122"/>
                <a:cs typeface="Cambria" pitchFamily="34" charset="-120"/>
              </a:rPr>
              <a:t>Pero se puede adivinar la palabra</a:t>
            </a:r>
            <a:endParaRPr lang="en-US" sz="1550" dirty="0"/>
          </a:p>
        </p:txBody>
      </p:sp>
      <p:sp>
        <p:nvSpPr>
          <p:cNvPr id="14" name="Text 10"/>
          <p:cNvSpPr txBox="1"/>
          <p:nvPr/>
        </p:nvSpPr>
        <p:spPr>
          <a:xfrm>
            <a:off x="6583680" y="2468880"/>
            <a:ext cx="4892040" cy="2011680"/>
          </a:xfrm>
          <a:prstGeom prst="rect">
            <a:avLst/>
          </a:prstGeom>
          <a:noFill/>
          <a:ln/>
        </p:spPr>
        <p:txBody>
          <a:bodyPr wrap="square" lIns="0" tIns="0" rIns="0" bIns="0" rtlCol="0" anchor="ctr"/>
          <a:lstStyle/>
          <a:p>
            <a:pPr indent="0" marL="0">
              <a:lnSpc>
                <a:spcPct val="122000"/>
              </a:lnSpc>
              <a:buNone/>
            </a:pPr>
            <a:r>
              <a:rPr lang="en-US" sz="1300" dirty="0">
                <a:solidFill>
                  <a:srgbClr val="5C3A00"/>
                </a:solidFill>
                <a:latin typeface="Calibri" pitchFamily="34" charset="0"/>
                <a:ea typeface="Calibri" pitchFamily="34" charset="-122"/>
                <a:cs typeface="Calibri" pitchFamily="34" charset="-120"/>
              </a:rPr>
              <a:t>Cifrar la misma palabra siempre da el mismo resultado. Si alguien consigue UN permiso filtrado, puede probar tranquilo, en su propia computadora, una lista de palabras candidatas hasta encontrar cuál coincide. Y no hace falta robar nada: la clave pública ya la tiene, porque es pública.</a:t>
            </a:r>
            <a:endParaRPr lang="en-US" sz="1300" dirty="0"/>
          </a:p>
        </p:txBody>
      </p:sp>
      <p:sp>
        <p:nvSpPr>
          <p:cNvPr id="15" name="Shape 11"/>
          <p:cNvSpPr/>
          <p:nvPr/>
        </p:nvSpPr>
        <p:spPr>
          <a:xfrm>
            <a:off x="548640" y="4892040"/>
            <a:ext cx="11091672" cy="1280160"/>
          </a:xfrm>
          <a:prstGeom prst="roundRect">
            <a:avLst>
              <a:gd name="adj" fmla="val 5714"/>
            </a:avLst>
          </a:prstGeom>
          <a:solidFill>
            <a:srgbClr val="15213E"/>
          </a:solidFill>
          <a:ln w="12700">
            <a:solidFill>
              <a:srgbClr val="E2E5F0"/>
            </a:solidFill>
            <a:prstDash val="solid"/>
          </a:ln>
        </p:spPr>
      </p:sp>
      <p:sp>
        <p:nvSpPr>
          <p:cNvPr id="16" name="Text 12"/>
          <p:cNvSpPr txBox="1"/>
          <p:nvPr/>
        </p:nvSpPr>
        <p:spPr>
          <a:xfrm>
            <a:off x="914400" y="4892040"/>
            <a:ext cx="9509760" cy="82296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“El problema no es de velocidad: es que las palabras que usamos para buscar nunca tuvieron tantas combinaciones posibles como una clave secreta.”</a:t>
            </a:r>
            <a:endParaRPr lang="en-US" sz="1550" dirty="0"/>
          </a:p>
        </p:txBody>
      </p:sp>
      <p:sp>
        <p:nvSpPr>
          <p:cNvPr id="17" name="Text 13"/>
          <p:cNvSpPr txBox="1"/>
          <p:nvPr/>
        </p:nvSpPr>
        <p:spPr>
          <a:xfrm>
            <a:off x="914400" y="5715000"/>
            <a:ext cx="9509760" cy="365760"/>
          </a:xfrm>
          <a:prstGeom prst="rect">
            <a:avLst/>
          </a:prstGeom>
          <a:noFill/>
          <a:ln/>
        </p:spPr>
        <p:txBody>
          <a:bodyPr wrap="square" lIns="0" tIns="0" rIns="0" bIns="0" rtlCol="0" anchor="ctr"/>
          <a:lstStyle/>
          <a:p>
            <a:pPr indent="0" marL="0">
              <a:buNone/>
            </a:pPr>
            <a:r>
              <a:rPr lang="en-US" sz="1200" dirty="0">
                <a:solidFill>
                  <a:srgbClr val="AEB6D6"/>
                </a:solidFill>
                <a:latin typeface="Calibri" pitchFamily="34" charset="0"/>
                <a:ea typeface="Calibri" pitchFamily="34" charset="-122"/>
                <a:cs typeface="Calibri" pitchFamily="34" charset="-120"/>
              </a:rPr>
              <a:t>— Byun, Rhee, Park &amp; Lee, 2006</a:t>
            </a:r>
            <a:endParaRPr lang="en-US" sz="1200" dirty="0"/>
          </a:p>
        </p:txBody>
      </p:sp>
      <p:sp>
        <p:nvSpPr>
          <p:cNvPr id="18" name="Text 14"/>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19" name="Text 15"/>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DOS RESPUESTAS, DOS COSTOS</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SSE vs. PEKS, en números</a:t>
            </a:r>
            <a:endParaRPr lang="en-US" sz="3200" dirty="0"/>
          </a:p>
        </p:txBody>
      </p:sp>
      <p:sp>
        <p:nvSpPr>
          <p:cNvPr id="4" name="Shape 2"/>
          <p:cNvSpPr/>
          <p:nvPr/>
        </p:nvSpPr>
        <p:spPr>
          <a:xfrm>
            <a:off x="548640" y="1417320"/>
            <a:ext cx="11274552" cy="566928"/>
          </a:xfrm>
          <a:prstGeom prst="rect">
            <a:avLst/>
          </a:prstGeom>
          <a:solidFill>
            <a:srgbClr val="15213E"/>
          </a:solidFill>
          <a:ln/>
        </p:spPr>
      </p:sp>
      <p:sp>
        <p:nvSpPr>
          <p:cNvPr id="5" name="Text 3"/>
          <p:cNvSpPr txBox="1"/>
          <p:nvPr/>
        </p:nvSpPr>
        <p:spPr>
          <a:xfrm>
            <a:off x="640080" y="1417320"/>
            <a:ext cx="3474720" cy="56692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Aspecto</a:t>
            </a:r>
            <a:endParaRPr lang="en-US" sz="1350" dirty="0"/>
          </a:p>
        </p:txBody>
      </p:sp>
      <p:sp>
        <p:nvSpPr>
          <p:cNvPr id="6" name="Text 4"/>
          <p:cNvSpPr txBox="1"/>
          <p:nvPr/>
        </p:nvSpPr>
        <p:spPr>
          <a:xfrm>
            <a:off x="4297680" y="1417320"/>
            <a:ext cx="3611880" cy="56692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SSE (simétrico)</a:t>
            </a:r>
            <a:endParaRPr lang="en-US" sz="1350" dirty="0"/>
          </a:p>
        </p:txBody>
      </p:sp>
      <p:sp>
        <p:nvSpPr>
          <p:cNvPr id="7" name="Text 5"/>
          <p:cNvSpPr txBox="1"/>
          <p:nvPr/>
        </p:nvSpPr>
        <p:spPr>
          <a:xfrm>
            <a:off x="8092440" y="1417320"/>
            <a:ext cx="3639312" cy="56692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PEKS (clave pública)</a:t>
            </a:r>
            <a:endParaRPr lang="en-US" sz="1350" dirty="0"/>
          </a:p>
        </p:txBody>
      </p:sp>
      <p:sp>
        <p:nvSpPr>
          <p:cNvPr id="8" name="Shape 6"/>
          <p:cNvSpPr/>
          <p:nvPr/>
        </p:nvSpPr>
        <p:spPr>
          <a:xfrm>
            <a:off x="548640" y="1984248"/>
            <a:ext cx="11274552" cy="566928"/>
          </a:xfrm>
          <a:prstGeom prst="rect">
            <a:avLst/>
          </a:prstGeom>
          <a:solidFill>
            <a:srgbClr val="EDEFF9"/>
          </a:solidFill>
          <a:ln/>
        </p:spPr>
      </p:sp>
      <p:sp>
        <p:nvSpPr>
          <p:cNvPr id="9" name="Text 7"/>
          <p:cNvSpPr txBox="1"/>
          <p:nvPr/>
        </p:nvSpPr>
        <p:spPr>
          <a:xfrm>
            <a:off x="640080" y="1984248"/>
            <a:ext cx="3474720" cy="566928"/>
          </a:xfrm>
          <a:prstGeom prst="rect">
            <a:avLst/>
          </a:prstGeom>
          <a:noFill/>
          <a:ln/>
        </p:spPr>
        <p:txBody>
          <a:bodyPr wrap="square" lIns="0" tIns="0" rIns="0" bIns="0" rtlCol="0" anchor="ctr"/>
          <a:lstStyle/>
          <a:p>
            <a:pPr indent="0" marL="0">
              <a:buNone/>
            </a:pPr>
            <a:r>
              <a:rPr lang="en-US" sz="1300" b="1" dirty="0">
                <a:solidFill>
                  <a:srgbClr val="15213E"/>
                </a:solidFill>
                <a:latin typeface="Calibri" pitchFamily="34" charset="0"/>
                <a:ea typeface="Calibri" pitchFamily="34" charset="-122"/>
                <a:cs typeface="Calibri" pitchFamily="34" charset="-120"/>
              </a:rPr>
              <a:t>Primitiva base</a:t>
            </a:r>
            <a:endParaRPr lang="en-US" sz="1300" dirty="0"/>
          </a:p>
        </p:txBody>
      </p:sp>
      <p:sp>
        <p:nvSpPr>
          <p:cNvPr id="10" name="Text 8"/>
          <p:cNvSpPr txBox="1"/>
          <p:nvPr/>
        </p:nvSpPr>
        <p:spPr>
          <a:xfrm>
            <a:off x="4297680" y="1984248"/>
            <a:ext cx="3611880"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HMAC, AES (rápidas)</a:t>
            </a:r>
            <a:endParaRPr lang="en-US" sz="1300" dirty="0"/>
          </a:p>
        </p:txBody>
      </p:sp>
      <p:sp>
        <p:nvSpPr>
          <p:cNvPr id="11" name="Text 9"/>
          <p:cNvSpPr txBox="1"/>
          <p:nvPr/>
        </p:nvSpPr>
        <p:spPr>
          <a:xfrm>
            <a:off x="8092440" y="1984248"/>
            <a:ext cx="3639312"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Curvas elípticas más pesadas</a:t>
            </a:r>
            <a:endParaRPr lang="en-US" sz="1300" dirty="0"/>
          </a:p>
        </p:txBody>
      </p:sp>
      <p:sp>
        <p:nvSpPr>
          <p:cNvPr id="12" name="Shape 10"/>
          <p:cNvSpPr/>
          <p:nvPr/>
        </p:nvSpPr>
        <p:spPr>
          <a:xfrm>
            <a:off x="548640" y="2551176"/>
            <a:ext cx="11274552" cy="566928"/>
          </a:xfrm>
          <a:prstGeom prst="rect">
            <a:avLst/>
          </a:prstGeom>
          <a:solidFill>
            <a:srgbClr val="FFFFFF"/>
          </a:solidFill>
          <a:ln/>
        </p:spPr>
      </p:sp>
      <p:sp>
        <p:nvSpPr>
          <p:cNvPr id="13" name="Text 11"/>
          <p:cNvSpPr txBox="1"/>
          <p:nvPr/>
        </p:nvSpPr>
        <p:spPr>
          <a:xfrm>
            <a:off x="640080" y="2551176"/>
            <a:ext cx="3474720" cy="566928"/>
          </a:xfrm>
          <a:prstGeom prst="rect">
            <a:avLst/>
          </a:prstGeom>
          <a:noFill/>
          <a:ln/>
        </p:spPr>
        <p:txBody>
          <a:bodyPr wrap="square" lIns="0" tIns="0" rIns="0" bIns="0" rtlCol="0" anchor="ctr"/>
          <a:lstStyle/>
          <a:p>
            <a:pPr indent="0" marL="0">
              <a:buNone/>
            </a:pPr>
            <a:r>
              <a:rPr lang="en-US" sz="1300" b="1" dirty="0">
                <a:solidFill>
                  <a:srgbClr val="15213E"/>
                </a:solidFill>
                <a:latin typeface="Calibri" pitchFamily="34" charset="0"/>
                <a:ea typeface="Calibri" pitchFamily="34" charset="-122"/>
                <a:cs typeface="Calibri" pitchFamily="34" charset="-120"/>
              </a:rPr>
              <a:t>Generar un permiso de búsqueda</a:t>
            </a:r>
            <a:endParaRPr lang="en-US" sz="1300" dirty="0"/>
          </a:p>
        </p:txBody>
      </p:sp>
      <p:sp>
        <p:nvSpPr>
          <p:cNvPr id="14" name="Text 12"/>
          <p:cNvSpPr txBox="1"/>
          <p:nvPr/>
        </p:nvSpPr>
        <p:spPr>
          <a:xfrm>
            <a:off x="4297680" y="2551176"/>
            <a:ext cx="3611880"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~100 nanosegundos</a:t>
            </a:r>
            <a:endParaRPr lang="en-US" sz="1300" dirty="0"/>
          </a:p>
        </p:txBody>
      </p:sp>
      <p:sp>
        <p:nvSpPr>
          <p:cNvPr id="15" name="Text 13"/>
          <p:cNvSpPr txBox="1"/>
          <p:nvPr/>
        </p:nvSpPr>
        <p:spPr>
          <a:xfrm>
            <a:off x="8092440" y="2551176"/>
            <a:ext cx="3639312"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~milisegundos (mucho más lento)</a:t>
            </a:r>
            <a:endParaRPr lang="en-US" sz="1300" dirty="0"/>
          </a:p>
        </p:txBody>
      </p:sp>
      <p:sp>
        <p:nvSpPr>
          <p:cNvPr id="16" name="Shape 14"/>
          <p:cNvSpPr/>
          <p:nvPr/>
        </p:nvSpPr>
        <p:spPr>
          <a:xfrm>
            <a:off x="548640" y="3118104"/>
            <a:ext cx="11274552" cy="566928"/>
          </a:xfrm>
          <a:prstGeom prst="rect">
            <a:avLst/>
          </a:prstGeom>
          <a:solidFill>
            <a:srgbClr val="EDEFF9"/>
          </a:solidFill>
          <a:ln/>
        </p:spPr>
      </p:sp>
      <p:sp>
        <p:nvSpPr>
          <p:cNvPr id="17" name="Text 15"/>
          <p:cNvSpPr txBox="1"/>
          <p:nvPr/>
        </p:nvSpPr>
        <p:spPr>
          <a:xfrm>
            <a:off x="640080" y="3118104"/>
            <a:ext cx="3474720" cy="566928"/>
          </a:xfrm>
          <a:prstGeom prst="rect">
            <a:avLst/>
          </a:prstGeom>
          <a:noFill/>
          <a:ln/>
        </p:spPr>
        <p:txBody>
          <a:bodyPr wrap="square" lIns="0" tIns="0" rIns="0" bIns="0" rtlCol="0" anchor="ctr"/>
          <a:lstStyle/>
          <a:p>
            <a:pPr indent="0" marL="0">
              <a:buNone/>
            </a:pPr>
            <a:r>
              <a:rPr lang="en-US" sz="1300" b="1" dirty="0">
                <a:solidFill>
                  <a:srgbClr val="15213E"/>
                </a:solidFill>
                <a:latin typeface="Calibri" pitchFamily="34" charset="0"/>
                <a:ea typeface="Calibri" pitchFamily="34" charset="-122"/>
                <a:cs typeface="Calibri" pitchFamily="34" charset="-120"/>
              </a:rPr>
              <a:t>Velocidad de búsqueda</a:t>
            </a:r>
            <a:endParaRPr lang="en-US" sz="1300" dirty="0"/>
          </a:p>
        </p:txBody>
      </p:sp>
      <p:sp>
        <p:nvSpPr>
          <p:cNvPr id="18" name="Text 16"/>
          <p:cNvSpPr txBox="1"/>
          <p:nvPr/>
        </p:nvSpPr>
        <p:spPr>
          <a:xfrm>
            <a:off x="4297680" y="3118104"/>
            <a:ext cx="3611880"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Rápida, solo mira coincidencias</a:t>
            </a:r>
            <a:endParaRPr lang="en-US" sz="1300" dirty="0"/>
          </a:p>
        </p:txBody>
      </p:sp>
      <p:sp>
        <p:nvSpPr>
          <p:cNvPr id="19" name="Text 17"/>
          <p:cNvSpPr txBox="1"/>
          <p:nvPr/>
        </p:nvSpPr>
        <p:spPr>
          <a:xfrm>
            <a:off x="8092440" y="3118104"/>
            <a:ext cx="3639312"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Más lenta, recorre todo el índice</a:t>
            </a:r>
            <a:endParaRPr lang="en-US" sz="1300" dirty="0"/>
          </a:p>
        </p:txBody>
      </p:sp>
      <p:sp>
        <p:nvSpPr>
          <p:cNvPr id="20" name="Shape 18"/>
          <p:cNvSpPr/>
          <p:nvPr/>
        </p:nvSpPr>
        <p:spPr>
          <a:xfrm>
            <a:off x="548640" y="3685032"/>
            <a:ext cx="11274552" cy="566928"/>
          </a:xfrm>
          <a:prstGeom prst="rect">
            <a:avLst/>
          </a:prstGeom>
          <a:solidFill>
            <a:srgbClr val="FFFFFF"/>
          </a:solidFill>
          <a:ln/>
        </p:spPr>
      </p:sp>
      <p:sp>
        <p:nvSpPr>
          <p:cNvPr id="21" name="Text 19"/>
          <p:cNvSpPr txBox="1"/>
          <p:nvPr/>
        </p:nvSpPr>
        <p:spPr>
          <a:xfrm>
            <a:off x="640080" y="3685032"/>
            <a:ext cx="3474720" cy="566928"/>
          </a:xfrm>
          <a:prstGeom prst="rect">
            <a:avLst/>
          </a:prstGeom>
          <a:noFill/>
          <a:ln/>
        </p:spPr>
        <p:txBody>
          <a:bodyPr wrap="square" lIns="0" tIns="0" rIns="0" bIns="0" rtlCol="0" anchor="ctr"/>
          <a:lstStyle/>
          <a:p>
            <a:pPr indent="0" marL="0">
              <a:buNone/>
            </a:pPr>
            <a:r>
              <a:rPr lang="en-US" sz="1300" b="1" dirty="0">
                <a:solidFill>
                  <a:srgbClr val="15213E"/>
                </a:solidFill>
                <a:latin typeface="Calibri" pitchFamily="34" charset="0"/>
                <a:ea typeface="Calibri" pitchFamily="34" charset="-122"/>
                <a:cs typeface="Calibri" pitchFamily="34" charset="-120"/>
              </a:rPr>
              <a:t>¿Varios escritores sin compartir clave?</a:t>
            </a:r>
            <a:endParaRPr lang="en-US" sz="1300" dirty="0"/>
          </a:p>
        </p:txBody>
      </p:sp>
      <p:sp>
        <p:nvSpPr>
          <p:cNvPr id="22" name="Text 20"/>
          <p:cNvSpPr txBox="1"/>
          <p:nvPr/>
        </p:nvSpPr>
        <p:spPr>
          <a:xfrm>
            <a:off x="4297680" y="3685032"/>
            <a:ext cx="3611880"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No — hace falta acordar una clave antes</a:t>
            </a:r>
            <a:endParaRPr lang="en-US" sz="1300" dirty="0"/>
          </a:p>
        </p:txBody>
      </p:sp>
      <p:sp>
        <p:nvSpPr>
          <p:cNvPr id="23" name="Text 21"/>
          <p:cNvSpPr txBox="1"/>
          <p:nvPr/>
        </p:nvSpPr>
        <p:spPr>
          <a:xfrm>
            <a:off x="8092440" y="3685032"/>
            <a:ext cx="3639312"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Sí — cualquiera cifra con la clave pública</a:t>
            </a:r>
            <a:endParaRPr lang="en-US" sz="1300" dirty="0"/>
          </a:p>
        </p:txBody>
      </p:sp>
      <p:sp>
        <p:nvSpPr>
          <p:cNvPr id="24" name="Shape 22"/>
          <p:cNvSpPr/>
          <p:nvPr/>
        </p:nvSpPr>
        <p:spPr>
          <a:xfrm>
            <a:off x="548640" y="4251960"/>
            <a:ext cx="11274552" cy="566928"/>
          </a:xfrm>
          <a:prstGeom prst="rect">
            <a:avLst/>
          </a:prstGeom>
          <a:solidFill>
            <a:srgbClr val="EDEFF9"/>
          </a:solidFill>
          <a:ln/>
        </p:spPr>
      </p:sp>
      <p:sp>
        <p:nvSpPr>
          <p:cNvPr id="25" name="Text 23"/>
          <p:cNvSpPr txBox="1"/>
          <p:nvPr/>
        </p:nvSpPr>
        <p:spPr>
          <a:xfrm>
            <a:off x="640080" y="4251960"/>
            <a:ext cx="3474720" cy="566928"/>
          </a:xfrm>
          <a:prstGeom prst="rect">
            <a:avLst/>
          </a:prstGeom>
          <a:noFill/>
          <a:ln/>
        </p:spPr>
        <p:txBody>
          <a:bodyPr wrap="square" lIns="0" tIns="0" rIns="0" bIns="0" rtlCol="0" anchor="ctr"/>
          <a:lstStyle/>
          <a:p>
            <a:pPr indent="0" marL="0">
              <a:buNone/>
            </a:pPr>
            <a:r>
              <a:rPr lang="en-US" sz="1300" b="1" dirty="0">
                <a:solidFill>
                  <a:srgbClr val="15213E"/>
                </a:solidFill>
                <a:latin typeface="Calibri" pitchFamily="34" charset="0"/>
                <a:ea typeface="Calibri" pitchFamily="34" charset="-122"/>
                <a:cs typeface="Calibri" pitchFamily="34" charset="-120"/>
              </a:rPr>
              <a:t>Punto débil conocido</a:t>
            </a:r>
            <a:endParaRPr lang="en-US" sz="1300" dirty="0"/>
          </a:p>
        </p:txBody>
      </p:sp>
      <p:sp>
        <p:nvSpPr>
          <p:cNvPr id="26" name="Text 24"/>
          <p:cNvSpPr txBox="1"/>
          <p:nvPr/>
        </p:nvSpPr>
        <p:spPr>
          <a:xfrm>
            <a:off x="4297680" y="4251960"/>
            <a:ext cx="3611880"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Ninguno adicional</a:t>
            </a:r>
            <a:endParaRPr lang="en-US" sz="1300" dirty="0"/>
          </a:p>
        </p:txBody>
      </p:sp>
      <p:sp>
        <p:nvSpPr>
          <p:cNvPr id="27" name="Text 25"/>
          <p:cNvSpPr txBox="1"/>
          <p:nvPr/>
        </p:nvSpPr>
        <p:spPr>
          <a:xfrm>
            <a:off x="8092440" y="4251960"/>
            <a:ext cx="3639312"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Keyword Guessing Attack (KGA)</a:t>
            </a:r>
            <a:endParaRPr lang="en-US" sz="1300" dirty="0"/>
          </a:p>
        </p:txBody>
      </p:sp>
      <p:sp>
        <p:nvSpPr>
          <p:cNvPr id="28" name="Shape 26"/>
          <p:cNvSpPr/>
          <p:nvPr/>
        </p:nvSpPr>
        <p:spPr>
          <a:xfrm>
            <a:off x="548640" y="4818888"/>
            <a:ext cx="11274552" cy="566928"/>
          </a:xfrm>
          <a:prstGeom prst="rect">
            <a:avLst/>
          </a:prstGeom>
          <a:solidFill>
            <a:srgbClr val="FFFFFF"/>
          </a:solidFill>
          <a:ln/>
        </p:spPr>
      </p:sp>
      <p:sp>
        <p:nvSpPr>
          <p:cNvPr id="29" name="Text 27"/>
          <p:cNvSpPr txBox="1"/>
          <p:nvPr/>
        </p:nvSpPr>
        <p:spPr>
          <a:xfrm>
            <a:off x="640080" y="4818888"/>
            <a:ext cx="3474720" cy="566928"/>
          </a:xfrm>
          <a:prstGeom prst="rect">
            <a:avLst/>
          </a:prstGeom>
          <a:noFill/>
          <a:ln/>
        </p:spPr>
        <p:txBody>
          <a:bodyPr wrap="square" lIns="0" tIns="0" rIns="0" bIns="0" rtlCol="0" anchor="ctr"/>
          <a:lstStyle/>
          <a:p>
            <a:pPr indent="0" marL="0">
              <a:buNone/>
            </a:pPr>
            <a:r>
              <a:rPr lang="en-US" sz="1300" b="1" dirty="0">
                <a:solidFill>
                  <a:srgbClr val="15213E"/>
                </a:solidFill>
                <a:latin typeface="Calibri" pitchFamily="34" charset="0"/>
                <a:ea typeface="Calibri" pitchFamily="34" charset="-122"/>
                <a:cs typeface="Calibri" pitchFamily="34" charset="-120"/>
              </a:rPr>
              <a:t>Escala práctica</a:t>
            </a:r>
            <a:endParaRPr lang="en-US" sz="1300" dirty="0"/>
          </a:p>
        </p:txBody>
      </p:sp>
      <p:sp>
        <p:nvSpPr>
          <p:cNvPr id="30" name="Text 28"/>
          <p:cNvSpPr txBox="1"/>
          <p:nvPr/>
        </p:nvSpPr>
        <p:spPr>
          <a:xfrm>
            <a:off x="4297680" y="4818888"/>
            <a:ext cx="3611880"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Millones de documentos</a:t>
            </a:r>
            <a:endParaRPr lang="en-US" sz="1300" dirty="0"/>
          </a:p>
        </p:txBody>
      </p:sp>
      <p:sp>
        <p:nvSpPr>
          <p:cNvPr id="31" name="Text 29"/>
          <p:cNvSpPr txBox="1"/>
          <p:nvPr/>
        </p:nvSpPr>
        <p:spPr>
          <a:xfrm>
            <a:off x="8092440" y="4818888"/>
            <a:ext cx="3639312" cy="566928"/>
          </a:xfrm>
          <a:prstGeom prst="rect">
            <a:avLst/>
          </a:prstGeom>
          <a:noFill/>
          <a:ln/>
        </p:spPr>
        <p:txBody>
          <a:bodyPr wrap="square" lIns="0" tIns="0" rIns="0" bIns="0" rtlCol="0" anchor="ctr"/>
          <a:lstStyle/>
          <a:p>
            <a:pPr indent="0" marL="0">
              <a:buNone/>
            </a:pPr>
            <a:r>
              <a:rPr lang="en-US" sz="1300" dirty="0">
                <a:solidFill>
                  <a:srgbClr val="1B2340"/>
                </a:solidFill>
                <a:latin typeface="Calibri" pitchFamily="34" charset="0"/>
                <a:ea typeface="Calibri" pitchFamily="34" charset="-122"/>
                <a:cs typeface="Calibri" pitchFamily="34" charset="-120"/>
              </a:rPr>
              <a:t>Colecciones chicas / nichos</a:t>
            </a:r>
            <a:endParaRPr lang="en-US" sz="1300" dirty="0"/>
          </a:p>
        </p:txBody>
      </p:sp>
      <p:sp>
        <p:nvSpPr>
          <p:cNvPr id="32" name="Shape 30"/>
          <p:cNvSpPr/>
          <p:nvPr/>
        </p:nvSpPr>
        <p:spPr>
          <a:xfrm>
            <a:off x="548640" y="5614416"/>
            <a:ext cx="11091672" cy="777240"/>
          </a:xfrm>
          <a:prstGeom prst="roundRect">
            <a:avLst>
              <a:gd name="adj" fmla="val 9412"/>
            </a:avLst>
          </a:prstGeom>
          <a:solidFill>
            <a:srgbClr val="15213E"/>
          </a:solidFill>
          <a:ln w="12700">
            <a:solidFill>
              <a:srgbClr val="E2E5F0"/>
            </a:solidFill>
            <a:prstDash val="solid"/>
          </a:ln>
        </p:spPr>
      </p:sp>
      <p:sp>
        <p:nvSpPr>
          <p:cNvPr id="33" name="Text 31"/>
          <p:cNvSpPr txBox="1"/>
          <p:nvPr/>
        </p:nvSpPr>
        <p:spPr>
          <a:xfrm>
            <a:off x="914400" y="5614416"/>
            <a:ext cx="10332720" cy="777240"/>
          </a:xfrm>
          <a:prstGeom prst="rect">
            <a:avLst/>
          </a:prstGeom>
          <a:noFill/>
          <a:ln/>
        </p:spPr>
        <p:txBody>
          <a:bodyPr wrap="square" lIns="0" tIns="0" rIns="0" bIns="0" rtlCol="0" anchor="ctr"/>
          <a:lstStyle/>
          <a:p>
            <a:pPr indent="0" marL="0">
              <a:buNone/>
            </a:pPr>
            <a:r>
              <a:rPr lang="en-US" sz="1500" i="1" dirty="0">
                <a:solidFill>
                  <a:srgbClr val="FFFFFF"/>
                </a:solidFill>
                <a:latin typeface="Cambria" pitchFamily="34" charset="0"/>
                <a:ea typeface="Cambria" pitchFamily="34" charset="-122"/>
                <a:cs typeface="Cambria" pitchFamily="34" charset="-120"/>
              </a:rPr>
              <a:t>Ninguno alcanza solo: uno no delega sin canal seguro previo; el otro no escala y filtra por diccionario.</a:t>
            </a:r>
            <a:endParaRPr lang="en-US" sz="1500" dirty="0"/>
          </a:p>
        </p:txBody>
      </p:sp>
      <p:sp>
        <p:nvSpPr>
          <p:cNvPr id="34" name="Text 32"/>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35" name="Text 33"/>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LA SALIDA REAL</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Cifrado híbrido: asimétrico para transportar, simétrico para trabajar</a:t>
            </a:r>
            <a:endParaRPr lang="en-US" sz="3200" dirty="0"/>
          </a:p>
        </p:txBody>
      </p:sp>
      <p:sp>
        <p:nvSpPr>
          <p:cNvPr id="4" name="Text 2"/>
          <p:cNvSpPr txBox="1"/>
          <p:nvPr/>
        </p:nvSpPr>
        <p:spPr>
          <a:xfrm>
            <a:off x="548640" y="1371600"/>
            <a:ext cx="11064240" cy="822960"/>
          </a:xfrm>
          <a:prstGeom prst="rect">
            <a:avLst/>
          </a:prstGeom>
          <a:noFill/>
          <a:ln/>
        </p:spPr>
        <p:txBody>
          <a:bodyPr wrap="square" lIns="0" tIns="0" rIns="0" bIns="0" rtlCol="0" anchor="ctr"/>
          <a:lstStyle/>
          <a:p>
            <a:pPr indent="0" marL="0">
              <a:lnSpc>
                <a:spcPct val="120000"/>
              </a:lnSpc>
              <a:buNone/>
            </a:pPr>
            <a:r>
              <a:rPr lang="en-US" sz="1500" dirty="0">
                <a:solidFill>
                  <a:srgbClr val="5B6485"/>
                </a:solidFill>
                <a:latin typeface="Calibri" pitchFamily="34" charset="0"/>
                <a:ea typeface="Calibri" pitchFamily="34" charset="-122"/>
                <a:cs typeface="Calibri" pitchFamily="34" charset="-120"/>
              </a:rPr>
              <a:t>En vez de usar PEKS para todo el volumen, usamos clave pública SOLO para envolver una clave simétrica efímera — un Key Encapsulation Mechanism (KEM) — y esa clave hace todo el trabajo pesado con un Data Encapsulation Mechanism (DEM).</a:t>
            </a:r>
            <a:endParaRPr lang="en-US" sz="1500" dirty="0"/>
          </a:p>
        </p:txBody>
      </p:sp>
      <p:sp>
        <p:nvSpPr>
          <p:cNvPr id="5" name="Shape 3"/>
          <p:cNvSpPr/>
          <p:nvPr/>
        </p:nvSpPr>
        <p:spPr>
          <a:xfrm>
            <a:off x="548640" y="2514600"/>
            <a:ext cx="1874520" cy="1371600"/>
          </a:xfrm>
          <a:prstGeom prst="roundRect">
            <a:avLst>
              <a:gd name="adj" fmla="val 5333"/>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6" name="Shape 4"/>
          <p:cNvSpPr/>
          <p:nvPr/>
        </p:nvSpPr>
        <p:spPr>
          <a:xfrm>
            <a:off x="1165860" y="2697480"/>
            <a:ext cx="640080" cy="640080"/>
          </a:xfrm>
          <a:prstGeom prst="ellipse">
            <a:avLst/>
          </a:prstGeom>
          <a:solidFill>
            <a:srgbClr val="15213E"/>
          </a:solidFill>
          <a:ln/>
        </p:spPr>
      </p:sp>
      <p:pic>
        <p:nvPicPr>
          <p:cNvPr id="7" name="Image 0" descr="/tmp/osa_pres/icons/key_teal.png">    </p:cNvPr>
          <p:cNvPicPr>
            <a:picLocks noChangeAspect="1"/>
          </p:cNvPicPr>
          <p:nvPr/>
        </p:nvPicPr>
        <p:blipFill>
          <a:blip r:embed="rId1"/>
          <a:stretch>
            <a:fillRect/>
          </a:stretch>
        </p:blipFill>
        <p:spPr>
          <a:xfrm>
            <a:off x="1249070" y="2780690"/>
            <a:ext cx="473659" cy="473659"/>
          </a:xfrm>
          <a:prstGeom prst="rect">
            <a:avLst/>
          </a:prstGeom>
        </p:spPr>
      </p:pic>
      <p:sp>
        <p:nvSpPr>
          <p:cNvPr id="8" name="Text 5"/>
          <p:cNvSpPr txBox="1"/>
          <p:nvPr/>
        </p:nvSpPr>
        <p:spPr>
          <a:xfrm>
            <a:off x="640080" y="3383280"/>
            <a:ext cx="169164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5213E"/>
                </a:solidFill>
                <a:latin typeface="Calibri" pitchFamily="34" charset="0"/>
                <a:ea typeface="Calibri" pitchFamily="34" charset="-122"/>
                <a:cs typeface="Calibri" pitchFamily="34" charset="-120"/>
              </a:rPr>
              <a:t>PK destino</a:t>
            </a:r>
            <a:endParaRPr lang="en-US" sz="1150" dirty="0"/>
          </a:p>
        </p:txBody>
      </p:sp>
      <p:sp>
        <p:nvSpPr>
          <p:cNvPr id="9" name="Text 6"/>
          <p:cNvSpPr txBox="1"/>
          <p:nvPr/>
        </p:nvSpPr>
        <p:spPr>
          <a:xfrm>
            <a:off x="2423160" y="2514600"/>
            <a:ext cx="429768" cy="1371600"/>
          </a:xfrm>
          <a:prstGeom prst="rect">
            <a:avLst/>
          </a:prstGeom>
          <a:noFill/>
          <a:ln/>
        </p:spPr>
        <p:txBody>
          <a:bodyPr wrap="square" lIns="0" tIns="0" rIns="0" bIns="0" rtlCol="0" anchor="ctr"/>
          <a:lstStyle/>
          <a:p>
            <a:pPr algn="ctr" indent="0" marL="0">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10" name="Shape 7"/>
          <p:cNvSpPr/>
          <p:nvPr/>
        </p:nvSpPr>
        <p:spPr>
          <a:xfrm>
            <a:off x="2852928" y="2514600"/>
            <a:ext cx="1874520" cy="1371600"/>
          </a:xfrm>
          <a:prstGeom prst="roundRect">
            <a:avLst>
              <a:gd name="adj" fmla="val 5333"/>
            </a:avLst>
          </a:prstGeom>
          <a:solidFill>
            <a:srgbClr val="15213E"/>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1" name="Shape 8"/>
          <p:cNvSpPr/>
          <p:nvPr/>
        </p:nvSpPr>
        <p:spPr>
          <a:xfrm>
            <a:off x="3470148" y="2697480"/>
            <a:ext cx="640080" cy="640080"/>
          </a:xfrm>
          <a:prstGeom prst="ellipse">
            <a:avLst/>
          </a:prstGeom>
          <a:solidFill>
            <a:srgbClr val="17B8A6"/>
          </a:solidFill>
          <a:ln/>
        </p:spPr>
      </p:sp>
      <p:pic>
        <p:nvPicPr>
          <p:cNvPr id="12" name="Image 1" descr="/tmp/osa_pres/icons/exchange_navy.png">    </p:cNvPr>
          <p:cNvPicPr>
            <a:picLocks noChangeAspect="1"/>
          </p:cNvPicPr>
          <p:nvPr/>
        </p:nvPicPr>
        <p:blipFill>
          <a:blip r:embed="rId2"/>
          <a:stretch>
            <a:fillRect/>
          </a:stretch>
        </p:blipFill>
        <p:spPr>
          <a:xfrm>
            <a:off x="3553358" y="2780690"/>
            <a:ext cx="473659" cy="473659"/>
          </a:xfrm>
          <a:prstGeom prst="rect">
            <a:avLst/>
          </a:prstGeom>
        </p:spPr>
      </p:pic>
      <p:sp>
        <p:nvSpPr>
          <p:cNvPr id="13" name="Text 9"/>
          <p:cNvSpPr txBox="1"/>
          <p:nvPr/>
        </p:nvSpPr>
        <p:spPr>
          <a:xfrm>
            <a:off x="2944368" y="3383280"/>
            <a:ext cx="169164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KEM</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ECDH + HKDF</a:t>
            </a:r>
            <a:endParaRPr lang="en-US" sz="1150" dirty="0"/>
          </a:p>
        </p:txBody>
      </p:sp>
      <p:sp>
        <p:nvSpPr>
          <p:cNvPr id="14" name="Text 10"/>
          <p:cNvSpPr txBox="1"/>
          <p:nvPr/>
        </p:nvSpPr>
        <p:spPr>
          <a:xfrm>
            <a:off x="4727448" y="2514600"/>
            <a:ext cx="429768" cy="1371600"/>
          </a:xfrm>
          <a:prstGeom prst="rect">
            <a:avLst/>
          </a:prstGeom>
          <a:noFill/>
          <a:ln/>
        </p:spPr>
        <p:txBody>
          <a:bodyPr wrap="square" lIns="0" tIns="0" rIns="0" bIns="0" rtlCol="0" anchor="ctr"/>
          <a:lstStyle/>
          <a:p>
            <a:pPr algn="ctr" indent="0" marL="0">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15" name="Shape 11"/>
          <p:cNvSpPr/>
          <p:nvPr/>
        </p:nvSpPr>
        <p:spPr>
          <a:xfrm>
            <a:off x="5157216" y="2514600"/>
            <a:ext cx="1874520" cy="1371600"/>
          </a:xfrm>
          <a:prstGeom prst="roundRect">
            <a:avLst>
              <a:gd name="adj" fmla="val 5333"/>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6" name="Shape 12"/>
          <p:cNvSpPr/>
          <p:nvPr/>
        </p:nvSpPr>
        <p:spPr>
          <a:xfrm>
            <a:off x="5774436" y="2697480"/>
            <a:ext cx="640080" cy="640080"/>
          </a:xfrm>
          <a:prstGeom prst="ellipse">
            <a:avLst/>
          </a:prstGeom>
          <a:solidFill>
            <a:srgbClr val="15213E"/>
          </a:solidFill>
          <a:ln/>
        </p:spPr>
      </p:sp>
      <p:pic>
        <p:nvPicPr>
          <p:cNvPr id="17" name="Image 2" descr="/tmp/osa_pres/icons/unlock_teal.png">    </p:cNvPr>
          <p:cNvPicPr>
            <a:picLocks noChangeAspect="1"/>
          </p:cNvPicPr>
          <p:nvPr/>
        </p:nvPicPr>
        <p:blipFill>
          <a:blip r:embed="rId3"/>
          <a:stretch>
            <a:fillRect/>
          </a:stretch>
        </p:blipFill>
        <p:spPr>
          <a:xfrm>
            <a:off x="5857646" y="2780690"/>
            <a:ext cx="473659" cy="473659"/>
          </a:xfrm>
          <a:prstGeom prst="rect">
            <a:avLst/>
          </a:prstGeom>
        </p:spPr>
      </p:pic>
      <p:sp>
        <p:nvSpPr>
          <p:cNvPr id="18" name="Text 13"/>
          <p:cNvSpPr txBox="1"/>
          <p:nvPr/>
        </p:nvSpPr>
        <p:spPr>
          <a:xfrm>
            <a:off x="5248656" y="3383280"/>
            <a:ext cx="169164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5213E"/>
                </a:solidFill>
                <a:latin typeface="Calibri" pitchFamily="34" charset="0"/>
                <a:ea typeface="Calibri" pitchFamily="34" charset="-122"/>
                <a:cs typeface="Calibri" pitchFamily="34" charset="-120"/>
              </a:rPr>
              <a:t>K efímera</a:t>
            </a:r>
            <a:endParaRPr lang="en-US" sz="1150" dirty="0"/>
          </a:p>
          <a:p>
            <a:pPr algn="ctr" indent="0" marL="0">
              <a:lnSpc>
                <a:spcPct val="105000"/>
              </a:lnSpc>
              <a:buNone/>
            </a:pPr>
            <a:r>
              <a:rPr lang="en-US" sz="1150" b="1" dirty="0">
                <a:solidFill>
                  <a:srgbClr val="15213E"/>
                </a:solidFill>
                <a:latin typeface="Calibri" pitchFamily="34" charset="0"/>
                <a:ea typeface="Calibri" pitchFamily="34" charset="-122"/>
                <a:cs typeface="Calibri" pitchFamily="34" charset="-120"/>
              </a:rPr>
              <a:t>(AES-256)</a:t>
            </a:r>
            <a:endParaRPr lang="en-US" sz="1150" dirty="0"/>
          </a:p>
        </p:txBody>
      </p:sp>
      <p:sp>
        <p:nvSpPr>
          <p:cNvPr id="19" name="Text 14"/>
          <p:cNvSpPr txBox="1"/>
          <p:nvPr/>
        </p:nvSpPr>
        <p:spPr>
          <a:xfrm>
            <a:off x="7031736" y="2514600"/>
            <a:ext cx="429768" cy="1371600"/>
          </a:xfrm>
          <a:prstGeom prst="rect">
            <a:avLst/>
          </a:prstGeom>
          <a:noFill/>
          <a:ln/>
        </p:spPr>
        <p:txBody>
          <a:bodyPr wrap="square" lIns="0" tIns="0" rIns="0" bIns="0" rtlCol="0" anchor="ctr"/>
          <a:lstStyle/>
          <a:p>
            <a:pPr algn="ctr" indent="0" marL="0">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20" name="Shape 15"/>
          <p:cNvSpPr/>
          <p:nvPr/>
        </p:nvSpPr>
        <p:spPr>
          <a:xfrm>
            <a:off x="7461504" y="2514600"/>
            <a:ext cx="1874520" cy="1371600"/>
          </a:xfrm>
          <a:prstGeom prst="roundRect">
            <a:avLst>
              <a:gd name="adj" fmla="val 5333"/>
            </a:avLst>
          </a:prstGeom>
          <a:solidFill>
            <a:srgbClr val="15213E"/>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21" name="Shape 16"/>
          <p:cNvSpPr/>
          <p:nvPr/>
        </p:nvSpPr>
        <p:spPr>
          <a:xfrm>
            <a:off x="8078724" y="2697480"/>
            <a:ext cx="640080" cy="640080"/>
          </a:xfrm>
          <a:prstGeom prst="ellipse">
            <a:avLst/>
          </a:prstGeom>
          <a:solidFill>
            <a:srgbClr val="17B8A6"/>
          </a:solidFill>
          <a:ln/>
        </p:spPr>
      </p:sp>
      <p:pic>
        <p:nvPicPr>
          <p:cNvPr id="22" name="Image 3" descr="/tmp/osa_pres/icons/lock_navy.png">    </p:cNvPr>
          <p:cNvPicPr>
            <a:picLocks noChangeAspect="1"/>
          </p:cNvPicPr>
          <p:nvPr/>
        </p:nvPicPr>
        <p:blipFill>
          <a:blip r:embed="rId4"/>
          <a:stretch>
            <a:fillRect/>
          </a:stretch>
        </p:blipFill>
        <p:spPr>
          <a:xfrm>
            <a:off x="8161934" y="2780690"/>
            <a:ext cx="473659" cy="473659"/>
          </a:xfrm>
          <a:prstGeom prst="rect">
            <a:avLst/>
          </a:prstGeom>
        </p:spPr>
      </p:pic>
      <p:sp>
        <p:nvSpPr>
          <p:cNvPr id="23" name="Text 17"/>
          <p:cNvSpPr txBox="1"/>
          <p:nvPr/>
        </p:nvSpPr>
        <p:spPr>
          <a:xfrm>
            <a:off x="7552944" y="3383280"/>
            <a:ext cx="169164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DEM</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AES-GCM / SSE-2</a:t>
            </a:r>
            <a:endParaRPr lang="en-US" sz="1150" dirty="0"/>
          </a:p>
        </p:txBody>
      </p:sp>
      <p:sp>
        <p:nvSpPr>
          <p:cNvPr id="24" name="Text 18"/>
          <p:cNvSpPr txBox="1"/>
          <p:nvPr/>
        </p:nvSpPr>
        <p:spPr>
          <a:xfrm>
            <a:off x="9336024" y="2514600"/>
            <a:ext cx="429768" cy="1371600"/>
          </a:xfrm>
          <a:prstGeom prst="rect">
            <a:avLst/>
          </a:prstGeom>
          <a:noFill/>
          <a:ln/>
        </p:spPr>
        <p:txBody>
          <a:bodyPr wrap="square" lIns="0" tIns="0" rIns="0" bIns="0" rtlCol="0" anchor="ctr"/>
          <a:lstStyle/>
          <a:p>
            <a:pPr algn="ctr" indent="0" marL="0">
              <a:buNone/>
            </a:pPr>
            <a:r>
              <a:rPr lang="en-US" sz="2200" b="1" dirty="0">
                <a:solidFill>
                  <a:srgbClr val="5B6485"/>
                </a:solidFill>
                <a:latin typeface="Calibri" pitchFamily="34" charset="0"/>
                <a:ea typeface="Calibri" pitchFamily="34" charset="-122"/>
                <a:cs typeface="Calibri" pitchFamily="34" charset="-120"/>
              </a:rPr>
              <a:t>→</a:t>
            </a:r>
            <a:endParaRPr lang="en-US" sz="2200" dirty="0"/>
          </a:p>
        </p:txBody>
      </p:sp>
      <p:sp>
        <p:nvSpPr>
          <p:cNvPr id="25" name="Shape 19"/>
          <p:cNvSpPr/>
          <p:nvPr/>
        </p:nvSpPr>
        <p:spPr>
          <a:xfrm>
            <a:off x="9765792" y="2514600"/>
            <a:ext cx="1874520" cy="1371600"/>
          </a:xfrm>
          <a:prstGeom prst="roundRect">
            <a:avLst>
              <a:gd name="adj" fmla="val 5333"/>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26" name="Shape 20"/>
          <p:cNvSpPr/>
          <p:nvPr/>
        </p:nvSpPr>
        <p:spPr>
          <a:xfrm>
            <a:off x="10383012" y="2697480"/>
            <a:ext cx="640080" cy="640080"/>
          </a:xfrm>
          <a:prstGeom prst="ellipse">
            <a:avLst/>
          </a:prstGeom>
          <a:solidFill>
            <a:srgbClr val="15213E"/>
          </a:solidFill>
          <a:ln/>
        </p:spPr>
      </p:sp>
      <p:pic>
        <p:nvPicPr>
          <p:cNvPr id="27" name="Image 4" descr="/tmp/osa_pres/icons/database_teal.png">    </p:cNvPr>
          <p:cNvPicPr>
            <a:picLocks noChangeAspect="1"/>
          </p:cNvPicPr>
          <p:nvPr/>
        </p:nvPicPr>
        <p:blipFill>
          <a:blip r:embed="rId5"/>
          <a:stretch>
            <a:fillRect/>
          </a:stretch>
        </p:blipFill>
        <p:spPr>
          <a:xfrm>
            <a:off x="10466222" y="2780690"/>
            <a:ext cx="473659" cy="473659"/>
          </a:xfrm>
          <a:prstGeom prst="rect">
            <a:avLst/>
          </a:prstGeom>
        </p:spPr>
      </p:pic>
      <p:sp>
        <p:nvSpPr>
          <p:cNvPr id="28" name="Text 21"/>
          <p:cNvSpPr txBox="1"/>
          <p:nvPr/>
        </p:nvSpPr>
        <p:spPr>
          <a:xfrm>
            <a:off x="9857232" y="3383280"/>
            <a:ext cx="1691640" cy="457200"/>
          </a:xfrm>
          <a:prstGeom prst="rect">
            <a:avLst/>
          </a:prstGeom>
          <a:noFill/>
          <a:ln/>
        </p:spPr>
        <p:txBody>
          <a:bodyPr wrap="square" lIns="0" tIns="0" rIns="0" bIns="0" rtlCol="0" anchor="ctr"/>
          <a:lstStyle/>
          <a:p>
            <a:pPr algn="ctr" indent="0" marL="0">
              <a:lnSpc>
                <a:spcPct val="105000"/>
              </a:lnSpc>
              <a:buNone/>
            </a:pPr>
            <a:r>
              <a:rPr lang="en-US" sz="1150" b="1" dirty="0">
                <a:solidFill>
                  <a:srgbClr val="15213E"/>
                </a:solidFill>
                <a:latin typeface="Calibri" pitchFamily="34" charset="0"/>
                <a:ea typeface="Calibri" pitchFamily="34" charset="-122"/>
                <a:cs typeface="Calibri" pitchFamily="34" charset="-120"/>
              </a:rPr>
              <a:t>Ciphertext</a:t>
            </a:r>
            <a:endParaRPr lang="en-US" sz="1150" dirty="0"/>
          </a:p>
        </p:txBody>
      </p:sp>
      <p:sp>
        <p:nvSpPr>
          <p:cNvPr id="29" name="Shape 22"/>
          <p:cNvSpPr/>
          <p:nvPr/>
        </p:nvSpPr>
        <p:spPr>
          <a:xfrm>
            <a:off x="548640" y="4297680"/>
            <a:ext cx="7863840" cy="1737360"/>
          </a:xfrm>
          <a:prstGeom prst="roundRect">
            <a:avLst>
              <a:gd name="adj" fmla="val 4211"/>
            </a:avLst>
          </a:prstGeom>
          <a:solidFill>
            <a:srgbClr val="F7F8FC"/>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30" name="Text 23"/>
          <p:cNvSpPr txBox="1"/>
          <p:nvPr/>
        </p:nvSpPr>
        <p:spPr>
          <a:xfrm>
            <a:off x="822960" y="4434840"/>
            <a:ext cx="7315200" cy="320040"/>
          </a:xfrm>
          <a:prstGeom prst="rect">
            <a:avLst/>
          </a:prstGeom>
          <a:noFill/>
          <a:ln/>
        </p:spPr>
        <p:txBody>
          <a:bodyPr wrap="square" lIns="0" tIns="0" rIns="0" bIns="0" rtlCol="0" anchor="ctr"/>
          <a:lstStyle/>
          <a:p>
            <a:pPr indent="0" marL="0">
              <a:buNone/>
            </a:pPr>
            <a:r>
              <a:rPr lang="en-US" sz="1350" b="1" dirty="0">
                <a:solidFill>
                  <a:srgbClr val="15213E"/>
                </a:solidFill>
                <a:latin typeface="Cambria" pitchFamily="34" charset="0"/>
                <a:ea typeface="Cambria" pitchFamily="34" charset="-122"/>
                <a:cs typeface="Cambria" pitchFamily="34" charset="-120"/>
              </a:rPr>
              <a:t>En criollo:</a:t>
            </a:r>
            <a:endParaRPr lang="en-US" sz="1350" dirty="0"/>
          </a:p>
        </p:txBody>
      </p:sp>
      <p:sp>
        <p:nvSpPr>
          <p:cNvPr id="31" name="Text 24"/>
          <p:cNvSpPr txBox="1"/>
          <p:nvPr/>
        </p:nvSpPr>
        <p:spPr>
          <a:xfrm>
            <a:off x="822960" y="4800600"/>
            <a:ext cx="7315200" cy="1143000"/>
          </a:xfrm>
          <a:prstGeom prst="rect">
            <a:avLst/>
          </a:prstGeom>
          <a:noFill/>
          <a:ln/>
        </p:spPr>
        <p:txBody>
          <a:bodyPr wrap="square" lIns="0" tIns="0" rIns="0" bIns="0" rtlCol="0" anchor="ctr"/>
          <a:lstStyle/>
          <a:p>
            <a:pPr indent="0" marL="0">
              <a:lnSpc>
                <a:spcPct val="125000"/>
              </a:lnSpc>
              <a:spcAft>
                <a:spcPts val="400"/>
              </a:spcAft>
              <a:buNone/>
            </a:pPr>
            <a:r>
              <a:rPr lang="en-US" sz="1300" dirty="0">
                <a:solidFill>
                  <a:srgbClr val="1B2340"/>
                </a:solidFill>
                <a:latin typeface="Calibri" pitchFamily="34" charset="0"/>
                <a:ea typeface="Calibri" pitchFamily="34" charset="-122"/>
                <a:cs typeface="Calibri" pitchFamily="34" charset="-120"/>
              </a:rPr>
              <a:t>1.  Se genera una clave de un solo uso.</a:t>
            </a:r>
            <a:endParaRPr lang="en-US" sz="1300" dirty="0"/>
          </a:p>
          <a:p>
            <a:pPr indent="0" marL="0">
              <a:lnSpc>
                <a:spcPct val="125000"/>
              </a:lnSpc>
              <a:spcAft>
                <a:spcPts val="400"/>
              </a:spcAft>
              <a:buNone/>
            </a:pPr>
            <a:r>
              <a:rPr lang="en-US" sz="1300" dirty="0">
                <a:solidFill>
                  <a:srgbClr val="1B2340"/>
                </a:solidFill>
                <a:latin typeface="Calibri" pitchFamily="34" charset="0"/>
                <a:ea typeface="Calibri" pitchFamily="34" charset="-122"/>
                <a:cs typeface="Calibri" pitchFamily="34" charset="-120"/>
              </a:rPr>
              <a:t>2.  Esa clave se cifra con la clave pública del destinatario — así solo él la puede abrir.</a:t>
            </a:r>
            <a:endParaRPr lang="en-US" sz="1300" dirty="0"/>
          </a:p>
          <a:p>
            <a:pPr indent="0" marL="0">
              <a:lnSpc>
                <a:spcPct val="125000"/>
              </a:lnSpc>
              <a:spcAft>
                <a:spcPts val="400"/>
              </a:spcAft>
              <a:buNone/>
            </a:pPr>
            <a:r>
              <a:rPr lang="en-US" sz="1300" dirty="0">
                <a:solidFill>
                  <a:srgbClr val="1B2340"/>
                </a:solidFill>
                <a:latin typeface="Calibri" pitchFamily="34" charset="0"/>
                <a:ea typeface="Calibri" pitchFamily="34" charset="-122"/>
                <a:cs typeface="Calibri" pitchFamily="34" charset="-120"/>
              </a:rPr>
              <a:t>3.  Todo el contenido real se cifra con esa clave de un solo uso, que es simétrica y mucho más rápida.</a:t>
            </a:r>
            <a:endParaRPr lang="en-US" sz="1300" dirty="0"/>
          </a:p>
        </p:txBody>
      </p:sp>
      <p:sp>
        <p:nvSpPr>
          <p:cNvPr id="32" name="Shape 25"/>
          <p:cNvSpPr/>
          <p:nvPr/>
        </p:nvSpPr>
        <p:spPr>
          <a:xfrm>
            <a:off x="8595360" y="4297680"/>
            <a:ext cx="3044952" cy="1737360"/>
          </a:xfrm>
          <a:prstGeom prst="roundRect">
            <a:avLst>
              <a:gd name="adj" fmla="val 4211"/>
            </a:avLst>
          </a:prstGeom>
          <a:solidFill>
            <a:srgbClr val="15213E"/>
          </a:solidFill>
          <a:ln w="12700">
            <a:solidFill>
              <a:srgbClr val="E2E5F0"/>
            </a:solidFill>
            <a:prstDash val="solid"/>
          </a:ln>
        </p:spPr>
      </p:sp>
      <p:sp>
        <p:nvSpPr>
          <p:cNvPr id="33" name="Text 26"/>
          <p:cNvSpPr txBox="1"/>
          <p:nvPr/>
        </p:nvSpPr>
        <p:spPr>
          <a:xfrm>
            <a:off x="8778240" y="4297680"/>
            <a:ext cx="2697480" cy="1737360"/>
          </a:xfrm>
          <a:prstGeom prst="rect">
            <a:avLst/>
          </a:prstGeom>
          <a:noFill/>
          <a:ln/>
        </p:spPr>
        <p:txBody>
          <a:bodyPr wrap="square" lIns="0" tIns="0" rIns="0" bIns="0" rtlCol="0" anchor="ctr"/>
          <a:lstStyle/>
          <a:p>
            <a:pPr algn="ctr" indent="0" marL="0">
              <a:lnSpc>
                <a:spcPct val="120000"/>
              </a:lnSpc>
              <a:buNone/>
            </a:pPr>
            <a:r>
              <a:rPr lang="en-US" sz="1350" b="1" i="1" dirty="0">
                <a:solidFill>
                  <a:srgbClr val="17B8A6"/>
                </a:solidFill>
                <a:latin typeface="Cambria" pitchFamily="34" charset="0"/>
                <a:ea typeface="Cambria" pitchFamily="34" charset="-122"/>
                <a:cs typeface="Cambria" pitchFamily="34" charset="-120"/>
              </a:rPr>
              <a:t>Esto es exactamente ECIES</a:t>
            </a:r>
            <a:endParaRPr lang="en-US" sz="1350" dirty="0"/>
          </a:p>
          <a:p>
            <a:pPr algn="ctr" indent="0" marL="0">
              <a:lnSpc>
                <a:spcPct val="120000"/>
              </a:lnSpc>
              <a:buNone/>
            </a:pPr>
            <a:r>
              <a:rPr lang="en-US" sz="1350" b="1" i="1" dirty="0">
                <a:solidFill>
                  <a:srgbClr val="17B8A6"/>
                </a:solidFill>
                <a:latin typeface="Cambria" pitchFamily="34" charset="0"/>
                <a:ea typeface="Cambria" pitchFamily="34" charset="-122"/>
                <a:cs typeface="Cambria" pitchFamily="34" charset="-120"/>
              </a:rPr>
              <a:t>(Elliptic Curve Integrated</a:t>
            </a:r>
            <a:endParaRPr lang="en-US" sz="1350" dirty="0"/>
          </a:p>
          <a:p>
            <a:pPr algn="ctr" indent="0" marL="0">
              <a:lnSpc>
                <a:spcPct val="120000"/>
              </a:lnSpc>
              <a:buNone/>
            </a:pPr>
            <a:r>
              <a:rPr lang="en-US" sz="1350" b="1" i="1" dirty="0">
                <a:solidFill>
                  <a:srgbClr val="17B8A6"/>
                </a:solidFill>
                <a:latin typeface="Cambria" pitchFamily="34" charset="0"/>
                <a:ea typeface="Cambria" pitchFamily="34" charset="-122"/>
                <a:cs typeface="Cambria" pitchFamily="34" charset="-120"/>
              </a:rPr>
              <a:t>Encryption Scheme).</a:t>
            </a:r>
            <a:endParaRPr lang="en-US" sz="1350" dirty="0"/>
          </a:p>
        </p:txBody>
      </p:sp>
      <p:sp>
        <p:nvSpPr>
          <p:cNvPr id="34" name="Text 27"/>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35" name="Text 28"/>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CASO DE ESTUDIO</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OSA — historia clínica zero-knowledge</a:t>
            </a:r>
            <a:endParaRPr lang="en-US" sz="3200" dirty="0"/>
          </a:p>
        </p:txBody>
      </p:sp>
      <p:sp>
        <p:nvSpPr>
          <p:cNvPr id="4" name="Shape 2"/>
          <p:cNvSpPr/>
          <p:nvPr/>
        </p:nvSpPr>
        <p:spPr>
          <a:xfrm>
            <a:off x="548640" y="1417320"/>
            <a:ext cx="4160520" cy="4754880"/>
          </a:xfrm>
          <a:prstGeom prst="roundRect">
            <a:avLst>
              <a:gd name="adj" fmla="val 1758"/>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5" name="Shape 3"/>
          <p:cNvSpPr/>
          <p:nvPr/>
        </p:nvSpPr>
        <p:spPr>
          <a:xfrm>
            <a:off x="868680" y="1737360"/>
            <a:ext cx="594360" cy="594360"/>
          </a:xfrm>
          <a:prstGeom prst="ellipse">
            <a:avLst/>
          </a:prstGeom>
          <a:solidFill>
            <a:srgbClr val="15213E"/>
          </a:solidFill>
          <a:ln/>
        </p:spPr>
      </p:sp>
      <p:pic>
        <p:nvPicPr>
          <p:cNvPr id="6" name="Image 0" descr="/tmp/osa_pres/icons/hospital_teal.png">    </p:cNvPr>
          <p:cNvPicPr>
            <a:picLocks noChangeAspect="1"/>
          </p:cNvPicPr>
          <p:nvPr/>
        </p:nvPicPr>
        <p:blipFill>
          <a:blip r:embed="rId1"/>
          <a:stretch>
            <a:fillRect/>
          </a:stretch>
        </p:blipFill>
        <p:spPr>
          <a:xfrm>
            <a:off x="945947" y="1814627"/>
            <a:ext cx="439826" cy="439826"/>
          </a:xfrm>
          <a:prstGeom prst="rect">
            <a:avLst/>
          </a:prstGeom>
        </p:spPr>
      </p:pic>
      <p:sp>
        <p:nvSpPr>
          <p:cNvPr id="7" name="Text 4"/>
          <p:cNvSpPr txBox="1"/>
          <p:nvPr/>
        </p:nvSpPr>
        <p:spPr>
          <a:xfrm>
            <a:off x="1600200" y="1737360"/>
            <a:ext cx="2926080" cy="457200"/>
          </a:xfrm>
          <a:prstGeom prst="rect">
            <a:avLst/>
          </a:prstGeom>
          <a:noFill/>
          <a:ln/>
        </p:spPr>
        <p:txBody>
          <a:bodyPr wrap="square" lIns="0" tIns="0" rIns="0" bIns="0" rtlCol="0" anchor="ctr"/>
          <a:lstStyle/>
          <a:p>
            <a:pPr indent="0" marL="0">
              <a:buNone/>
            </a:pPr>
            <a:r>
              <a:rPr lang="en-US" sz="1600" b="1" dirty="0">
                <a:solidFill>
                  <a:srgbClr val="15213E"/>
                </a:solidFill>
                <a:latin typeface="Cambria" pitchFamily="34" charset="0"/>
                <a:ea typeface="Cambria" pitchFamily="34" charset="-122"/>
                <a:cs typeface="Cambria" pitchFamily="34" charset="-120"/>
              </a:rPr>
              <a:t>Qué es OSA</a:t>
            </a:r>
            <a:endParaRPr lang="en-US" sz="1600" dirty="0"/>
          </a:p>
        </p:txBody>
      </p:sp>
      <p:sp>
        <p:nvSpPr>
          <p:cNvPr id="8" name="Text 5"/>
          <p:cNvSpPr txBox="1"/>
          <p:nvPr/>
        </p:nvSpPr>
        <p:spPr>
          <a:xfrm>
            <a:off x="868680" y="2423160"/>
            <a:ext cx="3520440" cy="1188720"/>
          </a:xfrm>
          <a:prstGeom prst="rect">
            <a:avLst/>
          </a:prstGeom>
          <a:noFill/>
          <a:ln/>
        </p:spPr>
        <p:txBody>
          <a:bodyPr wrap="square" lIns="0" tIns="0" rIns="0" bIns="0" rtlCol="0" anchor="ctr"/>
          <a:lstStyle/>
          <a:p>
            <a:pPr indent="0" marL="0">
              <a:lnSpc>
                <a:spcPct val="120000"/>
              </a:lnSpc>
              <a:buNone/>
            </a:pPr>
            <a:r>
              <a:rPr lang="en-US" sz="1300" dirty="0">
                <a:solidFill>
                  <a:srgbClr val="1B2340"/>
                </a:solidFill>
                <a:latin typeface="Calibri" pitchFamily="34" charset="0"/>
                <a:ea typeface="Calibri" pitchFamily="34" charset="-122"/>
                <a:cs typeface="Calibri" pitchFamily="34" charset="-120"/>
              </a:rPr>
              <a:t>MVP funcional de un portal médico paciente/doctor donde el servidor Go es un custodio ciego: nunca ve contenido clínico, claves de cifrado, ni las palabras que alguien busca.</a:t>
            </a:r>
            <a:endParaRPr lang="en-US" sz="1300" dirty="0"/>
          </a:p>
        </p:txBody>
      </p:sp>
      <p:sp>
        <p:nvSpPr>
          <p:cNvPr id="9" name="Shape 6"/>
          <p:cNvSpPr/>
          <p:nvPr/>
        </p:nvSpPr>
        <p:spPr>
          <a:xfrm>
            <a:off x="868680" y="3803904"/>
            <a:ext cx="109728" cy="109728"/>
          </a:xfrm>
          <a:prstGeom prst="ellipse">
            <a:avLst/>
          </a:prstGeom>
          <a:solidFill>
            <a:srgbClr val="17B8A6"/>
          </a:solidFill>
          <a:ln/>
        </p:spPr>
      </p:sp>
      <p:sp>
        <p:nvSpPr>
          <p:cNvPr id="10" name="Text 7"/>
          <p:cNvSpPr txBox="1"/>
          <p:nvPr/>
        </p:nvSpPr>
        <p:spPr>
          <a:xfrm>
            <a:off x="1097280" y="3675888"/>
            <a:ext cx="3429000" cy="502920"/>
          </a:xfrm>
          <a:prstGeom prst="rect">
            <a:avLst/>
          </a:prstGeom>
          <a:noFill/>
          <a:ln/>
        </p:spPr>
        <p:txBody>
          <a:bodyPr wrap="square" lIns="0" tIns="0" rIns="0" bIns="0" rtlCol="0" anchor="ctr"/>
          <a:lstStyle/>
          <a:p>
            <a:pPr indent="0" marL="0">
              <a:lnSpc>
                <a:spcPct val="110000"/>
              </a:lnSpc>
              <a:buNone/>
            </a:pPr>
            <a:r>
              <a:rPr lang="en-US" sz="1200" b="1" dirty="0">
                <a:solidFill>
                  <a:srgbClr val="15213E"/>
                </a:solidFill>
                <a:latin typeface="Calibri" pitchFamily="34" charset="0"/>
                <a:ea typeface="Calibri" pitchFamily="34" charset="-122"/>
                <a:cs typeface="Calibri" pitchFamily="34" charset="-120"/>
              </a:rPr>
              <a:t>Argon2id  </a:t>
            </a:r>
            <a:pPr indent="0" marL="0">
              <a:lnSpc>
                <a:spcPct val="110000"/>
              </a:lnSpc>
              <a:buNone/>
            </a:pPr>
            <a:r>
              <a:rPr lang="en-US" sz="1200" dirty="0">
                <a:solidFill>
                  <a:srgbClr val="5B6485"/>
                </a:solidFill>
                <a:latin typeface="Calibri" pitchFamily="34" charset="0"/>
                <a:ea typeface="Calibri" pitchFamily="34" charset="-122"/>
                <a:cs typeface="Calibri" pitchFamily="34" charset="-120"/>
              </a:rPr>
              <a:t>deriva la semilla maestra desde password + salt</a:t>
            </a:r>
            <a:endParaRPr lang="en-US" sz="1200" dirty="0"/>
          </a:p>
        </p:txBody>
      </p:sp>
      <p:sp>
        <p:nvSpPr>
          <p:cNvPr id="11" name="Shape 8"/>
          <p:cNvSpPr/>
          <p:nvPr/>
        </p:nvSpPr>
        <p:spPr>
          <a:xfrm>
            <a:off x="868680" y="4398264"/>
            <a:ext cx="109728" cy="109728"/>
          </a:xfrm>
          <a:prstGeom prst="ellipse">
            <a:avLst/>
          </a:prstGeom>
          <a:solidFill>
            <a:srgbClr val="17B8A6"/>
          </a:solidFill>
          <a:ln/>
        </p:spPr>
      </p:sp>
      <p:sp>
        <p:nvSpPr>
          <p:cNvPr id="12" name="Text 9"/>
          <p:cNvSpPr txBox="1"/>
          <p:nvPr/>
        </p:nvSpPr>
        <p:spPr>
          <a:xfrm>
            <a:off x="1097280" y="4270248"/>
            <a:ext cx="3429000" cy="502920"/>
          </a:xfrm>
          <a:prstGeom prst="rect">
            <a:avLst/>
          </a:prstGeom>
          <a:noFill/>
          <a:ln/>
        </p:spPr>
        <p:txBody>
          <a:bodyPr wrap="square" lIns="0" tIns="0" rIns="0" bIns="0" rtlCol="0" anchor="ctr"/>
          <a:lstStyle/>
          <a:p>
            <a:pPr indent="0" marL="0">
              <a:lnSpc>
                <a:spcPct val="110000"/>
              </a:lnSpc>
              <a:buNone/>
            </a:pPr>
            <a:r>
              <a:rPr lang="en-US" sz="1200" b="1" dirty="0">
                <a:solidFill>
                  <a:srgbClr val="15213E"/>
                </a:solidFill>
                <a:latin typeface="Calibri" pitchFamily="34" charset="0"/>
                <a:ea typeface="Calibri" pitchFamily="34" charset="-122"/>
                <a:cs typeface="Calibri" pitchFamily="34" charset="-120"/>
              </a:rPr>
              <a:t>AES-256-GCM  </a:t>
            </a:r>
            <a:pPr indent="0" marL="0">
              <a:lnSpc>
                <a:spcPct val="110000"/>
              </a:lnSpc>
              <a:buNone/>
            </a:pPr>
            <a:r>
              <a:rPr lang="en-US" sz="1200" dirty="0">
                <a:solidFill>
                  <a:srgbClr val="5B6485"/>
                </a:solidFill>
                <a:latin typeface="Calibri" pitchFamily="34" charset="0"/>
                <a:ea typeface="Calibri" pitchFamily="34" charset="-122"/>
                <a:cs typeface="Calibri" pitchFamily="34" charset="-120"/>
              </a:rPr>
              <a:t>cifra contenido clínico</a:t>
            </a:r>
            <a:endParaRPr lang="en-US" sz="1200" dirty="0"/>
          </a:p>
        </p:txBody>
      </p:sp>
      <p:sp>
        <p:nvSpPr>
          <p:cNvPr id="13" name="Shape 10"/>
          <p:cNvSpPr/>
          <p:nvPr/>
        </p:nvSpPr>
        <p:spPr>
          <a:xfrm>
            <a:off x="868680" y="4992624"/>
            <a:ext cx="109728" cy="109728"/>
          </a:xfrm>
          <a:prstGeom prst="ellipse">
            <a:avLst/>
          </a:prstGeom>
          <a:solidFill>
            <a:srgbClr val="17B8A6"/>
          </a:solidFill>
          <a:ln/>
        </p:spPr>
      </p:sp>
      <p:sp>
        <p:nvSpPr>
          <p:cNvPr id="14" name="Text 11"/>
          <p:cNvSpPr txBox="1"/>
          <p:nvPr/>
        </p:nvSpPr>
        <p:spPr>
          <a:xfrm>
            <a:off x="1097280" y="4864608"/>
            <a:ext cx="3429000" cy="502920"/>
          </a:xfrm>
          <a:prstGeom prst="rect">
            <a:avLst/>
          </a:prstGeom>
          <a:noFill/>
          <a:ln/>
        </p:spPr>
        <p:txBody>
          <a:bodyPr wrap="square" lIns="0" tIns="0" rIns="0" bIns="0" rtlCol="0" anchor="ctr"/>
          <a:lstStyle/>
          <a:p>
            <a:pPr indent="0" marL="0">
              <a:lnSpc>
                <a:spcPct val="110000"/>
              </a:lnSpc>
              <a:buNone/>
            </a:pPr>
            <a:r>
              <a:rPr lang="en-US" sz="1200" b="1" dirty="0">
                <a:solidFill>
                  <a:srgbClr val="15213E"/>
                </a:solidFill>
                <a:latin typeface="Calibri" pitchFamily="34" charset="0"/>
                <a:ea typeface="Calibri" pitchFamily="34" charset="-122"/>
                <a:cs typeface="Calibri" pitchFamily="34" charset="-120"/>
              </a:rPr>
              <a:t>HMAC-SHA256  </a:t>
            </a:r>
            <a:pPr indent="0" marL="0">
              <a:lnSpc>
                <a:spcPct val="110000"/>
              </a:lnSpc>
              <a:buNone/>
            </a:pPr>
            <a:r>
              <a:rPr lang="en-US" sz="1200" dirty="0">
                <a:solidFill>
                  <a:srgbClr val="5B6485"/>
                </a:solidFill>
                <a:latin typeface="Calibri" pitchFamily="34" charset="0"/>
                <a:ea typeface="Calibri" pitchFamily="34" charset="-122"/>
                <a:cs typeface="Calibri" pitchFamily="34" charset="-120"/>
              </a:rPr>
              <a:t>genera trapdoors del índice SSE-2</a:t>
            </a:r>
            <a:endParaRPr lang="en-US" sz="1200" dirty="0"/>
          </a:p>
        </p:txBody>
      </p:sp>
      <p:sp>
        <p:nvSpPr>
          <p:cNvPr id="15" name="Shape 12"/>
          <p:cNvSpPr/>
          <p:nvPr/>
        </p:nvSpPr>
        <p:spPr>
          <a:xfrm>
            <a:off x="868680" y="5586984"/>
            <a:ext cx="109728" cy="109728"/>
          </a:xfrm>
          <a:prstGeom prst="ellipse">
            <a:avLst/>
          </a:prstGeom>
          <a:solidFill>
            <a:srgbClr val="17B8A6"/>
          </a:solidFill>
          <a:ln/>
        </p:spPr>
      </p:sp>
      <p:sp>
        <p:nvSpPr>
          <p:cNvPr id="16" name="Text 13"/>
          <p:cNvSpPr txBox="1"/>
          <p:nvPr/>
        </p:nvSpPr>
        <p:spPr>
          <a:xfrm>
            <a:off x="1097280" y="5458968"/>
            <a:ext cx="3429000" cy="502920"/>
          </a:xfrm>
          <a:prstGeom prst="rect">
            <a:avLst/>
          </a:prstGeom>
          <a:noFill/>
          <a:ln/>
        </p:spPr>
        <p:txBody>
          <a:bodyPr wrap="square" lIns="0" tIns="0" rIns="0" bIns="0" rtlCol="0" anchor="ctr"/>
          <a:lstStyle/>
          <a:p>
            <a:pPr indent="0" marL="0">
              <a:lnSpc>
                <a:spcPct val="110000"/>
              </a:lnSpc>
              <a:buNone/>
            </a:pPr>
            <a:r>
              <a:rPr lang="en-US" sz="1200" b="1" dirty="0">
                <a:solidFill>
                  <a:srgbClr val="15213E"/>
                </a:solidFill>
                <a:latin typeface="Calibri" pitchFamily="34" charset="0"/>
                <a:ea typeface="Calibri" pitchFamily="34" charset="-122"/>
                <a:cs typeface="Calibri" pitchFamily="34" charset="-120"/>
              </a:rPr>
              <a:t>X25519 / Ed25519  </a:t>
            </a:r>
            <a:pPr indent="0" marL="0">
              <a:lnSpc>
                <a:spcPct val="110000"/>
              </a:lnSpc>
              <a:buNone/>
            </a:pPr>
            <a:r>
              <a:rPr lang="en-US" sz="1200" dirty="0">
                <a:solidFill>
                  <a:srgbClr val="5B6485"/>
                </a:solidFill>
                <a:latin typeface="Calibri" pitchFamily="34" charset="0"/>
                <a:ea typeface="Calibri" pitchFamily="34" charset="-122"/>
                <a:cs typeface="Calibri" pitchFamily="34" charset="-120"/>
              </a:rPr>
              <a:t>identidad asimétrica y firma</a:t>
            </a:r>
            <a:endParaRPr lang="en-US" sz="1200" dirty="0"/>
          </a:p>
        </p:txBody>
      </p:sp>
      <p:sp>
        <p:nvSpPr>
          <p:cNvPr id="17" name="Shape 14"/>
          <p:cNvSpPr/>
          <p:nvPr/>
        </p:nvSpPr>
        <p:spPr>
          <a:xfrm>
            <a:off x="5029200" y="1417320"/>
            <a:ext cx="6611112" cy="4754880"/>
          </a:xfrm>
          <a:prstGeom prst="roundRect">
            <a:avLst>
              <a:gd name="adj" fmla="val 1538"/>
            </a:avLst>
          </a:prstGeom>
          <a:solidFill>
            <a:srgbClr val="15213E"/>
          </a:solidFill>
          <a:ln w="12700">
            <a:solidFill>
              <a:srgbClr val="E2E5F0"/>
            </a:solidFill>
            <a:prstDash val="solid"/>
          </a:ln>
        </p:spPr>
      </p:sp>
      <p:sp>
        <p:nvSpPr>
          <p:cNvPr id="18" name="Text 15"/>
          <p:cNvSpPr txBox="1"/>
          <p:nvPr/>
        </p:nvSpPr>
        <p:spPr>
          <a:xfrm>
            <a:off x="5349240" y="1645920"/>
            <a:ext cx="5971032"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Jerarquía de claves del paciente</a:t>
            </a:r>
            <a:endParaRPr lang="en-US" sz="1450" dirty="0"/>
          </a:p>
        </p:txBody>
      </p:sp>
      <p:sp>
        <p:nvSpPr>
          <p:cNvPr id="19" name="Shape 16"/>
          <p:cNvSpPr/>
          <p:nvPr/>
        </p:nvSpPr>
        <p:spPr>
          <a:xfrm>
            <a:off x="5852160" y="2331720"/>
            <a:ext cx="2377440" cy="548640"/>
          </a:xfrm>
          <a:prstGeom prst="roundRect">
            <a:avLst>
              <a:gd name="adj" fmla="val 10000"/>
            </a:avLst>
          </a:prstGeom>
          <a:solidFill>
            <a:srgbClr val="17B8A6"/>
          </a:solidFill>
          <a:ln/>
        </p:spPr>
      </p:sp>
      <p:sp>
        <p:nvSpPr>
          <p:cNvPr id="20" name="Text 17"/>
          <p:cNvSpPr txBox="1"/>
          <p:nvPr/>
        </p:nvSpPr>
        <p:spPr>
          <a:xfrm>
            <a:off x="5852160" y="2331720"/>
            <a:ext cx="2377440" cy="548640"/>
          </a:xfrm>
          <a:prstGeom prst="rect">
            <a:avLst/>
          </a:prstGeom>
          <a:noFill/>
          <a:ln/>
        </p:spPr>
        <p:txBody>
          <a:bodyPr wrap="square" lIns="0" tIns="0" rIns="0" bIns="0" rtlCol="0" anchor="ctr"/>
          <a:lstStyle/>
          <a:p>
            <a:pPr algn="ctr" indent="0" marL="0">
              <a:buNone/>
            </a:pPr>
            <a:r>
              <a:rPr lang="en-US" sz="1250" b="1" dirty="0">
                <a:solidFill>
                  <a:srgbClr val="15213E"/>
                </a:solidFill>
                <a:latin typeface="Calibri" pitchFamily="34" charset="0"/>
                <a:ea typeface="Calibri" pitchFamily="34" charset="-122"/>
                <a:cs typeface="Calibri" pitchFamily="34" charset="-120"/>
              </a:rPr>
              <a:t>Semilla maestra</a:t>
            </a:r>
            <a:endParaRPr lang="en-US" sz="1250" dirty="0"/>
          </a:p>
        </p:txBody>
      </p:sp>
      <p:sp>
        <p:nvSpPr>
          <p:cNvPr id="21" name="Shape 18"/>
          <p:cNvSpPr/>
          <p:nvPr/>
        </p:nvSpPr>
        <p:spPr>
          <a:xfrm flipH="1">
            <a:off x="6030468" y="2880360"/>
            <a:ext cx="1010412" cy="868680"/>
          </a:xfrm>
          <a:prstGeom prst="line">
            <a:avLst/>
          </a:prstGeom>
          <a:noFill/>
          <a:ln w="15875">
            <a:solidFill>
              <a:srgbClr val="AEB6D6"/>
            </a:solidFill>
            <a:prstDash val="solid"/>
          </a:ln>
        </p:spPr>
      </p:sp>
      <p:sp>
        <p:nvSpPr>
          <p:cNvPr id="22" name="Shape 19"/>
          <p:cNvSpPr/>
          <p:nvPr/>
        </p:nvSpPr>
        <p:spPr>
          <a:xfrm>
            <a:off x="5344668" y="3749040"/>
            <a:ext cx="1371600" cy="777240"/>
          </a:xfrm>
          <a:prstGeom prst="roundRect">
            <a:avLst>
              <a:gd name="adj" fmla="val 7059"/>
            </a:avLst>
          </a:prstGeom>
          <a:solidFill>
            <a:srgbClr val="1E2E56"/>
          </a:solidFill>
          <a:ln w="12700">
            <a:solidFill>
              <a:srgbClr val="17B8A6"/>
            </a:solidFill>
            <a:prstDash val="solid"/>
          </a:ln>
        </p:spPr>
      </p:sp>
      <p:sp>
        <p:nvSpPr>
          <p:cNvPr id="23" name="Text 20"/>
          <p:cNvSpPr txBox="1"/>
          <p:nvPr/>
        </p:nvSpPr>
        <p:spPr>
          <a:xfrm>
            <a:off x="5390388" y="3749040"/>
            <a:ext cx="1280160" cy="777240"/>
          </a:xfrm>
          <a:prstGeom prst="rect">
            <a:avLst/>
          </a:prstGeom>
          <a:noFill/>
          <a:ln/>
        </p:spPr>
        <p:txBody>
          <a:bodyPr wrap="square" lIns="0" tIns="0" rIns="0" bIns="0" rtlCol="0" anchor="ctr"/>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Par asimétrico</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X25519 / Ed25519</a:t>
            </a:r>
            <a:endParaRPr lang="en-US" sz="1050" dirty="0"/>
          </a:p>
        </p:txBody>
      </p:sp>
      <p:sp>
        <p:nvSpPr>
          <p:cNvPr id="24" name="Shape 21"/>
          <p:cNvSpPr/>
          <p:nvPr/>
        </p:nvSpPr>
        <p:spPr>
          <a:xfrm>
            <a:off x="7040880" y="2880360"/>
            <a:ext cx="525780" cy="868680"/>
          </a:xfrm>
          <a:prstGeom prst="line">
            <a:avLst/>
          </a:prstGeom>
          <a:noFill/>
          <a:ln w="15875">
            <a:solidFill>
              <a:srgbClr val="AEB6D6"/>
            </a:solidFill>
            <a:prstDash val="solid"/>
          </a:ln>
        </p:spPr>
      </p:sp>
      <p:sp>
        <p:nvSpPr>
          <p:cNvPr id="25" name="Shape 22"/>
          <p:cNvSpPr/>
          <p:nvPr/>
        </p:nvSpPr>
        <p:spPr>
          <a:xfrm>
            <a:off x="6880860" y="3749040"/>
            <a:ext cx="1371600" cy="777240"/>
          </a:xfrm>
          <a:prstGeom prst="roundRect">
            <a:avLst>
              <a:gd name="adj" fmla="val 7059"/>
            </a:avLst>
          </a:prstGeom>
          <a:solidFill>
            <a:srgbClr val="1E2E56"/>
          </a:solidFill>
          <a:ln w="12700">
            <a:solidFill>
              <a:srgbClr val="17B8A6"/>
            </a:solidFill>
            <a:prstDash val="solid"/>
          </a:ln>
        </p:spPr>
      </p:sp>
      <p:sp>
        <p:nvSpPr>
          <p:cNvPr id="26" name="Text 23"/>
          <p:cNvSpPr txBox="1"/>
          <p:nvPr/>
        </p:nvSpPr>
        <p:spPr>
          <a:xfrm>
            <a:off x="6926580" y="3749040"/>
            <a:ext cx="1280160" cy="777240"/>
          </a:xfrm>
          <a:prstGeom prst="rect">
            <a:avLst/>
          </a:prstGeom>
          <a:noFill/>
          <a:ln/>
        </p:spPr>
        <p:txBody>
          <a:bodyPr wrap="square" lIns="0" tIns="0" rIns="0" bIns="0" rtlCol="0" anchor="ctr"/>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K_enc</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AES-256-GCM</a:t>
            </a:r>
            <a:endParaRPr lang="en-US" sz="1050" dirty="0"/>
          </a:p>
        </p:txBody>
      </p:sp>
      <p:sp>
        <p:nvSpPr>
          <p:cNvPr id="27" name="Shape 24"/>
          <p:cNvSpPr/>
          <p:nvPr/>
        </p:nvSpPr>
        <p:spPr>
          <a:xfrm>
            <a:off x="7040880" y="2880360"/>
            <a:ext cx="2061972" cy="868680"/>
          </a:xfrm>
          <a:prstGeom prst="line">
            <a:avLst/>
          </a:prstGeom>
          <a:noFill/>
          <a:ln w="15875">
            <a:solidFill>
              <a:srgbClr val="AEB6D6"/>
            </a:solidFill>
            <a:prstDash val="solid"/>
          </a:ln>
        </p:spPr>
      </p:sp>
      <p:sp>
        <p:nvSpPr>
          <p:cNvPr id="28" name="Shape 25"/>
          <p:cNvSpPr/>
          <p:nvPr/>
        </p:nvSpPr>
        <p:spPr>
          <a:xfrm>
            <a:off x="8417052" y="3749040"/>
            <a:ext cx="1371600" cy="777240"/>
          </a:xfrm>
          <a:prstGeom prst="roundRect">
            <a:avLst>
              <a:gd name="adj" fmla="val 7059"/>
            </a:avLst>
          </a:prstGeom>
          <a:solidFill>
            <a:srgbClr val="1E2E56"/>
          </a:solidFill>
          <a:ln w="12700">
            <a:solidFill>
              <a:srgbClr val="17B8A6"/>
            </a:solidFill>
            <a:prstDash val="solid"/>
          </a:ln>
        </p:spPr>
      </p:sp>
      <p:sp>
        <p:nvSpPr>
          <p:cNvPr id="29" name="Text 26"/>
          <p:cNvSpPr txBox="1"/>
          <p:nvPr/>
        </p:nvSpPr>
        <p:spPr>
          <a:xfrm>
            <a:off x="8462772" y="3749040"/>
            <a:ext cx="1280160" cy="777240"/>
          </a:xfrm>
          <a:prstGeom prst="rect">
            <a:avLst/>
          </a:prstGeom>
          <a:noFill/>
          <a:ln/>
        </p:spPr>
        <p:txBody>
          <a:bodyPr wrap="square" lIns="0" tIns="0" rIns="0" bIns="0" rtlCol="0" anchor="ctr"/>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K_idx</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HMAC-SHA256</a:t>
            </a:r>
            <a:endParaRPr lang="en-US" sz="1050" dirty="0"/>
          </a:p>
        </p:txBody>
      </p:sp>
      <p:sp>
        <p:nvSpPr>
          <p:cNvPr id="30" name="Shape 27"/>
          <p:cNvSpPr/>
          <p:nvPr/>
        </p:nvSpPr>
        <p:spPr>
          <a:xfrm>
            <a:off x="7040880" y="2880360"/>
            <a:ext cx="3598164" cy="868680"/>
          </a:xfrm>
          <a:prstGeom prst="line">
            <a:avLst/>
          </a:prstGeom>
          <a:noFill/>
          <a:ln w="15875">
            <a:solidFill>
              <a:srgbClr val="AEB6D6"/>
            </a:solidFill>
            <a:prstDash val="solid"/>
          </a:ln>
        </p:spPr>
      </p:sp>
      <p:sp>
        <p:nvSpPr>
          <p:cNvPr id="31" name="Shape 28"/>
          <p:cNvSpPr/>
          <p:nvPr/>
        </p:nvSpPr>
        <p:spPr>
          <a:xfrm>
            <a:off x="9953244" y="3749040"/>
            <a:ext cx="1371600" cy="777240"/>
          </a:xfrm>
          <a:prstGeom prst="roundRect">
            <a:avLst>
              <a:gd name="adj" fmla="val 7059"/>
            </a:avLst>
          </a:prstGeom>
          <a:solidFill>
            <a:srgbClr val="1E2E56"/>
          </a:solidFill>
          <a:ln w="12700">
            <a:solidFill>
              <a:srgbClr val="17B8A6"/>
            </a:solidFill>
            <a:prstDash val="solid"/>
          </a:ln>
        </p:spPr>
      </p:sp>
      <p:sp>
        <p:nvSpPr>
          <p:cNvPr id="32" name="Text 29"/>
          <p:cNvSpPr txBox="1"/>
          <p:nvPr/>
        </p:nvSpPr>
        <p:spPr>
          <a:xfrm>
            <a:off x="9998964" y="3749040"/>
            <a:ext cx="1280160" cy="777240"/>
          </a:xfrm>
          <a:prstGeom prst="rect">
            <a:avLst/>
          </a:prstGeom>
          <a:noFill/>
          <a:ln/>
        </p:spPr>
        <p:txBody>
          <a:bodyPr wrap="square" lIns="0" tIns="0" rIns="0" bIns="0" rtlCol="0" anchor="ctr"/>
          <a:lstStyle/>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K_mask</a:t>
            </a:r>
            <a:endParaRPr lang="en-US" sz="1050" dirty="0"/>
          </a:p>
          <a:p>
            <a:pPr algn="ctr" indent="0" marL="0">
              <a:lnSpc>
                <a:spcPct val="105000"/>
              </a:lnSpc>
              <a:buNone/>
            </a:pPr>
            <a:r>
              <a:rPr lang="en-US" sz="1050" dirty="0">
                <a:solidFill>
                  <a:srgbClr val="FFFFFF"/>
                </a:solidFill>
                <a:latin typeface="Calibri" pitchFamily="34" charset="0"/>
                <a:ea typeface="Calibri" pitchFamily="34" charset="-122"/>
                <a:cs typeface="Calibri" pitchFamily="34" charset="-120"/>
              </a:rPr>
              <a:t>HMAC-SHA256</a:t>
            </a:r>
            <a:endParaRPr lang="en-US" sz="1050" dirty="0"/>
          </a:p>
        </p:txBody>
      </p:sp>
      <p:sp>
        <p:nvSpPr>
          <p:cNvPr id="33" name="Text 30"/>
          <p:cNvSpPr txBox="1"/>
          <p:nvPr/>
        </p:nvSpPr>
        <p:spPr>
          <a:xfrm>
            <a:off x="5349240" y="4709160"/>
            <a:ext cx="5971032" cy="548640"/>
          </a:xfrm>
          <a:prstGeom prst="rect">
            <a:avLst/>
          </a:prstGeom>
          <a:noFill/>
          <a:ln/>
        </p:spPr>
        <p:txBody>
          <a:bodyPr wrap="square" lIns="0" tIns="0" rIns="0" bIns="0" rtlCol="0" anchor="ctr"/>
          <a:lstStyle/>
          <a:p>
            <a:pPr indent="0" marL="0">
              <a:lnSpc>
                <a:spcPct val="115000"/>
              </a:lnSpc>
              <a:buNone/>
            </a:pPr>
            <a:r>
              <a:rPr lang="en-US" sz="1150" i="1" dirty="0">
                <a:solidFill>
                  <a:srgbClr val="AEB6D6"/>
                </a:solidFill>
                <a:latin typeface="Calibri" pitchFamily="34" charset="0"/>
                <a:ea typeface="Calibri" pitchFamily="34" charset="-122"/>
                <a:cs typeface="Calibri" pitchFamily="34" charset="-120"/>
              </a:rPr>
              <a:t>PK_pac es pública (los médicos cifran hacia el paciente); SK_pac vive únicamente en RAM del navegador.</a:t>
            </a:r>
            <a:endParaRPr lang="en-US" sz="1150" dirty="0"/>
          </a:p>
        </p:txBody>
      </p:sp>
      <p:sp>
        <p:nvSpPr>
          <p:cNvPr id="34" name="Text 31"/>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35" name="Text 32"/>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LO MISMO, PERO EN LA APLICACIÓN REAL</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Así lo hace OSA, en el navegador</a:t>
            </a:r>
            <a:endParaRPr lang="en-US" sz="3200" dirty="0"/>
          </a:p>
        </p:txBody>
      </p:sp>
      <p:sp>
        <p:nvSpPr>
          <p:cNvPr id="4" name="Shape 2"/>
          <p:cNvSpPr/>
          <p:nvPr/>
        </p:nvSpPr>
        <p:spPr>
          <a:xfrm>
            <a:off x="548640" y="1463040"/>
            <a:ext cx="2514600" cy="1234440"/>
          </a:xfrm>
          <a:prstGeom prst="roundRect">
            <a:avLst>
              <a:gd name="adj" fmla="val 5926"/>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5" name="Shape 3"/>
          <p:cNvSpPr/>
          <p:nvPr/>
        </p:nvSpPr>
        <p:spPr>
          <a:xfrm>
            <a:off x="731520" y="1719072"/>
            <a:ext cx="566928" cy="566928"/>
          </a:xfrm>
          <a:prstGeom prst="ellipse">
            <a:avLst/>
          </a:prstGeom>
          <a:solidFill>
            <a:srgbClr val="15213E"/>
          </a:solidFill>
          <a:ln/>
        </p:spPr>
      </p:sp>
      <p:pic>
        <p:nvPicPr>
          <p:cNvPr id="6" name="Image 0" descr="/tmp/osa_pres/icons/key_teal.png">    </p:cNvPr>
          <p:cNvPicPr>
            <a:picLocks noChangeAspect="1"/>
          </p:cNvPicPr>
          <p:nvPr/>
        </p:nvPicPr>
        <p:blipFill>
          <a:blip r:embed="rId1"/>
          <a:stretch>
            <a:fillRect/>
          </a:stretch>
        </p:blipFill>
        <p:spPr>
          <a:xfrm>
            <a:off x="805221" y="1792773"/>
            <a:ext cx="419527" cy="419527"/>
          </a:xfrm>
          <a:prstGeom prst="rect">
            <a:avLst/>
          </a:prstGeom>
        </p:spPr>
      </p:pic>
      <p:sp>
        <p:nvSpPr>
          <p:cNvPr id="7" name="Text 4"/>
          <p:cNvSpPr txBox="1"/>
          <p:nvPr/>
        </p:nvSpPr>
        <p:spPr>
          <a:xfrm>
            <a:off x="1417320" y="1463040"/>
            <a:ext cx="1508760" cy="1234440"/>
          </a:xfrm>
          <a:prstGeom prst="rect">
            <a:avLst/>
          </a:prstGeom>
          <a:noFill/>
          <a:ln/>
        </p:spPr>
        <p:txBody>
          <a:bodyPr wrap="square" lIns="0" tIns="0" rIns="0" bIns="0" rtlCol="0" anchor="ctr"/>
          <a:lstStyle/>
          <a:p>
            <a:pPr indent="0" marL="0">
              <a:lnSpc>
                <a:spcPct val="105000"/>
              </a:lnSpc>
              <a:buNone/>
            </a:pPr>
            <a:r>
              <a:rPr lang="en-US" sz="1150" b="1" dirty="0">
                <a:solidFill>
                  <a:srgbClr val="15213E"/>
                </a:solidFill>
                <a:latin typeface="Calibri" pitchFamily="34" charset="0"/>
                <a:ea typeface="Calibri" pitchFamily="34" charset="-122"/>
                <a:cs typeface="Calibri" pitchFamily="34" charset="-120"/>
              </a:rPr>
              <a:t>Clave de</a:t>
            </a:r>
            <a:endParaRPr lang="en-US" sz="1150" dirty="0"/>
          </a:p>
          <a:p>
            <a:pPr indent="0" marL="0">
              <a:lnSpc>
                <a:spcPct val="105000"/>
              </a:lnSpc>
              <a:buNone/>
            </a:pPr>
            <a:r>
              <a:rPr lang="en-US" sz="1150" b="1" dirty="0">
                <a:solidFill>
                  <a:srgbClr val="15213E"/>
                </a:solidFill>
                <a:latin typeface="Calibri" pitchFamily="34" charset="0"/>
                <a:ea typeface="Calibri" pitchFamily="34" charset="-122"/>
                <a:cs typeface="Calibri" pitchFamily="34" charset="-120"/>
              </a:rPr>
              <a:t>un solo uso</a:t>
            </a:r>
            <a:endParaRPr lang="en-US" sz="1150" dirty="0"/>
          </a:p>
        </p:txBody>
      </p:sp>
      <p:sp>
        <p:nvSpPr>
          <p:cNvPr id="8" name="Text 5"/>
          <p:cNvSpPr txBox="1"/>
          <p:nvPr/>
        </p:nvSpPr>
        <p:spPr>
          <a:xfrm>
            <a:off x="3063240" y="1463040"/>
            <a:ext cx="344424" cy="1234440"/>
          </a:xfrm>
          <a:prstGeom prst="rect">
            <a:avLst/>
          </a:prstGeom>
          <a:noFill/>
          <a:ln/>
        </p:spPr>
        <p:txBody>
          <a:bodyPr wrap="square" lIns="0" tIns="0" rIns="0" bIns="0" rtlCol="0" anchor="ctr"/>
          <a:lstStyle/>
          <a:p>
            <a:pPr algn="ctr" indent="0" marL="0">
              <a:buNone/>
            </a:pPr>
            <a:r>
              <a:rPr lang="en-US" sz="2000" b="1" dirty="0">
                <a:solidFill>
                  <a:srgbClr val="5B6485"/>
                </a:solidFill>
              </a:rPr>
              <a:t>→</a:t>
            </a:r>
            <a:endParaRPr lang="en-US" sz="2000" dirty="0"/>
          </a:p>
        </p:txBody>
      </p:sp>
      <p:sp>
        <p:nvSpPr>
          <p:cNvPr id="9" name="Shape 6"/>
          <p:cNvSpPr/>
          <p:nvPr/>
        </p:nvSpPr>
        <p:spPr>
          <a:xfrm>
            <a:off x="3407664" y="1463040"/>
            <a:ext cx="2514600" cy="1234440"/>
          </a:xfrm>
          <a:prstGeom prst="roundRect">
            <a:avLst>
              <a:gd name="adj" fmla="val 5926"/>
            </a:avLst>
          </a:prstGeom>
          <a:solidFill>
            <a:srgbClr val="15213E"/>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0" name="Shape 7"/>
          <p:cNvSpPr/>
          <p:nvPr/>
        </p:nvSpPr>
        <p:spPr>
          <a:xfrm>
            <a:off x="3590544" y="1719072"/>
            <a:ext cx="566928" cy="566928"/>
          </a:xfrm>
          <a:prstGeom prst="ellipse">
            <a:avLst/>
          </a:prstGeom>
          <a:solidFill>
            <a:srgbClr val="17B8A6"/>
          </a:solidFill>
          <a:ln/>
        </p:spPr>
      </p:sp>
      <p:pic>
        <p:nvPicPr>
          <p:cNvPr id="11" name="Image 1" descr="/tmp/osa_pres/icons/exchange_navy.png">    </p:cNvPr>
          <p:cNvPicPr>
            <a:picLocks noChangeAspect="1"/>
          </p:cNvPicPr>
          <p:nvPr/>
        </p:nvPicPr>
        <p:blipFill>
          <a:blip r:embed="rId2"/>
          <a:stretch>
            <a:fillRect/>
          </a:stretch>
        </p:blipFill>
        <p:spPr>
          <a:xfrm>
            <a:off x="3664245" y="1792773"/>
            <a:ext cx="419527" cy="419527"/>
          </a:xfrm>
          <a:prstGeom prst="rect">
            <a:avLst/>
          </a:prstGeom>
        </p:spPr>
      </p:pic>
      <p:sp>
        <p:nvSpPr>
          <p:cNvPr id="12" name="Text 8"/>
          <p:cNvSpPr txBox="1"/>
          <p:nvPr/>
        </p:nvSpPr>
        <p:spPr>
          <a:xfrm>
            <a:off x="4276344" y="1463040"/>
            <a:ext cx="1508760" cy="1234440"/>
          </a:xfrm>
          <a:prstGeom prst="rect">
            <a:avLst/>
          </a:prstGeom>
          <a:noFill/>
          <a:ln/>
        </p:spPr>
        <p:txBody>
          <a:bodyPr wrap="square" lIns="0" tIns="0" rIns="0" bIns="0" rtlCol="0" anchor="ctr"/>
          <a:lstStyle/>
          <a:p>
            <a:pPr indent="0" marL="0">
              <a:lnSpc>
                <a:spcPct val="105000"/>
              </a:lnSpc>
              <a:buNone/>
            </a:pPr>
            <a:r>
              <a:rPr lang="en-US" sz="1150" b="1" dirty="0">
                <a:solidFill>
                  <a:srgbClr val="FFFFFF"/>
                </a:solidFill>
                <a:latin typeface="Calibri" pitchFamily="34" charset="0"/>
                <a:ea typeface="Calibri" pitchFamily="34" charset="-122"/>
                <a:cs typeface="Calibri" pitchFamily="34" charset="-120"/>
              </a:rPr>
              <a:t>Se combina con</a:t>
            </a:r>
            <a:endParaRPr lang="en-US" sz="1150" dirty="0"/>
          </a:p>
          <a:p>
            <a:pPr indent="0" marL="0">
              <a:lnSpc>
                <a:spcPct val="105000"/>
              </a:lnSpc>
              <a:buNone/>
            </a:pPr>
            <a:r>
              <a:rPr lang="en-US" sz="1150" b="1" dirty="0">
                <a:solidFill>
                  <a:srgbClr val="FFFFFF"/>
                </a:solidFill>
                <a:latin typeface="Calibri" pitchFamily="34" charset="0"/>
                <a:ea typeface="Calibri" pitchFamily="34" charset="-122"/>
                <a:cs typeface="Calibri" pitchFamily="34" charset="-120"/>
              </a:rPr>
              <a:t>la clave del destino</a:t>
            </a:r>
            <a:endParaRPr lang="en-US" sz="1150" dirty="0"/>
          </a:p>
        </p:txBody>
      </p:sp>
      <p:sp>
        <p:nvSpPr>
          <p:cNvPr id="13" name="Text 9"/>
          <p:cNvSpPr txBox="1"/>
          <p:nvPr/>
        </p:nvSpPr>
        <p:spPr>
          <a:xfrm>
            <a:off x="5922264" y="1463040"/>
            <a:ext cx="344424" cy="1234440"/>
          </a:xfrm>
          <a:prstGeom prst="rect">
            <a:avLst/>
          </a:prstGeom>
          <a:noFill/>
          <a:ln/>
        </p:spPr>
        <p:txBody>
          <a:bodyPr wrap="square" lIns="0" tIns="0" rIns="0" bIns="0" rtlCol="0" anchor="ctr"/>
          <a:lstStyle/>
          <a:p>
            <a:pPr algn="ctr" indent="0" marL="0">
              <a:buNone/>
            </a:pPr>
            <a:r>
              <a:rPr lang="en-US" sz="2000" b="1" dirty="0">
                <a:solidFill>
                  <a:srgbClr val="5B6485"/>
                </a:solidFill>
              </a:rPr>
              <a:t>→</a:t>
            </a:r>
            <a:endParaRPr lang="en-US" sz="2000" dirty="0"/>
          </a:p>
        </p:txBody>
      </p:sp>
      <p:sp>
        <p:nvSpPr>
          <p:cNvPr id="14" name="Shape 10"/>
          <p:cNvSpPr/>
          <p:nvPr/>
        </p:nvSpPr>
        <p:spPr>
          <a:xfrm>
            <a:off x="6266688" y="1463040"/>
            <a:ext cx="2514600" cy="1234440"/>
          </a:xfrm>
          <a:prstGeom prst="roundRect">
            <a:avLst>
              <a:gd name="adj" fmla="val 5926"/>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5" name="Shape 11"/>
          <p:cNvSpPr/>
          <p:nvPr/>
        </p:nvSpPr>
        <p:spPr>
          <a:xfrm>
            <a:off x="6449568" y="1719072"/>
            <a:ext cx="566928" cy="566928"/>
          </a:xfrm>
          <a:prstGeom prst="ellipse">
            <a:avLst/>
          </a:prstGeom>
          <a:solidFill>
            <a:srgbClr val="15213E"/>
          </a:solidFill>
          <a:ln/>
        </p:spPr>
      </p:sp>
      <p:pic>
        <p:nvPicPr>
          <p:cNvPr id="16" name="Image 2" descr="/tmp/osa_pres/icons/unlock_teal.png">    </p:cNvPr>
          <p:cNvPicPr>
            <a:picLocks noChangeAspect="1"/>
          </p:cNvPicPr>
          <p:nvPr/>
        </p:nvPicPr>
        <p:blipFill>
          <a:blip r:embed="rId3"/>
          <a:stretch>
            <a:fillRect/>
          </a:stretch>
        </p:blipFill>
        <p:spPr>
          <a:xfrm>
            <a:off x="6523269" y="1792773"/>
            <a:ext cx="419527" cy="419527"/>
          </a:xfrm>
          <a:prstGeom prst="rect">
            <a:avLst/>
          </a:prstGeom>
        </p:spPr>
      </p:pic>
      <p:sp>
        <p:nvSpPr>
          <p:cNvPr id="17" name="Text 12"/>
          <p:cNvSpPr txBox="1"/>
          <p:nvPr/>
        </p:nvSpPr>
        <p:spPr>
          <a:xfrm>
            <a:off x="7135368" y="1463040"/>
            <a:ext cx="1508760" cy="1234440"/>
          </a:xfrm>
          <a:prstGeom prst="rect">
            <a:avLst/>
          </a:prstGeom>
          <a:noFill/>
          <a:ln/>
        </p:spPr>
        <p:txBody>
          <a:bodyPr wrap="square" lIns="0" tIns="0" rIns="0" bIns="0" rtlCol="0" anchor="ctr"/>
          <a:lstStyle/>
          <a:p>
            <a:pPr indent="0" marL="0">
              <a:lnSpc>
                <a:spcPct val="105000"/>
              </a:lnSpc>
              <a:buNone/>
            </a:pPr>
            <a:r>
              <a:rPr lang="en-US" sz="1150" b="1" dirty="0">
                <a:solidFill>
                  <a:srgbClr val="15213E"/>
                </a:solidFill>
                <a:latin typeface="Calibri" pitchFamily="34" charset="0"/>
                <a:ea typeface="Calibri" pitchFamily="34" charset="-122"/>
                <a:cs typeface="Calibri" pitchFamily="34" charset="-120"/>
              </a:rPr>
              <a:t>Se deriva</a:t>
            </a:r>
            <a:endParaRPr lang="en-US" sz="1150" dirty="0"/>
          </a:p>
          <a:p>
            <a:pPr indent="0" marL="0">
              <a:lnSpc>
                <a:spcPct val="105000"/>
              </a:lnSpc>
              <a:buNone/>
            </a:pPr>
            <a:r>
              <a:rPr lang="en-US" sz="1150" b="1" dirty="0">
                <a:solidFill>
                  <a:srgbClr val="15213E"/>
                </a:solidFill>
                <a:latin typeface="Calibri" pitchFamily="34" charset="0"/>
                <a:ea typeface="Calibri" pitchFamily="34" charset="-122"/>
                <a:cs typeface="Calibri" pitchFamily="34" charset="-120"/>
              </a:rPr>
              <a:t>una clave AES</a:t>
            </a:r>
            <a:endParaRPr lang="en-US" sz="1150" dirty="0"/>
          </a:p>
        </p:txBody>
      </p:sp>
      <p:sp>
        <p:nvSpPr>
          <p:cNvPr id="18" name="Text 13"/>
          <p:cNvSpPr txBox="1"/>
          <p:nvPr/>
        </p:nvSpPr>
        <p:spPr>
          <a:xfrm>
            <a:off x="8781288" y="1463040"/>
            <a:ext cx="344424" cy="1234440"/>
          </a:xfrm>
          <a:prstGeom prst="rect">
            <a:avLst/>
          </a:prstGeom>
          <a:noFill/>
          <a:ln/>
        </p:spPr>
        <p:txBody>
          <a:bodyPr wrap="square" lIns="0" tIns="0" rIns="0" bIns="0" rtlCol="0" anchor="ctr"/>
          <a:lstStyle/>
          <a:p>
            <a:pPr algn="ctr" indent="0" marL="0">
              <a:buNone/>
            </a:pPr>
            <a:r>
              <a:rPr lang="en-US" sz="2000" b="1" dirty="0">
                <a:solidFill>
                  <a:srgbClr val="5B6485"/>
                </a:solidFill>
              </a:rPr>
              <a:t>→</a:t>
            </a:r>
            <a:endParaRPr lang="en-US" sz="2000" dirty="0"/>
          </a:p>
        </p:txBody>
      </p:sp>
      <p:sp>
        <p:nvSpPr>
          <p:cNvPr id="19" name="Shape 14"/>
          <p:cNvSpPr/>
          <p:nvPr/>
        </p:nvSpPr>
        <p:spPr>
          <a:xfrm>
            <a:off x="9125712" y="1463040"/>
            <a:ext cx="2514600" cy="1234440"/>
          </a:xfrm>
          <a:prstGeom prst="roundRect">
            <a:avLst>
              <a:gd name="adj" fmla="val 5926"/>
            </a:avLst>
          </a:prstGeom>
          <a:solidFill>
            <a:srgbClr val="15213E"/>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20" name="Shape 15"/>
          <p:cNvSpPr/>
          <p:nvPr/>
        </p:nvSpPr>
        <p:spPr>
          <a:xfrm>
            <a:off x="9308592" y="1719072"/>
            <a:ext cx="566928" cy="566928"/>
          </a:xfrm>
          <a:prstGeom prst="ellipse">
            <a:avLst/>
          </a:prstGeom>
          <a:solidFill>
            <a:srgbClr val="17B8A6"/>
          </a:solidFill>
          <a:ln/>
        </p:spPr>
      </p:sp>
      <p:pic>
        <p:nvPicPr>
          <p:cNvPr id="21" name="Image 3" descr="/tmp/osa_pres/icons/lock_navy.png">    </p:cNvPr>
          <p:cNvPicPr>
            <a:picLocks noChangeAspect="1"/>
          </p:cNvPicPr>
          <p:nvPr/>
        </p:nvPicPr>
        <p:blipFill>
          <a:blip r:embed="rId4"/>
          <a:stretch>
            <a:fillRect/>
          </a:stretch>
        </p:blipFill>
        <p:spPr>
          <a:xfrm>
            <a:off x="9382293" y="1792773"/>
            <a:ext cx="419527" cy="419527"/>
          </a:xfrm>
          <a:prstGeom prst="rect">
            <a:avLst/>
          </a:prstGeom>
        </p:spPr>
      </p:pic>
      <p:sp>
        <p:nvSpPr>
          <p:cNvPr id="22" name="Text 16"/>
          <p:cNvSpPr txBox="1"/>
          <p:nvPr/>
        </p:nvSpPr>
        <p:spPr>
          <a:xfrm>
            <a:off x="9994392" y="1463040"/>
            <a:ext cx="1508760" cy="1234440"/>
          </a:xfrm>
          <a:prstGeom prst="rect">
            <a:avLst/>
          </a:prstGeom>
          <a:noFill/>
          <a:ln/>
        </p:spPr>
        <p:txBody>
          <a:bodyPr wrap="square" lIns="0" tIns="0" rIns="0" bIns="0" rtlCol="0" anchor="ctr"/>
          <a:lstStyle/>
          <a:p>
            <a:pPr indent="0" marL="0">
              <a:lnSpc>
                <a:spcPct val="105000"/>
              </a:lnSpc>
              <a:buNone/>
            </a:pPr>
            <a:r>
              <a:rPr lang="en-US" sz="1150" b="1" dirty="0">
                <a:solidFill>
                  <a:srgbClr val="FFFFFF"/>
                </a:solidFill>
                <a:latin typeface="Calibri" pitchFamily="34" charset="0"/>
                <a:ea typeface="Calibri" pitchFamily="34" charset="-122"/>
                <a:cs typeface="Calibri" pitchFamily="34" charset="-120"/>
              </a:rPr>
              <a:t>Se cifra</a:t>
            </a:r>
            <a:endParaRPr lang="en-US" sz="1150" dirty="0"/>
          </a:p>
          <a:p>
            <a:pPr indent="0" marL="0">
              <a:lnSpc>
                <a:spcPct val="105000"/>
              </a:lnSpc>
              <a:buNone/>
            </a:pPr>
            <a:r>
              <a:rPr lang="en-US" sz="1150" b="1" dirty="0">
                <a:solidFill>
                  <a:srgbClr val="FFFFFF"/>
                </a:solidFill>
                <a:latin typeface="Calibri" pitchFamily="34" charset="0"/>
                <a:ea typeface="Calibri" pitchFamily="34" charset="-122"/>
                <a:cs typeface="Calibri" pitchFamily="34" charset="-120"/>
              </a:rPr>
              <a:t>el contenido</a:t>
            </a:r>
            <a:endParaRPr lang="en-US" sz="1150" dirty="0"/>
          </a:p>
        </p:txBody>
      </p:sp>
      <p:sp>
        <p:nvSpPr>
          <p:cNvPr id="23" name="Text 17"/>
          <p:cNvSpPr txBox="1"/>
          <p:nvPr/>
        </p:nvSpPr>
        <p:spPr>
          <a:xfrm>
            <a:off x="548640" y="2834640"/>
            <a:ext cx="11091672" cy="365760"/>
          </a:xfrm>
          <a:prstGeom prst="rect">
            <a:avLst/>
          </a:prstGeom>
          <a:noFill/>
          <a:ln/>
        </p:spPr>
        <p:txBody>
          <a:bodyPr wrap="square" lIns="0" tIns="0" rIns="0" bIns="0" rtlCol="0" anchor="ctr"/>
          <a:lstStyle/>
          <a:p>
            <a:pPr algn="ctr" indent="0" marL="0">
              <a:buNone/>
            </a:pPr>
            <a:r>
              <a:rPr lang="en-US" sz="1300" i="1" dirty="0">
                <a:solidFill>
                  <a:srgbClr val="5B6485"/>
                </a:solidFill>
                <a:latin typeface="Calibri" pitchFamily="34" charset="0"/>
                <a:ea typeface="Calibri" pitchFamily="34" charset="-122"/>
                <a:cs typeface="Calibri" pitchFamily="34" charset="-120"/>
              </a:rPr>
              <a:t>El resultado final viaja como un solo paquete: clave de un solo uso + contenido cifrado — nada más.</a:t>
            </a:r>
            <a:endParaRPr lang="en-US" sz="1300" dirty="0"/>
          </a:p>
        </p:txBody>
      </p:sp>
      <p:sp>
        <p:nvSpPr>
          <p:cNvPr id="24" name="Shape 18"/>
          <p:cNvSpPr/>
          <p:nvPr/>
        </p:nvSpPr>
        <p:spPr>
          <a:xfrm>
            <a:off x="548640" y="3200400"/>
            <a:ext cx="6400800" cy="3154680"/>
          </a:xfrm>
          <a:prstGeom prst="roundRect">
            <a:avLst>
              <a:gd name="adj" fmla="val 2319"/>
            </a:avLst>
          </a:prstGeom>
          <a:solidFill>
            <a:srgbClr val="15213E"/>
          </a:solidFill>
          <a:ln w="12700">
            <a:solidFill>
              <a:srgbClr val="E2E5F0"/>
            </a:solidFill>
            <a:prstDash val="solid"/>
          </a:ln>
        </p:spPr>
      </p:sp>
      <p:sp>
        <p:nvSpPr>
          <p:cNvPr id="25" name="Text 19"/>
          <p:cNvSpPr txBox="1"/>
          <p:nvPr/>
        </p:nvSpPr>
        <p:spPr>
          <a:xfrm>
            <a:off x="822960" y="3383280"/>
            <a:ext cx="5852160" cy="41148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Paso a paso, en la aplicación</a:t>
            </a:r>
            <a:endParaRPr lang="en-US" sz="1500" dirty="0"/>
          </a:p>
        </p:txBody>
      </p:sp>
      <p:sp>
        <p:nvSpPr>
          <p:cNvPr id="26" name="Shape 20"/>
          <p:cNvSpPr/>
          <p:nvPr/>
        </p:nvSpPr>
        <p:spPr>
          <a:xfrm>
            <a:off x="822960" y="3931920"/>
            <a:ext cx="365760" cy="365760"/>
          </a:xfrm>
          <a:prstGeom prst="ellipse">
            <a:avLst/>
          </a:prstGeom>
          <a:solidFill>
            <a:srgbClr val="17B8A6"/>
          </a:solidFill>
          <a:ln/>
        </p:spPr>
      </p:sp>
      <p:sp>
        <p:nvSpPr>
          <p:cNvPr id="27" name="Text 21"/>
          <p:cNvSpPr txBox="1"/>
          <p:nvPr/>
        </p:nvSpPr>
        <p:spPr>
          <a:xfrm>
            <a:off x="822960" y="3931920"/>
            <a:ext cx="365760" cy="365760"/>
          </a:xfrm>
          <a:prstGeom prst="rect">
            <a:avLst/>
          </a:prstGeom>
          <a:noFill/>
          <a:ln/>
        </p:spPr>
        <p:txBody>
          <a:bodyPr wrap="square" lIns="0" tIns="0" rIns="0" bIns="0" rtlCol="0" anchor="ctr"/>
          <a:lstStyle/>
          <a:p>
            <a:pPr algn="ctr" indent="0" marL="0">
              <a:buNone/>
            </a:pPr>
            <a:r>
              <a:rPr lang="en-US" sz="1300" b="1" dirty="0">
                <a:solidFill>
                  <a:srgbClr val="15213E"/>
                </a:solidFill>
                <a:latin typeface="Calibri" pitchFamily="34" charset="0"/>
                <a:ea typeface="Calibri" pitchFamily="34" charset="-122"/>
                <a:cs typeface="Calibri" pitchFamily="34" charset="-120"/>
              </a:rPr>
              <a:t>1</a:t>
            </a:r>
            <a:endParaRPr lang="en-US" sz="1300" dirty="0"/>
          </a:p>
        </p:txBody>
      </p:sp>
      <p:sp>
        <p:nvSpPr>
          <p:cNvPr id="28" name="Text 22"/>
          <p:cNvSpPr txBox="1"/>
          <p:nvPr/>
        </p:nvSpPr>
        <p:spPr>
          <a:xfrm>
            <a:off x="1325880" y="3895344"/>
            <a:ext cx="5394960" cy="548640"/>
          </a:xfrm>
          <a:prstGeom prst="rect">
            <a:avLst/>
          </a:prstGeom>
          <a:noFill/>
          <a:ln/>
        </p:spPr>
        <p:txBody>
          <a:bodyPr wrap="square" lIns="0" tIns="0" rIns="0" bIns="0" rtlCol="0" anchor="ctr"/>
          <a:lstStyle/>
          <a:p>
            <a:pPr indent="0" marL="0">
              <a:lnSpc>
                <a:spcPct val="110000"/>
              </a:lnSpc>
              <a:buNone/>
            </a:pPr>
            <a:r>
              <a:rPr lang="en-US" sz="1150" dirty="0">
                <a:solidFill>
                  <a:srgbClr val="AEB6D6"/>
                </a:solidFill>
                <a:latin typeface="Calibri" pitchFamily="34" charset="0"/>
                <a:ea typeface="Calibri" pitchFamily="34" charset="-122"/>
                <a:cs typeface="Calibri" pitchFamily="34" charset="-120"/>
              </a:rPr>
              <a:t>El navegador crea un par de claves que se usa una sola vez (una clave “efímera”, de un solo uso).</a:t>
            </a:r>
            <a:endParaRPr lang="en-US" sz="1150" dirty="0"/>
          </a:p>
        </p:txBody>
      </p:sp>
      <p:sp>
        <p:nvSpPr>
          <p:cNvPr id="29" name="Shape 23"/>
          <p:cNvSpPr/>
          <p:nvPr/>
        </p:nvSpPr>
        <p:spPr>
          <a:xfrm>
            <a:off x="822960" y="4535424"/>
            <a:ext cx="365760" cy="365760"/>
          </a:xfrm>
          <a:prstGeom prst="ellipse">
            <a:avLst/>
          </a:prstGeom>
          <a:solidFill>
            <a:srgbClr val="17B8A6"/>
          </a:solidFill>
          <a:ln/>
        </p:spPr>
      </p:sp>
      <p:sp>
        <p:nvSpPr>
          <p:cNvPr id="30" name="Text 24"/>
          <p:cNvSpPr txBox="1"/>
          <p:nvPr/>
        </p:nvSpPr>
        <p:spPr>
          <a:xfrm>
            <a:off x="822960" y="4535424"/>
            <a:ext cx="365760" cy="365760"/>
          </a:xfrm>
          <a:prstGeom prst="rect">
            <a:avLst/>
          </a:prstGeom>
          <a:noFill/>
          <a:ln/>
        </p:spPr>
        <p:txBody>
          <a:bodyPr wrap="square" lIns="0" tIns="0" rIns="0" bIns="0" rtlCol="0" anchor="ctr"/>
          <a:lstStyle/>
          <a:p>
            <a:pPr algn="ctr" indent="0" marL="0">
              <a:buNone/>
            </a:pPr>
            <a:r>
              <a:rPr lang="en-US" sz="1300" b="1" dirty="0">
                <a:solidFill>
                  <a:srgbClr val="15213E"/>
                </a:solidFill>
                <a:latin typeface="Calibri" pitchFamily="34" charset="0"/>
                <a:ea typeface="Calibri" pitchFamily="34" charset="-122"/>
                <a:cs typeface="Calibri" pitchFamily="34" charset="-120"/>
              </a:rPr>
              <a:t>2</a:t>
            </a:r>
            <a:endParaRPr lang="en-US" sz="1300" dirty="0"/>
          </a:p>
        </p:txBody>
      </p:sp>
      <p:sp>
        <p:nvSpPr>
          <p:cNvPr id="31" name="Text 25"/>
          <p:cNvSpPr txBox="1"/>
          <p:nvPr/>
        </p:nvSpPr>
        <p:spPr>
          <a:xfrm>
            <a:off x="1325880" y="4498848"/>
            <a:ext cx="5394960" cy="548640"/>
          </a:xfrm>
          <a:prstGeom prst="rect">
            <a:avLst/>
          </a:prstGeom>
          <a:noFill/>
          <a:ln/>
        </p:spPr>
        <p:txBody>
          <a:bodyPr wrap="square" lIns="0" tIns="0" rIns="0" bIns="0" rtlCol="0" anchor="ctr"/>
          <a:lstStyle/>
          <a:p>
            <a:pPr indent="0" marL="0">
              <a:lnSpc>
                <a:spcPct val="110000"/>
              </a:lnSpc>
              <a:buNone/>
            </a:pPr>
            <a:r>
              <a:rPr lang="en-US" sz="1150" dirty="0">
                <a:solidFill>
                  <a:srgbClr val="AEB6D6"/>
                </a:solidFill>
                <a:latin typeface="Calibri" pitchFamily="34" charset="0"/>
                <a:ea typeface="Calibri" pitchFamily="34" charset="-122"/>
                <a:cs typeface="Calibri" pitchFamily="34" charset="-120"/>
              </a:rPr>
              <a:t>La combina con la clave pública del destinatario (ECDH) y obtiene un secreto compartido — solo esas dos partes pueden calcularlo.</a:t>
            </a:r>
            <a:endParaRPr lang="en-US" sz="1150" dirty="0"/>
          </a:p>
        </p:txBody>
      </p:sp>
      <p:sp>
        <p:nvSpPr>
          <p:cNvPr id="32" name="Shape 26"/>
          <p:cNvSpPr/>
          <p:nvPr/>
        </p:nvSpPr>
        <p:spPr>
          <a:xfrm>
            <a:off x="822960" y="5138928"/>
            <a:ext cx="365760" cy="365760"/>
          </a:xfrm>
          <a:prstGeom prst="ellipse">
            <a:avLst/>
          </a:prstGeom>
          <a:solidFill>
            <a:srgbClr val="17B8A6"/>
          </a:solidFill>
          <a:ln/>
        </p:spPr>
      </p:sp>
      <p:sp>
        <p:nvSpPr>
          <p:cNvPr id="33" name="Text 27"/>
          <p:cNvSpPr txBox="1"/>
          <p:nvPr/>
        </p:nvSpPr>
        <p:spPr>
          <a:xfrm>
            <a:off x="822960" y="5138928"/>
            <a:ext cx="365760" cy="365760"/>
          </a:xfrm>
          <a:prstGeom prst="rect">
            <a:avLst/>
          </a:prstGeom>
          <a:noFill/>
          <a:ln/>
        </p:spPr>
        <p:txBody>
          <a:bodyPr wrap="square" lIns="0" tIns="0" rIns="0" bIns="0" rtlCol="0" anchor="ctr"/>
          <a:lstStyle/>
          <a:p>
            <a:pPr algn="ctr" indent="0" marL="0">
              <a:buNone/>
            </a:pPr>
            <a:r>
              <a:rPr lang="en-US" sz="1300" b="1" dirty="0">
                <a:solidFill>
                  <a:srgbClr val="15213E"/>
                </a:solidFill>
                <a:latin typeface="Calibri" pitchFamily="34" charset="0"/>
                <a:ea typeface="Calibri" pitchFamily="34" charset="-122"/>
                <a:cs typeface="Calibri" pitchFamily="34" charset="-120"/>
              </a:rPr>
              <a:t>3</a:t>
            </a:r>
            <a:endParaRPr lang="en-US" sz="1300" dirty="0"/>
          </a:p>
        </p:txBody>
      </p:sp>
      <p:sp>
        <p:nvSpPr>
          <p:cNvPr id="34" name="Text 28"/>
          <p:cNvSpPr txBox="1"/>
          <p:nvPr/>
        </p:nvSpPr>
        <p:spPr>
          <a:xfrm>
            <a:off x="1325880" y="5102352"/>
            <a:ext cx="5394960" cy="548640"/>
          </a:xfrm>
          <a:prstGeom prst="rect">
            <a:avLst/>
          </a:prstGeom>
          <a:noFill/>
          <a:ln/>
        </p:spPr>
        <p:txBody>
          <a:bodyPr wrap="square" lIns="0" tIns="0" rIns="0" bIns="0" rtlCol="0" anchor="ctr"/>
          <a:lstStyle/>
          <a:p>
            <a:pPr indent="0" marL="0">
              <a:lnSpc>
                <a:spcPct val="110000"/>
              </a:lnSpc>
              <a:buNone/>
            </a:pPr>
            <a:r>
              <a:rPr lang="en-US" sz="1150" dirty="0">
                <a:solidFill>
                  <a:srgbClr val="AEB6D6"/>
                </a:solidFill>
                <a:latin typeface="Calibri" pitchFamily="34" charset="0"/>
                <a:ea typeface="Calibri" pitchFamily="34" charset="-122"/>
                <a:cs typeface="Calibri" pitchFamily="34" charset="-120"/>
              </a:rPr>
              <a:t>Ese secreto pasa por una función (HKDF) que lo convierte en una clave AES lista para usar.</a:t>
            </a:r>
            <a:endParaRPr lang="en-US" sz="1150" dirty="0"/>
          </a:p>
        </p:txBody>
      </p:sp>
      <p:sp>
        <p:nvSpPr>
          <p:cNvPr id="35" name="Shape 29"/>
          <p:cNvSpPr/>
          <p:nvPr/>
        </p:nvSpPr>
        <p:spPr>
          <a:xfrm>
            <a:off x="822960" y="5742432"/>
            <a:ext cx="365760" cy="365760"/>
          </a:xfrm>
          <a:prstGeom prst="ellipse">
            <a:avLst/>
          </a:prstGeom>
          <a:solidFill>
            <a:srgbClr val="17B8A6"/>
          </a:solidFill>
          <a:ln/>
        </p:spPr>
      </p:sp>
      <p:sp>
        <p:nvSpPr>
          <p:cNvPr id="36" name="Text 30"/>
          <p:cNvSpPr txBox="1"/>
          <p:nvPr/>
        </p:nvSpPr>
        <p:spPr>
          <a:xfrm>
            <a:off x="822960" y="5742432"/>
            <a:ext cx="365760" cy="365760"/>
          </a:xfrm>
          <a:prstGeom prst="rect">
            <a:avLst/>
          </a:prstGeom>
          <a:noFill/>
          <a:ln/>
        </p:spPr>
        <p:txBody>
          <a:bodyPr wrap="square" lIns="0" tIns="0" rIns="0" bIns="0" rtlCol="0" anchor="ctr"/>
          <a:lstStyle/>
          <a:p>
            <a:pPr algn="ctr" indent="0" marL="0">
              <a:buNone/>
            </a:pPr>
            <a:r>
              <a:rPr lang="en-US" sz="1300" b="1" dirty="0">
                <a:solidFill>
                  <a:srgbClr val="15213E"/>
                </a:solidFill>
                <a:latin typeface="Calibri" pitchFamily="34" charset="0"/>
                <a:ea typeface="Calibri" pitchFamily="34" charset="-122"/>
                <a:cs typeface="Calibri" pitchFamily="34" charset="-120"/>
              </a:rPr>
              <a:t>4</a:t>
            </a:r>
            <a:endParaRPr lang="en-US" sz="1300" dirty="0"/>
          </a:p>
        </p:txBody>
      </p:sp>
      <p:sp>
        <p:nvSpPr>
          <p:cNvPr id="37" name="Text 31"/>
          <p:cNvSpPr txBox="1"/>
          <p:nvPr/>
        </p:nvSpPr>
        <p:spPr>
          <a:xfrm>
            <a:off x="1325880" y="5705856"/>
            <a:ext cx="5394960" cy="548640"/>
          </a:xfrm>
          <a:prstGeom prst="rect">
            <a:avLst/>
          </a:prstGeom>
          <a:noFill/>
          <a:ln/>
        </p:spPr>
        <p:txBody>
          <a:bodyPr wrap="square" lIns="0" tIns="0" rIns="0" bIns="0" rtlCol="0" anchor="ctr"/>
          <a:lstStyle/>
          <a:p>
            <a:pPr indent="0" marL="0">
              <a:lnSpc>
                <a:spcPct val="110000"/>
              </a:lnSpc>
              <a:buNone/>
            </a:pPr>
            <a:r>
              <a:rPr lang="en-US" sz="1150" dirty="0">
                <a:solidFill>
                  <a:srgbClr val="AEB6D6"/>
                </a:solidFill>
                <a:latin typeface="Calibri" pitchFamily="34" charset="0"/>
                <a:ea typeface="Calibri" pitchFamily="34" charset="-122"/>
                <a:cs typeface="Calibri" pitchFamily="34" charset="-120"/>
              </a:rPr>
              <a:t>Con esa clave AES se cifra el contenido real, de forma rápida.</a:t>
            </a:r>
            <a:endParaRPr lang="en-US" sz="1150" dirty="0"/>
          </a:p>
        </p:txBody>
      </p:sp>
      <p:sp>
        <p:nvSpPr>
          <p:cNvPr id="38" name="Shape 32"/>
          <p:cNvSpPr/>
          <p:nvPr/>
        </p:nvSpPr>
        <p:spPr>
          <a:xfrm>
            <a:off x="7178040" y="3200400"/>
            <a:ext cx="4462272" cy="3154680"/>
          </a:xfrm>
          <a:prstGeom prst="roundRect">
            <a:avLst>
              <a:gd name="adj" fmla="val 2319"/>
            </a:avLst>
          </a:prstGeom>
          <a:solidFill>
            <a:srgbClr val="F7F8FC"/>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39" name="Text 33"/>
          <p:cNvSpPr txBox="1"/>
          <p:nvPr/>
        </p:nvSpPr>
        <p:spPr>
          <a:xfrm>
            <a:off x="7406640" y="3401568"/>
            <a:ext cx="4023360" cy="731520"/>
          </a:xfrm>
          <a:prstGeom prst="rect">
            <a:avLst/>
          </a:prstGeom>
          <a:noFill/>
          <a:ln/>
        </p:spPr>
        <p:txBody>
          <a:bodyPr wrap="square" lIns="0" tIns="0" rIns="0" bIns="0" rtlCol="0" anchor="ctr"/>
          <a:lstStyle/>
          <a:p>
            <a:pPr indent="0" marL="0">
              <a:lnSpc>
                <a:spcPct val="110000"/>
              </a:lnSpc>
              <a:buNone/>
            </a:pPr>
            <a:r>
              <a:rPr lang="en-US" sz="1350" b="1" dirty="0">
                <a:solidFill>
                  <a:srgbClr val="15213E"/>
                </a:solidFill>
                <a:latin typeface="Cambria" pitchFamily="34" charset="0"/>
                <a:ea typeface="Cambria" pitchFamily="34" charset="-122"/>
                <a:cs typeface="Cambria" pitchFamily="34" charset="-120"/>
              </a:rPr>
              <a:t>¿Por qué no usar directamente lo que trae el navegador?</a:t>
            </a:r>
            <a:endParaRPr lang="en-US" sz="1350" dirty="0"/>
          </a:p>
        </p:txBody>
      </p:sp>
      <p:sp>
        <p:nvSpPr>
          <p:cNvPr id="40" name="Text 34"/>
          <p:cNvSpPr txBox="1"/>
          <p:nvPr/>
        </p:nvSpPr>
        <p:spPr>
          <a:xfrm>
            <a:off x="7406640" y="4160520"/>
            <a:ext cx="4023360" cy="2011680"/>
          </a:xfrm>
          <a:prstGeom prst="rect">
            <a:avLst/>
          </a:prstGeom>
          <a:noFill/>
          <a:ln/>
        </p:spPr>
        <p:txBody>
          <a:bodyPr wrap="square" lIns="0" tIns="0" rIns="0" bIns="0" rtlCol="0" anchor="ctr"/>
          <a:lstStyle/>
          <a:p>
            <a:pPr indent="0" marL="0">
              <a:lnSpc>
                <a:spcPct val="125000"/>
              </a:lnSpc>
              <a:buNone/>
            </a:pPr>
            <a:r>
              <a:rPr lang="en-US" sz="1250" dirty="0">
                <a:solidFill>
                  <a:srgbClr val="1B2340"/>
                </a:solidFill>
                <a:latin typeface="Calibri" pitchFamily="34" charset="0"/>
                <a:ea typeface="Calibri" pitchFamily="34" charset="-122"/>
                <a:cs typeface="Calibri" pitchFamily="34" charset="-120"/>
              </a:rPr>
              <a:t>El sistema de cripto que trae el navegador (WebCrypto) no soporta esta curva (X25519) de forma pareja en todos los navegadores. Por eso se usa una librería aparte, ya revisada por otros, y así el navegador y el servidor hablan exactamente el mismo idioma criptográfico.</a:t>
            </a:r>
            <a:endParaRPr lang="en-US" sz="1250" dirty="0"/>
          </a:p>
        </p:txBody>
      </p:sp>
      <p:sp>
        <p:nvSpPr>
          <p:cNvPr id="41" name="Text 35"/>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42" name="Text 36"/>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FIRMA Y NO REPUDIO</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El ticket de delegación temporal</a:t>
            </a:r>
            <a:endParaRPr lang="en-US" sz="3200" dirty="0"/>
          </a:p>
        </p:txBody>
      </p:sp>
      <p:sp>
        <p:nvSpPr>
          <p:cNvPr id="4" name="Shape 2"/>
          <p:cNvSpPr/>
          <p:nvPr/>
        </p:nvSpPr>
        <p:spPr>
          <a:xfrm>
            <a:off x="548640" y="1417320"/>
            <a:ext cx="3520440" cy="502920"/>
          </a:xfrm>
          <a:prstGeom prst="roundRect">
            <a:avLst>
              <a:gd name="adj" fmla="val 14545"/>
            </a:avLst>
          </a:prstGeom>
          <a:solidFill>
            <a:srgbClr val="15213E"/>
          </a:solidFill>
          <a:ln/>
        </p:spPr>
      </p:sp>
      <p:sp>
        <p:nvSpPr>
          <p:cNvPr id="5" name="Shape 3"/>
          <p:cNvSpPr/>
          <p:nvPr/>
        </p:nvSpPr>
        <p:spPr>
          <a:xfrm>
            <a:off x="640080" y="1472184"/>
            <a:ext cx="384048" cy="384048"/>
          </a:xfrm>
          <a:prstGeom prst="ellipse">
            <a:avLst/>
          </a:prstGeom>
          <a:solidFill>
            <a:srgbClr val="17B8A6"/>
          </a:solidFill>
          <a:ln/>
        </p:spPr>
      </p:sp>
      <p:pic>
        <p:nvPicPr>
          <p:cNvPr id="6" name="Image 0" descr="/tmp/osa_pres/icons/user_navy.png">    </p:cNvPr>
          <p:cNvPicPr>
            <a:picLocks noChangeAspect="1"/>
          </p:cNvPicPr>
          <p:nvPr/>
        </p:nvPicPr>
        <p:blipFill>
          <a:blip r:embed="rId1"/>
          <a:stretch>
            <a:fillRect/>
          </a:stretch>
        </p:blipFill>
        <p:spPr>
          <a:xfrm>
            <a:off x="690006" y="1522110"/>
            <a:ext cx="284196" cy="284196"/>
          </a:xfrm>
          <a:prstGeom prst="rect">
            <a:avLst/>
          </a:prstGeom>
        </p:spPr>
      </p:pic>
      <p:sp>
        <p:nvSpPr>
          <p:cNvPr id="7" name="Text 4"/>
          <p:cNvSpPr txBox="1"/>
          <p:nvPr/>
        </p:nvSpPr>
        <p:spPr>
          <a:xfrm>
            <a:off x="1097280" y="1417320"/>
            <a:ext cx="288036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Paciente</a:t>
            </a:r>
            <a:endParaRPr lang="en-US" sz="1250" dirty="0"/>
          </a:p>
        </p:txBody>
      </p:sp>
      <p:sp>
        <p:nvSpPr>
          <p:cNvPr id="8" name="Shape 5"/>
          <p:cNvSpPr/>
          <p:nvPr/>
        </p:nvSpPr>
        <p:spPr>
          <a:xfrm>
            <a:off x="2308860" y="1920240"/>
            <a:ext cx="0" cy="3977640"/>
          </a:xfrm>
          <a:prstGeom prst="line">
            <a:avLst/>
          </a:prstGeom>
          <a:noFill/>
          <a:ln w="12700">
            <a:solidFill>
              <a:srgbClr val="E2E5F0"/>
            </a:solidFill>
            <a:prstDash val="dash"/>
          </a:ln>
        </p:spPr>
      </p:sp>
      <p:sp>
        <p:nvSpPr>
          <p:cNvPr id="9" name="Shape 6"/>
          <p:cNvSpPr/>
          <p:nvPr/>
        </p:nvSpPr>
        <p:spPr>
          <a:xfrm>
            <a:off x="4334256" y="1417320"/>
            <a:ext cx="3520440" cy="502920"/>
          </a:xfrm>
          <a:prstGeom prst="roundRect">
            <a:avLst>
              <a:gd name="adj" fmla="val 14545"/>
            </a:avLst>
          </a:prstGeom>
          <a:solidFill>
            <a:srgbClr val="15213E"/>
          </a:solidFill>
          <a:ln/>
        </p:spPr>
      </p:sp>
      <p:sp>
        <p:nvSpPr>
          <p:cNvPr id="10" name="Shape 7"/>
          <p:cNvSpPr/>
          <p:nvPr/>
        </p:nvSpPr>
        <p:spPr>
          <a:xfrm>
            <a:off x="4425696" y="1472184"/>
            <a:ext cx="384048" cy="384048"/>
          </a:xfrm>
          <a:prstGeom prst="ellipse">
            <a:avLst/>
          </a:prstGeom>
          <a:solidFill>
            <a:srgbClr val="17B8A6"/>
          </a:solidFill>
          <a:ln/>
        </p:spPr>
      </p:sp>
      <p:pic>
        <p:nvPicPr>
          <p:cNvPr id="11" name="Image 1" descr="/tmp/osa_pres/icons/database_navy.png">    </p:cNvPr>
          <p:cNvPicPr>
            <a:picLocks noChangeAspect="1"/>
          </p:cNvPicPr>
          <p:nvPr/>
        </p:nvPicPr>
        <p:blipFill>
          <a:blip r:embed="rId2"/>
          <a:stretch>
            <a:fillRect/>
          </a:stretch>
        </p:blipFill>
        <p:spPr>
          <a:xfrm>
            <a:off x="4475622" y="1522110"/>
            <a:ext cx="284196" cy="284196"/>
          </a:xfrm>
          <a:prstGeom prst="rect">
            <a:avLst/>
          </a:prstGeom>
        </p:spPr>
      </p:pic>
      <p:sp>
        <p:nvSpPr>
          <p:cNvPr id="12" name="Text 8"/>
          <p:cNvSpPr txBox="1"/>
          <p:nvPr/>
        </p:nvSpPr>
        <p:spPr>
          <a:xfrm>
            <a:off x="4882896" y="1417320"/>
            <a:ext cx="288036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Servidor Go (custodio ciego)</a:t>
            </a:r>
            <a:endParaRPr lang="en-US" sz="1250" dirty="0"/>
          </a:p>
        </p:txBody>
      </p:sp>
      <p:sp>
        <p:nvSpPr>
          <p:cNvPr id="13" name="Shape 9"/>
          <p:cNvSpPr/>
          <p:nvPr/>
        </p:nvSpPr>
        <p:spPr>
          <a:xfrm>
            <a:off x="6094476" y="1920240"/>
            <a:ext cx="0" cy="3977640"/>
          </a:xfrm>
          <a:prstGeom prst="line">
            <a:avLst/>
          </a:prstGeom>
          <a:noFill/>
          <a:ln w="12700">
            <a:solidFill>
              <a:srgbClr val="E2E5F0"/>
            </a:solidFill>
            <a:prstDash val="dash"/>
          </a:ln>
        </p:spPr>
      </p:sp>
      <p:sp>
        <p:nvSpPr>
          <p:cNvPr id="14" name="Shape 10"/>
          <p:cNvSpPr/>
          <p:nvPr/>
        </p:nvSpPr>
        <p:spPr>
          <a:xfrm>
            <a:off x="8119872" y="1417320"/>
            <a:ext cx="3520440" cy="502920"/>
          </a:xfrm>
          <a:prstGeom prst="roundRect">
            <a:avLst>
              <a:gd name="adj" fmla="val 14545"/>
            </a:avLst>
          </a:prstGeom>
          <a:solidFill>
            <a:srgbClr val="15213E"/>
          </a:solidFill>
          <a:ln/>
        </p:spPr>
      </p:sp>
      <p:sp>
        <p:nvSpPr>
          <p:cNvPr id="15" name="Shape 11"/>
          <p:cNvSpPr/>
          <p:nvPr/>
        </p:nvSpPr>
        <p:spPr>
          <a:xfrm>
            <a:off x="8211312" y="1472184"/>
            <a:ext cx="384048" cy="384048"/>
          </a:xfrm>
          <a:prstGeom prst="ellipse">
            <a:avLst/>
          </a:prstGeom>
          <a:solidFill>
            <a:srgbClr val="17B8A6"/>
          </a:solidFill>
          <a:ln/>
        </p:spPr>
      </p:sp>
      <p:pic>
        <p:nvPicPr>
          <p:cNvPr id="16" name="Image 2" descr="/tmp/osa_pres/icons/userMd_navy.png">    </p:cNvPr>
          <p:cNvPicPr>
            <a:picLocks noChangeAspect="1"/>
          </p:cNvPicPr>
          <p:nvPr/>
        </p:nvPicPr>
        <p:blipFill>
          <a:blip r:embed="rId3"/>
          <a:stretch>
            <a:fillRect/>
          </a:stretch>
        </p:blipFill>
        <p:spPr>
          <a:xfrm>
            <a:off x="8261238" y="1522110"/>
            <a:ext cx="284196" cy="284196"/>
          </a:xfrm>
          <a:prstGeom prst="rect">
            <a:avLst/>
          </a:prstGeom>
        </p:spPr>
      </p:pic>
      <p:sp>
        <p:nvSpPr>
          <p:cNvPr id="17" name="Text 12"/>
          <p:cNvSpPr txBox="1"/>
          <p:nvPr/>
        </p:nvSpPr>
        <p:spPr>
          <a:xfrm>
            <a:off x="8668512" y="1417320"/>
            <a:ext cx="288036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Médico</a:t>
            </a:r>
            <a:endParaRPr lang="en-US" sz="1250" dirty="0"/>
          </a:p>
        </p:txBody>
      </p:sp>
      <p:sp>
        <p:nvSpPr>
          <p:cNvPr id="18" name="Shape 13"/>
          <p:cNvSpPr/>
          <p:nvPr/>
        </p:nvSpPr>
        <p:spPr>
          <a:xfrm>
            <a:off x="9880092" y="1920240"/>
            <a:ext cx="0" cy="3977640"/>
          </a:xfrm>
          <a:prstGeom prst="line">
            <a:avLst/>
          </a:prstGeom>
          <a:noFill/>
          <a:ln w="12700">
            <a:solidFill>
              <a:srgbClr val="E2E5F0"/>
            </a:solidFill>
            <a:prstDash val="dash"/>
          </a:ln>
        </p:spPr>
      </p:sp>
      <p:sp>
        <p:nvSpPr>
          <p:cNvPr id="19" name="Shape 14"/>
          <p:cNvSpPr/>
          <p:nvPr/>
        </p:nvSpPr>
        <p:spPr>
          <a:xfrm>
            <a:off x="2208276" y="2194560"/>
            <a:ext cx="201168" cy="201168"/>
          </a:xfrm>
          <a:prstGeom prst="ellipse">
            <a:avLst/>
          </a:prstGeom>
          <a:solidFill>
            <a:srgbClr val="17B8A6"/>
          </a:solidFill>
          <a:ln w="19050">
            <a:solidFill>
              <a:srgbClr val="FFFFFF"/>
            </a:solidFill>
            <a:prstDash val="solid"/>
          </a:ln>
        </p:spPr>
      </p:sp>
      <p:sp>
        <p:nvSpPr>
          <p:cNvPr id="20" name="Shape 15"/>
          <p:cNvSpPr/>
          <p:nvPr/>
        </p:nvSpPr>
        <p:spPr>
          <a:xfrm>
            <a:off x="548640" y="2514600"/>
            <a:ext cx="4160520" cy="868680"/>
          </a:xfrm>
          <a:prstGeom prst="roundRect">
            <a:avLst>
              <a:gd name="adj" fmla="val 8421"/>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21" name="Text 16"/>
          <p:cNvSpPr txBox="1"/>
          <p:nvPr/>
        </p:nvSpPr>
        <p:spPr>
          <a:xfrm>
            <a:off x="749808" y="2514600"/>
            <a:ext cx="3758184" cy="868680"/>
          </a:xfrm>
          <a:prstGeom prst="rect">
            <a:avLst/>
          </a:prstGeom>
          <a:noFill/>
          <a:ln/>
        </p:spPr>
        <p:txBody>
          <a:bodyPr wrap="square" lIns="0" tIns="0" rIns="0" bIns="0" rtlCol="0" anchor="ctr"/>
          <a:lstStyle/>
          <a:p>
            <a:pPr indent="0" marL="0">
              <a:lnSpc>
                <a:spcPct val="115000"/>
              </a:lnSpc>
              <a:buNone/>
            </a:pPr>
            <a:r>
              <a:rPr lang="en-US" sz="1200" dirty="0">
                <a:solidFill>
                  <a:srgbClr val="1B2340"/>
                </a:solidFill>
                <a:latin typeface="Calibri" pitchFamily="34" charset="0"/>
                <a:ea typeface="Calibri" pitchFamily="34" charset="-122"/>
                <a:cs typeface="Calibri" pitchFamily="34" charset="-120"/>
              </a:rPr>
              <a:t>Junta sus claves de búsqueda y lectura, las cifra para que solo el médico las pueda abrir, y firma todo el paquete.</a:t>
            </a:r>
            <a:endParaRPr lang="en-US" sz="1200" dirty="0"/>
          </a:p>
        </p:txBody>
      </p:sp>
      <p:sp>
        <p:nvSpPr>
          <p:cNvPr id="22" name="Shape 17"/>
          <p:cNvSpPr/>
          <p:nvPr/>
        </p:nvSpPr>
        <p:spPr>
          <a:xfrm>
            <a:off x="5993892" y="3246120"/>
            <a:ext cx="201168" cy="201168"/>
          </a:xfrm>
          <a:prstGeom prst="ellipse">
            <a:avLst/>
          </a:prstGeom>
          <a:solidFill>
            <a:srgbClr val="17B8A6"/>
          </a:solidFill>
          <a:ln w="19050">
            <a:solidFill>
              <a:srgbClr val="FFFFFF"/>
            </a:solidFill>
            <a:prstDash val="solid"/>
          </a:ln>
        </p:spPr>
      </p:sp>
      <p:sp>
        <p:nvSpPr>
          <p:cNvPr id="23" name="Shape 18"/>
          <p:cNvSpPr/>
          <p:nvPr/>
        </p:nvSpPr>
        <p:spPr>
          <a:xfrm>
            <a:off x="4014216" y="3566160"/>
            <a:ext cx="4160520" cy="868680"/>
          </a:xfrm>
          <a:prstGeom prst="roundRect">
            <a:avLst>
              <a:gd name="adj" fmla="val 8421"/>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24" name="Text 19"/>
          <p:cNvSpPr txBox="1"/>
          <p:nvPr/>
        </p:nvSpPr>
        <p:spPr>
          <a:xfrm>
            <a:off x="4215384" y="3566160"/>
            <a:ext cx="3758184" cy="868680"/>
          </a:xfrm>
          <a:prstGeom prst="rect">
            <a:avLst/>
          </a:prstGeom>
          <a:noFill/>
          <a:ln/>
        </p:spPr>
        <p:txBody>
          <a:bodyPr wrap="square" lIns="0" tIns="0" rIns="0" bIns="0" rtlCol="0" anchor="ctr"/>
          <a:lstStyle/>
          <a:p>
            <a:pPr indent="0" marL="0">
              <a:lnSpc>
                <a:spcPct val="115000"/>
              </a:lnSpc>
              <a:buNone/>
            </a:pPr>
            <a:r>
              <a:rPr lang="en-US" sz="1200" dirty="0">
                <a:solidFill>
                  <a:srgbClr val="1B2340"/>
                </a:solidFill>
                <a:latin typeface="Calibri" pitchFamily="34" charset="0"/>
                <a:ea typeface="Calibri" pitchFamily="34" charset="-122"/>
                <a:cs typeface="Calibri" pitchFamily="34" charset="-120"/>
              </a:rPr>
              <a:t>Guarda el paquete firmado. Revisa la firma y que no haya vencido (máximo 120 min). Nunca puede abrirlo: no tiene la clave del médico.</a:t>
            </a:r>
            <a:endParaRPr lang="en-US" sz="1200" dirty="0"/>
          </a:p>
        </p:txBody>
      </p:sp>
      <p:sp>
        <p:nvSpPr>
          <p:cNvPr id="25" name="Shape 20"/>
          <p:cNvSpPr/>
          <p:nvPr/>
        </p:nvSpPr>
        <p:spPr>
          <a:xfrm>
            <a:off x="9779508" y="4297680"/>
            <a:ext cx="201168" cy="201168"/>
          </a:xfrm>
          <a:prstGeom prst="ellipse">
            <a:avLst/>
          </a:prstGeom>
          <a:solidFill>
            <a:srgbClr val="17B8A6"/>
          </a:solidFill>
          <a:ln w="19050">
            <a:solidFill>
              <a:srgbClr val="FFFFFF"/>
            </a:solidFill>
            <a:prstDash val="solid"/>
          </a:ln>
        </p:spPr>
      </p:sp>
      <p:sp>
        <p:nvSpPr>
          <p:cNvPr id="26" name="Shape 21"/>
          <p:cNvSpPr/>
          <p:nvPr/>
        </p:nvSpPr>
        <p:spPr>
          <a:xfrm>
            <a:off x="7479792" y="4617720"/>
            <a:ext cx="4160520" cy="868680"/>
          </a:xfrm>
          <a:prstGeom prst="roundRect">
            <a:avLst>
              <a:gd name="adj" fmla="val 8421"/>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27" name="Text 22"/>
          <p:cNvSpPr txBox="1"/>
          <p:nvPr/>
        </p:nvSpPr>
        <p:spPr>
          <a:xfrm>
            <a:off x="7680960" y="4617720"/>
            <a:ext cx="3758184" cy="868680"/>
          </a:xfrm>
          <a:prstGeom prst="rect">
            <a:avLst/>
          </a:prstGeom>
          <a:noFill/>
          <a:ln/>
        </p:spPr>
        <p:txBody>
          <a:bodyPr wrap="square" lIns="0" tIns="0" rIns="0" bIns="0" rtlCol="0" anchor="ctr"/>
          <a:lstStyle/>
          <a:p>
            <a:pPr indent="0" marL="0">
              <a:lnSpc>
                <a:spcPct val="115000"/>
              </a:lnSpc>
              <a:buNone/>
            </a:pPr>
            <a:r>
              <a:rPr lang="en-US" sz="1200" dirty="0">
                <a:solidFill>
                  <a:srgbClr val="1B2340"/>
                </a:solidFill>
                <a:latin typeface="Calibri" pitchFamily="34" charset="0"/>
                <a:ea typeface="Calibri" pitchFamily="34" charset="-122"/>
                <a:cs typeface="Calibri" pitchFamily="34" charset="-120"/>
              </a:rPr>
              <a:t>Descarga el paquete, lo abre con su propia clave privada, y busca en su propia computadora.</a:t>
            </a:r>
            <a:endParaRPr lang="en-US" sz="1200" dirty="0"/>
          </a:p>
        </p:txBody>
      </p:sp>
      <p:sp>
        <p:nvSpPr>
          <p:cNvPr id="28" name="Shape 23"/>
          <p:cNvSpPr/>
          <p:nvPr/>
        </p:nvSpPr>
        <p:spPr>
          <a:xfrm>
            <a:off x="548640" y="5532120"/>
            <a:ext cx="11091672" cy="777240"/>
          </a:xfrm>
          <a:prstGeom prst="roundRect">
            <a:avLst>
              <a:gd name="adj" fmla="val 9412"/>
            </a:avLst>
          </a:prstGeom>
          <a:solidFill>
            <a:srgbClr val="FFF6E9"/>
          </a:solidFill>
          <a:ln w="12700">
            <a:solidFill>
              <a:srgbClr val="E8A33D"/>
            </a:solidFill>
            <a:prstDash val="solid"/>
          </a:ln>
        </p:spPr>
      </p:sp>
      <p:sp>
        <p:nvSpPr>
          <p:cNvPr id="29" name="Text 24"/>
          <p:cNvSpPr txBox="1"/>
          <p:nvPr/>
        </p:nvSpPr>
        <p:spPr>
          <a:xfrm>
            <a:off x="868680" y="5532120"/>
            <a:ext cx="10424160" cy="777240"/>
          </a:xfrm>
          <a:prstGeom prst="rect">
            <a:avLst/>
          </a:prstGeom>
          <a:noFill/>
          <a:ln/>
        </p:spPr>
        <p:txBody>
          <a:bodyPr wrap="square" lIns="0" tIns="0" rIns="0" bIns="0" rtlCol="0" anchor="ctr"/>
          <a:lstStyle/>
          <a:p>
            <a:pPr indent="0" marL="0">
              <a:buNone/>
            </a:pPr>
            <a:r>
              <a:rPr lang="en-US" sz="1300" b="1" dirty="0">
                <a:solidFill>
                  <a:srgbClr val="5C3A00"/>
                </a:solidFill>
                <a:latin typeface="Calibri" pitchFamily="34" charset="0"/>
                <a:ea typeface="Calibri" pitchFamily="34" charset="-122"/>
                <a:cs typeface="Calibri" pitchFamily="34" charset="-120"/>
              </a:rPr>
              <a:t>Corrección real que encontramos: sin un paquete extra, un médico autorizado podía ENCONTRAR un documento pero nunca ABRIRLO.</a:t>
            </a:r>
            <a:endParaRPr lang="en-US" sz="1300" dirty="0"/>
          </a:p>
        </p:txBody>
      </p:sp>
      <p:sp>
        <p:nvSpPr>
          <p:cNvPr id="30" name="Text 25"/>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31" name="Text 26"/>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6C6FD9"/>
                </a:solidFill>
                <a:latin typeface="Calibri" pitchFamily="34" charset="0"/>
                <a:ea typeface="Calibri" pitchFamily="34" charset="-122"/>
                <a:cs typeface="Calibri" pitchFamily="34" charset="-120"/>
              </a:rPr>
              <a:t>DEL DISEÑO EN PAPEL AL CÓDIGO REAL</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15213E"/>
                </a:solidFill>
                <a:latin typeface="Cambria" pitchFamily="34" charset="0"/>
                <a:ea typeface="Cambria" pitchFamily="34" charset="-122"/>
                <a:cs typeface="Cambria" pitchFamily="34" charset="-120"/>
              </a:rPr>
              <a:t>Tres cosas que solo aparecieron al construirlo</a:t>
            </a:r>
            <a:endParaRPr lang="en-US" sz="3200" dirty="0"/>
          </a:p>
        </p:txBody>
      </p:sp>
      <p:sp>
        <p:nvSpPr>
          <p:cNvPr id="4" name="Shape 2"/>
          <p:cNvSpPr/>
          <p:nvPr/>
        </p:nvSpPr>
        <p:spPr>
          <a:xfrm>
            <a:off x="548640" y="1463040"/>
            <a:ext cx="3520440" cy="2880360"/>
          </a:xfrm>
          <a:prstGeom prst="roundRect">
            <a:avLst>
              <a:gd name="adj" fmla="val 2540"/>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5" name="Shape 3"/>
          <p:cNvSpPr/>
          <p:nvPr/>
        </p:nvSpPr>
        <p:spPr>
          <a:xfrm>
            <a:off x="804672" y="1719072"/>
            <a:ext cx="566928" cy="566928"/>
          </a:xfrm>
          <a:prstGeom prst="ellipse">
            <a:avLst/>
          </a:prstGeom>
          <a:solidFill>
            <a:srgbClr val="15213E"/>
          </a:solidFill>
          <a:ln/>
        </p:spPr>
      </p:sp>
      <p:pic>
        <p:nvPicPr>
          <p:cNvPr id="6" name="Image 0" descr="/tmp/osa_pres/icons/eyeSlash_teal.png">    </p:cNvPr>
          <p:cNvPicPr>
            <a:picLocks noChangeAspect="1"/>
          </p:cNvPicPr>
          <p:nvPr/>
        </p:nvPicPr>
        <p:blipFill>
          <a:blip r:embed="rId1"/>
          <a:stretch>
            <a:fillRect/>
          </a:stretch>
        </p:blipFill>
        <p:spPr>
          <a:xfrm>
            <a:off x="878373" y="1792773"/>
            <a:ext cx="419527" cy="419527"/>
          </a:xfrm>
          <a:prstGeom prst="rect">
            <a:avLst/>
          </a:prstGeom>
        </p:spPr>
      </p:pic>
      <p:sp>
        <p:nvSpPr>
          <p:cNvPr id="7" name="Text 4"/>
          <p:cNvSpPr txBox="1"/>
          <p:nvPr/>
        </p:nvSpPr>
        <p:spPr>
          <a:xfrm>
            <a:off x="3474720" y="1691640"/>
            <a:ext cx="411480" cy="411480"/>
          </a:xfrm>
          <a:prstGeom prst="rect">
            <a:avLst/>
          </a:prstGeom>
          <a:noFill/>
          <a:ln/>
        </p:spPr>
        <p:txBody>
          <a:bodyPr wrap="square" lIns="0" tIns="0" rIns="0" bIns="0" rtlCol="0" anchor="ctr"/>
          <a:lstStyle/>
          <a:p>
            <a:pPr algn="ctr" indent="0" marL="0">
              <a:buNone/>
            </a:pPr>
            <a:r>
              <a:rPr lang="en-US" sz="1600" b="1" dirty="0">
                <a:solidFill>
                  <a:srgbClr val="6C6FD9"/>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804672" y="2468880"/>
            <a:ext cx="3008376" cy="822960"/>
          </a:xfrm>
          <a:prstGeom prst="rect">
            <a:avLst/>
          </a:prstGeom>
          <a:noFill/>
          <a:ln/>
        </p:spPr>
        <p:txBody>
          <a:bodyPr wrap="square" lIns="0" tIns="0" rIns="0" bIns="0" rtlCol="0" anchor="ctr"/>
          <a:lstStyle/>
          <a:p>
            <a:pPr indent="0" marL="0">
              <a:lnSpc>
                <a:spcPct val="110000"/>
              </a:lnSpc>
              <a:buNone/>
            </a:pPr>
            <a:r>
              <a:rPr lang="en-US" sz="1400" b="1" dirty="0">
                <a:solidFill>
                  <a:srgbClr val="15213E"/>
                </a:solidFill>
                <a:latin typeface="Cambria" pitchFamily="34" charset="0"/>
                <a:ea typeface="Cambria" pitchFamily="34" charset="-122"/>
                <a:cs typeface="Cambria" pitchFamily="34" charset="-120"/>
              </a:rPr>
              <a:t>Los resultados nunca se abren en el servidor</a:t>
            </a:r>
            <a:endParaRPr lang="en-US" sz="1400" dirty="0"/>
          </a:p>
        </p:txBody>
      </p:sp>
      <p:sp>
        <p:nvSpPr>
          <p:cNvPr id="9" name="Text 6"/>
          <p:cNvSpPr txBox="1"/>
          <p:nvPr/>
        </p:nvSpPr>
        <p:spPr>
          <a:xfrm>
            <a:off x="804672" y="3291840"/>
            <a:ext cx="3008376" cy="914400"/>
          </a:xfrm>
          <a:prstGeom prst="rect">
            <a:avLst/>
          </a:prstGeom>
          <a:noFill/>
          <a:ln/>
        </p:spPr>
        <p:txBody>
          <a:bodyPr wrap="square" lIns="0" tIns="0" rIns="0" bIns="0" rtlCol="0" anchor="ctr"/>
          <a:lstStyle/>
          <a:p>
            <a:pPr indent="0" marL="0">
              <a:lnSpc>
                <a:spcPct val="118000"/>
              </a:lnSpc>
              <a:buNone/>
            </a:pPr>
            <a:r>
              <a:rPr lang="en-US" sz="1200" dirty="0">
                <a:solidFill>
                  <a:srgbClr val="5B6485"/>
                </a:solidFill>
                <a:latin typeface="Calibri" pitchFamily="34" charset="0"/>
                <a:ea typeface="Calibri" pitchFamily="34" charset="-122"/>
                <a:cs typeface="Calibri" pitchFamily="34" charset="-120"/>
              </a:rPr>
              <a:t>Viajan cifrados; quien busca los abre en su propia computadora. El control de acceso real pasa cuando se pide cada documento, uno por uno.</a:t>
            </a:r>
            <a:endParaRPr lang="en-US" sz="1200" dirty="0"/>
          </a:p>
        </p:txBody>
      </p:sp>
      <p:sp>
        <p:nvSpPr>
          <p:cNvPr id="10" name="Shape 7"/>
          <p:cNvSpPr/>
          <p:nvPr/>
        </p:nvSpPr>
        <p:spPr>
          <a:xfrm>
            <a:off x="4343400" y="1463040"/>
            <a:ext cx="3520440" cy="2880360"/>
          </a:xfrm>
          <a:prstGeom prst="roundRect">
            <a:avLst>
              <a:gd name="adj" fmla="val 2540"/>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1" name="Shape 8"/>
          <p:cNvSpPr/>
          <p:nvPr/>
        </p:nvSpPr>
        <p:spPr>
          <a:xfrm>
            <a:off x="4599432" y="1719072"/>
            <a:ext cx="566928" cy="566928"/>
          </a:xfrm>
          <a:prstGeom prst="ellipse">
            <a:avLst/>
          </a:prstGeom>
          <a:solidFill>
            <a:srgbClr val="15213E"/>
          </a:solidFill>
          <a:ln/>
        </p:spPr>
      </p:sp>
      <p:pic>
        <p:nvPicPr>
          <p:cNvPr id="12" name="Image 1" descr="/tmp/osa_pres/icons/unlock_teal.png">    </p:cNvPr>
          <p:cNvPicPr>
            <a:picLocks noChangeAspect="1"/>
          </p:cNvPicPr>
          <p:nvPr/>
        </p:nvPicPr>
        <p:blipFill>
          <a:blip r:embed="rId2"/>
          <a:stretch>
            <a:fillRect/>
          </a:stretch>
        </p:blipFill>
        <p:spPr>
          <a:xfrm>
            <a:off x="4673133" y="1792773"/>
            <a:ext cx="419527" cy="419527"/>
          </a:xfrm>
          <a:prstGeom prst="rect">
            <a:avLst/>
          </a:prstGeom>
        </p:spPr>
      </p:pic>
      <p:sp>
        <p:nvSpPr>
          <p:cNvPr id="13" name="Text 9"/>
          <p:cNvSpPr txBox="1"/>
          <p:nvPr/>
        </p:nvSpPr>
        <p:spPr>
          <a:xfrm>
            <a:off x="7269480" y="1691640"/>
            <a:ext cx="411480" cy="411480"/>
          </a:xfrm>
          <a:prstGeom prst="rect">
            <a:avLst/>
          </a:prstGeom>
          <a:noFill/>
          <a:ln/>
        </p:spPr>
        <p:txBody>
          <a:bodyPr wrap="square" lIns="0" tIns="0" rIns="0" bIns="0" rtlCol="0" anchor="ctr"/>
          <a:lstStyle/>
          <a:p>
            <a:pPr algn="ctr" indent="0" marL="0">
              <a:buNone/>
            </a:pPr>
            <a:r>
              <a:rPr lang="en-US" sz="1600" b="1" dirty="0">
                <a:solidFill>
                  <a:srgbClr val="6C6FD9"/>
                </a:solidFill>
                <a:latin typeface="Cambria" pitchFamily="34" charset="0"/>
                <a:ea typeface="Cambria" pitchFamily="34" charset="-122"/>
                <a:cs typeface="Cambria" pitchFamily="34" charset="-120"/>
              </a:rPr>
              <a:t>2</a:t>
            </a:r>
            <a:endParaRPr lang="en-US" sz="1600" dirty="0"/>
          </a:p>
        </p:txBody>
      </p:sp>
      <p:sp>
        <p:nvSpPr>
          <p:cNvPr id="14" name="Text 10"/>
          <p:cNvSpPr txBox="1"/>
          <p:nvPr/>
        </p:nvSpPr>
        <p:spPr>
          <a:xfrm>
            <a:off x="4599432" y="2468880"/>
            <a:ext cx="3008376" cy="822960"/>
          </a:xfrm>
          <a:prstGeom prst="rect">
            <a:avLst/>
          </a:prstGeom>
          <a:noFill/>
          <a:ln/>
        </p:spPr>
        <p:txBody>
          <a:bodyPr wrap="square" lIns="0" tIns="0" rIns="0" bIns="0" rtlCol="0" anchor="ctr"/>
          <a:lstStyle/>
          <a:p>
            <a:pPr indent="0" marL="0">
              <a:lnSpc>
                <a:spcPct val="110000"/>
              </a:lnSpc>
              <a:buNone/>
            </a:pPr>
            <a:r>
              <a:rPr lang="en-US" sz="1400" b="1" dirty="0">
                <a:solidFill>
                  <a:srgbClr val="15213E"/>
                </a:solidFill>
                <a:latin typeface="Cambria" pitchFamily="34" charset="0"/>
                <a:ea typeface="Cambria" pitchFamily="34" charset="-122"/>
                <a:cs typeface="Cambria" pitchFamily="34" charset="-120"/>
              </a:rPr>
              <a:t>Cambiar la clave maestra sin volver a envolver cada documento</a:t>
            </a:r>
            <a:endParaRPr lang="en-US" sz="1400" dirty="0"/>
          </a:p>
        </p:txBody>
      </p:sp>
      <p:sp>
        <p:nvSpPr>
          <p:cNvPr id="15" name="Text 11"/>
          <p:cNvSpPr txBox="1"/>
          <p:nvPr/>
        </p:nvSpPr>
        <p:spPr>
          <a:xfrm>
            <a:off x="4599432" y="3291840"/>
            <a:ext cx="3008376" cy="914400"/>
          </a:xfrm>
          <a:prstGeom prst="rect">
            <a:avLst/>
          </a:prstGeom>
          <a:noFill/>
          <a:ln/>
        </p:spPr>
        <p:txBody>
          <a:bodyPr wrap="square" lIns="0" tIns="0" rIns="0" bIns="0" rtlCol="0" anchor="ctr"/>
          <a:lstStyle/>
          <a:p>
            <a:pPr indent="0" marL="0">
              <a:lnSpc>
                <a:spcPct val="118000"/>
              </a:lnSpc>
              <a:buNone/>
            </a:pPr>
            <a:r>
              <a:rPr lang="en-US" sz="1200" dirty="0">
                <a:solidFill>
                  <a:srgbClr val="5B6485"/>
                </a:solidFill>
                <a:latin typeface="Calibri" pitchFamily="34" charset="0"/>
                <a:ea typeface="Calibri" pitchFamily="34" charset="-122"/>
                <a:cs typeface="Calibri" pitchFamily="34" charset="-120"/>
              </a:rPr>
              <a:t>…deja TODO el historial anterior imposible de leer. No es que el sistema falle: es que los datos se pierden para siempre.</a:t>
            </a:r>
            <a:endParaRPr lang="en-US" sz="1200" dirty="0"/>
          </a:p>
        </p:txBody>
      </p:sp>
      <p:sp>
        <p:nvSpPr>
          <p:cNvPr id="16" name="Shape 12"/>
          <p:cNvSpPr/>
          <p:nvPr/>
        </p:nvSpPr>
        <p:spPr>
          <a:xfrm>
            <a:off x="8138160" y="1463040"/>
            <a:ext cx="3520440" cy="2880360"/>
          </a:xfrm>
          <a:prstGeom prst="roundRect">
            <a:avLst>
              <a:gd name="adj" fmla="val 2540"/>
            </a:avLst>
          </a:prstGeom>
          <a:solidFill>
            <a:srgbClr val="FFFFFF"/>
          </a:solidFill>
          <a:ln w="12700">
            <a:solidFill>
              <a:srgbClr val="E2E5F0"/>
            </a:solidFill>
            <a:prstDash val="solid"/>
          </a:ln>
          <a:effectLst>
            <a:outerShdw sx="100000" sy="100000" kx="0" ky="0" algn="bl" rotWithShape="0" blurRad="101600" dist="38100" dir="5400000">
              <a:srgbClr val="1B2340">
                <a:alpha val="12000"/>
              </a:srgbClr>
            </a:outerShdw>
          </a:effectLst>
        </p:spPr>
      </p:sp>
      <p:sp>
        <p:nvSpPr>
          <p:cNvPr id="17" name="Shape 13"/>
          <p:cNvSpPr/>
          <p:nvPr/>
        </p:nvSpPr>
        <p:spPr>
          <a:xfrm>
            <a:off x="8394192" y="1719072"/>
            <a:ext cx="566928" cy="566928"/>
          </a:xfrm>
          <a:prstGeom prst="ellipse">
            <a:avLst/>
          </a:prstGeom>
          <a:solidFill>
            <a:srgbClr val="15213E"/>
          </a:solidFill>
          <a:ln/>
        </p:spPr>
      </p:sp>
      <p:pic>
        <p:nvPicPr>
          <p:cNvPr id="18" name="Image 2" descr="/tmp/osa_pres/icons/lock_teal.png">    </p:cNvPr>
          <p:cNvPicPr>
            <a:picLocks noChangeAspect="1"/>
          </p:cNvPicPr>
          <p:nvPr/>
        </p:nvPicPr>
        <p:blipFill>
          <a:blip r:embed="rId3"/>
          <a:stretch>
            <a:fillRect/>
          </a:stretch>
        </p:blipFill>
        <p:spPr>
          <a:xfrm>
            <a:off x="8467893" y="1792773"/>
            <a:ext cx="419527" cy="419527"/>
          </a:xfrm>
          <a:prstGeom prst="rect">
            <a:avLst/>
          </a:prstGeom>
        </p:spPr>
      </p:pic>
      <p:sp>
        <p:nvSpPr>
          <p:cNvPr id="19" name="Text 14"/>
          <p:cNvSpPr txBox="1"/>
          <p:nvPr/>
        </p:nvSpPr>
        <p:spPr>
          <a:xfrm>
            <a:off x="11064240" y="1691640"/>
            <a:ext cx="411480" cy="411480"/>
          </a:xfrm>
          <a:prstGeom prst="rect">
            <a:avLst/>
          </a:prstGeom>
          <a:noFill/>
          <a:ln/>
        </p:spPr>
        <p:txBody>
          <a:bodyPr wrap="square" lIns="0" tIns="0" rIns="0" bIns="0" rtlCol="0" anchor="ctr"/>
          <a:lstStyle/>
          <a:p>
            <a:pPr algn="ctr" indent="0" marL="0">
              <a:buNone/>
            </a:pPr>
            <a:r>
              <a:rPr lang="en-US" sz="1600" b="1" dirty="0">
                <a:solidFill>
                  <a:srgbClr val="6C6FD9"/>
                </a:solidFill>
                <a:latin typeface="Cambria" pitchFamily="34" charset="0"/>
                <a:ea typeface="Cambria" pitchFamily="34" charset="-122"/>
                <a:cs typeface="Cambria" pitchFamily="34" charset="-120"/>
              </a:rPr>
              <a:t>3</a:t>
            </a:r>
            <a:endParaRPr lang="en-US" sz="1600" dirty="0"/>
          </a:p>
        </p:txBody>
      </p:sp>
      <p:sp>
        <p:nvSpPr>
          <p:cNvPr id="20" name="Text 15"/>
          <p:cNvSpPr txBox="1"/>
          <p:nvPr/>
        </p:nvSpPr>
        <p:spPr>
          <a:xfrm>
            <a:off x="8394192" y="2468880"/>
            <a:ext cx="3008376" cy="822960"/>
          </a:xfrm>
          <a:prstGeom prst="rect">
            <a:avLst/>
          </a:prstGeom>
          <a:noFill/>
          <a:ln/>
        </p:spPr>
        <p:txBody>
          <a:bodyPr wrap="square" lIns="0" tIns="0" rIns="0" bIns="0" rtlCol="0" anchor="ctr"/>
          <a:lstStyle/>
          <a:p>
            <a:pPr indent="0" marL="0">
              <a:lnSpc>
                <a:spcPct val="110000"/>
              </a:lnSpc>
              <a:buNone/>
            </a:pPr>
            <a:r>
              <a:rPr lang="en-US" sz="1400" b="1" dirty="0">
                <a:solidFill>
                  <a:srgbClr val="15213E"/>
                </a:solidFill>
                <a:latin typeface="Cambria" pitchFamily="34" charset="0"/>
                <a:ea typeface="Cambria" pitchFamily="34" charset="-122"/>
                <a:cs typeface="Cambria" pitchFamily="34" charset="-120"/>
              </a:rPr>
              <a:t>El relleno anti-tamaño debe ir al final</a:t>
            </a:r>
            <a:endParaRPr lang="en-US" sz="1400" dirty="0"/>
          </a:p>
        </p:txBody>
      </p:sp>
      <p:sp>
        <p:nvSpPr>
          <p:cNvPr id="21" name="Text 16"/>
          <p:cNvSpPr txBox="1"/>
          <p:nvPr/>
        </p:nvSpPr>
        <p:spPr>
          <a:xfrm>
            <a:off x="8394192" y="3291840"/>
            <a:ext cx="3008376" cy="914400"/>
          </a:xfrm>
          <a:prstGeom prst="rect">
            <a:avLst/>
          </a:prstGeom>
          <a:noFill/>
          <a:ln/>
        </p:spPr>
        <p:txBody>
          <a:bodyPr wrap="square" lIns="0" tIns="0" rIns="0" bIns="0" rtlCol="0" anchor="ctr"/>
          <a:lstStyle/>
          <a:p>
            <a:pPr indent="0" marL="0">
              <a:lnSpc>
                <a:spcPct val="118000"/>
              </a:lnSpc>
              <a:buNone/>
            </a:pPr>
            <a:r>
              <a:rPr lang="en-US" sz="1200" dirty="0">
                <a:solidFill>
                  <a:srgbClr val="5B6485"/>
                </a:solidFill>
                <a:latin typeface="Calibri" pitchFamily="34" charset="0"/>
                <a:ea typeface="Calibri" pitchFamily="34" charset="-122"/>
                <a:cs typeface="Calibri" pitchFamily="34" charset="-120"/>
              </a:rPr>
              <a:t>Tiene que calcularse sobre el paquete ya cifrado, no sobre el texto original — si no, el servidor rechaza cada archivo que se sube.</a:t>
            </a:r>
            <a:endParaRPr lang="en-US" sz="1200" dirty="0"/>
          </a:p>
        </p:txBody>
      </p:sp>
      <p:sp>
        <p:nvSpPr>
          <p:cNvPr id="22" name="Shape 17"/>
          <p:cNvSpPr/>
          <p:nvPr/>
        </p:nvSpPr>
        <p:spPr>
          <a:xfrm>
            <a:off x="548640" y="4617720"/>
            <a:ext cx="11091672" cy="1691640"/>
          </a:xfrm>
          <a:prstGeom prst="roundRect">
            <a:avLst>
              <a:gd name="adj" fmla="val 4324"/>
            </a:avLst>
          </a:prstGeom>
          <a:solidFill>
            <a:srgbClr val="15213E"/>
          </a:solidFill>
          <a:ln w="12700">
            <a:solidFill>
              <a:srgbClr val="E2E5F0"/>
            </a:solidFill>
            <a:prstDash val="solid"/>
          </a:ln>
        </p:spPr>
      </p:sp>
      <p:sp>
        <p:nvSpPr>
          <p:cNvPr id="23" name="Text 18"/>
          <p:cNvSpPr txBox="1"/>
          <p:nvPr/>
        </p:nvSpPr>
        <p:spPr>
          <a:xfrm>
            <a:off x="914400" y="4800600"/>
            <a:ext cx="10332720" cy="365760"/>
          </a:xfrm>
          <a:prstGeom prst="rect">
            <a:avLst/>
          </a:prstGeom>
          <a:noFill/>
          <a:ln/>
        </p:spPr>
        <p:txBody>
          <a:bodyPr wrap="square" lIns="0" tIns="0" rIns="0" bIns="0" rtlCol="0" anchor="ctr"/>
          <a:lstStyle/>
          <a:p>
            <a:pPr indent="0" marL="0">
              <a:buNone/>
            </a:pPr>
            <a:r>
              <a:rPr lang="en-US" sz="1500" b="1" dirty="0">
                <a:solidFill>
                  <a:srgbClr val="17B8A6"/>
                </a:solidFill>
                <a:latin typeface="Cambria" pitchFamily="34" charset="0"/>
                <a:ea typeface="Cambria" pitchFamily="34" charset="-122"/>
                <a:cs typeface="Cambria" pitchFamily="34" charset="-120"/>
              </a:rPr>
              <a:t>Fuera de alcance de este MVP (a propósito)</a:t>
            </a:r>
            <a:endParaRPr lang="en-US" sz="1500" dirty="0"/>
          </a:p>
        </p:txBody>
      </p:sp>
      <p:sp>
        <p:nvSpPr>
          <p:cNvPr id="24" name="Text 19"/>
          <p:cNvSpPr txBox="1"/>
          <p:nvPr/>
        </p:nvSpPr>
        <p:spPr>
          <a:xfrm>
            <a:off x="914400" y="5212080"/>
            <a:ext cx="10332720" cy="914400"/>
          </a:xfrm>
          <a:prstGeom prst="rect">
            <a:avLst/>
          </a:prstGeom>
          <a:noFill/>
          <a:ln/>
        </p:spPr>
        <p:txBody>
          <a:bodyPr wrap="square" lIns="0" tIns="0" rIns="0" bIns="0" rtlCol="0" anchor="ctr"/>
          <a:lstStyle/>
          <a:p>
            <a:pPr indent="0" marL="0">
              <a:lnSpc>
                <a:spcPct val="125000"/>
              </a:lnSpc>
              <a:buNone/>
            </a:pPr>
            <a:r>
              <a:rPr lang="en-US" sz="1350" dirty="0">
                <a:solidFill>
                  <a:srgbClr val="AEB6D6"/>
                </a:solidFill>
                <a:latin typeface="Calibri" pitchFamily="34" charset="0"/>
                <a:ea typeface="Calibri" pitchFamily="34" charset="-122"/>
                <a:cs typeface="Calibri" pitchFamily="34" charset="-120"/>
              </a:rPr>
              <a:t>Acceso de emergencia (“break-glass”) · cifrado transparente de disco en Postgres · verificación real de matrícula médica contra un colegio · exportación FHIR.</a:t>
            </a:r>
            <a:endParaRPr lang="en-US" sz="1350" dirty="0"/>
          </a:p>
        </p:txBody>
      </p:sp>
      <p:sp>
        <p:nvSpPr>
          <p:cNvPr id="25" name="Text 20"/>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5B6485"/>
                </a:solidFill>
                <a:latin typeface="Calibri" pitchFamily="34" charset="0"/>
                <a:ea typeface="Calibri" pitchFamily="34" charset="-122"/>
                <a:cs typeface="Calibri" pitchFamily="34" charset="-120"/>
              </a:rPr>
              <a:t>Criptografía Avanzada — SSE asimétrico</a:t>
            </a:r>
            <a:endParaRPr lang="en-US" sz="1050" dirty="0"/>
          </a:p>
        </p:txBody>
      </p:sp>
      <p:sp>
        <p:nvSpPr>
          <p:cNvPr id="26" name="Text 21"/>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5B6485"/>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213E"/>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250" b="1" spc="200" kern="0" dirty="0">
                <a:solidFill>
                  <a:srgbClr val="17B8A6"/>
                </a:solidFill>
                <a:latin typeface="Calibri" pitchFamily="34" charset="0"/>
                <a:ea typeface="Calibri" pitchFamily="34" charset="-122"/>
                <a:cs typeface="Calibri" pitchFamily="34" charset="-120"/>
              </a:rPr>
              <a:t>CIERRE</a:t>
            </a:r>
            <a:endParaRPr lang="en-US" sz="1250" dirty="0"/>
          </a:p>
        </p:txBody>
      </p:sp>
      <p:sp>
        <p:nvSpPr>
          <p:cNvPr id="3" name="Text 1"/>
          <p:cNvSpPr txBox="1"/>
          <p:nvPr/>
        </p:nvSpPr>
        <p:spPr>
          <a:xfrm>
            <a:off x="548640" y="457200"/>
            <a:ext cx="11094415"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Síntesis y conclusiones</a:t>
            </a:r>
            <a:endParaRPr lang="en-US" sz="3200" dirty="0"/>
          </a:p>
        </p:txBody>
      </p:sp>
      <p:sp>
        <p:nvSpPr>
          <p:cNvPr id="4" name="Shape 2"/>
          <p:cNvSpPr/>
          <p:nvPr/>
        </p:nvSpPr>
        <p:spPr>
          <a:xfrm>
            <a:off x="548640" y="1508760"/>
            <a:ext cx="502920" cy="502920"/>
          </a:xfrm>
          <a:prstGeom prst="ellipse">
            <a:avLst/>
          </a:prstGeom>
          <a:solidFill>
            <a:srgbClr val="17B8A6"/>
          </a:solidFill>
          <a:ln/>
        </p:spPr>
      </p:sp>
      <p:sp>
        <p:nvSpPr>
          <p:cNvPr id="5" name="Text 3"/>
          <p:cNvSpPr txBox="1"/>
          <p:nvPr/>
        </p:nvSpPr>
        <p:spPr>
          <a:xfrm>
            <a:off x="548640" y="1508760"/>
            <a:ext cx="502920" cy="502920"/>
          </a:xfrm>
          <a:prstGeom prst="rect">
            <a:avLst/>
          </a:prstGeom>
          <a:noFill/>
          <a:ln/>
        </p:spPr>
        <p:txBody>
          <a:bodyPr wrap="square" lIns="0" tIns="0" rIns="0" bIns="0" rtlCol="0" anchor="ctr"/>
          <a:lstStyle/>
          <a:p>
            <a:pPr algn="ctr" indent="0" marL="0">
              <a:buNone/>
            </a:pPr>
            <a:r>
              <a:rPr lang="en-US" sz="1800" b="1" dirty="0">
                <a:solidFill>
                  <a:srgbClr val="15213E"/>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34440" y="1463040"/>
            <a:ext cx="10241280" cy="9144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El límite real no es la primitiva — </a:t>
            </a:r>
            <a:pPr indent="0" marL="0">
              <a:lnSpc>
                <a:spcPct val="120000"/>
              </a:lnSpc>
              <a:buNone/>
            </a:pPr>
            <a:r>
              <a:rPr lang="en-US" sz="1500" dirty="0">
                <a:solidFill>
                  <a:srgbClr val="AEB6D6"/>
                </a:solidFill>
                <a:latin typeface="Calibri" pitchFamily="34" charset="0"/>
                <a:ea typeface="Calibri" pitchFamily="34" charset="-122"/>
                <a:cs typeface="Calibri" pitchFamily="34" charset="-120"/>
              </a:rPr>
              <a:t>es la distribución de claves entre partes que nunca compartieron un canal seguro.</a:t>
            </a:r>
            <a:endParaRPr lang="en-US" sz="1500" dirty="0"/>
          </a:p>
        </p:txBody>
      </p:sp>
      <p:sp>
        <p:nvSpPr>
          <p:cNvPr id="7" name="Shape 5"/>
          <p:cNvSpPr/>
          <p:nvPr/>
        </p:nvSpPr>
        <p:spPr>
          <a:xfrm>
            <a:off x="548640" y="2560320"/>
            <a:ext cx="502920" cy="502920"/>
          </a:xfrm>
          <a:prstGeom prst="ellipse">
            <a:avLst/>
          </a:prstGeom>
          <a:solidFill>
            <a:srgbClr val="17B8A6"/>
          </a:solidFill>
          <a:ln/>
        </p:spPr>
      </p:sp>
      <p:sp>
        <p:nvSpPr>
          <p:cNvPr id="8" name="Text 6"/>
          <p:cNvSpPr txBox="1"/>
          <p:nvPr/>
        </p:nvSpPr>
        <p:spPr>
          <a:xfrm>
            <a:off x="548640" y="2560320"/>
            <a:ext cx="502920" cy="502920"/>
          </a:xfrm>
          <a:prstGeom prst="rect">
            <a:avLst/>
          </a:prstGeom>
          <a:noFill/>
          <a:ln/>
        </p:spPr>
        <p:txBody>
          <a:bodyPr wrap="square" lIns="0" tIns="0" rIns="0" bIns="0" rtlCol="0" anchor="ctr"/>
          <a:lstStyle/>
          <a:p>
            <a:pPr algn="ctr" indent="0" marL="0">
              <a:buNone/>
            </a:pPr>
            <a:r>
              <a:rPr lang="en-US" sz="1800" b="1" dirty="0">
                <a:solidFill>
                  <a:srgbClr val="15213E"/>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34440" y="2514600"/>
            <a:ext cx="10241280" cy="9144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PEKS resuelve la teoría, no la práctica — </a:t>
            </a:r>
            <a:pPr indent="0" marL="0">
              <a:lnSpc>
                <a:spcPct val="120000"/>
              </a:lnSpc>
              <a:buNone/>
            </a:pPr>
            <a:r>
              <a:rPr lang="en-US" sz="1500" dirty="0">
                <a:solidFill>
                  <a:srgbClr val="AEB6D6"/>
                </a:solidFill>
                <a:latin typeface="Calibri" pitchFamily="34" charset="0"/>
                <a:ea typeface="Calibri" pitchFamily="34" charset="-122"/>
                <a:cs typeface="Calibri" pitchFamily="34" charset="-120"/>
              </a:rPr>
              <a:t>paga con el Keyword Guessing Attack y con emparejamientos costosos.</a:t>
            </a:r>
            <a:endParaRPr lang="en-US" sz="1500" dirty="0"/>
          </a:p>
        </p:txBody>
      </p:sp>
      <p:sp>
        <p:nvSpPr>
          <p:cNvPr id="10" name="Shape 8"/>
          <p:cNvSpPr/>
          <p:nvPr/>
        </p:nvSpPr>
        <p:spPr>
          <a:xfrm>
            <a:off x="548640" y="3611880"/>
            <a:ext cx="502920" cy="502920"/>
          </a:xfrm>
          <a:prstGeom prst="ellipse">
            <a:avLst/>
          </a:prstGeom>
          <a:solidFill>
            <a:srgbClr val="17B8A6"/>
          </a:solidFill>
          <a:ln/>
        </p:spPr>
      </p:sp>
      <p:sp>
        <p:nvSpPr>
          <p:cNvPr id="11" name="Text 9"/>
          <p:cNvSpPr txBox="1"/>
          <p:nvPr/>
        </p:nvSpPr>
        <p:spPr>
          <a:xfrm>
            <a:off x="548640" y="3611880"/>
            <a:ext cx="502920" cy="502920"/>
          </a:xfrm>
          <a:prstGeom prst="rect">
            <a:avLst/>
          </a:prstGeom>
          <a:noFill/>
          <a:ln/>
        </p:spPr>
        <p:txBody>
          <a:bodyPr wrap="square" lIns="0" tIns="0" rIns="0" bIns="0" rtlCol="0" anchor="ctr"/>
          <a:lstStyle/>
          <a:p>
            <a:pPr algn="ctr" indent="0" marL="0">
              <a:buNone/>
            </a:pPr>
            <a:r>
              <a:rPr lang="en-US" sz="1800" b="1" dirty="0">
                <a:solidFill>
                  <a:srgbClr val="15213E"/>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34440" y="3566160"/>
            <a:ext cx="10241280" cy="9144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La respuesta de producción es híbrida — </a:t>
            </a:r>
            <a:pPr indent="0" marL="0">
              <a:lnSpc>
                <a:spcPct val="120000"/>
              </a:lnSpc>
              <a:buNone/>
            </a:pPr>
            <a:r>
              <a:rPr lang="en-US" sz="1500" dirty="0">
                <a:solidFill>
                  <a:srgbClr val="AEB6D6"/>
                </a:solidFill>
                <a:latin typeface="Calibri" pitchFamily="34" charset="0"/>
                <a:ea typeface="Calibri" pitchFamily="34" charset="-122"/>
                <a:cs typeface="Calibri" pitchFamily="34" charset="-120"/>
              </a:rPr>
              <a:t>asimétrico para transportar claves y firmar; simétrico para todo el volumen — KEM/DEM.</a:t>
            </a:r>
            <a:endParaRPr lang="en-US" sz="1500" dirty="0"/>
          </a:p>
        </p:txBody>
      </p:sp>
      <p:sp>
        <p:nvSpPr>
          <p:cNvPr id="13" name="Shape 11"/>
          <p:cNvSpPr/>
          <p:nvPr/>
        </p:nvSpPr>
        <p:spPr>
          <a:xfrm>
            <a:off x="548640" y="4663440"/>
            <a:ext cx="502920" cy="502920"/>
          </a:xfrm>
          <a:prstGeom prst="ellipse">
            <a:avLst/>
          </a:prstGeom>
          <a:solidFill>
            <a:srgbClr val="17B8A6"/>
          </a:solidFill>
          <a:ln/>
        </p:spPr>
      </p:sp>
      <p:sp>
        <p:nvSpPr>
          <p:cNvPr id="14" name="Text 12"/>
          <p:cNvSpPr txBox="1"/>
          <p:nvPr/>
        </p:nvSpPr>
        <p:spPr>
          <a:xfrm>
            <a:off x="548640" y="4663440"/>
            <a:ext cx="502920" cy="502920"/>
          </a:xfrm>
          <a:prstGeom prst="rect">
            <a:avLst/>
          </a:prstGeom>
          <a:noFill/>
          <a:ln/>
        </p:spPr>
        <p:txBody>
          <a:bodyPr wrap="square" lIns="0" tIns="0" rIns="0" bIns="0" rtlCol="0" anchor="ctr"/>
          <a:lstStyle/>
          <a:p>
            <a:pPr algn="ctr" indent="0" marL="0">
              <a:buNone/>
            </a:pPr>
            <a:r>
              <a:rPr lang="en-US" sz="1800" b="1" dirty="0">
                <a:solidFill>
                  <a:srgbClr val="15213E"/>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34440" y="4617720"/>
            <a:ext cx="10241280" cy="9144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Implementarlo en serio expone bugs invisibles en el pseudocódigo — </a:t>
            </a:r>
            <a:pPr indent="0" marL="0">
              <a:lnSpc>
                <a:spcPct val="120000"/>
              </a:lnSpc>
              <a:buNone/>
            </a:pPr>
            <a:r>
              <a:rPr lang="en-US" sz="1500" dirty="0">
                <a:solidFill>
                  <a:srgbClr val="AEB6D6"/>
                </a:solidFill>
                <a:latin typeface="Calibri" pitchFamily="34" charset="0"/>
                <a:ea typeface="Calibri" pitchFamily="34" charset="-122"/>
                <a:cs typeface="Calibri" pitchFamily="34" charset="-120"/>
              </a:rPr>
              <a:t>20 correcciones de seguridad documentadas en OSA.</a:t>
            </a:r>
            <a:endParaRPr lang="en-US" sz="1500" dirty="0"/>
          </a:p>
        </p:txBody>
      </p:sp>
      <p:sp>
        <p:nvSpPr>
          <p:cNvPr id="16" name="Shape 14"/>
          <p:cNvSpPr/>
          <p:nvPr/>
        </p:nvSpPr>
        <p:spPr>
          <a:xfrm>
            <a:off x="548640" y="5623560"/>
            <a:ext cx="11091672" cy="777240"/>
          </a:xfrm>
          <a:prstGeom prst="roundRect">
            <a:avLst>
              <a:gd name="adj" fmla="val 9412"/>
            </a:avLst>
          </a:prstGeom>
          <a:solidFill>
            <a:srgbClr val="1E2E56"/>
          </a:solidFill>
          <a:ln w="12700">
            <a:solidFill>
              <a:srgbClr val="E2E5F0"/>
            </a:solidFill>
            <a:prstDash val="solid"/>
          </a:ln>
        </p:spPr>
      </p:sp>
      <p:sp>
        <p:nvSpPr>
          <p:cNvPr id="17" name="Text 15"/>
          <p:cNvSpPr txBox="1"/>
          <p:nvPr/>
        </p:nvSpPr>
        <p:spPr>
          <a:xfrm>
            <a:off x="868680" y="5623560"/>
            <a:ext cx="10424160" cy="777240"/>
          </a:xfrm>
          <a:prstGeom prst="rect">
            <a:avLst/>
          </a:prstGeom>
          <a:noFill/>
          <a:ln/>
        </p:spPr>
        <p:txBody>
          <a:bodyPr wrap="square" lIns="0" tIns="0" rIns="0" bIns="0" rtlCol="0" anchor="ctr"/>
          <a:lstStyle/>
          <a:p>
            <a:pPr indent="0" marL="0">
              <a:lnSpc>
                <a:spcPct val="120000"/>
              </a:lnSpc>
              <a:buNone/>
            </a:pPr>
            <a:r>
              <a:rPr lang="en-US" sz="1150" i="1" dirty="0">
                <a:solidFill>
                  <a:srgbClr val="AEB6D6"/>
                </a:solidFill>
                <a:latin typeface="Calibri" pitchFamily="34" charset="0"/>
                <a:ea typeface="Calibri" pitchFamily="34" charset="-122"/>
                <a:cs typeface="Calibri" pitchFamily="34" charset="-120"/>
              </a:rPr>
              <a:t>Boneh, Di Crescenzo, Ostrovsky, Persiano (2004) · Byun, Rhee, Park, Lee (2006) · Curtmola, Garay, Kamara, Ostrovsky (2006) · Bernstein — Curve25519 (2006) · Bernstein et al. — Ed25519 (2011)</a:t>
            </a:r>
            <a:endParaRPr lang="en-US" sz="1150" dirty="0"/>
          </a:p>
        </p:txBody>
      </p:sp>
      <p:sp>
        <p:nvSpPr>
          <p:cNvPr id="18" name="Text 16"/>
          <p:cNvSpPr/>
          <p:nvPr/>
        </p:nvSpPr>
        <p:spPr>
          <a:xfrm>
            <a:off x="548640" y="6437376"/>
            <a:ext cx="7315200" cy="274320"/>
          </a:xfrm>
          <a:prstGeom prst="rect">
            <a:avLst/>
          </a:prstGeom>
          <a:noFill/>
          <a:ln/>
        </p:spPr>
        <p:txBody>
          <a:bodyPr wrap="square" rtlCol="0" anchor="ctr"/>
          <a:lstStyle/>
          <a:p>
            <a:pPr algn="l" indent="0" marL="0">
              <a:buNone/>
            </a:pPr>
            <a:r>
              <a:rPr lang="en-US" sz="1050" dirty="0">
                <a:solidFill>
                  <a:srgbClr val="AEB6D6"/>
                </a:solidFill>
                <a:latin typeface="Calibri" pitchFamily="34" charset="0"/>
                <a:ea typeface="Calibri" pitchFamily="34" charset="-122"/>
                <a:cs typeface="Calibri" pitchFamily="34" charset="-120"/>
              </a:rPr>
              <a:t>Gracias — quedo a disposición para preguntas</a:t>
            </a:r>
            <a:endParaRPr lang="en-US" sz="1050" dirty="0"/>
          </a:p>
        </p:txBody>
      </p:sp>
      <p:sp>
        <p:nvSpPr>
          <p:cNvPr id="19" name="Text 17"/>
          <p:cNvSpPr/>
          <p:nvPr/>
        </p:nvSpPr>
        <p:spPr>
          <a:xfrm>
            <a:off x="11185855" y="6437376"/>
            <a:ext cx="457200" cy="274320"/>
          </a:xfrm>
          <a:prstGeom prst="rect">
            <a:avLst/>
          </a:prstGeom>
          <a:noFill/>
          <a:ln/>
        </p:spPr>
        <p:txBody>
          <a:bodyPr wrap="square" rtlCol="0" anchor="ctr"/>
          <a:lstStyle/>
          <a:p>
            <a:pPr algn="r" indent="0" marL="0">
              <a:buNone/>
            </a:pPr>
            <a:r>
              <a:rPr lang="en-US" sz="1050" dirty="0">
                <a:solidFill>
                  <a:srgbClr val="AEB6D6"/>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2026-08-27T23:03:53Z</dcterms:created>
  <dcterms:modified xsi:type="dcterms:W3CDTF">2026-08-27T23:03:53Z</dcterms:modified>
</cp:coreProperties>
</file>