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62" autoAdjust="0"/>
    <p:restoredTop sz="94610"/>
  </p:normalViewPr>
  <p:slideViewPr>
    <p:cSldViewPr snapToGrid="0" snapToObjects="1">
      <p:cViewPr>
        <p:scale>
          <a:sx n="104" d="100"/>
          <a:sy n="104" d="100"/>
        </p:scale>
        <p:origin x="8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rnan Herrera" userId="5f310cd8fb8e5f50" providerId="LiveId" clId="{62BC83D4-BD5F-4BA6-AC28-329178406771}"/>
    <pc:docChg chg="undo custSel modSld">
      <pc:chgData name="Hernan Herrera" userId="5f310cd8fb8e5f50" providerId="LiveId" clId="{62BC83D4-BD5F-4BA6-AC28-329178406771}" dt="2026-09-03T15:18:55.117" v="72" actId="20577"/>
      <pc:docMkLst>
        <pc:docMk/>
      </pc:docMkLst>
      <pc:sldChg chg="delSp modSp mod">
        <pc:chgData name="Hernan Herrera" userId="5f310cd8fb8e5f50" providerId="LiveId" clId="{62BC83D4-BD5F-4BA6-AC28-329178406771}" dt="2026-09-03T13:59:24.987" v="36" actId="478"/>
        <pc:sldMkLst>
          <pc:docMk/>
          <pc:sldMk cId="0" sldId="256"/>
        </pc:sldMkLst>
        <pc:spChg chg="del">
          <ac:chgData name="Hernan Herrera" userId="5f310cd8fb8e5f50" providerId="LiveId" clId="{62BC83D4-BD5F-4BA6-AC28-329178406771}" dt="2026-09-03T11:40:28.656" v="0" actId="478"/>
          <ac:spMkLst>
            <pc:docMk/>
            <pc:sldMk cId="0" sldId="256"/>
            <ac:spMk id="2" creationId="{00000000-0000-0000-0000-000000000000}"/>
          </ac:spMkLst>
        </pc:spChg>
        <pc:spChg chg="del">
          <ac:chgData name="Hernan Herrera" userId="5f310cd8fb8e5f50" providerId="LiveId" clId="{62BC83D4-BD5F-4BA6-AC28-329178406771}" dt="2026-09-03T11:40:30.495" v="1" actId="478"/>
          <ac:spMkLst>
            <pc:docMk/>
            <pc:sldMk cId="0" sldId="256"/>
            <ac:spMk id="3" creationId="{00000000-0000-0000-0000-000000000000}"/>
          </ac:spMkLst>
        </pc:spChg>
        <pc:spChg chg="mod">
          <ac:chgData name="Hernan Herrera" userId="5f310cd8fb8e5f50" providerId="LiveId" clId="{62BC83D4-BD5F-4BA6-AC28-329178406771}" dt="2026-09-03T13:58:31.044" v="8" actId="20577"/>
          <ac:spMkLst>
            <pc:docMk/>
            <pc:sldMk cId="0" sldId="256"/>
            <ac:spMk id="6" creationId="{00000000-0000-0000-0000-000000000000}"/>
          </ac:spMkLst>
        </pc:spChg>
        <pc:spChg chg="mod">
          <ac:chgData name="Hernan Herrera" userId="5f310cd8fb8e5f50" providerId="LiveId" clId="{62BC83D4-BD5F-4BA6-AC28-329178406771}" dt="2026-09-03T13:58:52.735" v="9" actId="20577"/>
          <ac:spMkLst>
            <pc:docMk/>
            <pc:sldMk cId="0" sldId="256"/>
            <ac:spMk id="8" creationId="{00000000-0000-0000-0000-000000000000}"/>
          </ac:spMkLst>
        </pc:spChg>
        <pc:spChg chg="mod">
          <ac:chgData name="Hernan Herrera" userId="5f310cd8fb8e5f50" providerId="LiveId" clId="{62BC83D4-BD5F-4BA6-AC28-329178406771}" dt="2026-09-03T13:59:17.586" v="35" actId="20577"/>
          <ac:spMkLst>
            <pc:docMk/>
            <pc:sldMk cId="0" sldId="256"/>
            <ac:spMk id="10" creationId="{00000000-0000-0000-0000-000000000000}"/>
          </ac:spMkLst>
        </pc:spChg>
        <pc:spChg chg="del">
          <ac:chgData name="Hernan Herrera" userId="5f310cd8fb8e5f50" providerId="LiveId" clId="{62BC83D4-BD5F-4BA6-AC28-329178406771}" dt="2026-09-03T13:59:24.987" v="36" actId="478"/>
          <ac:spMkLst>
            <pc:docMk/>
            <pc:sldMk cId="0" sldId="256"/>
            <ac:spMk id="11" creationId="{00000000-0000-0000-0000-000000000000}"/>
          </ac:spMkLst>
        </pc:spChg>
      </pc:sldChg>
      <pc:sldChg chg="delSp modSp mod">
        <pc:chgData name="Hernan Herrera" userId="5f310cd8fb8e5f50" providerId="LiveId" clId="{62BC83D4-BD5F-4BA6-AC28-329178406771}" dt="2026-09-03T14:14:00.287" v="41" actId="478"/>
        <pc:sldMkLst>
          <pc:docMk/>
          <pc:sldMk cId="0" sldId="257"/>
        </pc:sldMkLst>
        <pc:spChg chg="mod">
          <ac:chgData name="Hernan Herrera" userId="5f310cd8fb8e5f50" providerId="LiveId" clId="{62BC83D4-BD5F-4BA6-AC28-329178406771}" dt="2026-09-03T11:40:36.997" v="2" actId="14100"/>
          <ac:spMkLst>
            <pc:docMk/>
            <pc:sldMk cId="0" sldId="257"/>
            <ac:spMk id="4" creationId="{00000000-0000-0000-0000-000000000000}"/>
          </ac:spMkLst>
        </pc:spChg>
        <pc:spChg chg="mod">
          <ac:chgData name="Hernan Herrera" userId="5f310cd8fb8e5f50" providerId="LiveId" clId="{62BC83D4-BD5F-4BA6-AC28-329178406771}" dt="2026-09-03T11:40:41.008" v="3" actId="14100"/>
          <ac:spMkLst>
            <pc:docMk/>
            <pc:sldMk cId="0" sldId="257"/>
            <ac:spMk id="9" creationId="{00000000-0000-0000-0000-000000000000}"/>
          </ac:spMkLst>
        </pc:spChg>
        <pc:spChg chg="mod">
          <ac:chgData name="Hernan Herrera" userId="5f310cd8fb8e5f50" providerId="LiveId" clId="{62BC83D4-BD5F-4BA6-AC28-329178406771}" dt="2026-09-03T14:00:31.925" v="39" actId="6549"/>
          <ac:spMkLst>
            <pc:docMk/>
            <pc:sldMk cId="0" sldId="257"/>
            <ac:spMk id="13" creationId="{00000000-0000-0000-0000-000000000000}"/>
          </ac:spMkLst>
        </pc:spChg>
        <pc:spChg chg="del">
          <ac:chgData name="Hernan Herrera" userId="5f310cd8fb8e5f50" providerId="LiveId" clId="{62BC83D4-BD5F-4BA6-AC28-329178406771}" dt="2026-09-03T14:14:00.287" v="41" actId="478"/>
          <ac:spMkLst>
            <pc:docMk/>
            <pc:sldMk cId="0" sldId="257"/>
            <ac:spMk id="16" creationId="{00000000-0000-0000-0000-000000000000}"/>
          </ac:spMkLst>
        </pc:spChg>
      </pc:sldChg>
      <pc:sldChg chg="modSp mod">
        <pc:chgData name="Hernan Herrera" userId="5f310cd8fb8e5f50" providerId="LiveId" clId="{62BC83D4-BD5F-4BA6-AC28-329178406771}" dt="2026-09-03T14:00:52.762" v="40" actId="20577"/>
        <pc:sldMkLst>
          <pc:docMk/>
          <pc:sldMk cId="0" sldId="258"/>
        </pc:sldMkLst>
        <pc:spChg chg="mod">
          <ac:chgData name="Hernan Herrera" userId="5f310cd8fb8e5f50" providerId="LiveId" clId="{62BC83D4-BD5F-4BA6-AC28-329178406771}" dt="2026-09-03T14:00:52.762" v="40" actId="20577"/>
          <ac:spMkLst>
            <pc:docMk/>
            <pc:sldMk cId="0" sldId="258"/>
            <ac:spMk id="22" creationId="{00000000-0000-0000-0000-000000000000}"/>
          </ac:spMkLst>
        </pc:spChg>
      </pc:sldChg>
      <pc:sldChg chg="delSp mod">
        <pc:chgData name="Hernan Herrera" userId="5f310cd8fb8e5f50" providerId="LiveId" clId="{62BC83D4-BD5F-4BA6-AC28-329178406771}" dt="2026-09-03T14:14:06.493" v="42" actId="478"/>
        <pc:sldMkLst>
          <pc:docMk/>
          <pc:sldMk cId="0" sldId="259"/>
        </pc:sldMkLst>
        <pc:spChg chg="del">
          <ac:chgData name="Hernan Herrera" userId="5f310cd8fb8e5f50" providerId="LiveId" clId="{62BC83D4-BD5F-4BA6-AC28-329178406771}" dt="2026-09-03T14:14:06.493" v="42" actId="478"/>
          <ac:spMkLst>
            <pc:docMk/>
            <pc:sldMk cId="0" sldId="259"/>
            <ac:spMk id="29" creationId="{00000000-0000-0000-0000-000000000000}"/>
          </ac:spMkLst>
        </pc:spChg>
      </pc:sldChg>
      <pc:sldChg chg="delSp mod">
        <pc:chgData name="Hernan Herrera" userId="5f310cd8fb8e5f50" providerId="LiveId" clId="{62BC83D4-BD5F-4BA6-AC28-329178406771}" dt="2026-09-03T14:15:17.322" v="43" actId="478"/>
        <pc:sldMkLst>
          <pc:docMk/>
          <pc:sldMk cId="0" sldId="260"/>
        </pc:sldMkLst>
        <pc:spChg chg="del">
          <ac:chgData name="Hernan Herrera" userId="5f310cd8fb8e5f50" providerId="LiveId" clId="{62BC83D4-BD5F-4BA6-AC28-329178406771}" dt="2026-09-03T14:15:17.322" v="43" actId="478"/>
          <ac:spMkLst>
            <pc:docMk/>
            <pc:sldMk cId="0" sldId="260"/>
            <ac:spMk id="18" creationId="{00000000-0000-0000-0000-000000000000}"/>
          </ac:spMkLst>
        </pc:spChg>
      </pc:sldChg>
      <pc:sldChg chg="delSp mod">
        <pc:chgData name="Hernan Herrera" userId="5f310cd8fb8e5f50" providerId="LiveId" clId="{62BC83D4-BD5F-4BA6-AC28-329178406771}" dt="2026-09-03T14:16:22.396" v="44" actId="478"/>
        <pc:sldMkLst>
          <pc:docMk/>
          <pc:sldMk cId="0" sldId="261"/>
        </pc:sldMkLst>
        <pc:spChg chg="del">
          <ac:chgData name="Hernan Herrera" userId="5f310cd8fb8e5f50" providerId="LiveId" clId="{62BC83D4-BD5F-4BA6-AC28-329178406771}" dt="2026-09-03T14:16:22.396" v="44" actId="478"/>
          <ac:spMkLst>
            <pc:docMk/>
            <pc:sldMk cId="0" sldId="261"/>
            <ac:spMk id="34" creationId="{00000000-0000-0000-0000-000000000000}"/>
          </ac:spMkLst>
        </pc:spChg>
      </pc:sldChg>
      <pc:sldChg chg="modSp mod">
        <pc:chgData name="Hernan Herrera" userId="5f310cd8fb8e5f50" providerId="LiveId" clId="{62BC83D4-BD5F-4BA6-AC28-329178406771}" dt="2026-09-03T14:19:59.116" v="51" actId="20577"/>
        <pc:sldMkLst>
          <pc:docMk/>
          <pc:sldMk cId="0" sldId="263"/>
        </pc:sldMkLst>
        <pc:spChg chg="mod">
          <ac:chgData name="Hernan Herrera" userId="5f310cd8fb8e5f50" providerId="LiveId" clId="{62BC83D4-BD5F-4BA6-AC28-329178406771}" dt="2026-09-03T14:19:41.316" v="45" actId="6549"/>
          <ac:spMkLst>
            <pc:docMk/>
            <pc:sldMk cId="0" sldId="263"/>
            <ac:spMk id="3" creationId="{00000000-0000-0000-0000-000000000000}"/>
          </ac:spMkLst>
        </pc:spChg>
        <pc:spChg chg="mod">
          <ac:chgData name="Hernan Herrera" userId="5f310cd8fb8e5f50" providerId="LiveId" clId="{62BC83D4-BD5F-4BA6-AC28-329178406771}" dt="2026-09-03T14:19:50.268" v="48" actId="20577"/>
          <ac:spMkLst>
            <pc:docMk/>
            <pc:sldMk cId="0" sldId="263"/>
            <ac:spMk id="7" creationId="{00000000-0000-0000-0000-000000000000}"/>
          </ac:spMkLst>
        </pc:spChg>
        <pc:spChg chg="mod">
          <ac:chgData name="Hernan Herrera" userId="5f310cd8fb8e5f50" providerId="LiveId" clId="{62BC83D4-BD5F-4BA6-AC28-329178406771}" dt="2026-09-03T14:19:59.116" v="51" actId="20577"/>
          <ac:spMkLst>
            <pc:docMk/>
            <pc:sldMk cId="0" sldId="263"/>
            <ac:spMk id="8" creationId="{00000000-0000-0000-0000-000000000000}"/>
          </ac:spMkLst>
        </pc:spChg>
      </pc:sldChg>
      <pc:sldChg chg="delSp modSp mod">
        <pc:chgData name="Hernan Herrera" userId="5f310cd8fb8e5f50" providerId="LiveId" clId="{62BC83D4-BD5F-4BA6-AC28-329178406771}" dt="2026-09-03T14:21:16.712" v="56" actId="478"/>
        <pc:sldMkLst>
          <pc:docMk/>
          <pc:sldMk cId="0" sldId="264"/>
        </pc:sldMkLst>
        <pc:spChg chg="mod">
          <ac:chgData name="Hernan Herrera" userId="5f310cd8fb8e5f50" providerId="LiveId" clId="{62BC83D4-BD5F-4BA6-AC28-329178406771}" dt="2026-09-03T14:21:09.924" v="55" actId="6549"/>
          <ac:spMkLst>
            <pc:docMk/>
            <pc:sldMk cId="0" sldId="264"/>
            <ac:spMk id="3" creationId="{00000000-0000-0000-0000-000000000000}"/>
          </ac:spMkLst>
        </pc:spChg>
        <pc:spChg chg="del">
          <ac:chgData name="Hernan Herrera" userId="5f310cd8fb8e5f50" providerId="LiveId" clId="{62BC83D4-BD5F-4BA6-AC28-329178406771}" dt="2026-09-03T14:21:16.712" v="56" actId="478"/>
          <ac:spMkLst>
            <pc:docMk/>
            <pc:sldMk cId="0" sldId="264"/>
            <ac:spMk id="41" creationId="{00000000-0000-0000-0000-000000000000}"/>
          </ac:spMkLst>
        </pc:spChg>
      </pc:sldChg>
      <pc:sldChg chg="delSp modSp mod">
        <pc:chgData name="Hernan Herrera" userId="5f310cd8fb8e5f50" providerId="LiveId" clId="{62BC83D4-BD5F-4BA6-AC28-329178406771}" dt="2026-09-03T15:15:45.978" v="60" actId="478"/>
        <pc:sldMkLst>
          <pc:docMk/>
          <pc:sldMk cId="0" sldId="265"/>
        </pc:sldMkLst>
        <pc:spChg chg="mod">
          <ac:chgData name="Hernan Herrera" userId="5f310cd8fb8e5f50" providerId="LiveId" clId="{62BC83D4-BD5F-4BA6-AC28-329178406771}" dt="2026-09-03T15:14:50.716" v="57" actId="6549"/>
          <ac:spMkLst>
            <pc:docMk/>
            <pc:sldMk cId="0" sldId="265"/>
            <ac:spMk id="12" creationId="{00000000-0000-0000-0000-000000000000}"/>
          </ac:spMkLst>
        </pc:spChg>
        <pc:spChg chg="del">
          <ac:chgData name="Hernan Herrera" userId="5f310cd8fb8e5f50" providerId="LiveId" clId="{62BC83D4-BD5F-4BA6-AC28-329178406771}" dt="2026-09-03T15:15:42.654" v="59" actId="478"/>
          <ac:spMkLst>
            <pc:docMk/>
            <pc:sldMk cId="0" sldId="265"/>
            <ac:spMk id="28" creationId="{00000000-0000-0000-0000-000000000000}"/>
          </ac:spMkLst>
        </pc:spChg>
        <pc:spChg chg="del">
          <ac:chgData name="Hernan Herrera" userId="5f310cd8fb8e5f50" providerId="LiveId" clId="{62BC83D4-BD5F-4BA6-AC28-329178406771}" dt="2026-09-03T15:15:45.978" v="60" actId="478"/>
          <ac:spMkLst>
            <pc:docMk/>
            <pc:sldMk cId="0" sldId="265"/>
            <ac:spMk id="29" creationId="{00000000-0000-0000-0000-000000000000}"/>
          </ac:spMkLst>
        </pc:spChg>
        <pc:spChg chg="del">
          <ac:chgData name="Hernan Herrera" userId="5f310cd8fb8e5f50" providerId="LiveId" clId="{62BC83D4-BD5F-4BA6-AC28-329178406771}" dt="2026-09-03T15:14:53.600" v="58" actId="478"/>
          <ac:spMkLst>
            <pc:docMk/>
            <pc:sldMk cId="0" sldId="265"/>
            <ac:spMk id="30" creationId="{00000000-0000-0000-0000-000000000000}"/>
          </ac:spMkLst>
        </pc:spChg>
      </pc:sldChg>
      <pc:sldChg chg="delSp mod">
        <pc:chgData name="Hernan Herrera" userId="5f310cd8fb8e5f50" providerId="LiveId" clId="{62BC83D4-BD5F-4BA6-AC28-329178406771}" dt="2026-09-03T15:15:51.979" v="61" actId="478"/>
        <pc:sldMkLst>
          <pc:docMk/>
          <pc:sldMk cId="0" sldId="266"/>
        </pc:sldMkLst>
        <pc:spChg chg="del">
          <ac:chgData name="Hernan Herrera" userId="5f310cd8fb8e5f50" providerId="LiveId" clId="{62BC83D4-BD5F-4BA6-AC28-329178406771}" dt="2026-09-03T15:15:51.979" v="61" actId="478"/>
          <ac:spMkLst>
            <pc:docMk/>
            <pc:sldMk cId="0" sldId="266"/>
            <ac:spMk id="25" creationId="{00000000-0000-0000-0000-000000000000}"/>
          </ac:spMkLst>
        </pc:spChg>
      </pc:sldChg>
      <pc:sldChg chg="delSp modSp mod">
        <pc:chgData name="Hernan Herrera" userId="5f310cd8fb8e5f50" providerId="LiveId" clId="{62BC83D4-BD5F-4BA6-AC28-329178406771}" dt="2026-09-03T15:18:55.117" v="72" actId="20577"/>
        <pc:sldMkLst>
          <pc:docMk/>
          <pc:sldMk cId="0" sldId="267"/>
        </pc:sldMkLst>
        <pc:spChg chg="mod">
          <ac:chgData name="Hernan Herrera" userId="5f310cd8fb8e5f50" providerId="LiveId" clId="{62BC83D4-BD5F-4BA6-AC28-329178406771}" dt="2026-09-03T15:18:06.056" v="71" actId="1076"/>
          <ac:spMkLst>
            <pc:docMk/>
            <pc:sldMk cId="0" sldId="267"/>
            <ac:spMk id="6" creationId="{00000000-0000-0000-0000-000000000000}"/>
          </ac:spMkLst>
        </pc:spChg>
        <pc:spChg chg="mod">
          <ac:chgData name="Hernan Herrera" userId="5f310cd8fb8e5f50" providerId="LiveId" clId="{62BC83D4-BD5F-4BA6-AC28-329178406771}" dt="2026-09-03T15:17:59.601" v="69" actId="1076"/>
          <ac:spMkLst>
            <pc:docMk/>
            <pc:sldMk cId="0" sldId="267"/>
            <ac:spMk id="9" creationId="{00000000-0000-0000-0000-000000000000}"/>
          </ac:spMkLst>
        </pc:spChg>
        <pc:spChg chg="mod">
          <ac:chgData name="Hernan Herrera" userId="5f310cd8fb8e5f50" providerId="LiveId" clId="{62BC83D4-BD5F-4BA6-AC28-329178406771}" dt="2026-09-03T15:17:51.469" v="68" actId="1076"/>
          <ac:spMkLst>
            <pc:docMk/>
            <pc:sldMk cId="0" sldId="267"/>
            <ac:spMk id="12" creationId="{00000000-0000-0000-0000-000000000000}"/>
          </ac:spMkLst>
        </pc:spChg>
        <pc:spChg chg="mod">
          <ac:chgData name="Hernan Herrera" userId="5f310cd8fb8e5f50" providerId="LiveId" clId="{62BC83D4-BD5F-4BA6-AC28-329178406771}" dt="2026-09-03T15:18:55.117" v="72" actId="20577"/>
          <ac:spMkLst>
            <pc:docMk/>
            <pc:sldMk cId="0" sldId="267"/>
            <ac:spMk id="15" creationId="{00000000-0000-0000-0000-000000000000}"/>
          </ac:spMkLst>
        </pc:spChg>
        <pc:spChg chg="del">
          <ac:chgData name="Hernan Herrera" userId="5f310cd8fb8e5f50" providerId="LiveId" clId="{62BC83D4-BD5F-4BA6-AC28-329178406771}" dt="2026-09-03T15:17:19.042" v="66" actId="478"/>
          <ac:spMkLst>
            <pc:docMk/>
            <pc:sldMk cId="0" sldId="267"/>
            <ac:spMk id="1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7426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Esta presentación retoma el trabajo que hicimos sobre SSE en la materia de Criptografía, pero ahora desde Criptografía Avanzada y con foco en la parte asimétrica: qué problema resuelve, dónde falla, y cómo terminamos usándola en una aplicación real que además construimos como MVP.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trabajo anterior mostró que SSE resuelve búsqueda sobre datos cifrados con primitivas simétricas: PRF y PRP, un índice invertido cifrado y una jerarquía de seguridad CKA1 a CKA2. Hoy tomamos ese mismo problema y le agregamos una restricción real: múltiples partes que no comparten una clave secreta de antemano. Ahí es donde entra la parte asimétrica.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modelo original, Setup y Encrypt corren una sola vez del lado del dueño de los datos. Pero un historial clínico tiene, por diseño, más de un escritor legítimo: el propio paciente y los médicos que lo atienden. Ninguno de ellos puede recibir K_idx o K_enc del paciente por un canal casual — eso anularía todo el modelo zero-knowledge. El problema deja de ser 'cómo cifro para buscar' y pasa a ser 'cómo distribuyo capacidades criptográficas entre partes que no se conocían'.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PEKS invierte el modelo de SSE: en vez de una clave simétrica compartida, hay un par público/privado. Cualquiera con la clave pública puede cifrar una palabra; sólo el dueño de la clave privada puede emitir el permiso de búsqueda (el 'trapdoor'). El servidor sólo compara: no aprende la palabra, sólo si coincide con el permiso recibido. La construcción original de Boneh y coautores usa matemática de curvas elípticas más pesada (emparejamientos bilineales); no hace falta entrar en ese detalle salvo que lo pidan — alcanza con la idea de 'operación de clave pública, más cara que un HMAC'.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interesante: PEKS tiene una prueba de seguridad formal y aun así es explotable en la práctica. La prueba protege contra distinguir cifrados cuando NO tenés el permiso de búsqueda. Pero no dice nada sobre qué pasa cuando el atacante SÍ tiene un permiso — porque puede probar palabras candidatas usando la clave pública, que por definición es de acceso libre. En SSE simétrico esto no es posible directamente, porque no existe una clave pública contra la cual probar candidatos sin conocer el secreto.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amplía la comparación que ya habíamos hecho en el trabajo de cripto simétrica, pero ahora explicando el motivo estructural de cada fila: PEKS no es 'SSE pero más lento' — resuelve un problema distinto (multi-escritor sin canal secreto) y paga un costo distinto (una vulnerabilidad de diseño, no sólo de rendimiento).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paradigma KEM/DEM es la respuesta estándar de la industria a 'necesito clave pública pero no quiero pagar su costo por cada byte de datos'. La clave pública sólo transporta una clave simétrica efímera; toda la carga real —cifrar documentos, indexar, buscar con SSE-2— sigue siendo simétrica y rápida. Esto es literalmente lo que decidimos construir en la aplicación, en vez de implementar PEKS puro con emparejamientos.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OSA es la aplicación que construimos para bajar todo esto a tierra. La contraseña del paciente nunca sale del navegador: Argon2id deriva una semilla, y de esa semilla se ramifican cuatro cosas — un par asimétrico de identidad (X25519 para intercambio de claves, Ed25519 para firmar), una clave simétrica de documentos, una clave de índice SSE-2 y una clave de enmascaramiento. El servidor Go persiste todo cifrado y jamás ve ninguna de estas claves.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Ed25519 aporta lo que ECIES por sí solo no da: no repudio. El paciente firma el ticket completo — no repudio, y cualquiera puede verificar con su clave pública que fue efectivamente el paciente quien autorizó esa delegación con ese alcance y ese vencimiento. El servidor valida la firma y el TTL, pero el contenido cifrado (las claves de búsqueda y descifrado) permanece opaco para él en todo momento. El callout de abajo es uno de los bugs reales que documentamos al implementar esto: el pseudocódigo original sólo envolvía la clave del documento para la clave pública del paciente, así que un médico con una delegación activa podía ejecutar búsquedas SSE-2 y encontrar coincidencias, pero nunca tenía la clave privada del paciente para abrir el documento en sí.</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la parte asimétrica de SSE no reemplaza a la simétrica, la complementa exactamente donde la simétrica no puede llegar sola — repartir capacidades entre partes que no comparten un secreto de antemano. PEKS es la prueba de que esto es posible en teoría; el diseño híbrido KEM/DEM es la forma en que se usa en la práctica; y OSA es la evidencia de que, incluso con la teoría clara, hacerlo sin romper el modelo zero-knowledge requiere una revisión de seguridad tan rigurosa como el diseño criptográfico en sí. Muchas gracias, quedo a disposición para preguntas.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7F8F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13E"/>
        </a:solidFill>
        <a:effectLst/>
      </p:bgPr>
    </p:bg>
    <p:spTree>
      <p:nvGrpSpPr>
        <p:cNvPr id="1" name=""/>
        <p:cNvGrpSpPr/>
        <p:nvPr/>
      </p:nvGrpSpPr>
      <p:grpSpPr>
        <a:xfrm>
          <a:off x="0" y="0"/>
          <a:ext cx="0" cy="0"/>
          <a:chOff x="0" y="0"/>
          <a:chExt cx="0" cy="0"/>
        </a:xfrm>
      </p:grpSpPr>
      <p:sp>
        <p:nvSpPr>
          <p:cNvPr id="4" name="Shape 2"/>
          <p:cNvSpPr/>
          <p:nvPr/>
        </p:nvSpPr>
        <p:spPr>
          <a:xfrm>
            <a:off x="822960" y="777240"/>
            <a:ext cx="914400" cy="914400"/>
          </a:xfrm>
          <a:prstGeom prst="ellipse">
            <a:avLst/>
          </a:prstGeom>
          <a:solidFill>
            <a:srgbClr val="17B8A6"/>
          </a:solidFill>
          <a:ln/>
        </p:spPr>
        <p:txBody>
          <a:bodyPr/>
          <a:lstStyle/>
          <a:p>
            <a:endParaRPr lang="en-US"/>
          </a:p>
        </p:txBody>
      </p:sp>
      <p:pic>
        <p:nvPicPr>
          <p:cNvPr id="5" name="Image 0" descr="/tmp/osa_pres/icons/key_navy.png"/>
          <p:cNvPicPr>
            <a:picLocks noChangeAspect="1"/>
          </p:cNvPicPr>
          <p:nvPr/>
        </p:nvPicPr>
        <p:blipFill>
          <a:blip r:embed="rId3"/>
          <a:stretch>
            <a:fillRect/>
          </a:stretch>
        </p:blipFill>
        <p:spPr>
          <a:xfrm>
            <a:off x="941832" y="896112"/>
            <a:ext cx="676656" cy="676656"/>
          </a:xfrm>
          <a:prstGeom prst="rect">
            <a:avLst/>
          </a:prstGeom>
        </p:spPr>
      </p:pic>
      <p:sp>
        <p:nvSpPr>
          <p:cNvPr id="6" name="Text 3"/>
          <p:cNvSpPr txBox="1"/>
          <p:nvPr/>
        </p:nvSpPr>
        <p:spPr>
          <a:xfrm>
            <a:off x="822960" y="2148840"/>
            <a:ext cx="9601200" cy="320040"/>
          </a:xfrm>
          <a:prstGeom prst="rect">
            <a:avLst/>
          </a:prstGeom>
          <a:noFill/>
          <a:ln/>
        </p:spPr>
        <p:txBody>
          <a:bodyPr wrap="square" lIns="0" tIns="0" rIns="0" bIns="0" rtlCol="0" anchor="ctr"/>
          <a:lstStyle/>
          <a:p>
            <a:pPr marL="0" indent="0">
              <a:buNone/>
            </a:pPr>
            <a:r>
              <a:rPr lang="en-US" sz="1300" b="1" kern="0" spc="200" dirty="0">
                <a:solidFill>
                  <a:srgbClr val="17B8A6"/>
                </a:solidFill>
                <a:latin typeface="Calibri" pitchFamily="34" charset="0"/>
                <a:ea typeface="Calibri" pitchFamily="34" charset="-122"/>
                <a:cs typeface="Calibri" pitchFamily="34" charset="-120"/>
              </a:rPr>
              <a:t>CRIPTOGRAFÍA AVANZADA</a:t>
            </a:r>
            <a:endParaRPr lang="en-US" sz="1300" dirty="0"/>
          </a:p>
        </p:txBody>
      </p:sp>
      <p:sp>
        <p:nvSpPr>
          <p:cNvPr id="7" name="Text 4"/>
          <p:cNvSpPr txBox="1"/>
          <p:nvPr/>
        </p:nvSpPr>
        <p:spPr>
          <a:xfrm>
            <a:off x="777240" y="2514600"/>
            <a:ext cx="9875520" cy="1920240"/>
          </a:xfrm>
          <a:prstGeom prst="rect">
            <a:avLst/>
          </a:prstGeom>
          <a:noFill/>
          <a:ln/>
        </p:spPr>
        <p:txBody>
          <a:bodyPr wrap="square" lIns="0" tIns="0" rIns="0" bIns="0" rtlCol="0" anchor="ctr"/>
          <a:lstStyle/>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SSE — Cifrado Asimétrico</a:t>
            </a:r>
            <a:endParaRPr lang="en-US" sz="4600" dirty="0"/>
          </a:p>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y el Modelo Híbrido</a:t>
            </a:r>
            <a:endParaRPr lang="en-US" sz="4600" dirty="0"/>
          </a:p>
        </p:txBody>
      </p:sp>
      <p:sp>
        <p:nvSpPr>
          <p:cNvPr id="8" name="Text 5"/>
          <p:cNvSpPr txBox="1"/>
          <p:nvPr/>
        </p:nvSpPr>
        <p:spPr>
          <a:xfrm>
            <a:off x="822960" y="4434840"/>
            <a:ext cx="8778240" cy="822960"/>
          </a:xfrm>
          <a:prstGeom prst="rect">
            <a:avLst/>
          </a:prstGeom>
          <a:noFill/>
          <a:ln/>
        </p:spPr>
        <p:txBody>
          <a:bodyPr wrap="square" lIns="0" tIns="0" rIns="0" bIns="0" rtlCol="0" anchor="ctr"/>
          <a:lstStyle/>
          <a:p>
            <a:pPr marL="0" indent="0">
              <a:lnSpc>
                <a:spcPct val="120000"/>
              </a:lnSpc>
              <a:buNone/>
            </a:pPr>
            <a:r>
              <a:rPr lang="en-US" sz="1600" dirty="0">
                <a:solidFill>
                  <a:srgbClr val="AEB6D6"/>
                </a:solidFill>
                <a:latin typeface="Calibri" pitchFamily="34" charset="0"/>
                <a:ea typeface="Calibri" pitchFamily="34" charset="-122"/>
                <a:cs typeface="Calibri" pitchFamily="34" charset="-120"/>
              </a:rPr>
              <a:t>De la búsqueda simétrica cifrada al intercambio de claves de clave pública: PEKS, ECIES sobre X25519, </a:t>
            </a:r>
            <a:r>
              <a:rPr lang="en-US" sz="1600" dirty="0" err="1">
                <a:solidFill>
                  <a:srgbClr val="AEB6D6"/>
                </a:solidFill>
                <a:latin typeface="Calibri" pitchFamily="34" charset="0"/>
                <a:ea typeface="Calibri" pitchFamily="34" charset="-122"/>
                <a:cs typeface="Calibri" pitchFamily="34" charset="-120"/>
              </a:rPr>
              <a:t>firmas</a:t>
            </a:r>
            <a:r>
              <a:rPr lang="en-US" sz="1600" dirty="0">
                <a:solidFill>
                  <a:srgbClr val="AEB6D6"/>
                </a:solidFill>
                <a:latin typeface="Calibri" pitchFamily="34" charset="0"/>
                <a:ea typeface="Calibri" pitchFamily="34" charset="-122"/>
                <a:cs typeface="Calibri" pitchFamily="34" charset="-120"/>
              </a:rPr>
              <a:t> Ed25519.</a:t>
            </a:r>
            <a:endParaRPr lang="en-US" sz="1600" dirty="0"/>
          </a:p>
        </p:txBody>
      </p:sp>
      <p:sp>
        <p:nvSpPr>
          <p:cNvPr id="9" name="Shape 6"/>
          <p:cNvSpPr/>
          <p:nvPr/>
        </p:nvSpPr>
        <p:spPr>
          <a:xfrm>
            <a:off x="822960" y="5486400"/>
            <a:ext cx="5394960" cy="502920"/>
          </a:xfrm>
          <a:prstGeom prst="roundRect">
            <a:avLst>
              <a:gd name="adj" fmla="val 18182"/>
            </a:avLst>
          </a:prstGeom>
          <a:solidFill>
            <a:srgbClr val="1E2E56"/>
          </a:solidFill>
          <a:ln/>
        </p:spPr>
        <p:txBody>
          <a:bodyPr/>
          <a:lstStyle/>
          <a:p>
            <a:endParaRPr lang="en-US"/>
          </a:p>
        </p:txBody>
      </p:sp>
      <p:sp>
        <p:nvSpPr>
          <p:cNvPr id="10" name="Text 7"/>
          <p:cNvSpPr txBox="1"/>
          <p:nvPr/>
        </p:nvSpPr>
        <p:spPr>
          <a:xfrm>
            <a:off x="960120" y="5486400"/>
            <a:ext cx="5120640" cy="502920"/>
          </a:xfrm>
          <a:prstGeom prst="rect">
            <a:avLst/>
          </a:prstGeom>
          <a:noFill/>
          <a:ln/>
        </p:spPr>
        <p:txBody>
          <a:bodyPr wrap="square" lIns="0" tIns="0" rIns="0" bIns="0"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Lic. Hernan Herrera</a:t>
            </a:r>
            <a:endParaRPr lang="en-US" sz="1250" dirty="0"/>
          </a:p>
        </p:txBody>
      </p:sp>
      <p:sp>
        <p:nvSpPr>
          <p:cNvPr id="12" name="Text 9"/>
          <p:cNvSpPr/>
          <p:nvPr/>
        </p:nvSpPr>
        <p:spPr>
          <a:xfrm>
            <a:off x="11185855" y="6437376"/>
            <a:ext cx="457200" cy="274320"/>
          </a:xfrm>
          <a:prstGeom prst="rect">
            <a:avLst/>
          </a:prstGeom>
          <a:noFill/>
          <a:ln/>
        </p:spPr>
        <p:txBody>
          <a:bodyPr wrap="square" rtlCol="0" anchor="ctr"/>
          <a:lstStyle/>
          <a:p>
            <a:pPr marL="0" indent="0" algn="r">
              <a:buNone/>
            </a:pPr>
            <a:r>
              <a:rPr lang="en-US" sz="1050" dirty="0">
                <a:solidFill>
                  <a:srgbClr val="AEB6D6"/>
                </a:solidFill>
                <a:latin typeface="Calibri" pitchFamily="34" charset="0"/>
                <a:ea typeface="Calibri" pitchFamily="34" charset="-122"/>
                <a:cs typeface="Calibri" pitchFamily="34" charset="-120"/>
              </a:rPr>
              <a:t>1</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marL="0" indent="0">
              <a:buNone/>
            </a:pPr>
            <a:r>
              <a:rPr lang="en-US" sz="1250" b="1" kern="0" spc="200" dirty="0">
                <a:solidFill>
                  <a:srgbClr val="6C6FD9"/>
                </a:solidFill>
                <a:latin typeface="Calibri" pitchFamily="34" charset="0"/>
                <a:ea typeface="Calibri" pitchFamily="34" charset="-122"/>
                <a:cs typeface="Calibri" pitchFamily="34" charset="-120"/>
              </a:rPr>
              <a:t>PUNTO DE PARTIDA</a:t>
            </a:r>
            <a:endParaRPr lang="en-US" sz="1250" dirty="0"/>
          </a:p>
        </p:txBody>
      </p:sp>
      <p:sp>
        <p:nvSpPr>
          <p:cNvPr id="3" name="Text 1"/>
          <p:cNvSpPr txBox="1"/>
          <p:nvPr/>
        </p:nvSpPr>
        <p:spPr>
          <a:xfrm>
            <a:off x="548640" y="457200"/>
            <a:ext cx="11094415" cy="822960"/>
          </a:xfrm>
          <a:prstGeom prst="rect">
            <a:avLst/>
          </a:prstGeom>
          <a:noFill/>
          <a:ln/>
        </p:spPr>
        <p:txBody>
          <a:bodyPr wrap="square" lIns="0" tIns="0" rIns="0" bIns="0" rtlCol="0" anchor="ctr"/>
          <a:lstStyle/>
          <a:p>
            <a:pPr marL="0" indent="0">
              <a:buNone/>
            </a:pPr>
            <a:r>
              <a:rPr lang="en-US" sz="3200" b="1" dirty="0">
                <a:solidFill>
                  <a:srgbClr val="15213E"/>
                </a:solidFill>
                <a:latin typeface="Cambria" pitchFamily="34" charset="0"/>
                <a:ea typeface="Cambria" pitchFamily="34" charset="-122"/>
                <a:cs typeface="Cambria" pitchFamily="34" charset="-120"/>
              </a:rPr>
              <a:t>De lo simétrico a lo asimétrico</a:t>
            </a:r>
            <a:endParaRPr lang="en-US" sz="3200" dirty="0"/>
          </a:p>
        </p:txBody>
      </p:sp>
      <p:sp>
        <p:nvSpPr>
          <p:cNvPr id="4" name="Shape 2"/>
          <p:cNvSpPr/>
          <p:nvPr/>
        </p:nvSpPr>
        <p:spPr>
          <a:xfrm>
            <a:off x="548640" y="1417320"/>
            <a:ext cx="5042916" cy="4846320"/>
          </a:xfrm>
          <a:prstGeom prst="roundRect">
            <a:avLst>
              <a:gd name="adj" fmla="val 1509"/>
            </a:avLst>
          </a:prstGeom>
          <a:solidFill>
            <a:srgbClr val="FFFFFF"/>
          </a:solidFill>
          <a:ln w="12700">
            <a:solidFill>
              <a:srgbClr val="E2E5F0"/>
            </a:solidFill>
            <a:prstDash val="solid"/>
          </a:ln>
          <a:effectLst>
            <a:outerShdw blurRad="101600" dist="38100" dir="5400000" algn="bl" rotWithShape="0">
              <a:srgbClr val="1B2340">
                <a:alpha val="12000"/>
              </a:srgbClr>
            </a:outerShdw>
          </a:effectLst>
        </p:spPr>
        <p:txBody>
          <a:bodyPr/>
          <a:lstStyle/>
          <a:p>
            <a:endParaRPr lang="en-US"/>
          </a:p>
        </p:txBody>
      </p:sp>
      <p:sp>
        <p:nvSpPr>
          <p:cNvPr id="5" name="Shape 3"/>
          <p:cNvSpPr/>
          <p:nvPr/>
        </p:nvSpPr>
        <p:spPr>
          <a:xfrm>
            <a:off x="868680" y="1737360"/>
            <a:ext cx="548640" cy="548640"/>
          </a:xfrm>
          <a:prstGeom prst="ellipse">
            <a:avLst/>
          </a:prstGeom>
          <a:solidFill>
            <a:srgbClr val="15213E"/>
          </a:solidFill>
          <a:ln/>
        </p:spPr>
        <p:txBody>
          <a:bodyPr/>
          <a:lstStyle/>
          <a:p>
            <a:endParaRPr lang="en-US"/>
          </a:p>
        </p:txBody>
      </p:sp>
      <p:pic>
        <p:nvPicPr>
          <p:cNvPr id="6" name="Image 0" descr="/tmp/osa_pres/icons/lock_teal.png"/>
          <p:cNvPicPr>
            <a:picLocks noChangeAspect="1"/>
          </p:cNvPicPr>
          <p:nvPr/>
        </p:nvPicPr>
        <p:blipFill>
          <a:blip r:embed="rId3"/>
          <a:stretch>
            <a:fillRect/>
          </a:stretch>
        </p:blipFill>
        <p:spPr>
          <a:xfrm>
            <a:off x="940003" y="1808683"/>
            <a:ext cx="405994" cy="405994"/>
          </a:xfrm>
          <a:prstGeom prst="rect">
            <a:avLst/>
          </a:prstGeom>
        </p:spPr>
      </p:pic>
      <p:sp>
        <p:nvSpPr>
          <p:cNvPr id="7" name="Text 4"/>
          <p:cNvSpPr txBox="1"/>
          <p:nvPr/>
        </p:nvSpPr>
        <p:spPr>
          <a:xfrm>
            <a:off x="1554480" y="1737360"/>
            <a:ext cx="3931920" cy="548640"/>
          </a:xfrm>
          <a:prstGeom prst="rect">
            <a:avLst/>
          </a:prstGeom>
          <a:noFill/>
          <a:ln/>
        </p:spPr>
        <p:txBody>
          <a:bodyPr wrap="square" lIns="0" tIns="0" rIns="0" bIns="0" rtlCol="0" anchor="ctr"/>
          <a:lstStyle/>
          <a:p>
            <a:pPr marL="0" indent="0">
              <a:buNone/>
            </a:pPr>
            <a:r>
              <a:rPr lang="en-US" sz="1800" b="1" dirty="0">
                <a:solidFill>
                  <a:srgbClr val="15213E"/>
                </a:solidFill>
                <a:latin typeface="Cambria" pitchFamily="34" charset="0"/>
                <a:ea typeface="Cambria" pitchFamily="34" charset="-122"/>
                <a:cs typeface="Cambria" pitchFamily="34" charset="-120"/>
              </a:rPr>
              <a:t>Ya vimos (cripto simétrica)</a:t>
            </a:r>
            <a:endParaRPr lang="en-US" sz="1800" dirty="0"/>
          </a:p>
        </p:txBody>
      </p:sp>
      <p:sp>
        <p:nvSpPr>
          <p:cNvPr id="8" name="Text 5"/>
          <p:cNvSpPr txBox="1"/>
          <p:nvPr/>
        </p:nvSpPr>
        <p:spPr>
          <a:xfrm>
            <a:off x="868680" y="2468880"/>
            <a:ext cx="4572000" cy="347472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HMAC y AES como bloques base para cifrar e indexar</a:t>
            </a:r>
            <a:endParaRPr lang="en-US" sz="1450" dirty="0"/>
          </a:p>
          <a:p>
            <a:pPr marL="342900" indent="-342900">
              <a:lnSpc>
                <a:spcPct val="115000"/>
              </a:lnSpc>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Un índice invertido cifrado, para buscar sin descifrar todo</a:t>
            </a:r>
            <a:endParaRPr lang="en-US" sz="1450" dirty="0"/>
          </a:p>
          <a:p>
            <a:pPr marL="342900" indent="-342900">
              <a:lnSpc>
                <a:spcPct val="115000"/>
              </a:lnSpc>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De un modelo simple (SSE-1) a uno más seguro (SSE-2)</a:t>
            </a:r>
            <a:endParaRPr lang="en-US" sz="1450" dirty="0"/>
          </a:p>
          <a:p>
            <a:pPr marL="342900" indent="-342900">
              <a:lnSpc>
                <a:spcPct val="115000"/>
              </a:lnSpc>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Qué es aceptable que el servidor llegue a ver, y qué no</a:t>
            </a:r>
            <a:endParaRPr lang="en-US" sz="1450" dirty="0"/>
          </a:p>
          <a:p>
            <a:pPr marL="342900" indent="-342900">
              <a:lnSpc>
                <a:spcPct val="115000"/>
              </a:lnSpc>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Referencia: Curtmola, Garay, Kamara, Ostrovsky (2006)</a:t>
            </a:r>
            <a:endParaRPr lang="en-US" sz="1450" dirty="0"/>
          </a:p>
        </p:txBody>
      </p:sp>
      <p:sp>
        <p:nvSpPr>
          <p:cNvPr id="9" name="Shape 6"/>
          <p:cNvSpPr/>
          <p:nvPr/>
        </p:nvSpPr>
        <p:spPr>
          <a:xfrm>
            <a:off x="6414514" y="1417320"/>
            <a:ext cx="5042917" cy="4846320"/>
          </a:xfrm>
          <a:prstGeom prst="roundRect">
            <a:avLst>
              <a:gd name="adj" fmla="val 1509"/>
            </a:avLst>
          </a:prstGeom>
          <a:solidFill>
            <a:srgbClr val="15213E"/>
          </a:solidFill>
          <a:ln w="12700">
            <a:solidFill>
              <a:srgbClr val="E2E5F0"/>
            </a:solidFill>
            <a:prstDash val="solid"/>
          </a:ln>
          <a:effectLst>
            <a:outerShdw blurRad="101600" dist="38100" dir="5400000" algn="bl" rotWithShape="0">
              <a:srgbClr val="1B2340">
                <a:alpha val="12000"/>
              </a:srgbClr>
            </a:outerShdw>
          </a:effectLst>
        </p:spPr>
        <p:txBody>
          <a:bodyPr/>
          <a:lstStyle/>
          <a:p>
            <a:endParaRPr lang="en-US"/>
          </a:p>
        </p:txBody>
      </p:sp>
      <p:sp>
        <p:nvSpPr>
          <p:cNvPr id="10" name="Shape 7"/>
          <p:cNvSpPr/>
          <p:nvPr/>
        </p:nvSpPr>
        <p:spPr>
          <a:xfrm>
            <a:off x="6565392" y="1737360"/>
            <a:ext cx="548640" cy="548640"/>
          </a:xfrm>
          <a:prstGeom prst="ellipse">
            <a:avLst/>
          </a:prstGeom>
          <a:solidFill>
            <a:srgbClr val="17B8A6"/>
          </a:solidFill>
          <a:ln/>
        </p:spPr>
        <p:txBody>
          <a:bodyPr/>
          <a:lstStyle/>
          <a:p>
            <a:endParaRPr lang="en-US"/>
          </a:p>
        </p:txBody>
      </p:sp>
      <p:pic>
        <p:nvPicPr>
          <p:cNvPr id="11" name="Image 1" descr="/tmp/osa_pres/icons/key_navy.png"/>
          <p:cNvPicPr>
            <a:picLocks noChangeAspect="1"/>
          </p:cNvPicPr>
          <p:nvPr/>
        </p:nvPicPr>
        <p:blipFill>
          <a:blip r:embed="rId4"/>
          <a:stretch>
            <a:fillRect/>
          </a:stretch>
        </p:blipFill>
        <p:spPr>
          <a:xfrm>
            <a:off x="6636715" y="1808683"/>
            <a:ext cx="405994" cy="405994"/>
          </a:xfrm>
          <a:prstGeom prst="rect">
            <a:avLst/>
          </a:prstGeom>
        </p:spPr>
      </p:pic>
      <p:sp>
        <p:nvSpPr>
          <p:cNvPr id="12" name="Text 8"/>
          <p:cNvSpPr txBox="1"/>
          <p:nvPr/>
        </p:nvSpPr>
        <p:spPr>
          <a:xfrm>
            <a:off x="7251192" y="1737360"/>
            <a:ext cx="393192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Hoy: la parte asimétrica</a:t>
            </a:r>
            <a:endParaRPr lang="en-US" sz="1800" dirty="0"/>
          </a:p>
        </p:txBody>
      </p:sp>
      <p:sp>
        <p:nvSpPr>
          <p:cNvPr id="13" name="Text 9"/>
          <p:cNvSpPr txBox="1"/>
          <p:nvPr/>
        </p:nvSpPr>
        <p:spPr>
          <a:xfrm>
            <a:off x="6565392" y="2468880"/>
            <a:ext cx="4572000" cy="347472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450" dirty="0">
                <a:solidFill>
                  <a:srgbClr val="AEB6D6"/>
                </a:solidFill>
                <a:latin typeface="Calibri" pitchFamily="34" charset="0"/>
                <a:ea typeface="Calibri" pitchFamily="34" charset="-122"/>
                <a:cs typeface="Calibri" pitchFamily="34" charset="-120"/>
              </a:rPr>
              <a:t>PEKS: buscar sobre datos cifrados con clave pública</a:t>
            </a:r>
            <a:endParaRPr lang="en-US" sz="1450" dirty="0"/>
          </a:p>
          <a:p>
            <a:pPr marL="342900" indent="-342900">
              <a:lnSpc>
                <a:spcPct val="115000"/>
              </a:lnSpc>
              <a:spcAft>
                <a:spcPts val="1200"/>
              </a:spcAft>
              <a:buSzPct val="100000"/>
              <a:buChar char="–"/>
            </a:pPr>
            <a:r>
              <a:rPr lang="en-US" sz="1450" dirty="0">
                <a:solidFill>
                  <a:srgbClr val="AEB6D6"/>
                </a:solidFill>
                <a:latin typeface="Calibri" pitchFamily="34" charset="0"/>
                <a:ea typeface="Calibri" pitchFamily="34" charset="-122"/>
                <a:cs typeface="Calibri" pitchFamily="34" charset="-120"/>
              </a:rPr>
              <a:t>Por qué PEKS solo no alcanza (se puede adivinar la palabra)</a:t>
            </a:r>
            <a:endParaRPr lang="en-US" sz="1450" dirty="0"/>
          </a:p>
          <a:p>
            <a:pPr marL="342900" indent="-342900">
              <a:lnSpc>
                <a:spcPct val="115000"/>
              </a:lnSpc>
              <a:spcAft>
                <a:spcPts val="1200"/>
              </a:spcAft>
              <a:buSzPct val="100000"/>
              <a:buChar char="–"/>
            </a:pPr>
            <a:r>
              <a:rPr lang="en-US" sz="1450" dirty="0">
                <a:solidFill>
                  <a:srgbClr val="AEB6D6"/>
                </a:solidFill>
                <a:latin typeface="Calibri" pitchFamily="34" charset="0"/>
                <a:ea typeface="Calibri" pitchFamily="34" charset="-122"/>
                <a:cs typeface="Calibri" pitchFamily="34" charset="-120"/>
              </a:rPr>
              <a:t>La solución real: combinar clave pública + clave simétrica</a:t>
            </a:r>
            <a:endParaRPr lang="en-US" sz="1450" dirty="0"/>
          </a:p>
          <a:p>
            <a:pPr marL="342900" indent="-342900">
              <a:lnSpc>
                <a:spcPct val="115000"/>
              </a:lnSpc>
              <a:spcAft>
                <a:spcPts val="1200"/>
              </a:spcAft>
              <a:buSzPct val="100000"/>
              <a:buChar char="–"/>
            </a:pPr>
            <a:r>
              <a:rPr lang="en-US" sz="1450" dirty="0">
                <a:solidFill>
                  <a:srgbClr val="AEB6D6"/>
                </a:solidFill>
                <a:latin typeface="Calibri" pitchFamily="34" charset="0"/>
                <a:ea typeface="Calibri" pitchFamily="34" charset="-122"/>
                <a:cs typeface="Calibri" pitchFamily="34" charset="-120"/>
              </a:rPr>
              <a:t>Una firma digital, para que nadie niegue lo que autorizó</a:t>
            </a:r>
            <a:endParaRPr lang="en-US" sz="1450" dirty="0"/>
          </a:p>
          <a:p>
            <a:pPr marL="342900" indent="-342900">
              <a:lnSpc>
                <a:spcPct val="115000"/>
              </a:lnSpc>
              <a:spcAft>
                <a:spcPts val="1200"/>
              </a:spcAft>
              <a:buSzPct val="100000"/>
              <a:buChar char="–"/>
            </a:pPr>
            <a:r>
              <a:rPr lang="en-US" sz="1450" dirty="0">
                <a:solidFill>
                  <a:srgbClr val="AEB6D6"/>
                </a:solidFill>
                <a:latin typeface="Calibri" pitchFamily="34" charset="0"/>
                <a:ea typeface="Calibri" pitchFamily="34" charset="-122"/>
                <a:cs typeface="Calibri" pitchFamily="34" charset="-120"/>
              </a:rPr>
              <a:t>Caso de estudio </a:t>
            </a:r>
            <a:r>
              <a:rPr lang="en-US" sz="1450" dirty="0" err="1">
                <a:solidFill>
                  <a:srgbClr val="AEB6D6"/>
                </a:solidFill>
                <a:latin typeface="Calibri" pitchFamily="34" charset="0"/>
                <a:ea typeface="Calibri" pitchFamily="34" charset="-122"/>
                <a:cs typeface="Calibri" pitchFamily="34" charset="-120"/>
              </a:rPr>
              <a:t>propio:una</a:t>
            </a:r>
            <a:r>
              <a:rPr lang="en-US" sz="1450" dirty="0">
                <a:solidFill>
                  <a:srgbClr val="AEB6D6"/>
                </a:solidFill>
                <a:latin typeface="Calibri" pitchFamily="34" charset="0"/>
                <a:ea typeface="Calibri" pitchFamily="34" charset="-122"/>
                <a:cs typeface="Calibri" pitchFamily="34" charset="-120"/>
              </a:rPr>
              <a:t> historia clínica “a ciegas”</a:t>
            </a:r>
            <a:endParaRPr lang="en-US" sz="1450" dirty="0"/>
          </a:p>
        </p:txBody>
      </p:sp>
      <p:sp>
        <p:nvSpPr>
          <p:cNvPr id="14" name="Shape 10"/>
          <p:cNvSpPr/>
          <p:nvPr/>
        </p:nvSpPr>
        <p:spPr>
          <a:xfrm>
            <a:off x="5728716" y="3566160"/>
            <a:ext cx="548640" cy="548640"/>
          </a:xfrm>
          <a:prstGeom prst="ellipse">
            <a:avLst/>
          </a:prstGeom>
          <a:solidFill>
            <a:srgbClr val="17B8A6"/>
          </a:solidFill>
          <a:ln/>
        </p:spPr>
        <p:txBody>
          <a:bodyPr/>
          <a:lstStyle/>
          <a:p>
            <a:endParaRPr lang="en-US"/>
          </a:p>
        </p:txBody>
      </p:sp>
      <p:pic>
        <p:nvPicPr>
          <p:cNvPr id="15" name="Image 2" descr="/tmp/osa_pres/icons/arrowRight_navy.png"/>
          <p:cNvPicPr>
            <a:picLocks noChangeAspect="1"/>
          </p:cNvPicPr>
          <p:nvPr/>
        </p:nvPicPr>
        <p:blipFill>
          <a:blip r:embed="rId5"/>
          <a:stretch>
            <a:fillRect/>
          </a:stretch>
        </p:blipFill>
        <p:spPr>
          <a:xfrm>
            <a:off x="5800039" y="3637483"/>
            <a:ext cx="405994" cy="405994"/>
          </a:xfrm>
          <a:prstGeom prst="rect">
            <a:avLst/>
          </a:prstGeom>
        </p:spPr>
      </p:pic>
      <p:sp>
        <p:nvSpPr>
          <p:cNvPr id="17" name="Text 12"/>
          <p:cNvSpPr/>
          <p:nvPr/>
        </p:nvSpPr>
        <p:spPr>
          <a:xfrm>
            <a:off x="11185855" y="6437376"/>
            <a:ext cx="457200" cy="274320"/>
          </a:xfrm>
          <a:prstGeom prst="rect">
            <a:avLst/>
          </a:prstGeom>
          <a:noFill/>
          <a:ln/>
        </p:spPr>
        <p:txBody>
          <a:bodyPr wrap="square" rtlCol="0" anchor="ctr"/>
          <a:lstStyle/>
          <a:p>
            <a:pPr marL="0" indent="0" algn="r">
              <a:buNone/>
            </a:pPr>
            <a:r>
              <a:rPr lang="en-US" sz="1050" dirty="0">
                <a:solidFill>
                  <a:srgbClr val="5B6485"/>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marL="0" indent="0">
              <a:buNone/>
            </a:pPr>
            <a:r>
              <a:rPr lang="en-US" sz="1250" b="1" kern="0" spc="200" dirty="0">
                <a:solidFill>
                  <a:srgbClr val="6C6FD9"/>
                </a:solidFill>
                <a:latin typeface="Calibri" pitchFamily="34" charset="0"/>
                <a:ea typeface="Calibri" pitchFamily="34" charset="-122"/>
                <a:cs typeface="Calibri" pitchFamily="34" charset="-120"/>
              </a:rPr>
              <a:t>EL PROBLEMA</a:t>
            </a:r>
            <a:endParaRPr lang="en-US" sz="1250" dirty="0"/>
          </a:p>
        </p:txBody>
      </p:sp>
      <p:sp>
        <p:nvSpPr>
          <p:cNvPr id="3" name="Text 1"/>
          <p:cNvSpPr txBox="1"/>
          <p:nvPr/>
        </p:nvSpPr>
        <p:spPr>
          <a:xfrm>
            <a:off x="548640" y="457200"/>
            <a:ext cx="11094415" cy="822960"/>
          </a:xfrm>
          <a:prstGeom prst="rect">
            <a:avLst/>
          </a:prstGeom>
          <a:noFill/>
          <a:ln/>
        </p:spPr>
        <p:txBody>
          <a:bodyPr wrap="square" lIns="0" tIns="0" rIns="0" bIns="0" rtlCol="0" anchor="ctr"/>
          <a:lstStyle/>
          <a:p>
            <a:pPr marL="0" indent="0">
              <a:buNone/>
            </a:pPr>
            <a:r>
              <a:rPr lang="en-US" sz="3200" b="1" dirty="0">
                <a:solidFill>
                  <a:srgbClr val="15213E"/>
                </a:solidFill>
                <a:latin typeface="Cambria" pitchFamily="34" charset="0"/>
                <a:ea typeface="Cambria" pitchFamily="34" charset="-122"/>
                <a:cs typeface="Cambria" pitchFamily="34" charset="-120"/>
              </a:rPr>
              <a:t>El límite del modelo simétrico: un solo dueño de K</a:t>
            </a:r>
            <a:endParaRPr lang="en-US" sz="3200" dirty="0"/>
          </a:p>
        </p:txBody>
      </p:sp>
      <p:sp>
        <p:nvSpPr>
          <p:cNvPr id="4" name="Text 2"/>
          <p:cNvSpPr txBox="1"/>
          <p:nvPr/>
        </p:nvSpPr>
        <p:spPr>
          <a:xfrm>
            <a:off x="548640" y="1371600"/>
            <a:ext cx="11064240" cy="548640"/>
          </a:xfrm>
          <a:prstGeom prst="rect">
            <a:avLst/>
          </a:prstGeom>
          <a:noFill/>
          <a:ln/>
        </p:spPr>
        <p:txBody>
          <a:bodyPr wrap="square" lIns="0" tIns="0" rIns="0" bIns="0" rtlCol="0" anchor="ctr"/>
          <a:lstStyle/>
          <a:p>
            <a:pPr marL="0" indent="0">
              <a:buNone/>
            </a:pPr>
            <a:r>
              <a:rPr lang="en-US" sz="1550" dirty="0">
                <a:solidFill>
                  <a:srgbClr val="5B6485"/>
                </a:solidFill>
                <a:latin typeface="Calibri" pitchFamily="34" charset="0"/>
                <a:ea typeface="Calibri" pitchFamily="34" charset="-122"/>
                <a:cs typeface="Calibri" pitchFamily="34" charset="-120"/>
              </a:rPr>
              <a:t>SSE clásico asume una única parte que posee K: cifra, indexa y busca. Ese supuesto se rompe apenas aparece un segundo escritor.</a:t>
            </a:r>
            <a:endParaRPr lang="en-US" sz="1550" dirty="0"/>
          </a:p>
        </p:txBody>
      </p:sp>
      <p:sp>
        <p:nvSpPr>
          <p:cNvPr id="5" name="Shape 3"/>
          <p:cNvSpPr/>
          <p:nvPr/>
        </p:nvSpPr>
        <p:spPr>
          <a:xfrm>
            <a:off x="548640" y="2148840"/>
            <a:ext cx="3520440" cy="2834640"/>
          </a:xfrm>
          <a:prstGeom prst="roundRect">
            <a:avLst>
              <a:gd name="adj" fmla="val 2581"/>
            </a:avLst>
          </a:prstGeom>
          <a:solidFill>
            <a:srgbClr val="FFFFFF"/>
          </a:solidFill>
          <a:ln w="12700">
            <a:solidFill>
              <a:srgbClr val="E2E5F0"/>
            </a:solidFill>
            <a:prstDash val="solid"/>
          </a:ln>
          <a:effectLst>
            <a:outerShdw blurRad="101600" dist="38100" dir="5400000" algn="bl" rotWithShape="0">
              <a:srgbClr val="1B2340">
                <a:alpha val="12000"/>
              </a:srgbClr>
            </a:outerShdw>
          </a:effectLst>
        </p:spPr>
        <p:txBody>
          <a:bodyPr/>
          <a:lstStyle/>
          <a:p>
            <a:endParaRPr lang="en-US"/>
          </a:p>
        </p:txBody>
      </p:sp>
      <p:sp>
        <p:nvSpPr>
          <p:cNvPr id="6" name="Shape 4"/>
          <p:cNvSpPr/>
          <p:nvPr/>
        </p:nvSpPr>
        <p:spPr>
          <a:xfrm>
            <a:off x="1943100" y="2468880"/>
            <a:ext cx="731520" cy="731520"/>
          </a:xfrm>
          <a:prstGeom prst="ellipse">
            <a:avLst/>
          </a:prstGeom>
          <a:solidFill>
            <a:srgbClr val="15213E"/>
          </a:solidFill>
          <a:ln/>
        </p:spPr>
        <p:txBody>
          <a:bodyPr/>
          <a:lstStyle/>
          <a:p>
            <a:endParaRPr lang="en-US"/>
          </a:p>
        </p:txBody>
      </p:sp>
      <p:pic>
        <p:nvPicPr>
          <p:cNvPr id="7" name="Image 0" descr="/tmp/osa_pres/icons/userMd_teal.png"/>
          <p:cNvPicPr>
            <a:picLocks noChangeAspect="1"/>
          </p:cNvPicPr>
          <p:nvPr/>
        </p:nvPicPr>
        <p:blipFill>
          <a:blip r:embed="rId3"/>
          <a:stretch>
            <a:fillRect/>
          </a:stretch>
        </p:blipFill>
        <p:spPr>
          <a:xfrm>
            <a:off x="2038198" y="2563978"/>
            <a:ext cx="541325" cy="541325"/>
          </a:xfrm>
          <a:prstGeom prst="rect">
            <a:avLst/>
          </a:prstGeom>
        </p:spPr>
      </p:pic>
      <p:sp>
        <p:nvSpPr>
          <p:cNvPr id="8" name="Text 5"/>
          <p:cNvSpPr txBox="1"/>
          <p:nvPr/>
        </p:nvSpPr>
        <p:spPr>
          <a:xfrm>
            <a:off x="777240" y="3383280"/>
            <a:ext cx="3063240" cy="457200"/>
          </a:xfrm>
          <a:prstGeom prst="rect">
            <a:avLst/>
          </a:prstGeom>
          <a:noFill/>
          <a:ln/>
        </p:spPr>
        <p:txBody>
          <a:bodyPr wrap="square" lIns="0" tIns="0" rIns="0" bIns="0" rtlCol="0" anchor="ctr"/>
          <a:lstStyle/>
          <a:p>
            <a:pPr marL="0" indent="0" algn="ctr">
              <a:buNone/>
            </a:pPr>
            <a:r>
              <a:rPr lang="en-US" sz="1550" b="1" dirty="0">
                <a:solidFill>
                  <a:srgbClr val="15213E"/>
                </a:solidFill>
                <a:latin typeface="Cambria" pitchFamily="34" charset="0"/>
                <a:ea typeface="Cambria" pitchFamily="34" charset="-122"/>
                <a:cs typeface="Cambria" pitchFamily="34" charset="-120"/>
              </a:rPr>
              <a:t>Escritura de terceros</a:t>
            </a:r>
            <a:endParaRPr lang="en-US" sz="1550" dirty="0"/>
          </a:p>
        </p:txBody>
      </p:sp>
      <p:sp>
        <p:nvSpPr>
          <p:cNvPr id="9" name="Text 6"/>
          <p:cNvSpPr txBox="1"/>
          <p:nvPr/>
        </p:nvSpPr>
        <p:spPr>
          <a:xfrm>
            <a:off x="822960" y="3840480"/>
            <a:ext cx="2971800" cy="1005840"/>
          </a:xfrm>
          <a:prstGeom prst="rect">
            <a:avLst/>
          </a:prstGeom>
          <a:noFill/>
          <a:ln/>
        </p:spPr>
        <p:txBody>
          <a:bodyPr wrap="square" lIns="0" tIns="0" rIns="0" bIns="0" rtlCol="0" anchor="ctr"/>
          <a:lstStyle/>
          <a:p>
            <a:pPr marL="0" indent="0" algn="ctr">
              <a:lnSpc>
                <a:spcPct val="115000"/>
              </a:lnSpc>
              <a:buNone/>
            </a:pPr>
            <a:r>
              <a:rPr lang="en-US" sz="1250" dirty="0">
                <a:solidFill>
                  <a:srgbClr val="5B6485"/>
                </a:solidFill>
                <a:latin typeface="Calibri" pitchFamily="34" charset="0"/>
                <a:ea typeface="Calibri" pitchFamily="34" charset="-122"/>
                <a:cs typeface="Calibri" pitchFamily="34" charset="-120"/>
              </a:rPr>
              <a:t>Un médico debe cifrar un documento PARA un paciente sin jamás poseer K_idx ni K_enc de ese paciente.</a:t>
            </a:r>
            <a:endParaRPr lang="en-US" sz="1250" dirty="0"/>
          </a:p>
        </p:txBody>
      </p:sp>
      <p:sp>
        <p:nvSpPr>
          <p:cNvPr id="10" name="Shape 7"/>
          <p:cNvSpPr/>
          <p:nvPr/>
        </p:nvSpPr>
        <p:spPr>
          <a:xfrm>
            <a:off x="4343400" y="2148840"/>
            <a:ext cx="3520440" cy="2834640"/>
          </a:xfrm>
          <a:prstGeom prst="roundRect">
            <a:avLst>
              <a:gd name="adj" fmla="val 2581"/>
            </a:avLst>
          </a:prstGeom>
          <a:solidFill>
            <a:srgbClr val="FFFFFF"/>
          </a:solidFill>
          <a:ln w="12700">
            <a:solidFill>
              <a:srgbClr val="E2E5F0"/>
            </a:solidFill>
            <a:prstDash val="solid"/>
          </a:ln>
          <a:effectLst>
            <a:outerShdw blurRad="101600" dist="38100" dir="5400000" algn="bl" rotWithShape="0">
              <a:srgbClr val="1B2340">
                <a:alpha val="12000"/>
              </a:srgbClr>
            </a:outerShdw>
          </a:effectLst>
        </p:spPr>
        <p:txBody>
          <a:bodyPr/>
          <a:lstStyle/>
          <a:p>
            <a:endParaRPr lang="en-US"/>
          </a:p>
        </p:txBody>
      </p:sp>
      <p:sp>
        <p:nvSpPr>
          <p:cNvPr id="11" name="Shape 8"/>
          <p:cNvSpPr/>
          <p:nvPr/>
        </p:nvSpPr>
        <p:spPr>
          <a:xfrm>
            <a:off x="5737860" y="2468880"/>
            <a:ext cx="731520" cy="731520"/>
          </a:xfrm>
          <a:prstGeom prst="ellipse">
            <a:avLst/>
          </a:prstGeom>
          <a:solidFill>
            <a:srgbClr val="15213E"/>
          </a:solidFill>
          <a:ln/>
        </p:spPr>
        <p:txBody>
          <a:bodyPr/>
          <a:lstStyle/>
          <a:p>
            <a:endParaRPr lang="en-US"/>
          </a:p>
        </p:txBody>
      </p:sp>
      <p:pic>
        <p:nvPicPr>
          <p:cNvPr id="12" name="Image 1" descr="/tmp/osa_pres/icons/clock_teal.png"/>
          <p:cNvPicPr>
            <a:picLocks noChangeAspect="1"/>
          </p:cNvPicPr>
          <p:nvPr/>
        </p:nvPicPr>
        <p:blipFill>
          <a:blip r:embed="rId4"/>
          <a:stretch>
            <a:fillRect/>
          </a:stretch>
        </p:blipFill>
        <p:spPr>
          <a:xfrm>
            <a:off x="5832958" y="2563978"/>
            <a:ext cx="541325" cy="541325"/>
          </a:xfrm>
          <a:prstGeom prst="rect">
            <a:avLst/>
          </a:prstGeom>
        </p:spPr>
      </p:pic>
      <p:sp>
        <p:nvSpPr>
          <p:cNvPr id="13" name="Text 9"/>
          <p:cNvSpPr txBox="1"/>
          <p:nvPr/>
        </p:nvSpPr>
        <p:spPr>
          <a:xfrm>
            <a:off x="4572000" y="3383280"/>
            <a:ext cx="3063240" cy="457200"/>
          </a:xfrm>
          <a:prstGeom prst="rect">
            <a:avLst/>
          </a:prstGeom>
          <a:noFill/>
          <a:ln/>
        </p:spPr>
        <p:txBody>
          <a:bodyPr wrap="square" lIns="0" tIns="0" rIns="0" bIns="0" rtlCol="0" anchor="ctr"/>
          <a:lstStyle/>
          <a:p>
            <a:pPr marL="0" indent="0" algn="ctr">
              <a:buNone/>
            </a:pPr>
            <a:r>
              <a:rPr lang="en-US" sz="1550" b="1" dirty="0">
                <a:solidFill>
                  <a:srgbClr val="15213E"/>
                </a:solidFill>
                <a:latin typeface="Cambria" pitchFamily="34" charset="0"/>
                <a:ea typeface="Cambria" pitchFamily="34" charset="-122"/>
                <a:cs typeface="Cambria" pitchFamily="34" charset="-120"/>
              </a:rPr>
              <a:t>Delegación temporal</a:t>
            </a:r>
            <a:endParaRPr lang="en-US" sz="1550" dirty="0"/>
          </a:p>
        </p:txBody>
      </p:sp>
      <p:sp>
        <p:nvSpPr>
          <p:cNvPr id="14" name="Text 10"/>
          <p:cNvSpPr txBox="1"/>
          <p:nvPr/>
        </p:nvSpPr>
        <p:spPr>
          <a:xfrm>
            <a:off x="4617720" y="3840480"/>
            <a:ext cx="2971800" cy="1005840"/>
          </a:xfrm>
          <a:prstGeom prst="rect">
            <a:avLst/>
          </a:prstGeom>
          <a:noFill/>
          <a:ln/>
        </p:spPr>
        <p:txBody>
          <a:bodyPr wrap="square" lIns="0" tIns="0" rIns="0" bIns="0" rtlCol="0" anchor="ctr"/>
          <a:lstStyle/>
          <a:p>
            <a:pPr marL="0" indent="0" algn="ctr">
              <a:lnSpc>
                <a:spcPct val="115000"/>
              </a:lnSpc>
              <a:buNone/>
            </a:pPr>
            <a:r>
              <a:rPr lang="en-US" sz="1250" dirty="0">
                <a:solidFill>
                  <a:srgbClr val="5B6485"/>
                </a:solidFill>
                <a:latin typeface="Calibri" pitchFamily="34" charset="0"/>
                <a:ea typeface="Calibri" pitchFamily="34" charset="-122"/>
                <a:cs typeface="Calibri" pitchFamily="34" charset="-120"/>
              </a:rPr>
              <a:t>El paciente debe delegar búsqueda a un médico por 45 minutos, de forma revocable, sin haberlo visto antes por un canal seguro.</a:t>
            </a:r>
            <a:endParaRPr lang="en-US" sz="1250" dirty="0"/>
          </a:p>
        </p:txBody>
      </p:sp>
      <p:sp>
        <p:nvSpPr>
          <p:cNvPr id="15" name="Shape 11"/>
          <p:cNvSpPr/>
          <p:nvPr/>
        </p:nvSpPr>
        <p:spPr>
          <a:xfrm>
            <a:off x="8138160" y="2148840"/>
            <a:ext cx="3520440" cy="2834640"/>
          </a:xfrm>
          <a:prstGeom prst="roundRect">
            <a:avLst>
              <a:gd name="adj" fmla="val 2581"/>
            </a:avLst>
          </a:prstGeom>
          <a:solidFill>
            <a:srgbClr val="FFFFFF"/>
          </a:solidFill>
          <a:ln w="12700">
            <a:solidFill>
              <a:srgbClr val="E2E5F0"/>
            </a:solidFill>
            <a:prstDash val="solid"/>
          </a:ln>
          <a:effectLst>
            <a:outerShdw blurRad="101600" dist="38100" dir="5400000" algn="bl" rotWithShape="0">
              <a:srgbClr val="1B2340">
                <a:alpha val="12000"/>
              </a:srgbClr>
            </a:outerShdw>
          </a:effectLst>
        </p:spPr>
        <p:txBody>
          <a:bodyPr/>
          <a:lstStyle/>
          <a:p>
            <a:endParaRPr lang="en-US"/>
          </a:p>
        </p:txBody>
      </p:sp>
      <p:sp>
        <p:nvSpPr>
          <p:cNvPr id="16" name="Shape 12"/>
          <p:cNvSpPr/>
          <p:nvPr/>
        </p:nvSpPr>
        <p:spPr>
          <a:xfrm>
            <a:off x="9532620" y="2468880"/>
            <a:ext cx="731520" cy="731520"/>
          </a:xfrm>
          <a:prstGeom prst="ellipse">
            <a:avLst/>
          </a:prstGeom>
          <a:solidFill>
            <a:srgbClr val="15213E"/>
          </a:solidFill>
          <a:ln/>
        </p:spPr>
        <p:txBody>
          <a:bodyPr/>
          <a:lstStyle/>
          <a:p>
            <a:endParaRPr lang="en-US"/>
          </a:p>
        </p:txBody>
      </p:sp>
      <p:pic>
        <p:nvPicPr>
          <p:cNvPr id="17" name="Image 2" descr="/tmp/osa_pres/icons/question_teal.png"/>
          <p:cNvPicPr>
            <a:picLocks noChangeAspect="1"/>
          </p:cNvPicPr>
          <p:nvPr/>
        </p:nvPicPr>
        <p:blipFill>
          <a:blip r:embed="rId5"/>
          <a:stretch>
            <a:fillRect/>
          </a:stretch>
        </p:blipFill>
        <p:spPr>
          <a:xfrm>
            <a:off x="9627718" y="2563978"/>
            <a:ext cx="541325" cy="541325"/>
          </a:xfrm>
          <a:prstGeom prst="rect">
            <a:avLst/>
          </a:prstGeom>
        </p:spPr>
      </p:pic>
      <p:sp>
        <p:nvSpPr>
          <p:cNvPr id="18" name="Text 13"/>
          <p:cNvSpPr txBox="1"/>
          <p:nvPr/>
        </p:nvSpPr>
        <p:spPr>
          <a:xfrm>
            <a:off x="8366760" y="3383280"/>
            <a:ext cx="3063240" cy="457200"/>
          </a:xfrm>
          <a:prstGeom prst="rect">
            <a:avLst/>
          </a:prstGeom>
          <a:noFill/>
          <a:ln/>
        </p:spPr>
        <p:txBody>
          <a:bodyPr wrap="square" lIns="0" tIns="0" rIns="0" bIns="0" rtlCol="0" anchor="ctr"/>
          <a:lstStyle/>
          <a:p>
            <a:pPr marL="0" indent="0" algn="ctr">
              <a:buNone/>
            </a:pPr>
            <a:r>
              <a:rPr lang="en-US" sz="1550" b="1" dirty="0">
                <a:solidFill>
                  <a:srgbClr val="15213E"/>
                </a:solidFill>
                <a:latin typeface="Cambria" pitchFamily="34" charset="0"/>
                <a:ea typeface="Cambria" pitchFamily="34" charset="-122"/>
                <a:cs typeface="Cambria" pitchFamily="34" charset="-120"/>
              </a:rPr>
              <a:t>Distribución de claves</a:t>
            </a:r>
            <a:endParaRPr lang="en-US" sz="1550" dirty="0"/>
          </a:p>
        </p:txBody>
      </p:sp>
      <p:sp>
        <p:nvSpPr>
          <p:cNvPr id="19" name="Text 14"/>
          <p:cNvSpPr txBox="1"/>
          <p:nvPr/>
        </p:nvSpPr>
        <p:spPr>
          <a:xfrm>
            <a:off x="8412480" y="3840480"/>
            <a:ext cx="2971800" cy="1005840"/>
          </a:xfrm>
          <a:prstGeom prst="rect">
            <a:avLst/>
          </a:prstGeom>
          <a:noFill/>
          <a:ln/>
        </p:spPr>
        <p:txBody>
          <a:bodyPr wrap="square" lIns="0" tIns="0" rIns="0" bIns="0" rtlCol="0" anchor="ctr"/>
          <a:lstStyle/>
          <a:p>
            <a:pPr marL="0" indent="0" algn="ctr">
              <a:lnSpc>
                <a:spcPct val="115000"/>
              </a:lnSpc>
              <a:buNone/>
            </a:pPr>
            <a:r>
              <a:rPr lang="en-US" sz="1250" dirty="0">
                <a:solidFill>
                  <a:srgbClr val="5B6485"/>
                </a:solidFill>
                <a:latin typeface="Calibri" pitchFamily="34" charset="0"/>
                <a:ea typeface="Calibri" pitchFamily="34" charset="-122"/>
                <a:cs typeface="Calibri" pitchFamily="34" charset="-120"/>
              </a:rPr>
              <a:t>Repartir 256 bits secretos por un canal no autenticado, en el momento, es exactamente el problema que la cripto simétrica no resuelve sola.</a:t>
            </a:r>
            <a:endParaRPr lang="en-US" sz="1250" dirty="0"/>
          </a:p>
        </p:txBody>
      </p:sp>
      <p:sp>
        <p:nvSpPr>
          <p:cNvPr id="20" name="Shape 15"/>
          <p:cNvSpPr/>
          <p:nvPr/>
        </p:nvSpPr>
        <p:spPr>
          <a:xfrm>
            <a:off x="548640" y="5257800"/>
            <a:ext cx="11091672" cy="868680"/>
          </a:xfrm>
          <a:prstGeom prst="roundRect">
            <a:avLst>
              <a:gd name="adj" fmla="val 8421"/>
            </a:avLst>
          </a:prstGeom>
          <a:solidFill>
            <a:srgbClr val="15213E"/>
          </a:solidFill>
          <a:ln w="12700">
            <a:solidFill>
              <a:srgbClr val="E2E5F0"/>
            </a:solidFill>
            <a:prstDash val="solid"/>
          </a:ln>
        </p:spPr>
        <p:txBody>
          <a:bodyPr/>
          <a:lstStyle/>
          <a:p>
            <a:endParaRPr lang="en-US"/>
          </a:p>
        </p:txBody>
      </p:sp>
      <p:sp>
        <p:nvSpPr>
          <p:cNvPr id="21" name="Text 16"/>
          <p:cNvSpPr txBox="1"/>
          <p:nvPr/>
        </p:nvSpPr>
        <p:spPr>
          <a:xfrm>
            <a:off x="914400" y="5257800"/>
            <a:ext cx="10332720" cy="868680"/>
          </a:xfrm>
          <a:prstGeom prst="rect">
            <a:avLst/>
          </a:prstGeom>
          <a:noFill/>
          <a:ln/>
        </p:spPr>
        <p:txBody>
          <a:bodyPr wrap="square" lIns="0" tIns="0" rIns="0" bIns="0" rtlCol="0" anchor="ctr"/>
          <a:lstStyle/>
          <a:p>
            <a:pPr marL="0" indent="0">
              <a:buNone/>
            </a:pPr>
            <a:r>
              <a:rPr lang="en-US" sz="1600" i="1" dirty="0">
                <a:solidFill>
                  <a:srgbClr val="FFFFFF"/>
                </a:solidFill>
                <a:latin typeface="Cambria" pitchFamily="34" charset="0"/>
                <a:ea typeface="Cambria" pitchFamily="34" charset="-122"/>
                <a:cs typeface="Cambria" pitchFamily="34" charset="-120"/>
              </a:rPr>
              <a:t>La salida clásica a un problema de distribución de claves siempre fue la misma: criptografía de clave pública.</a:t>
            </a:r>
            <a:endParaRPr lang="en-US" sz="1600" dirty="0"/>
          </a:p>
        </p:txBody>
      </p:sp>
      <p:sp>
        <p:nvSpPr>
          <p:cNvPr id="22" name="Text 17"/>
          <p:cNvSpPr/>
          <p:nvPr/>
        </p:nvSpPr>
        <p:spPr>
          <a:xfrm>
            <a:off x="548640" y="6437376"/>
            <a:ext cx="7315200" cy="274320"/>
          </a:xfrm>
          <a:prstGeom prst="rect">
            <a:avLst/>
          </a:prstGeom>
          <a:noFill/>
          <a:ln/>
        </p:spPr>
        <p:txBody>
          <a:bodyPr wrap="square" rtlCol="0" anchor="ctr"/>
          <a:lstStyle/>
          <a:p>
            <a:pPr marL="0" indent="0" algn="l">
              <a:buNone/>
            </a:pPr>
            <a:endParaRPr lang="en-US" sz="1050" dirty="0"/>
          </a:p>
        </p:txBody>
      </p:sp>
      <p:sp>
        <p:nvSpPr>
          <p:cNvPr id="23" name="Text 18"/>
          <p:cNvSpPr/>
          <p:nvPr/>
        </p:nvSpPr>
        <p:spPr>
          <a:xfrm>
            <a:off x="11185855" y="6437376"/>
            <a:ext cx="457200" cy="274320"/>
          </a:xfrm>
          <a:prstGeom prst="rect">
            <a:avLst/>
          </a:prstGeom>
          <a:noFill/>
          <a:ln/>
        </p:spPr>
        <p:txBody>
          <a:bodyPr wrap="square" rtlCol="0" anchor="ctr"/>
          <a:lstStyle/>
          <a:p>
            <a:pPr marL="0" indent="0" algn="r">
              <a:buNone/>
            </a:pPr>
            <a:r>
              <a:rPr lang="en-US" sz="1050" dirty="0">
                <a:solidFill>
                  <a:srgbClr val="5B6485"/>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marL="0" indent="0">
              <a:buNone/>
            </a:pPr>
            <a:r>
              <a:rPr lang="en-US" sz="1250" b="1" kern="0" spc="200" dirty="0">
                <a:solidFill>
                  <a:srgbClr val="6C6FD9"/>
                </a:solidFill>
                <a:latin typeface="Calibri" pitchFamily="34" charset="0"/>
                <a:ea typeface="Calibri" pitchFamily="34" charset="-122"/>
                <a:cs typeface="Calibri" pitchFamily="34" charset="-120"/>
              </a:rPr>
              <a:t>PUBLIC-KEY ENCRYPTION WITH KEYWORD SEARCH</a:t>
            </a:r>
            <a:endParaRPr lang="en-US" sz="1250" dirty="0"/>
          </a:p>
        </p:txBody>
      </p:sp>
      <p:sp>
        <p:nvSpPr>
          <p:cNvPr id="3" name="Text 1"/>
          <p:cNvSpPr txBox="1"/>
          <p:nvPr/>
        </p:nvSpPr>
        <p:spPr>
          <a:xfrm>
            <a:off x="548640" y="457200"/>
            <a:ext cx="11094415" cy="822960"/>
          </a:xfrm>
          <a:prstGeom prst="rect">
            <a:avLst/>
          </a:prstGeom>
          <a:noFill/>
          <a:ln/>
        </p:spPr>
        <p:txBody>
          <a:bodyPr wrap="square" lIns="0" tIns="0" rIns="0" bIns="0" rtlCol="0" anchor="ctr"/>
          <a:lstStyle/>
          <a:p>
            <a:pPr marL="0" indent="0">
              <a:buNone/>
            </a:pPr>
            <a:r>
              <a:rPr lang="en-US" sz="3200" b="1" dirty="0">
                <a:solidFill>
                  <a:srgbClr val="15213E"/>
                </a:solidFill>
                <a:latin typeface="Cambria" pitchFamily="34" charset="0"/>
                <a:ea typeface="Cambria" pitchFamily="34" charset="-122"/>
                <a:cs typeface="Cambria" pitchFamily="34" charset="-120"/>
              </a:rPr>
              <a:t>PEKS: cifrado de clave pública buscable</a:t>
            </a:r>
            <a:endParaRPr lang="en-US" sz="3200" dirty="0"/>
          </a:p>
        </p:txBody>
      </p:sp>
      <p:sp>
        <p:nvSpPr>
          <p:cNvPr id="4" name="Shape 2"/>
          <p:cNvSpPr/>
          <p:nvPr/>
        </p:nvSpPr>
        <p:spPr>
          <a:xfrm>
            <a:off x="548640" y="1417320"/>
            <a:ext cx="5029200" cy="4709160"/>
          </a:xfrm>
          <a:prstGeom prst="roundRect">
            <a:avLst>
              <a:gd name="adj" fmla="val 1553"/>
            </a:avLst>
          </a:prstGeom>
          <a:solidFill>
            <a:srgbClr val="FFFFFF"/>
          </a:solidFill>
          <a:ln w="12700">
            <a:solidFill>
              <a:srgbClr val="E2E5F0"/>
            </a:solidFill>
            <a:prstDash val="solid"/>
          </a:ln>
          <a:effectLst>
            <a:outerShdw blurRad="101600" dist="38100" dir="5400000" algn="bl" rotWithShape="0">
              <a:srgbClr val="1B2340">
                <a:alpha val="12000"/>
              </a:srgbClr>
            </a:outerShdw>
          </a:effectLst>
        </p:spPr>
        <p:txBody>
          <a:bodyPr/>
          <a:lstStyle/>
          <a:p>
            <a:endParaRPr lang="en-US"/>
          </a:p>
        </p:txBody>
      </p:sp>
      <p:sp>
        <p:nvSpPr>
          <p:cNvPr id="5" name="Shape 3"/>
          <p:cNvSpPr/>
          <p:nvPr/>
        </p:nvSpPr>
        <p:spPr>
          <a:xfrm>
            <a:off x="868680" y="1737360"/>
            <a:ext cx="594360" cy="594360"/>
          </a:xfrm>
          <a:prstGeom prst="ellipse">
            <a:avLst/>
          </a:prstGeom>
          <a:solidFill>
            <a:srgbClr val="15213E"/>
          </a:solidFill>
          <a:ln/>
        </p:spPr>
        <p:txBody>
          <a:bodyPr/>
          <a:lstStyle/>
          <a:p>
            <a:endParaRPr lang="en-US"/>
          </a:p>
        </p:txBody>
      </p:sp>
      <p:pic>
        <p:nvPicPr>
          <p:cNvPr id="6" name="Image 0" descr="/tmp/osa_pres/icons/envelope_teal.png"/>
          <p:cNvPicPr>
            <a:picLocks noChangeAspect="1"/>
          </p:cNvPicPr>
          <p:nvPr/>
        </p:nvPicPr>
        <p:blipFill>
          <a:blip r:embed="rId3"/>
          <a:stretch>
            <a:fillRect/>
          </a:stretch>
        </p:blipFill>
        <p:spPr>
          <a:xfrm>
            <a:off x="945947" y="1814627"/>
            <a:ext cx="439826" cy="439826"/>
          </a:xfrm>
          <a:prstGeom prst="rect">
            <a:avLst/>
          </a:prstGeom>
        </p:spPr>
      </p:pic>
      <p:sp>
        <p:nvSpPr>
          <p:cNvPr id="7" name="Text 4"/>
          <p:cNvSpPr txBox="1"/>
          <p:nvPr/>
        </p:nvSpPr>
        <p:spPr>
          <a:xfrm>
            <a:off x="1600200" y="1737360"/>
            <a:ext cx="3840480" cy="457200"/>
          </a:xfrm>
          <a:prstGeom prst="rect">
            <a:avLst/>
          </a:prstGeom>
          <a:noFill/>
          <a:ln/>
        </p:spPr>
        <p:txBody>
          <a:bodyPr wrap="square" lIns="0" tIns="0" rIns="0" bIns="0" rtlCol="0" anchor="ctr"/>
          <a:lstStyle/>
          <a:p>
            <a:pPr marL="0" indent="0">
              <a:buNone/>
            </a:pPr>
            <a:r>
              <a:rPr lang="en-US" sz="1600" b="1" dirty="0">
                <a:solidFill>
                  <a:srgbClr val="15213E"/>
                </a:solidFill>
                <a:latin typeface="Cambria" pitchFamily="34" charset="0"/>
                <a:ea typeface="Cambria" pitchFamily="34" charset="-122"/>
                <a:cs typeface="Cambria" pitchFamily="34" charset="-120"/>
              </a:rPr>
              <a:t>La motivación original</a:t>
            </a:r>
            <a:endParaRPr lang="en-US" sz="1600" dirty="0"/>
          </a:p>
        </p:txBody>
      </p:sp>
      <p:sp>
        <p:nvSpPr>
          <p:cNvPr id="8" name="Text 5"/>
          <p:cNvSpPr txBox="1"/>
          <p:nvPr/>
        </p:nvSpPr>
        <p:spPr>
          <a:xfrm>
            <a:off x="868680" y="2423160"/>
            <a:ext cx="4434840" cy="1371600"/>
          </a:xfrm>
          <a:prstGeom prst="rect">
            <a:avLst/>
          </a:prstGeom>
          <a:noFill/>
          <a:ln/>
        </p:spPr>
        <p:txBody>
          <a:bodyPr wrap="square" lIns="0" tIns="0" rIns="0" bIns="0" rtlCol="0" anchor="ctr"/>
          <a:lstStyle/>
          <a:p>
            <a:pPr marL="0" indent="0">
              <a:lnSpc>
                <a:spcPct val="120000"/>
              </a:lnSpc>
              <a:buNone/>
            </a:pPr>
            <a:r>
              <a:rPr lang="en-US" sz="1350" dirty="0">
                <a:solidFill>
                  <a:srgbClr val="1B2340"/>
                </a:solidFill>
                <a:latin typeface="Calibri" pitchFamily="34" charset="0"/>
                <a:ea typeface="Calibri" pitchFamily="34" charset="-122"/>
                <a:cs typeface="Calibri" pitchFamily="34" charset="-120"/>
              </a:rPr>
              <a:t>Correo cifrado buscable: cualquiera cifra un mensaje para Bob usando su clave PÚBLICA — sin coordinar ninguna clave secreta. Un gateway de correo, sin la clave privada de Bob, debe poder filtrar por palabra clave (ej. “urgente”) sin leer el contenido.</a:t>
            </a:r>
            <a:endParaRPr lang="en-US" sz="1350" dirty="0"/>
          </a:p>
        </p:txBody>
      </p:sp>
      <p:sp>
        <p:nvSpPr>
          <p:cNvPr id="9" name="Text 6"/>
          <p:cNvSpPr txBox="1"/>
          <p:nvPr/>
        </p:nvSpPr>
        <p:spPr>
          <a:xfrm>
            <a:off x="868680" y="3931920"/>
            <a:ext cx="4434840" cy="365760"/>
          </a:xfrm>
          <a:prstGeom prst="rect">
            <a:avLst/>
          </a:prstGeom>
          <a:noFill/>
          <a:ln/>
        </p:spPr>
        <p:txBody>
          <a:bodyPr wrap="square" lIns="0" tIns="0" rIns="0" bIns="0" rtlCol="0" anchor="ctr"/>
          <a:lstStyle/>
          <a:p>
            <a:pPr marL="0" indent="0">
              <a:buNone/>
            </a:pPr>
            <a:r>
              <a:rPr lang="en-US" sz="1200" i="1" dirty="0">
                <a:solidFill>
                  <a:srgbClr val="5B6485"/>
                </a:solidFill>
                <a:latin typeface="Calibri" pitchFamily="34" charset="0"/>
                <a:ea typeface="Calibri" pitchFamily="34" charset="-122"/>
                <a:cs typeface="Calibri" pitchFamily="34" charset="-120"/>
              </a:rPr>
              <a:t>Boneh, Di Crescenzo, Ostrovsky, Persiano — EUROCRYPT 2004</a:t>
            </a:r>
            <a:endParaRPr lang="en-US" sz="1200" dirty="0"/>
          </a:p>
        </p:txBody>
      </p:sp>
      <p:sp>
        <p:nvSpPr>
          <p:cNvPr id="10" name="Text 7"/>
          <p:cNvSpPr txBox="1"/>
          <p:nvPr/>
        </p:nvSpPr>
        <p:spPr>
          <a:xfrm>
            <a:off x="868680" y="4480560"/>
            <a:ext cx="4434840" cy="1371600"/>
          </a:xfrm>
          <a:prstGeom prst="rect">
            <a:avLst/>
          </a:prstGeom>
          <a:noFill/>
          <a:ln/>
        </p:spPr>
        <p:txBody>
          <a:bodyPr wrap="square" lIns="0" tIns="0" rIns="0" bIns="0" rtlCol="0" anchor="ctr"/>
          <a:lstStyle/>
          <a:p>
            <a:pPr marL="0" indent="0">
              <a:lnSpc>
                <a:spcPct val="120000"/>
              </a:lnSpc>
              <a:buNone/>
            </a:pPr>
            <a:r>
              <a:rPr lang="en-US" sz="1300" dirty="0">
                <a:solidFill>
                  <a:srgbClr val="5B6485"/>
                </a:solidFill>
                <a:latin typeface="Calibri" pitchFamily="34" charset="0"/>
                <a:ea typeface="Calibri" pitchFamily="34" charset="-122"/>
                <a:cs typeface="Calibri" pitchFamily="34" charset="-120"/>
              </a:rPr>
              <a:t>Base matemática: emparejamientos bilineales sobre curvas elípticas — emparentado con el IBE de Boneh–Franklin.</a:t>
            </a:r>
            <a:endParaRPr lang="en-US" sz="1300" dirty="0"/>
          </a:p>
        </p:txBody>
      </p:sp>
      <p:sp>
        <p:nvSpPr>
          <p:cNvPr id="11" name="Shape 8"/>
          <p:cNvSpPr/>
          <p:nvPr/>
        </p:nvSpPr>
        <p:spPr>
          <a:xfrm>
            <a:off x="5806440" y="1417320"/>
            <a:ext cx="5833872" cy="4709160"/>
          </a:xfrm>
          <a:prstGeom prst="roundRect">
            <a:avLst>
              <a:gd name="adj" fmla="val 1553"/>
            </a:avLst>
          </a:prstGeom>
          <a:solidFill>
            <a:srgbClr val="15213E"/>
          </a:solidFill>
          <a:ln w="12700">
            <a:solidFill>
              <a:srgbClr val="E2E5F0"/>
            </a:solidFill>
            <a:prstDash val="solid"/>
          </a:ln>
        </p:spPr>
        <p:txBody>
          <a:bodyPr/>
          <a:lstStyle/>
          <a:p>
            <a:endParaRPr lang="en-US"/>
          </a:p>
        </p:txBody>
      </p:sp>
      <p:sp>
        <p:nvSpPr>
          <p:cNvPr id="12" name="Text 9"/>
          <p:cNvSpPr txBox="1"/>
          <p:nvPr/>
        </p:nvSpPr>
        <p:spPr>
          <a:xfrm>
            <a:off x="6126480" y="1691640"/>
            <a:ext cx="521208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Cómo funciona, paso a paso</a:t>
            </a:r>
            <a:endParaRPr lang="en-US" sz="1600" dirty="0"/>
          </a:p>
        </p:txBody>
      </p:sp>
      <p:sp>
        <p:nvSpPr>
          <p:cNvPr id="13" name="Shape 10"/>
          <p:cNvSpPr/>
          <p:nvPr/>
        </p:nvSpPr>
        <p:spPr>
          <a:xfrm>
            <a:off x="6126480" y="2331720"/>
            <a:ext cx="5212080" cy="777240"/>
          </a:xfrm>
          <a:prstGeom prst="roundRect">
            <a:avLst>
              <a:gd name="adj" fmla="val 7059"/>
            </a:avLst>
          </a:prstGeom>
          <a:solidFill>
            <a:srgbClr val="1E2E56"/>
          </a:solidFill>
          <a:ln/>
        </p:spPr>
        <p:txBody>
          <a:bodyPr/>
          <a:lstStyle/>
          <a:p>
            <a:endParaRPr lang="en-US"/>
          </a:p>
        </p:txBody>
      </p:sp>
      <p:sp>
        <p:nvSpPr>
          <p:cNvPr id="14" name="Text 11"/>
          <p:cNvSpPr txBox="1"/>
          <p:nvPr/>
        </p:nvSpPr>
        <p:spPr>
          <a:xfrm>
            <a:off x="6309360" y="2404872"/>
            <a:ext cx="3657600" cy="292608"/>
          </a:xfrm>
          <a:prstGeom prst="rect">
            <a:avLst/>
          </a:prstGeom>
          <a:noFill/>
          <a:ln/>
        </p:spPr>
        <p:txBody>
          <a:bodyPr wrap="square" lIns="0" tIns="0" rIns="0" bIns="0" rtlCol="0" anchor="ctr"/>
          <a:lstStyle/>
          <a:p>
            <a:pPr marL="0" indent="0">
              <a:buNone/>
            </a:pPr>
            <a:r>
              <a:rPr lang="en-US" sz="1300" b="1" dirty="0">
                <a:solidFill>
                  <a:srgbClr val="17B8A6"/>
                </a:solidFill>
                <a:latin typeface="Calibri" pitchFamily="34" charset="0"/>
                <a:ea typeface="Calibri" pitchFamily="34" charset="-122"/>
                <a:cs typeface="Calibri" pitchFamily="34" charset="-120"/>
              </a:rPr>
              <a:t>1. Crear las claves</a:t>
            </a:r>
            <a:endParaRPr lang="en-US" sz="1300" dirty="0"/>
          </a:p>
        </p:txBody>
      </p:sp>
      <p:sp>
        <p:nvSpPr>
          <p:cNvPr id="15" name="Text 12"/>
          <p:cNvSpPr txBox="1"/>
          <p:nvPr/>
        </p:nvSpPr>
        <p:spPr>
          <a:xfrm>
            <a:off x="9784080" y="2404872"/>
            <a:ext cx="1417320" cy="292608"/>
          </a:xfrm>
          <a:prstGeom prst="rect">
            <a:avLst/>
          </a:prstGeom>
          <a:noFill/>
          <a:ln/>
        </p:spPr>
        <p:txBody>
          <a:bodyPr wrap="square" lIns="0" tIns="0" rIns="0" bIns="0" rtlCol="0" anchor="ctr"/>
          <a:lstStyle/>
          <a:p>
            <a:pPr marL="0" indent="0" algn="r">
              <a:buNone/>
            </a:pPr>
            <a:r>
              <a:rPr lang="en-US" sz="1050" i="1" dirty="0">
                <a:solidFill>
                  <a:srgbClr val="AEB6D6"/>
                </a:solidFill>
                <a:latin typeface="Calibri" pitchFamily="34" charset="0"/>
                <a:ea typeface="Calibri" pitchFamily="34" charset="-122"/>
                <a:cs typeface="Calibri" pitchFamily="34" charset="-120"/>
              </a:rPr>
              <a:t>KeyGen</a:t>
            </a:r>
            <a:endParaRPr lang="en-US" sz="1050" dirty="0"/>
          </a:p>
        </p:txBody>
      </p:sp>
      <p:sp>
        <p:nvSpPr>
          <p:cNvPr id="16" name="Text 13"/>
          <p:cNvSpPr txBox="1"/>
          <p:nvPr/>
        </p:nvSpPr>
        <p:spPr>
          <a:xfrm>
            <a:off x="6309360" y="2697480"/>
            <a:ext cx="4846320" cy="384048"/>
          </a:xfrm>
          <a:prstGeom prst="rect">
            <a:avLst/>
          </a:prstGeom>
          <a:noFill/>
          <a:ln/>
        </p:spPr>
        <p:txBody>
          <a:bodyPr wrap="square" lIns="0" tIns="0" rIns="0" bIns="0" rtlCol="0" anchor="ctr"/>
          <a:lstStyle/>
          <a:p>
            <a:pPr marL="0" indent="0">
              <a:lnSpc>
                <a:spcPct val="110000"/>
              </a:lnSpc>
              <a:buNone/>
            </a:pPr>
            <a:r>
              <a:rPr lang="en-US" sz="1100" dirty="0">
                <a:solidFill>
                  <a:srgbClr val="AEB6D6"/>
                </a:solidFill>
                <a:latin typeface="Calibri" pitchFamily="34" charset="0"/>
                <a:ea typeface="Calibri" pitchFamily="34" charset="-122"/>
                <a:cs typeface="Calibri" pitchFamily="34" charset="-120"/>
              </a:rPr>
              <a:t>Se genera un par: una PÚBLICA (se puede compartir con cualquiera) y una PRIVADA (se guarda en secreto).</a:t>
            </a:r>
            <a:endParaRPr lang="en-US" sz="1100" dirty="0"/>
          </a:p>
        </p:txBody>
      </p:sp>
      <p:sp>
        <p:nvSpPr>
          <p:cNvPr id="17" name="Shape 14"/>
          <p:cNvSpPr/>
          <p:nvPr/>
        </p:nvSpPr>
        <p:spPr>
          <a:xfrm>
            <a:off x="6126480" y="3291840"/>
            <a:ext cx="5212080" cy="777240"/>
          </a:xfrm>
          <a:prstGeom prst="roundRect">
            <a:avLst>
              <a:gd name="adj" fmla="val 7059"/>
            </a:avLst>
          </a:prstGeom>
          <a:solidFill>
            <a:srgbClr val="1E2E56"/>
          </a:solidFill>
          <a:ln/>
        </p:spPr>
        <p:txBody>
          <a:bodyPr/>
          <a:lstStyle/>
          <a:p>
            <a:endParaRPr lang="en-US"/>
          </a:p>
        </p:txBody>
      </p:sp>
      <p:sp>
        <p:nvSpPr>
          <p:cNvPr id="18" name="Text 15"/>
          <p:cNvSpPr txBox="1"/>
          <p:nvPr/>
        </p:nvSpPr>
        <p:spPr>
          <a:xfrm>
            <a:off x="6309360" y="3364992"/>
            <a:ext cx="3657600" cy="292608"/>
          </a:xfrm>
          <a:prstGeom prst="rect">
            <a:avLst/>
          </a:prstGeom>
          <a:noFill/>
          <a:ln/>
        </p:spPr>
        <p:txBody>
          <a:bodyPr wrap="square" lIns="0" tIns="0" rIns="0" bIns="0" rtlCol="0" anchor="ctr"/>
          <a:lstStyle/>
          <a:p>
            <a:pPr marL="0" indent="0">
              <a:buNone/>
            </a:pPr>
            <a:r>
              <a:rPr lang="en-US" sz="1300" b="1" dirty="0">
                <a:solidFill>
                  <a:srgbClr val="17B8A6"/>
                </a:solidFill>
                <a:latin typeface="Calibri" pitchFamily="34" charset="0"/>
                <a:ea typeface="Calibri" pitchFamily="34" charset="-122"/>
                <a:cs typeface="Calibri" pitchFamily="34" charset="-120"/>
              </a:rPr>
              <a:t>2. Cifrar una palabra</a:t>
            </a:r>
            <a:endParaRPr lang="en-US" sz="1300" dirty="0"/>
          </a:p>
        </p:txBody>
      </p:sp>
      <p:sp>
        <p:nvSpPr>
          <p:cNvPr id="19" name="Text 16"/>
          <p:cNvSpPr txBox="1"/>
          <p:nvPr/>
        </p:nvSpPr>
        <p:spPr>
          <a:xfrm>
            <a:off x="9784080" y="3364992"/>
            <a:ext cx="1417320" cy="292608"/>
          </a:xfrm>
          <a:prstGeom prst="rect">
            <a:avLst/>
          </a:prstGeom>
          <a:noFill/>
          <a:ln/>
        </p:spPr>
        <p:txBody>
          <a:bodyPr wrap="square" lIns="0" tIns="0" rIns="0" bIns="0" rtlCol="0" anchor="ctr"/>
          <a:lstStyle/>
          <a:p>
            <a:pPr marL="0" indent="0" algn="r">
              <a:buNone/>
            </a:pPr>
            <a:r>
              <a:rPr lang="en-US" sz="1050" i="1" dirty="0">
                <a:solidFill>
                  <a:srgbClr val="AEB6D6"/>
                </a:solidFill>
                <a:latin typeface="Calibri" pitchFamily="34" charset="0"/>
                <a:ea typeface="Calibri" pitchFamily="34" charset="-122"/>
                <a:cs typeface="Calibri" pitchFamily="34" charset="-120"/>
              </a:rPr>
              <a:t>PEKS</a:t>
            </a:r>
            <a:endParaRPr lang="en-US" sz="1050" dirty="0"/>
          </a:p>
        </p:txBody>
      </p:sp>
      <p:sp>
        <p:nvSpPr>
          <p:cNvPr id="20" name="Text 17"/>
          <p:cNvSpPr txBox="1"/>
          <p:nvPr/>
        </p:nvSpPr>
        <p:spPr>
          <a:xfrm>
            <a:off x="6309360" y="3657600"/>
            <a:ext cx="4846320" cy="384048"/>
          </a:xfrm>
          <a:prstGeom prst="rect">
            <a:avLst/>
          </a:prstGeom>
          <a:noFill/>
          <a:ln/>
        </p:spPr>
        <p:txBody>
          <a:bodyPr wrap="square" lIns="0" tIns="0" rIns="0" bIns="0" rtlCol="0" anchor="ctr"/>
          <a:lstStyle/>
          <a:p>
            <a:pPr marL="0" indent="0">
              <a:lnSpc>
                <a:spcPct val="110000"/>
              </a:lnSpc>
              <a:buNone/>
            </a:pPr>
            <a:r>
              <a:rPr lang="en-US" sz="1100" dirty="0">
                <a:solidFill>
                  <a:srgbClr val="AEB6D6"/>
                </a:solidFill>
                <a:latin typeface="Calibri" pitchFamily="34" charset="0"/>
                <a:ea typeface="Calibri" pitchFamily="34" charset="-122"/>
                <a:cs typeface="Calibri" pitchFamily="34" charset="-120"/>
              </a:rPr>
              <a:t>Cualquiera, usando solo la clave pública, puede cifrar una palabra sin coordinar nada con el dueño.</a:t>
            </a:r>
            <a:endParaRPr lang="en-US" sz="1100" dirty="0"/>
          </a:p>
        </p:txBody>
      </p:sp>
      <p:sp>
        <p:nvSpPr>
          <p:cNvPr id="21" name="Shape 18"/>
          <p:cNvSpPr/>
          <p:nvPr/>
        </p:nvSpPr>
        <p:spPr>
          <a:xfrm>
            <a:off x="6126480" y="4251960"/>
            <a:ext cx="5212080" cy="777240"/>
          </a:xfrm>
          <a:prstGeom prst="roundRect">
            <a:avLst>
              <a:gd name="adj" fmla="val 7059"/>
            </a:avLst>
          </a:prstGeom>
          <a:solidFill>
            <a:srgbClr val="1E2E56"/>
          </a:solidFill>
          <a:ln/>
        </p:spPr>
        <p:txBody>
          <a:bodyPr/>
          <a:lstStyle/>
          <a:p>
            <a:endParaRPr lang="en-US"/>
          </a:p>
        </p:txBody>
      </p:sp>
      <p:sp>
        <p:nvSpPr>
          <p:cNvPr id="22" name="Text 19"/>
          <p:cNvSpPr txBox="1"/>
          <p:nvPr/>
        </p:nvSpPr>
        <p:spPr>
          <a:xfrm>
            <a:off x="6309360" y="4325112"/>
            <a:ext cx="3657600" cy="292608"/>
          </a:xfrm>
          <a:prstGeom prst="rect">
            <a:avLst/>
          </a:prstGeom>
          <a:noFill/>
          <a:ln/>
        </p:spPr>
        <p:txBody>
          <a:bodyPr wrap="square" lIns="0" tIns="0" rIns="0" bIns="0" rtlCol="0" anchor="ctr"/>
          <a:lstStyle/>
          <a:p>
            <a:pPr marL="0" indent="0">
              <a:buNone/>
            </a:pPr>
            <a:r>
              <a:rPr lang="en-US" sz="1300" b="1" dirty="0">
                <a:solidFill>
                  <a:srgbClr val="17B8A6"/>
                </a:solidFill>
                <a:latin typeface="Calibri" pitchFamily="34" charset="0"/>
                <a:ea typeface="Calibri" pitchFamily="34" charset="-122"/>
                <a:cs typeface="Calibri" pitchFamily="34" charset="-120"/>
              </a:rPr>
              <a:t>3. Pedir permiso de búsqueda</a:t>
            </a:r>
            <a:endParaRPr lang="en-US" sz="1300" dirty="0"/>
          </a:p>
        </p:txBody>
      </p:sp>
      <p:sp>
        <p:nvSpPr>
          <p:cNvPr id="23" name="Text 20"/>
          <p:cNvSpPr txBox="1"/>
          <p:nvPr/>
        </p:nvSpPr>
        <p:spPr>
          <a:xfrm>
            <a:off x="9784080" y="4325112"/>
            <a:ext cx="1417320" cy="292608"/>
          </a:xfrm>
          <a:prstGeom prst="rect">
            <a:avLst/>
          </a:prstGeom>
          <a:noFill/>
          <a:ln/>
        </p:spPr>
        <p:txBody>
          <a:bodyPr wrap="square" lIns="0" tIns="0" rIns="0" bIns="0" rtlCol="0" anchor="ctr"/>
          <a:lstStyle/>
          <a:p>
            <a:pPr marL="0" indent="0" algn="r">
              <a:buNone/>
            </a:pPr>
            <a:r>
              <a:rPr lang="en-US" sz="1050" i="1" dirty="0">
                <a:solidFill>
                  <a:srgbClr val="AEB6D6"/>
                </a:solidFill>
                <a:latin typeface="Calibri" pitchFamily="34" charset="0"/>
                <a:ea typeface="Calibri" pitchFamily="34" charset="-122"/>
                <a:cs typeface="Calibri" pitchFamily="34" charset="-120"/>
              </a:rPr>
              <a:t>Trapdoor</a:t>
            </a:r>
            <a:endParaRPr lang="en-US" sz="1050" dirty="0"/>
          </a:p>
        </p:txBody>
      </p:sp>
      <p:sp>
        <p:nvSpPr>
          <p:cNvPr id="24" name="Text 21"/>
          <p:cNvSpPr txBox="1"/>
          <p:nvPr/>
        </p:nvSpPr>
        <p:spPr>
          <a:xfrm>
            <a:off x="6309360" y="4617720"/>
            <a:ext cx="4846320" cy="384048"/>
          </a:xfrm>
          <a:prstGeom prst="rect">
            <a:avLst/>
          </a:prstGeom>
          <a:noFill/>
          <a:ln/>
        </p:spPr>
        <p:txBody>
          <a:bodyPr wrap="square" lIns="0" tIns="0" rIns="0" bIns="0" rtlCol="0" anchor="ctr"/>
          <a:lstStyle/>
          <a:p>
            <a:pPr marL="0" indent="0">
              <a:lnSpc>
                <a:spcPct val="110000"/>
              </a:lnSpc>
              <a:buNone/>
            </a:pPr>
            <a:r>
              <a:rPr lang="en-US" sz="1100" dirty="0">
                <a:solidFill>
                  <a:srgbClr val="AEB6D6"/>
                </a:solidFill>
                <a:latin typeface="Calibri" pitchFamily="34" charset="0"/>
                <a:ea typeface="Calibri" pitchFamily="34" charset="-122"/>
                <a:cs typeface="Calibri" pitchFamily="34" charset="-120"/>
              </a:rPr>
              <a:t>Solo el dueño de la clave privada puede generar un “permiso” para buscar una palabra puntual.</a:t>
            </a:r>
            <a:endParaRPr lang="en-US" sz="1100" dirty="0"/>
          </a:p>
        </p:txBody>
      </p:sp>
      <p:sp>
        <p:nvSpPr>
          <p:cNvPr id="25" name="Shape 22"/>
          <p:cNvSpPr/>
          <p:nvPr/>
        </p:nvSpPr>
        <p:spPr>
          <a:xfrm>
            <a:off x="6126480" y="5212080"/>
            <a:ext cx="5212080" cy="777240"/>
          </a:xfrm>
          <a:prstGeom prst="roundRect">
            <a:avLst>
              <a:gd name="adj" fmla="val 7059"/>
            </a:avLst>
          </a:prstGeom>
          <a:solidFill>
            <a:srgbClr val="1E2E56"/>
          </a:solidFill>
          <a:ln/>
        </p:spPr>
        <p:txBody>
          <a:bodyPr/>
          <a:lstStyle/>
          <a:p>
            <a:endParaRPr lang="en-US"/>
          </a:p>
        </p:txBody>
      </p:sp>
      <p:sp>
        <p:nvSpPr>
          <p:cNvPr id="26" name="Text 23"/>
          <p:cNvSpPr txBox="1"/>
          <p:nvPr/>
        </p:nvSpPr>
        <p:spPr>
          <a:xfrm>
            <a:off x="6309360" y="5285232"/>
            <a:ext cx="3657600" cy="292608"/>
          </a:xfrm>
          <a:prstGeom prst="rect">
            <a:avLst/>
          </a:prstGeom>
          <a:noFill/>
          <a:ln/>
        </p:spPr>
        <p:txBody>
          <a:bodyPr wrap="square" lIns="0" tIns="0" rIns="0" bIns="0" rtlCol="0" anchor="ctr"/>
          <a:lstStyle/>
          <a:p>
            <a:pPr marL="0" indent="0">
              <a:buNone/>
            </a:pPr>
            <a:r>
              <a:rPr lang="en-US" sz="1300" b="1" dirty="0">
                <a:solidFill>
                  <a:srgbClr val="17B8A6"/>
                </a:solidFill>
                <a:latin typeface="Calibri" pitchFamily="34" charset="0"/>
                <a:ea typeface="Calibri" pitchFamily="34" charset="-122"/>
                <a:cs typeface="Calibri" pitchFamily="34" charset="-120"/>
              </a:rPr>
              <a:t>4. Comparar, sin leer</a:t>
            </a:r>
            <a:endParaRPr lang="en-US" sz="1300" dirty="0"/>
          </a:p>
        </p:txBody>
      </p:sp>
      <p:sp>
        <p:nvSpPr>
          <p:cNvPr id="27" name="Text 24"/>
          <p:cNvSpPr txBox="1"/>
          <p:nvPr/>
        </p:nvSpPr>
        <p:spPr>
          <a:xfrm>
            <a:off x="9784080" y="5285232"/>
            <a:ext cx="1417320" cy="292608"/>
          </a:xfrm>
          <a:prstGeom prst="rect">
            <a:avLst/>
          </a:prstGeom>
          <a:noFill/>
          <a:ln/>
        </p:spPr>
        <p:txBody>
          <a:bodyPr wrap="square" lIns="0" tIns="0" rIns="0" bIns="0" rtlCol="0" anchor="ctr"/>
          <a:lstStyle/>
          <a:p>
            <a:pPr marL="0" indent="0" algn="r">
              <a:buNone/>
            </a:pPr>
            <a:r>
              <a:rPr lang="en-US" sz="1050" i="1" dirty="0">
                <a:solidFill>
                  <a:srgbClr val="AEB6D6"/>
                </a:solidFill>
                <a:latin typeface="Calibri" pitchFamily="34" charset="0"/>
                <a:ea typeface="Calibri" pitchFamily="34" charset="-122"/>
                <a:cs typeface="Calibri" pitchFamily="34" charset="-120"/>
              </a:rPr>
              <a:t>Test</a:t>
            </a:r>
            <a:endParaRPr lang="en-US" sz="1050" dirty="0"/>
          </a:p>
        </p:txBody>
      </p:sp>
      <p:sp>
        <p:nvSpPr>
          <p:cNvPr id="28" name="Text 25"/>
          <p:cNvSpPr txBox="1"/>
          <p:nvPr/>
        </p:nvSpPr>
        <p:spPr>
          <a:xfrm>
            <a:off x="6309360" y="5577840"/>
            <a:ext cx="4846320" cy="384048"/>
          </a:xfrm>
          <a:prstGeom prst="rect">
            <a:avLst/>
          </a:prstGeom>
          <a:noFill/>
          <a:ln/>
        </p:spPr>
        <p:txBody>
          <a:bodyPr wrap="square" lIns="0" tIns="0" rIns="0" bIns="0" rtlCol="0" anchor="ctr"/>
          <a:lstStyle/>
          <a:p>
            <a:pPr marL="0" indent="0">
              <a:lnSpc>
                <a:spcPct val="110000"/>
              </a:lnSpc>
              <a:buNone/>
            </a:pPr>
            <a:r>
              <a:rPr lang="en-US" sz="1100" dirty="0">
                <a:solidFill>
                  <a:srgbClr val="AEB6D6"/>
                </a:solidFill>
                <a:latin typeface="Calibri" pitchFamily="34" charset="0"/>
                <a:ea typeface="Calibri" pitchFamily="34" charset="-122"/>
                <a:cs typeface="Calibri" pitchFamily="34" charset="-120"/>
              </a:rPr>
              <a:t>El servidor compara el permiso con lo cifrado y responde sí / no — nunca ve la palabra real.</a:t>
            </a:r>
            <a:endParaRPr lang="en-US" sz="1100" dirty="0"/>
          </a:p>
        </p:txBody>
      </p:sp>
      <p:sp>
        <p:nvSpPr>
          <p:cNvPr id="30" name="Text 27"/>
          <p:cNvSpPr/>
          <p:nvPr/>
        </p:nvSpPr>
        <p:spPr>
          <a:xfrm>
            <a:off x="11185855" y="6437376"/>
            <a:ext cx="457200" cy="274320"/>
          </a:xfrm>
          <a:prstGeom prst="rect">
            <a:avLst/>
          </a:prstGeom>
          <a:noFill/>
          <a:ln/>
        </p:spPr>
        <p:txBody>
          <a:bodyPr wrap="square" rtlCol="0" anchor="ctr"/>
          <a:lstStyle/>
          <a:p>
            <a:pPr marL="0" indent="0" algn="r">
              <a:buNone/>
            </a:pPr>
            <a:r>
              <a:rPr lang="en-US" sz="1050" dirty="0">
                <a:solidFill>
                  <a:srgbClr val="5B6485"/>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marL="0" indent="0">
              <a:buNone/>
            </a:pPr>
            <a:r>
              <a:rPr lang="en-US" sz="1250" b="1" kern="0" spc="200" dirty="0">
                <a:solidFill>
                  <a:srgbClr val="6C6FD9"/>
                </a:solidFill>
                <a:latin typeface="Calibri" pitchFamily="34" charset="0"/>
                <a:ea typeface="Calibri" pitchFamily="34" charset="-122"/>
                <a:cs typeface="Calibri" pitchFamily="34" charset="-120"/>
              </a:rPr>
              <a:t>SEGURIDAD FORMAL VS. SEGURIDAD PRÁCTICA</a:t>
            </a:r>
            <a:endParaRPr lang="en-US" sz="1250" dirty="0"/>
          </a:p>
        </p:txBody>
      </p:sp>
      <p:sp>
        <p:nvSpPr>
          <p:cNvPr id="3" name="Text 1"/>
          <p:cNvSpPr txBox="1"/>
          <p:nvPr/>
        </p:nvSpPr>
        <p:spPr>
          <a:xfrm>
            <a:off x="548640" y="457200"/>
            <a:ext cx="11094415" cy="822960"/>
          </a:xfrm>
          <a:prstGeom prst="rect">
            <a:avLst/>
          </a:prstGeom>
          <a:noFill/>
          <a:ln/>
        </p:spPr>
        <p:txBody>
          <a:bodyPr wrap="square" lIns="0" tIns="0" rIns="0" bIns="0" rtlCol="0" anchor="ctr"/>
          <a:lstStyle/>
          <a:p>
            <a:pPr marL="0" indent="0">
              <a:buNone/>
            </a:pPr>
            <a:r>
              <a:rPr lang="en-US" sz="3200" b="1" dirty="0">
                <a:solidFill>
                  <a:srgbClr val="15213E"/>
                </a:solidFill>
                <a:latin typeface="Cambria" pitchFamily="34" charset="0"/>
                <a:ea typeface="Cambria" pitchFamily="34" charset="-122"/>
                <a:cs typeface="Cambria" pitchFamily="34" charset="-120"/>
              </a:rPr>
              <a:t>Semánticamente seguro… y aun así vulnerable</a:t>
            </a:r>
            <a:endParaRPr lang="en-US" sz="3200" dirty="0"/>
          </a:p>
        </p:txBody>
      </p:sp>
      <p:sp>
        <p:nvSpPr>
          <p:cNvPr id="4" name="Shape 2"/>
          <p:cNvSpPr/>
          <p:nvPr/>
        </p:nvSpPr>
        <p:spPr>
          <a:xfrm>
            <a:off x="548640" y="1417320"/>
            <a:ext cx="5394960" cy="3246120"/>
          </a:xfrm>
          <a:prstGeom prst="roundRect">
            <a:avLst>
              <a:gd name="adj" fmla="val 2254"/>
            </a:avLst>
          </a:prstGeom>
          <a:solidFill>
            <a:srgbClr val="FFFFFF"/>
          </a:solidFill>
          <a:ln w="12700">
            <a:solidFill>
              <a:srgbClr val="E2E5F0"/>
            </a:solidFill>
            <a:prstDash val="solid"/>
          </a:ln>
          <a:effectLst>
            <a:outerShdw blurRad="101600" dist="38100" dir="5400000" algn="bl" rotWithShape="0">
              <a:srgbClr val="1B2340">
                <a:alpha val="12000"/>
              </a:srgbClr>
            </a:outerShdw>
          </a:effectLst>
        </p:spPr>
        <p:txBody>
          <a:bodyPr/>
          <a:lstStyle/>
          <a:p>
            <a:endParaRPr lang="en-US"/>
          </a:p>
        </p:txBody>
      </p:sp>
      <p:sp>
        <p:nvSpPr>
          <p:cNvPr id="5" name="Shape 3"/>
          <p:cNvSpPr/>
          <p:nvPr/>
        </p:nvSpPr>
        <p:spPr>
          <a:xfrm>
            <a:off x="868680" y="1737360"/>
            <a:ext cx="594360" cy="594360"/>
          </a:xfrm>
          <a:prstGeom prst="ellipse">
            <a:avLst/>
          </a:prstGeom>
          <a:solidFill>
            <a:srgbClr val="15213E"/>
          </a:solidFill>
          <a:ln/>
        </p:spPr>
        <p:txBody>
          <a:bodyPr/>
          <a:lstStyle/>
          <a:p>
            <a:endParaRPr lang="en-US"/>
          </a:p>
        </p:txBody>
      </p:sp>
      <p:pic>
        <p:nvPicPr>
          <p:cNvPr id="6" name="Image 0" descr="/tmp/osa_pres/icons/shield_teal.png"/>
          <p:cNvPicPr>
            <a:picLocks noChangeAspect="1"/>
          </p:cNvPicPr>
          <p:nvPr/>
        </p:nvPicPr>
        <p:blipFill>
          <a:blip r:embed="rId3"/>
          <a:stretch>
            <a:fillRect/>
          </a:stretch>
        </p:blipFill>
        <p:spPr>
          <a:xfrm>
            <a:off x="945947" y="1814627"/>
            <a:ext cx="439826" cy="439826"/>
          </a:xfrm>
          <a:prstGeom prst="rect">
            <a:avLst/>
          </a:prstGeom>
        </p:spPr>
      </p:pic>
      <p:sp>
        <p:nvSpPr>
          <p:cNvPr id="7" name="Text 4"/>
          <p:cNvSpPr txBox="1"/>
          <p:nvPr/>
        </p:nvSpPr>
        <p:spPr>
          <a:xfrm>
            <a:off x="1600200" y="1737360"/>
            <a:ext cx="4206240" cy="548640"/>
          </a:xfrm>
          <a:prstGeom prst="rect">
            <a:avLst/>
          </a:prstGeom>
          <a:noFill/>
          <a:ln/>
        </p:spPr>
        <p:txBody>
          <a:bodyPr wrap="square" lIns="0" tIns="0" rIns="0" bIns="0" rtlCol="0" anchor="ctr"/>
          <a:lstStyle/>
          <a:p>
            <a:pPr marL="0" indent="0">
              <a:buNone/>
            </a:pPr>
            <a:r>
              <a:rPr lang="en-US" sz="1550" b="1" dirty="0">
                <a:solidFill>
                  <a:srgbClr val="15213E"/>
                </a:solidFill>
                <a:latin typeface="Cambria" pitchFamily="34" charset="0"/>
                <a:ea typeface="Cambria" pitchFamily="34" charset="-122"/>
                <a:cs typeface="Cambria" pitchFamily="34" charset="-120"/>
              </a:rPr>
              <a:t>Sin permiso, no se puede adivinar</a:t>
            </a:r>
            <a:endParaRPr lang="en-US" sz="1550" dirty="0"/>
          </a:p>
        </p:txBody>
      </p:sp>
      <p:sp>
        <p:nvSpPr>
          <p:cNvPr id="8" name="Text 5"/>
          <p:cNvSpPr txBox="1"/>
          <p:nvPr/>
        </p:nvSpPr>
        <p:spPr>
          <a:xfrm>
            <a:off x="868680" y="2468880"/>
            <a:ext cx="4754880" cy="1554480"/>
          </a:xfrm>
          <a:prstGeom prst="rect">
            <a:avLst/>
          </a:prstGeom>
          <a:noFill/>
          <a:ln/>
        </p:spPr>
        <p:txBody>
          <a:bodyPr wrap="square" lIns="0" tIns="0" rIns="0" bIns="0" rtlCol="0" anchor="ctr"/>
          <a:lstStyle/>
          <a:p>
            <a:pPr marL="0" indent="0">
              <a:lnSpc>
                <a:spcPct val="125000"/>
              </a:lnSpc>
              <a:buNone/>
            </a:pPr>
            <a:r>
              <a:rPr lang="en-US" sz="1400" dirty="0">
                <a:solidFill>
                  <a:srgbClr val="1B2340"/>
                </a:solidFill>
                <a:latin typeface="Calibri" pitchFamily="34" charset="0"/>
                <a:ea typeface="Calibri" pitchFamily="34" charset="-122"/>
                <a:cs typeface="Calibri" pitchFamily="34" charset="-120"/>
              </a:rPr>
              <a:t>Si no tenés el permiso de búsqueda de una palabra, el cifrado no te dice nada: es indistinguible del cifrado de cualquier otra palabra. Esto sí está formalmente probado.</a:t>
            </a:r>
            <a:endParaRPr lang="en-US" sz="1400" dirty="0"/>
          </a:p>
        </p:txBody>
      </p:sp>
      <p:sp>
        <p:nvSpPr>
          <p:cNvPr id="9" name="Text 6"/>
          <p:cNvSpPr txBox="1"/>
          <p:nvPr/>
        </p:nvSpPr>
        <p:spPr>
          <a:xfrm>
            <a:off x="868680" y="4160520"/>
            <a:ext cx="4754880" cy="320040"/>
          </a:xfrm>
          <a:prstGeom prst="rect">
            <a:avLst/>
          </a:prstGeom>
          <a:noFill/>
          <a:ln/>
        </p:spPr>
        <p:txBody>
          <a:bodyPr wrap="square" lIns="0" tIns="0" rIns="0" bIns="0" rtlCol="0" anchor="ctr"/>
          <a:lstStyle/>
          <a:p>
            <a:pPr marL="0" indent="0">
              <a:buNone/>
            </a:pPr>
            <a:r>
              <a:rPr lang="en-US" sz="1150" i="1" dirty="0">
                <a:solidFill>
                  <a:srgbClr val="5B6485"/>
                </a:solidFill>
                <a:latin typeface="Calibri" pitchFamily="34" charset="0"/>
                <a:ea typeface="Calibri" pitchFamily="34" charset="-122"/>
                <a:cs typeface="Calibri" pitchFamily="34" charset="-120"/>
              </a:rPr>
              <a:t>(propiedad formal: IND-CKA)</a:t>
            </a:r>
            <a:endParaRPr lang="en-US" sz="1150" dirty="0"/>
          </a:p>
        </p:txBody>
      </p:sp>
      <p:sp>
        <p:nvSpPr>
          <p:cNvPr id="10" name="Shape 7"/>
          <p:cNvSpPr/>
          <p:nvPr/>
        </p:nvSpPr>
        <p:spPr>
          <a:xfrm>
            <a:off x="6263640" y="1417320"/>
            <a:ext cx="5376672" cy="3246120"/>
          </a:xfrm>
          <a:prstGeom prst="roundRect">
            <a:avLst>
              <a:gd name="adj" fmla="val 2254"/>
            </a:avLst>
          </a:prstGeom>
          <a:solidFill>
            <a:srgbClr val="FFF6E9"/>
          </a:solidFill>
          <a:ln w="12700">
            <a:solidFill>
              <a:srgbClr val="E8A33D"/>
            </a:solidFill>
            <a:prstDash val="solid"/>
          </a:ln>
          <a:effectLst>
            <a:outerShdw blurRad="101600" dist="38100" dir="5400000" algn="bl" rotWithShape="0">
              <a:srgbClr val="1B2340">
                <a:alpha val="12000"/>
              </a:srgbClr>
            </a:outerShdw>
          </a:effectLst>
        </p:spPr>
        <p:txBody>
          <a:bodyPr/>
          <a:lstStyle/>
          <a:p>
            <a:endParaRPr lang="en-US"/>
          </a:p>
        </p:txBody>
      </p:sp>
      <p:sp>
        <p:nvSpPr>
          <p:cNvPr id="11" name="Shape 8"/>
          <p:cNvSpPr/>
          <p:nvPr/>
        </p:nvSpPr>
        <p:spPr>
          <a:xfrm>
            <a:off x="6583680" y="1737360"/>
            <a:ext cx="594360" cy="594360"/>
          </a:xfrm>
          <a:prstGeom prst="ellipse">
            <a:avLst/>
          </a:prstGeom>
          <a:solidFill>
            <a:srgbClr val="E8A33D"/>
          </a:solidFill>
          <a:ln/>
        </p:spPr>
        <p:txBody>
          <a:bodyPr/>
          <a:lstStyle/>
          <a:p>
            <a:endParaRPr lang="en-US"/>
          </a:p>
        </p:txBody>
      </p:sp>
      <p:pic>
        <p:nvPicPr>
          <p:cNvPr id="12" name="Image 1" descr="/tmp/osa_pres/icons/times_navy.png"/>
          <p:cNvPicPr>
            <a:picLocks noChangeAspect="1"/>
          </p:cNvPicPr>
          <p:nvPr/>
        </p:nvPicPr>
        <p:blipFill>
          <a:blip r:embed="rId4"/>
          <a:stretch>
            <a:fillRect/>
          </a:stretch>
        </p:blipFill>
        <p:spPr>
          <a:xfrm>
            <a:off x="6660947" y="1814627"/>
            <a:ext cx="439826" cy="439826"/>
          </a:xfrm>
          <a:prstGeom prst="rect">
            <a:avLst/>
          </a:prstGeom>
        </p:spPr>
      </p:pic>
      <p:sp>
        <p:nvSpPr>
          <p:cNvPr id="13" name="Text 9"/>
          <p:cNvSpPr txBox="1"/>
          <p:nvPr/>
        </p:nvSpPr>
        <p:spPr>
          <a:xfrm>
            <a:off x="7315200" y="1737360"/>
            <a:ext cx="4206240" cy="548640"/>
          </a:xfrm>
          <a:prstGeom prst="rect">
            <a:avLst/>
          </a:prstGeom>
          <a:noFill/>
          <a:ln/>
        </p:spPr>
        <p:txBody>
          <a:bodyPr wrap="square" lIns="0" tIns="0" rIns="0" bIns="0" rtlCol="0" anchor="ctr"/>
          <a:lstStyle/>
          <a:p>
            <a:pPr marL="0" indent="0">
              <a:buNone/>
            </a:pPr>
            <a:r>
              <a:rPr lang="en-US" sz="1550" b="1" dirty="0">
                <a:solidFill>
                  <a:srgbClr val="15213E"/>
                </a:solidFill>
                <a:latin typeface="Cambria" pitchFamily="34" charset="0"/>
                <a:ea typeface="Cambria" pitchFamily="34" charset="-122"/>
                <a:cs typeface="Cambria" pitchFamily="34" charset="-120"/>
              </a:rPr>
              <a:t>Pero se puede adivinar la palabra</a:t>
            </a:r>
            <a:endParaRPr lang="en-US" sz="1550" dirty="0"/>
          </a:p>
        </p:txBody>
      </p:sp>
      <p:sp>
        <p:nvSpPr>
          <p:cNvPr id="14" name="Text 10"/>
          <p:cNvSpPr txBox="1"/>
          <p:nvPr/>
        </p:nvSpPr>
        <p:spPr>
          <a:xfrm>
            <a:off x="6583680" y="2468880"/>
            <a:ext cx="4892040" cy="2011680"/>
          </a:xfrm>
          <a:prstGeom prst="rect">
            <a:avLst/>
          </a:prstGeom>
          <a:noFill/>
          <a:ln/>
        </p:spPr>
        <p:txBody>
          <a:bodyPr wrap="square" lIns="0" tIns="0" rIns="0" bIns="0" rtlCol="0" anchor="ctr"/>
          <a:lstStyle/>
          <a:p>
            <a:pPr marL="0" indent="0">
              <a:lnSpc>
                <a:spcPct val="122000"/>
              </a:lnSpc>
              <a:buNone/>
            </a:pPr>
            <a:r>
              <a:rPr lang="en-US" sz="1300" dirty="0">
                <a:solidFill>
                  <a:srgbClr val="5C3A00"/>
                </a:solidFill>
                <a:latin typeface="Calibri" pitchFamily="34" charset="0"/>
                <a:ea typeface="Calibri" pitchFamily="34" charset="-122"/>
                <a:cs typeface="Calibri" pitchFamily="34" charset="-120"/>
              </a:rPr>
              <a:t>Cifrar la misma palabra siempre da el mismo resultado. Si alguien consigue UN permiso filtrado, puede probar tranquilo, en su propia computadora, una lista de palabras candidatas hasta encontrar cuál coincide. Y no hace falta robar nada: la clave pública ya la tiene, porque es pública.</a:t>
            </a:r>
            <a:endParaRPr lang="en-US" sz="1300" dirty="0"/>
          </a:p>
        </p:txBody>
      </p:sp>
      <p:sp>
        <p:nvSpPr>
          <p:cNvPr id="15" name="Shape 11"/>
          <p:cNvSpPr/>
          <p:nvPr/>
        </p:nvSpPr>
        <p:spPr>
          <a:xfrm>
            <a:off x="548640" y="4892040"/>
            <a:ext cx="11091672" cy="1280160"/>
          </a:xfrm>
          <a:prstGeom prst="roundRect">
            <a:avLst>
              <a:gd name="adj" fmla="val 5714"/>
            </a:avLst>
          </a:prstGeom>
          <a:solidFill>
            <a:srgbClr val="15213E"/>
          </a:solidFill>
          <a:ln w="12700">
            <a:solidFill>
              <a:srgbClr val="E2E5F0"/>
            </a:solidFill>
            <a:prstDash val="solid"/>
          </a:ln>
        </p:spPr>
        <p:txBody>
          <a:bodyPr/>
          <a:lstStyle/>
          <a:p>
            <a:endParaRPr lang="en-US"/>
          </a:p>
        </p:txBody>
      </p:sp>
      <p:sp>
        <p:nvSpPr>
          <p:cNvPr id="16" name="Text 12"/>
          <p:cNvSpPr txBox="1"/>
          <p:nvPr/>
        </p:nvSpPr>
        <p:spPr>
          <a:xfrm>
            <a:off x="914400" y="4892040"/>
            <a:ext cx="9509760" cy="822960"/>
          </a:xfrm>
          <a:prstGeom prst="rect">
            <a:avLst/>
          </a:prstGeom>
          <a:noFill/>
          <a:ln/>
        </p:spPr>
        <p:txBody>
          <a:bodyPr wrap="square" lIns="0" tIns="0" rIns="0" bIns="0" rtlCol="0" anchor="ctr"/>
          <a:lstStyle/>
          <a:p>
            <a:pPr marL="0" indent="0">
              <a:buNone/>
            </a:pPr>
            <a:r>
              <a:rPr lang="en-US" sz="1550" i="1" dirty="0">
                <a:solidFill>
                  <a:srgbClr val="FFFFFF"/>
                </a:solidFill>
                <a:latin typeface="Cambria" pitchFamily="34" charset="0"/>
                <a:ea typeface="Cambria" pitchFamily="34" charset="-122"/>
                <a:cs typeface="Cambria" pitchFamily="34" charset="-120"/>
              </a:rPr>
              <a:t>“El problema no es de velocidad: es que las palabras que usamos para buscar nunca tuvieron tantas combinaciones posibles como una clave secreta.”</a:t>
            </a:r>
            <a:endParaRPr lang="en-US" sz="1550" dirty="0"/>
          </a:p>
        </p:txBody>
      </p:sp>
      <p:sp>
        <p:nvSpPr>
          <p:cNvPr id="17" name="Text 13"/>
          <p:cNvSpPr txBox="1"/>
          <p:nvPr/>
        </p:nvSpPr>
        <p:spPr>
          <a:xfrm>
            <a:off x="914400" y="5715000"/>
            <a:ext cx="9509760" cy="365760"/>
          </a:xfrm>
          <a:prstGeom prst="rect">
            <a:avLst/>
          </a:prstGeom>
          <a:noFill/>
          <a:ln/>
        </p:spPr>
        <p:txBody>
          <a:bodyPr wrap="square" lIns="0" tIns="0" rIns="0" bIns="0" rtlCol="0" anchor="ctr"/>
          <a:lstStyle/>
          <a:p>
            <a:pPr marL="0" indent="0">
              <a:buNone/>
            </a:pPr>
            <a:r>
              <a:rPr lang="en-US" sz="1200" dirty="0">
                <a:solidFill>
                  <a:srgbClr val="AEB6D6"/>
                </a:solidFill>
                <a:latin typeface="Calibri" pitchFamily="34" charset="0"/>
                <a:ea typeface="Calibri" pitchFamily="34" charset="-122"/>
                <a:cs typeface="Calibri" pitchFamily="34" charset="-120"/>
              </a:rPr>
              <a:t>— Byun, Rhee, Park &amp; Lee, 2006</a:t>
            </a:r>
            <a:endParaRPr lang="en-US" sz="1200" dirty="0"/>
          </a:p>
        </p:txBody>
      </p:sp>
      <p:sp>
        <p:nvSpPr>
          <p:cNvPr id="19" name="Text 15"/>
          <p:cNvSpPr/>
          <p:nvPr/>
        </p:nvSpPr>
        <p:spPr>
          <a:xfrm>
            <a:off x="11185855" y="6437376"/>
            <a:ext cx="457200" cy="274320"/>
          </a:xfrm>
          <a:prstGeom prst="rect">
            <a:avLst/>
          </a:prstGeom>
          <a:noFill/>
          <a:ln/>
        </p:spPr>
        <p:txBody>
          <a:bodyPr wrap="square" rtlCol="0" anchor="ctr"/>
          <a:lstStyle/>
          <a:p>
            <a:pPr marL="0" indent="0" algn="r">
              <a:buNone/>
            </a:pPr>
            <a:r>
              <a:rPr lang="en-US" sz="1050" dirty="0">
                <a:solidFill>
                  <a:srgbClr val="5B6485"/>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marL="0" indent="0">
              <a:buNone/>
            </a:pPr>
            <a:r>
              <a:rPr lang="en-US" sz="1250" b="1" kern="0" spc="200" dirty="0">
                <a:solidFill>
                  <a:srgbClr val="6C6FD9"/>
                </a:solidFill>
                <a:latin typeface="Calibri" pitchFamily="34" charset="0"/>
                <a:ea typeface="Calibri" pitchFamily="34" charset="-122"/>
                <a:cs typeface="Calibri" pitchFamily="34" charset="-120"/>
              </a:rPr>
              <a:t>DOS RESPUESTAS, DOS COSTOS</a:t>
            </a:r>
            <a:endParaRPr lang="en-US" sz="1250" dirty="0"/>
          </a:p>
        </p:txBody>
      </p:sp>
      <p:sp>
        <p:nvSpPr>
          <p:cNvPr id="3" name="Text 1"/>
          <p:cNvSpPr txBox="1"/>
          <p:nvPr/>
        </p:nvSpPr>
        <p:spPr>
          <a:xfrm>
            <a:off x="548640" y="457200"/>
            <a:ext cx="11094415" cy="822960"/>
          </a:xfrm>
          <a:prstGeom prst="rect">
            <a:avLst/>
          </a:prstGeom>
          <a:noFill/>
          <a:ln/>
        </p:spPr>
        <p:txBody>
          <a:bodyPr wrap="square" lIns="0" tIns="0" rIns="0" bIns="0" rtlCol="0" anchor="ctr"/>
          <a:lstStyle/>
          <a:p>
            <a:pPr marL="0" indent="0">
              <a:buNone/>
            </a:pPr>
            <a:r>
              <a:rPr lang="en-US" sz="3200" b="1" dirty="0">
                <a:solidFill>
                  <a:srgbClr val="15213E"/>
                </a:solidFill>
                <a:latin typeface="Cambria" pitchFamily="34" charset="0"/>
                <a:ea typeface="Cambria" pitchFamily="34" charset="-122"/>
                <a:cs typeface="Cambria" pitchFamily="34" charset="-120"/>
              </a:rPr>
              <a:t>SSE vs. PEKS, en números</a:t>
            </a:r>
            <a:endParaRPr lang="en-US" sz="3200" dirty="0"/>
          </a:p>
        </p:txBody>
      </p:sp>
      <p:sp>
        <p:nvSpPr>
          <p:cNvPr id="4" name="Shape 2"/>
          <p:cNvSpPr/>
          <p:nvPr/>
        </p:nvSpPr>
        <p:spPr>
          <a:xfrm>
            <a:off x="548640" y="1417320"/>
            <a:ext cx="11274552" cy="566928"/>
          </a:xfrm>
          <a:prstGeom prst="rect">
            <a:avLst/>
          </a:prstGeom>
          <a:solidFill>
            <a:srgbClr val="15213E"/>
          </a:solidFill>
          <a:ln/>
        </p:spPr>
        <p:txBody>
          <a:bodyPr/>
          <a:lstStyle/>
          <a:p>
            <a:endParaRPr lang="en-US"/>
          </a:p>
        </p:txBody>
      </p:sp>
      <p:sp>
        <p:nvSpPr>
          <p:cNvPr id="5" name="Text 3"/>
          <p:cNvSpPr txBox="1"/>
          <p:nvPr/>
        </p:nvSpPr>
        <p:spPr>
          <a:xfrm>
            <a:off x="640080" y="1417320"/>
            <a:ext cx="3474720" cy="56692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Aspecto</a:t>
            </a:r>
            <a:endParaRPr lang="en-US" sz="1350" dirty="0"/>
          </a:p>
        </p:txBody>
      </p:sp>
      <p:sp>
        <p:nvSpPr>
          <p:cNvPr id="6" name="Text 4"/>
          <p:cNvSpPr txBox="1"/>
          <p:nvPr/>
        </p:nvSpPr>
        <p:spPr>
          <a:xfrm>
            <a:off x="4297680" y="1417320"/>
            <a:ext cx="3611880" cy="56692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SSE (simétrico)</a:t>
            </a:r>
            <a:endParaRPr lang="en-US" sz="1350" dirty="0"/>
          </a:p>
        </p:txBody>
      </p:sp>
      <p:sp>
        <p:nvSpPr>
          <p:cNvPr id="7" name="Text 5"/>
          <p:cNvSpPr txBox="1"/>
          <p:nvPr/>
        </p:nvSpPr>
        <p:spPr>
          <a:xfrm>
            <a:off x="8092440" y="1417320"/>
            <a:ext cx="3639312" cy="56692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PEKS (clave pública)</a:t>
            </a:r>
            <a:endParaRPr lang="en-US" sz="1350" dirty="0"/>
          </a:p>
        </p:txBody>
      </p:sp>
      <p:sp>
        <p:nvSpPr>
          <p:cNvPr id="8" name="Shape 6"/>
          <p:cNvSpPr/>
          <p:nvPr/>
        </p:nvSpPr>
        <p:spPr>
          <a:xfrm>
            <a:off x="548640" y="1984248"/>
            <a:ext cx="11274552" cy="566928"/>
          </a:xfrm>
          <a:prstGeom prst="rect">
            <a:avLst/>
          </a:prstGeom>
          <a:solidFill>
            <a:srgbClr val="EDEFF9"/>
          </a:solidFill>
          <a:ln/>
        </p:spPr>
        <p:txBody>
          <a:bodyPr/>
          <a:lstStyle/>
          <a:p>
            <a:endParaRPr lang="en-US"/>
          </a:p>
        </p:txBody>
      </p:sp>
      <p:sp>
        <p:nvSpPr>
          <p:cNvPr id="9" name="Text 7"/>
          <p:cNvSpPr txBox="1"/>
          <p:nvPr/>
        </p:nvSpPr>
        <p:spPr>
          <a:xfrm>
            <a:off x="640080" y="1984248"/>
            <a:ext cx="3474720" cy="566928"/>
          </a:xfrm>
          <a:prstGeom prst="rect">
            <a:avLst/>
          </a:prstGeom>
          <a:noFill/>
          <a:ln/>
        </p:spPr>
        <p:txBody>
          <a:bodyPr wrap="square" lIns="0" tIns="0" rIns="0" bIns="0" rtlCol="0" anchor="ctr"/>
          <a:lstStyle/>
          <a:p>
            <a:pPr marL="0" indent="0">
              <a:buNone/>
            </a:pPr>
            <a:r>
              <a:rPr lang="en-US" sz="1300" b="1" dirty="0">
                <a:solidFill>
                  <a:srgbClr val="15213E"/>
                </a:solidFill>
                <a:latin typeface="Calibri" pitchFamily="34" charset="0"/>
                <a:ea typeface="Calibri" pitchFamily="34" charset="-122"/>
                <a:cs typeface="Calibri" pitchFamily="34" charset="-120"/>
              </a:rPr>
              <a:t>Primitiva base</a:t>
            </a:r>
            <a:endParaRPr lang="en-US" sz="1300" dirty="0"/>
          </a:p>
        </p:txBody>
      </p:sp>
      <p:sp>
        <p:nvSpPr>
          <p:cNvPr id="10" name="Text 8"/>
          <p:cNvSpPr txBox="1"/>
          <p:nvPr/>
        </p:nvSpPr>
        <p:spPr>
          <a:xfrm>
            <a:off x="4297680" y="1984248"/>
            <a:ext cx="3611880" cy="566928"/>
          </a:xfrm>
          <a:prstGeom prst="rect">
            <a:avLst/>
          </a:prstGeom>
          <a:noFill/>
          <a:ln/>
        </p:spPr>
        <p:txBody>
          <a:bodyPr wrap="square" lIns="0" tIns="0" rIns="0" bIns="0" rtlCol="0" anchor="ctr"/>
          <a:lstStyle/>
          <a:p>
            <a:pPr marL="0" indent="0">
              <a:buNone/>
            </a:pPr>
            <a:r>
              <a:rPr lang="en-US" sz="1300" dirty="0">
                <a:solidFill>
                  <a:srgbClr val="1B2340"/>
                </a:solidFill>
                <a:latin typeface="Calibri" pitchFamily="34" charset="0"/>
                <a:ea typeface="Calibri" pitchFamily="34" charset="-122"/>
                <a:cs typeface="Calibri" pitchFamily="34" charset="-120"/>
              </a:rPr>
              <a:t>HMAC, AES (rápidas)</a:t>
            </a:r>
            <a:endParaRPr lang="en-US" sz="1300" dirty="0"/>
          </a:p>
        </p:txBody>
      </p:sp>
      <p:sp>
        <p:nvSpPr>
          <p:cNvPr id="11" name="Text 9"/>
          <p:cNvSpPr txBox="1"/>
          <p:nvPr/>
        </p:nvSpPr>
        <p:spPr>
          <a:xfrm>
            <a:off x="8092440" y="1984248"/>
            <a:ext cx="3639312" cy="566928"/>
          </a:xfrm>
          <a:prstGeom prst="rect">
            <a:avLst/>
          </a:prstGeom>
          <a:noFill/>
          <a:ln/>
        </p:spPr>
        <p:txBody>
          <a:bodyPr wrap="square" lIns="0" tIns="0" rIns="0" bIns="0" rtlCol="0" anchor="ctr"/>
          <a:lstStyle/>
          <a:p>
            <a:pPr marL="0" indent="0">
              <a:buNone/>
            </a:pPr>
            <a:r>
              <a:rPr lang="en-US" sz="1300" dirty="0">
                <a:solidFill>
                  <a:srgbClr val="1B2340"/>
                </a:solidFill>
                <a:latin typeface="Calibri" pitchFamily="34" charset="0"/>
                <a:ea typeface="Calibri" pitchFamily="34" charset="-122"/>
                <a:cs typeface="Calibri" pitchFamily="34" charset="-120"/>
              </a:rPr>
              <a:t>Curvas elípticas más pesadas</a:t>
            </a:r>
            <a:endParaRPr lang="en-US" sz="1300" dirty="0"/>
          </a:p>
        </p:txBody>
      </p:sp>
      <p:sp>
        <p:nvSpPr>
          <p:cNvPr id="12" name="Shape 10"/>
          <p:cNvSpPr/>
          <p:nvPr/>
        </p:nvSpPr>
        <p:spPr>
          <a:xfrm>
            <a:off x="548640" y="2551176"/>
            <a:ext cx="11274552" cy="566928"/>
          </a:xfrm>
          <a:prstGeom prst="rect">
            <a:avLst/>
          </a:prstGeom>
          <a:solidFill>
            <a:srgbClr val="FFFFFF"/>
          </a:solidFill>
          <a:ln/>
        </p:spPr>
        <p:txBody>
          <a:bodyPr/>
          <a:lstStyle/>
          <a:p>
            <a:endParaRPr lang="en-US"/>
          </a:p>
        </p:txBody>
      </p:sp>
      <p:sp>
        <p:nvSpPr>
          <p:cNvPr id="13" name="Text 11"/>
          <p:cNvSpPr txBox="1"/>
          <p:nvPr/>
        </p:nvSpPr>
        <p:spPr>
          <a:xfrm>
            <a:off x="640080" y="2551176"/>
            <a:ext cx="3474720" cy="566928"/>
          </a:xfrm>
          <a:prstGeom prst="rect">
            <a:avLst/>
          </a:prstGeom>
          <a:noFill/>
          <a:ln/>
        </p:spPr>
        <p:txBody>
          <a:bodyPr wrap="square" lIns="0" tIns="0" rIns="0" bIns="0" rtlCol="0" anchor="ctr"/>
          <a:lstStyle/>
          <a:p>
            <a:pPr marL="0" indent="0">
              <a:buNone/>
            </a:pPr>
            <a:r>
              <a:rPr lang="en-US" sz="1300" b="1" dirty="0">
                <a:solidFill>
                  <a:srgbClr val="15213E"/>
                </a:solidFill>
                <a:latin typeface="Calibri" pitchFamily="34" charset="0"/>
                <a:ea typeface="Calibri" pitchFamily="34" charset="-122"/>
                <a:cs typeface="Calibri" pitchFamily="34" charset="-120"/>
              </a:rPr>
              <a:t>Generar un permiso de búsqueda</a:t>
            </a:r>
            <a:endParaRPr lang="en-US" sz="1300" dirty="0"/>
          </a:p>
        </p:txBody>
      </p:sp>
      <p:sp>
        <p:nvSpPr>
          <p:cNvPr id="14" name="Text 12"/>
          <p:cNvSpPr txBox="1"/>
          <p:nvPr/>
        </p:nvSpPr>
        <p:spPr>
          <a:xfrm>
            <a:off x="4297680" y="2551176"/>
            <a:ext cx="3611880" cy="566928"/>
          </a:xfrm>
          <a:prstGeom prst="rect">
            <a:avLst/>
          </a:prstGeom>
          <a:noFill/>
          <a:ln/>
        </p:spPr>
        <p:txBody>
          <a:bodyPr wrap="square" lIns="0" tIns="0" rIns="0" bIns="0" rtlCol="0" anchor="ctr"/>
          <a:lstStyle/>
          <a:p>
            <a:pPr marL="0" indent="0">
              <a:buNone/>
            </a:pPr>
            <a:r>
              <a:rPr lang="en-US" sz="1300" dirty="0">
                <a:solidFill>
                  <a:srgbClr val="1B2340"/>
                </a:solidFill>
                <a:latin typeface="Calibri" pitchFamily="34" charset="0"/>
                <a:ea typeface="Calibri" pitchFamily="34" charset="-122"/>
                <a:cs typeface="Calibri" pitchFamily="34" charset="-120"/>
              </a:rPr>
              <a:t>~100 nanosegundos</a:t>
            </a:r>
            <a:endParaRPr lang="en-US" sz="1300" dirty="0"/>
          </a:p>
        </p:txBody>
      </p:sp>
      <p:sp>
        <p:nvSpPr>
          <p:cNvPr id="15" name="Text 13"/>
          <p:cNvSpPr txBox="1"/>
          <p:nvPr/>
        </p:nvSpPr>
        <p:spPr>
          <a:xfrm>
            <a:off x="8092440" y="2551176"/>
            <a:ext cx="3639312" cy="566928"/>
          </a:xfrm>
          <a:prstGeom prst="rect">
            <a:avLst/>
          </a:prstGeom>
          <a:noFill/>
          <a:ln/>
        </p:spPr>
        <p:txBody>
          <a:bodyPr wrap="square" lIns="0" tIns="0" rIns="0" bIns="0" rtlCol="0" anchor="ctr"/>
          <a:lstStyle/>
          <a:p>
            <a:pPr marL="0" indent="0">
              <a:buNone/>
            </a:pPr>
            <a:r>
              <a:rPr lang="en-US" sz="1300" dirty="0">
                <a:solidFill>
                  <a:srgbClr val="1B2340"/>
                </a:solidFill>
                <a:latin typeface="Calibri" pitchFamily="34" charset="0"/>
                <a:ea typeface="Calibri" pitchFamily="34" charset="-122"/>
                <a:cs typeface="Calibri" pitchFamily="34" charset="-120"/>
              </a:rPr>
              <a:t>~milisegundos (mucho más lento)</a:t>
            </a:r>
            <a:endParaRPr lang="en-US" sz="1300" dirty="0"/>
          </a:p>
        </p:txBody>
      </p:sp>
      <p:sp>
        <p:nvSpPr>
          <p:cNvPr id="16" name="Shape 14"/>
          <p:cNvSpPr/>
          <p:nvPr/>
        </p:nvSpPr>
        <p:spPr>
          <a:xfrm>
            <a:off x="548640" y="3118104"/>
            <a:ext cx="11274552" cy="566928"/>
          </a:xfrm>
          <a:prstGeom prst="rect">
            <a:avLst/>
          </a:prstGeom>
          <a:solidFill>
            <a:srgbClr val="EDEFF9"/>
          </a:solidFill>
          <a:ln/>
        </p:spPr>
        <p:txBody>
          <a:bodyPr/>
          <a:lstStyle/>
          <a:p>
            <a:endParaRPr lang="en-US"/>
          </a:p>
        </p:txBody>
      </p:sp>
      <p:sp>
        <p:nvSpPr>
          <p:cNvPr id="17" name="Text 15"/>
          <p:cNvSpPr txBox="1"/>
          <p:nvPr/>
        </p:nvSpPr>
        <p:spPr>
          <a:xfrm>
            <a:off x="640080" y="3118104"/>
            <a:ext cx="3474720" cy="566928"/>
          </a:xfrm>
          <a:prstGeom prst="rect">
            <a:avLst/>
          </a:prstGeom>
          <a:noFill/>
          <a:ln/>
        </p:spPr>
        <p:txBody>
          <a:bodyPr wrap="square" lIns="0" tIns="0" rIns="0" bIns="0" rtlCol="0" anchor="ctr"/>
          <a:lstStyle/>
          <a:p>
            <a:pPr marL="0" indent="0">
              <a:buNone/>
            </a:pPr>
            <a:r>
              <a:rPr lang="en-US" sz="1300" b="1" dirty="0">
                <a:solidFill>
                  <a:srgbClr val="15213E"/>
                </a:solidFill>
                <a:latin typeface="Calibri" pitchFamily="34" charset="0"/>
                <a:ea typeface="Calibri" pitchFamily="34" charset="-122"/>
                <a:cs typeface="Calibri" pitchFamily="34" charset="-120"/>
              </a:rPr>
              <a:t>Velocidad de búsqueda</a:t>
            </a:r>
            <a:endParaRPr lang="en-US" sz="1300" dirty="0"/>
          </a:p>
        </p:txBody>
      </p:sp>
      <p:sp>
        <p:nvSpPr>
          <p:cNvPr id="18" name="Text 16"/>
          <p:cNvSpPr txBox="1"/>
          <p:nvPr/>
        </p:nvSpPr>
        <p:spPr>
          <a:xfrm>
            <a:off x="4297680" y="3118104"/>
            <a:ext cx="3611880" cy="566928"/>
          </a:xfrm>
          <a:prstGeom prst="rect">
            <a:avLst/>
          </a:prstGeom>
          <a:noFill/>
          <a:ln/>
        </p:spPr>
        <p:txBody>
          <a:bodyPr wrap="square" lIns="0" tIns="0" rIns="0" bIns="0" rtlCol="0" anchor="ctr"/>
          <a:lstStyle/>
          <a:p>
            <a:pPr marL="0" indent="0">
              <a:buNone/>
            </a:pPr>
            <a:r>
              <a:rPr lang="en-US" sz="1300" dirty="0">
                <a:solidFill>
                  <a:srgbClr val="1B2340"/>
                </a:solidFill>
                <a:latin typeface="Calibri" pitchFamily="34" charset="0"/>
                <a:ea typeface="Calibri" pitchFamily="34" charset="-122"/>
                <a:cs typeface="Calibri" pitchFamily="34" charset="-120"/>
              </a:rPr>
              <a:t>Rápida, solo mira coincidencias</a:t>
            </a:r>
            <a:endParaRPr lang="en-US" sz="1300" dirty="0"/>
          </a:p>
        </p:txBody>
      </p:sp>
      <p:sp>
        <p:nvSpPr>
          <p:cNvPr id="19" name="Text 17"/>
          <p:cNvSpPr txBox="1"/>
          <p:nvPr/>
        </p:nvSpPr>
        <p:spPr>
          <a:xfrm>
            <a:off x="8092440" y="3118104"/>
            <a:ext cx="3639312" cy="566928"/>
          </a:xfrm>
          <a:prstGeom prst="rect">
            <a:avLst/>
          </a:prstGeom>
          <a:noFill/>
          <a:ln/>
        </p:spPr>
        <p:txBody>
          <a:bodyPr wrap="square" lIns="0" tIns="0" rIns="0" bIns="0" rtlCol="0" anchor="ctr"/>
          <a:lstStyle/>
          <a:p>
            <a:pPr marL="0" indent="0">
              <a:buNone/>
            </a:pPr>
            <a:r>
              <a:rPr lang="en-US" sz="1300" dirty="0">
                <a:solidFill>
                  <a:srgbClr val="1B2340"/>
                </a:solidFill>
                <a:latin typeface="Calibri" pitchFamily="34" charset="0"/>
                <a:ea typeface="Calibri" pitchFamily="34" charset="-122"/>
                <a:cs typeface="Calibri" pitchFamily="34" charset="-120"/>
              </a:rPr>
              <a:t>Más lenta, recorre todo el índice</a:t>
            </a:r>
            <a:endParaRPr lang="en-US" sz="1300" dirty="0"/>
          </a:p>
        </p:txBody>
      </p:sp>
      <p:sp>
        <p:nvSpPr>
          <p:cNvPr id="20" name="Shape 18"/>
          <p:cNvSpPr/>
          <p:nvPr/>
        </p:nvSpPr>
        <p:spPr>
          <a:xfrm>
            <a:off x="548640" y="3685032"/>
            <a:ext cx="11274552" cy="566928"/>
          </a:xfrm>
          <a:prstGeom prst="rect">
            <a:avLst/>
          </a:prstGeom>
          <a:solidFill>
            <a:srgbClr val="FFFFFF"/>
          </a:solidFill>
          <a:ln/>
        </p:spPr>
        <p:txBody>
          <a:bodyPr/>
          <a:lstStyle/>
          <a:p>
            <a:endParaRPr lang="en-US"/>
          </a:p>
        </p:txBody>
      </p:sp>
      <p:sp>
        <p:nvSpPr>
          <p:cNvPr id="21" name="Text 19"/>
          <p:cNvSpPr txBox="1"/>
          <p:nvPr/>
        </p:nvSpPr>
        <p:spPr>
          <a:xfrm>
            <a:off x="640080" y="3685032"/>
            <a:ext cx="3474720" cy="566928"/>
          </a:xfrm>
          <a:prstGeom prst="rect">
            <a:avLst/>
          </a:prstGeom>
          <a:noFill/>
          <a:ln/>
        </p:spPr>
        <p:txBody>
          <a:bodyPr wrap="square" lIns="0" tIns="0" rIns="0" bIns="0" rtlCol="0" anchor="ctr"/>
          <a:lstStyle/>
          <a:p>
            <a:pPr marL="0" indent="0">
              <a:buNone/>
            </a:pPr>
            <a:r>
              <a:rPr lang="en-US" sz="1300" b="1" dirty="0">
                <a:solidFill>
                  <a:srgbClr val="15213E"/>
                </a:solidFill>
                <a:latin typeface="Calibri" pitchFamily="34" charset="0"/>
                <a:ea typeface="Calibri" pitchFamily="34" charset="-122"/>
                <a:cs typeface="Calibri" pitchFamily="34" charset="-120"/>
              </a:rPr>
              <a:t>¿Varios escritores sin compartir clave?</a:t>
            </a:r>
            <a:endParaRPr lang="en-US" sz="1300" dirty="0"/>
          </a:p>
        </p:txBody>
      </p:sp>
      <p:sp>
        <p:nvSpPr>
          <p:cNvPr id="22" name="Text 20"/>
          <p:cNvSpPr txBox="1"/>
          <p:nvPr/>
        </p:nvSpPr>
        <p:spPr>
          <a:xfrm>
            <a:off x="4297680" y="3685032"/>
            <a:ext cx="3611880" cy="566928"/>
          </a:xfrm>
          <a:prstGeom prst="rect">
            <a:avLst/>
          </a:prstGeom>
          <a:noFill/>
          <a:ln/>
        </p:spPr>
        <p:txBody>
          <a:bodyPr wrap="square" lIns="0" tIns="0" rIns="0" bIns="0" rtlCol="0" anchor="ctr"/>
          <a:lstStyle/>
          <a:p>
            <a:pPr marL="0" indent="0">
              <a:buNone/>
            </a:pPr>
            <a:r>
              <a:rPr lang="en-US" sz="1300" dirty="0">
                <a:solidFill>
                  <a:srgbClr val="1B2340"/>
                </a:solidFill>
                <a:latin typeface="Calibri" pitchFamily="34" charset="0"/>
                <a:ea typeface="Calibri" pitchFamily="34" charset="-122"/>
                <a:cs typeface="Calibri" pitchFamily="34" charset="-120"/>
              </a:rPr>
              <a:t>No — hace falta acordar una clave antes</a:t>
            </a:r>
            <a:endParaRPr lang="en-US" sz="1300" dirty="0"/>
          </a:p>
        </p:txBody>
      </p:sp>
      <p:sp>
        <p:nvSpPr>
          <p:cNvPr id="23" name="Text 21"/>
          <p:cNvSpPr txBox="1"/>
          <p:nvPr/>
        </p:nvSpPr>
        <p:spPr>
          <a:xfrm>
            <a:off x="8092440" y="3685032"/>
            <a:ext cx="3639312" cy="566928"/>
          </a:xfrm>
          <a:prstGeom prst="rect">
            <a:avLst/>
          </a:prstGeom>
          <a:noFill/>
          <a:ln/>
        </p:spPr>
        <p:txBody>
          <a:bodyPr wrap="square" lIns="0" tIns="0" rIns="0" bIns="0" rtlCol="0" anchor="ctr"/>
          <a:lstStyle/>
          <a:p>
            <a:pPr marL="0" indent="0">
              <a:buNone/>
            </a:pPr>
            <a:r>
              <a:rPr lang="en-US" sz="1300" dirty="0">
                <a:solidFill>
                  <a:srgbClr val="1B2340"/>
                </a:solidFill>
                <a:latin typeface="Calibri" pitchFamily="34" charset="0"/>
                <a:ea typeface="Calibri" pitchFamily="34" charset="-122"/>
                <a:cs typeface="Calibri" pitchFamily="34" charset="-120"/>
              </a:rPr>
              <a:t>Sí — cualquiera cifra con la clave pública</a:t>
            </a:r>
            <a:endParaRPr lang="en-US" sz="1300" dirty="0"/>
          </a:p>
        </p:txBody>
      </p:sp>
      <p:sp>
        <p:nvSpPr>
          <p:cNvPr id="24" name="Shape 22"/>
          <p:cNvSpPr/>
          <p:nvPr/>
        </p:nvSpPr>
        <p:spPr>
          <a:xfrm>
            <a:off x="548640" y="4251960"/>
            <a:ext cx="11274552" cy="566928"/>
          </a:xfrm>
          <a:prstGeom prst="rect">
            <a:avLst/>
          </a:prstGeom>
          <a:solidFill>
            <a:srgbClr val="EDEFF9"/>
          </a:solidFill>
          <a:ln/>
        </p:spPr>
        <p:txBody>
          <a:bodyPr/>
          <a:lstStyle/>
          <a:p>
            <a:endParaRPr lang="en-US"/>
          </a:p>
        </p:txBody>
      </p:sp>
      <p:sp>
        <p:nvSpPr>
          <p:cNvPr id="25" name="Text 23"/>
          <p:cNvSpPr txBox="1"/>
          <p:nvPr/>
        </p:nvSpPr>
        <p:spPr>
          <a:xfrm>
            <a:off x="640080" y="4251960"/>
            <a:ext cx="3474720" cy="566928"/>
          </a:xfrm>
          <a:prstGeom prst="rect">
            <a:avLst/>
          </a:prstGeom>
          <a:noFill/>
          <a:ln/>
        </p:spPr>
        <p:txBody>
          <a:bodyPr wrap="square" lIns="0" tIns="0" rIns="0" bIns="0" rtlCol="0" anchor="ctr"/>
          <a:lstStyle/>
          <a:p>
            <a:pPr marL="0" indent="0">
              <a:buNone/>
            </a:pPr>
            <a:r>
              <a:rPr lang="en-US" sz="1300" b="1" dirty="0">
                <a:solidFill>
                  <a:srgbClr val="15213E"/>
                </a:solidFill>
                <a:latin typeface="Calibri" pitchFamily="34" charset="0"/>
                <a:ea typeface="Calibri" pitchFamily="34" charset="-122"/>
                <a:cs typeface="Calibri" pitchFamily="34" charset="-120"/>
              </a:rPr>
              <a:t>Punto débil conocido</a:t>
            </a:r>
            <a:endParaRPr lang="en-US" sz="1300" dirty="0"/>
          </a:p>
        </p:txBody>
      </p:sp>
      <p:sp>
        <p:nvSpPr>
          <p:cNvPr id="26" name="Text 24"/>
          <p:cNvSpPr txBox="1"/>
          <p:nvPr/>
        </p:nvSpPr>
        <p:spPr>
          <a:xfrm>
            <a:off x="4297680" y="4251960"/>
            <a:ext cx="3611880" cy="566928"/>
          </a:xfrm>
          <a:prstGeom prst="rect">
            <a:avLst/>
          </a:prstGeom>
          <a:noFill/>
          <a:ln/>
        </p:spPr>
        <p:txBody>
          <a:bodyPr wrap="square" lIns="0" tIns="0" rIns="0" bIns="0" rtlCol="0" anchor="ctr"/>
          <a:lstStyle/>
          <a:p>
            <a:pPr marL="0" indent="0">
              <a:buNone/>
            </a:pPr>
            <a:r>
              <a:rPr lang="en-US" sz="1300" dirty="0">
                <a:solidFill>
                  <a:srgbClr val="1B2340"/>
                </a:solidFill>
                <a:latin typeface="Calibri" pitchFamily="34" charset="0"/>
                <a:ea typeface="Calibri" pitchFamily="34" charset="-122"/>
                <a:cs typeface="Calibri" pitchFamily="34" charset="-120"/>
              </a:rPr>
              <a:t>Ninguno adicional</a:t>
            </a:r>
            <a:endParaRPr lang="en-US" sz="1300" dirty="0"/>
          </a:p>
        </p:txBody>
      </p:sp>
      <p:sp>
        <p:nvSpPr>
          <p:cNvPr id="27" name="Text 25"/>
          <p:cNvSpPr txBox="1"/>
          <p:nvPr/>
        </p:nvSpPr>
        <p:spPr>
          <a:xfrm>
            <a:off x="8092440" y="4251960"/>
            <a:ext cx="3639312" cy="566928"/>
          </a:xfrm>
          <a:prstGeom prst="rect">
            <a:avLst/>
          </a:prstGeom>
          <a:noFill/>
          <a:ln/>
        </p:spPr>
        <p:txBody>
          <a:bodyPr wrap="square" lIns="0" tIns="0" rIns="0" bIns="0" rtlCol="0" anchor="ctr"/>
          <a:lstStyle/>
          <a:p>
            <a:pPr marL="0" indent="0">
              <a:buNone/>
            </a:pPr>
            <a:r>
              <a:rPr lang="en-US" sz="1300" dirty="0">
                <a:solidFill>
                  <a:srgbClr val="1B2340"/>
                </a:solidFill>
                <a:latin typeface="Calibri" pitchFamily="34" charset="0"/>
                <a:ea typeface="Calibri" pitchFamily="34" charset="-122"/>
                <a:cs typeface="Calibri" pitchFamily="34" charset="-120"/>
              </a:rPr>
              <a:t>Keyword Guessing Attack (KGA)</a:t>
            </a:r>
            <a:endParaRPr lang="en-US" sz="1300" dirty="0"/>
          </a:p>
        </p:txBody>
      </p:sp>
      <p:sp>
        <p:nvSpPr>
          <p:cNvPr id="28" name="Shape 26"/>
          <p:cNvSpPr/>
          <p:nvPr/>
        </p:nvSpPr>
        <p:spPr>
          <a:xfrm>
            <a:off x="548640" y="4818888"/>
            <a:ext cx="11274552" cy="566928"/>
          </a:xfrm>
          <a:prstGeom prst="rect">
            <a:avLst/>
          </a:prstGeom>
          <a:solidFill>
            <a:srgbClr val="FFFFFF"/>
          </a:solidFill>
          <a:ln/>
        </p:spPr>
        <p:txBody>
          <a:bodyPr/>
          <a:lstStyle/>
          <a:p>
            <a:endParaRPr lang="en-US"/>
          </a:p>
        </p:txBody>
      </p:sp>
      <p:sp>
        <p:nvSpPr>
          <p:cNvPr id="29" name="Text 27"/>
          <p:cNvSpPr txBox="1"/>
          <p:nvPr/>
        </p:nvSpPr>
        <p:spPr>
          <a:xfrm>
            <a:off x="640080" y="4818888"/>
            <a:ext cx="3474720" cy="566928"/>
          </a:xfrm>
          <a:prstGeom prst="rect">
            <a:avLst/>
          </a:prstGeom>
          <a:noFill/>
          <a:ln/>
        </p:spPr>
        <p:txBody>
          <a:bodyPr wrap="square" lIns="0" tIns="0" rIns="0" bIns="0" rtlCol="0" anchor="ctr"/>
          <a:lstStyle/>
          <a:p>
            <a:pPr marL="0" indent="0">
              <a:buNone/>
            </a:pPr>
            <a:r>
              <a:rPr lang="en-US" sz="1300" b="1" dirty="0">
                <a:solidFill>
                  <a:srgbClr val="15213E"/>
                </a:solidFill>
                <a:latin typeface="Calibri" pitchFamily="34" charset="0"/>
                <a:ea typeface="Calibri" pitchFamily="34" charset="-122"/>
                <a:cs typeface="Calibri" pitchFamily="34" charset="-120"/>
              </a:rPr>
              <a:t>Escala práctica</a:t>
            </a:r>
            <a:endParaRPr lang="en-US" sz="1300" dirty="0"/>
          </a:p>
        </p:txBody>
      </p:sp>
      <p:sp>
        <p:nvSpPr>
          <p:cNvPr id="30" name="Text 28"/>
          <p:cNvSpPr txBox="1"/>
          <p:nvPr/>
        </p:nvSpPr>
        <p:spPr>
          <a:xfrm>
            <a:off x="4297680" y="4818888"/>
            <a:ext cx="3611880" cy="566928"/>
          </a:xfrm>
          <a:prstGeom prst="rect">
            <a:avLst/>
          </a:prstGeom>
          <a:noFill/>
          <a:ln/>
        </p:spPr>
        <p:txBody>
          <a:bodyPr wrap="square" lIns="0" tIns="0" rIns="0" bIns="0" rtlCol="0" anchor="ctr"/>
          <a:lstStyle/>
          <a:p>
            <a:pPr marL="0" indent="0">
              <a:buNone/>
            </a:pPr>
            <a:r>
              <a:rPr lang="en-US" sz="1300" dirty="0">
                <a:solidFill>
                  <a:srgbClr val="1B2340"/>
                </a:solidFill>
                <a:latin typeface="Calibri" pitchFamily="34" charset="0"/>
                <a:ea typeface="Calibri" pitchFamily="34" charset="-122"/>
                <a:cs typeface="Calibri" pitchFamily="34" charset="-120"/>
              </a:rPr>
              <a:t>Millones de documentos</a:t>
            </a:r>
            <a:endParaRPr lang="en-US" sz="1300" dirty="0"/>
          </a:p>
        </p:txBody>
      </p:sp>
      <p:sp>
        <p:nvSpPr>
          <p:cNvPr id="31" name="Text 29"/>
          <p:cNvSpPr txBox="1"/>
          <p:nvPr/>
        </p:nvSpPr>
        <p:spPr>
          <a:xfrm>
            <a:off x="8092440" y="4818888"/>
            <a:ext cx="3639312" cy="566928"/>
          </a:xfrm>
          <a:prstGeom prst="rect">
            <a:avLst/>
          </a:prstGeom>
          <a:noFill/>
          <a:ln/>
        </p:spPr>
        <p:txBody>
          <a:bodyPr wrap="square" lIns="0" tIns="0" rIns="0" bIns="0" rtlCol="0" anchor="ctr"/>
          <a:lstStyle/>
          <a:p>
            <a:pPr marL="0" indent="0">
              <a:buNone/>
            </a:pPr>
            <a:r>
              <a:rPr lang="en-US" sz="1300" dirty="0">
                <a:solidFill>
                  <a:srgbClr val="1B2340"/>
                </a:solidFill>
                <a:latin typeface="Calibri" pitchFamily="34" charset="0"/>
                <a:ea typeface="Calibri" pitchFamily="34" charset="-122"/>
                <a:cs typeface="Calibri" pitchFamily="34" charset="-120"/>
              </a:rPr>
              <a:t>Colecciones chicas / nichos</a:t>
            </a:r>
            <a:endParaRPr lang="en-US" sz="1300" dirty="0"/>
          </a:p>
        </p:txBody>
      </p:sp>
      <p:sp>
        <p:nvSpPr>
          <p:cNvPr id="32" name="Shape 30"/>
          <p:cNvSpPr/>
          <p:nvPr/>
        </p:nvSpPr>
        <p:spPr>
          <a:xfrm>
            <a:off x="548640" y="5614416"/>
            <a:ext cx="11091672" cy="777240"/>
          </a:xfrm>
          <a:prstGeom prst="roundRect">
            <a:avLst>
              <a:gd name="adj" fmla="val 9412"/>
            </a:avLst>
          </a:prstGeom>
          <a:solidFill>
            <a:srgbClr val="15213E"/>
          </a:solidFill>
          <a:ln w="12700">
            <a:solidFill>
              <a:srgbClr val="E2E5F0"/>
            </a:solidFill>
            <a:prstDash val="solid"/>
          </a:ln>
        </p:spPr>
        <p:txBody>
          <a:bodyPr/>
          <a:lstStyle/>
          <a:p>
            <a:endParaRPr lang="en-US"/>
          </a:p>
        </p:txBody>
      </p:sp>
      <p:sp>
        <p:nvSpPr>
          <p:cNvPr id="33" name="Text 31"/>
          <p:cNvSpPr txBox="1"/>
          <p:nvPr/>
        </p:nvSpPr>
        <p:spPr>
          <a:xfrm>
            <a:off x="914400" y="5614416"/>
            <a:ext cx="10332720" cy="777240"/>
          </a:xfrm>
          <a:prstGeom prst="rect">
            <a:avLst/>
          </a:prstGeom>
          <a:noFill/>
          <a:ln/>
        </p:spPr>
        <p:txBody>
          <a:bodyPr wrap="square" lIns="0" tIns="0" rIns="0" bIns="0" rtlCol="0" anchor="ctr"/>
          <a:lstStyle/>
          <a:p>
            <a:pPr marL="0" indent="0">
              <a:buNone/>
            </a:pPr>
            <a:r>
              <a:rPr lang="en-US" sz="1500" i="1" dirty="0">
                <a:solidFill>
                  <a:srgbClr val="FFFFFF"/>
                </a:solidFill>
                <a:latin typeface="Cambria" pitchFamily="34" charset="0"/>
                <a:ea typeface="Cambria" pitchFamily="34" charset="-122"/>
                <a:cs typeface="Cambria" pitchFamily="34" charset="-120"/>
              </a:rPr>
              <a:t>Ninguno alcanza solo: uno no delega sin canal seguro previo; el otro no escala y filtra por diccionario.</a:t>
            </a:r>
            <a:endParaRPr lang="en-US" sz="1500" dirty="0"/>
          </a:p>
        </p:txBody>
      </p:sp>
      <p:sp>
        <p:nvSpPr>
          <p:cNvPr id="35" name="Text 33"/>
          <p:cNvSpPr/>
          <p:nvPr/>
        </p:nvSpPr>
        <p:spPr>
          <a:xfrm>
            <a:off x="11185855" y="6437376"/>
            <a:ext cx="457200" cy="274320"/>
          </a:xfrm>
          <a:prstGeom prst="rect">
            <a:avLst/>
          </a:prstGeom>
          <a:noFill/>
          <a:ln/>
        </p:spPr>
        <p:txBody>
          <a:bodyPr wrap="square" rtlCol="0" anchor="ctr"/>
          <a:lstStyle/>
          <a:p>
            <a:pPr marL="0" indent="0" algn="r">
              <a:buNone/>
            </a:pPr>
            <a:r>
              <a:rPr lang="en-US" sz="1050" dirty="0">
                <a:solidFill>
                  <a:srgbClr val="5B6485"/>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marL="0" indent="0">
              <a:buNone/>
            </a:pPr>
            <a:r>
              <a:rPr lang="en-US" sz="1250" b="1" kern="0" spc="200" dirty="0">
                <a:solidFill>
                  <a:srgbClr val="6C6FD9"/>
                </a:solidFill>
                <a:latin typeface="Calibri" pitchFamily="34" charset="0"/>
                <a:ea typeface="Calibri" pitchFamily="34" charset="-122"/>
                <a:cs typeface="Calibri" pitchFamily="34" charset="-120"/>
              </a:rPr>
              <a:t>LA SALIDA REAL</a:t>
            </a:r>
            <a:endParaRPr lang="en-US" sz="1250" dirty="0"/>
          </a:p>
        </p:txBody>
      </p:sp>
      <p:sp>
        <p:nvSpPr>
          <p:cNvPr id="3" name="Text 1"/>
          <p:cNvSpPr txBox="1"/>
          <p:nvPr/>
        </p:nvSpPr>
        <p:spPr>
          <a:xfrm>
            <a:off x="548640" y="457200"/>
            <a:ext cx="11094415" cy="822960"/>
          </a:xfrm>
          <a:prstGeom prst="rect">
            <a:avLst/>
          </a:prstGeom>
          <a:noFill/>
          <a:ln/>
        </p:spPr>
        <p:txBody>
          <a:bodyPr wrap="square" lIns="0" tIns="0" rIns="0" bIns="0" rtlCol="0" anchor="ctr"/>
          <a:lstStyle/>
          <a:p>
            <a:pPr marL="0" indent="0">
              <a:buNone/>
            </a:pPr>
            <a:r>
              <a:rPr lang="en-US" sz="3200" b="1" dirty="0">
                <a:solidFill>
                  <a:srgbClr val="15213E"/>
                </a:solidFill>
                <a:latin typeface="Cambria" pitchFamily="34" charset="0"/>
                <a:ea typeface="Cambria" pitchFamily="34" charset="-122"/>
                <a:cs typeface="Cambria" pitchFamily="34" charset="-120"/>
              </a:rPr>
              <a:t>Cifrado híbrido: asimétrico para transportar, simétrico para trabajar</a:t>
            </a:r>
            <a:endParaRPr lang="en-US" sz="3200" dirty="0"/>
          </a:p>
        </p:txBody>
      </p:sp>
      <p:sp>
        <p:nvSpPr>
          <p:cNvPr id="4" name="Text 2"/>
          <p:cNvSpPr txBox="1"/>
          <p:nvPr/>
        </p:nvSpPr>
        <p:spPr>
          <a:xfrm>
            <a:off x="548640" y="1371600"/>
            <a:ext cx="11064240" cy="822960"/>
          </a:xfrm>
          <a:prstGeom prst="rect">
            <a:avLst/>
          </a:prstGeom>
          <a:noFill/>
          <a:ln/>
        </p:spPr>
        <p:txBody>
          <a:bodyPr wrap="square" lIns="0" tIns="0" rIns="0" bIns="0" rtlCol="0" anchor="ctr"/>
          <a:lstStyle/>
          <a:p>
            <a:pPr marL="0" indent="0">
              <a:lnSpc>
                <a:spcPct val="120000"/>
              </a:lnSpc>
              <a:buNone/>
            </a:pPr>
            <a:r>
              <a:rPr lang="en-US" sz="1500" dirty="0">
                <a:solidFill>
                  <a:srgbClr val="5B6485"/>
                </a:solidFill>
                <a:latin typeface="Calibri" pitchFamily="34" charset="0"/>
                <a:ea typeface="Calibri" pitchFamily="34" charset="-122"/>
                <a:cs typeface="Calibri" pitchFamily="34" charset="-120"/>
              </a:rPr>
              <a:t>En vez de usar PEKS para todo el volumen, usamos clave pública SOLO para envolver una clave simétrica efímera — un Key Encapsulation Mechanism (KEM) — y esa clave hace todo el trabajo pesado con un Data Encapsulation Mechanism (DEM).</a:t>
            </a:r>
            <a:endParaRPr lang="en-US" sz="1500" dirty="0"/>
          </a:p>
        </p:txBody>
      </p:sp>
      <p:sp>
        <p:nvSpPr>
          <p:cNvPr id="5" name="Shape 3"/>
          <p:cNvSpPr/>
          <p:nvPr/>
        </p:nvSpPr>
        <p:spPr>
          <a:xfrm>
            <a:off x="548640" y="2514600"/>
            <a:ext cx="1874520" cy="1371600"/>
          </a:xfrm>
          <a:prstGeom prst="roundRect">
            <a:avLst>
              <a:gd name="adj" fmla="val 5333"/>
            </a:avLst>
          </a:prstGeom>
          <a:solidFill>
            <a:srgbClr val="FFFFFF"/>
          </a:solidFill>
          <a:ln w="12700">
            <a:solidFill>
              <a:srgbClr val="E2E5F0"/>
            </a:solidFill>
            <a:prstDash val="solid"/>
          </a:ln>
          <a:effectLst>
            <a:outerShdw blurRad="101600" dist="38100" dir="5400000" algn="bl" rotWithShape="0">
              <a:srgbClr val="1B2340">
                <a:alpha val="12000"/>
              </a:srgbClr>
            </a:outerShdw>
          </a:effectLst>
        </p:spPr>
        <p:txBody>
          <a:bodyPr/>
          <a:lstStyle/>
          <a:p>
            <a:endParaRPr lang="en-US"/>
          </a:p>
        </p:txBody>
      </p:sp>
      <p:sp>
        <p:nvSpPr>
          <p:cNvPr id="6" name="Shape 4"/>
          <p:cNvSpPr/>
          <p:nvPr/>
        </p:nvSpPr>
        <p:spPr>
          <a:xfrm>
            <a:off x="1165860" y="2697480"/>
            <a:ext cx="640080" cy="640080"/>
          </a:xfrm>
          <a:prstGeom prst="ellipse">
            <a:avLst/>
          </a:prstGeom>
          <a:solidFill>
            <a:srgbClr val="15213E"/>
          </a:solidFill>
          <a:ln/>
        </p:spPr>
        <p:txBody>
          <a:bodyPr/>
          <a:lstStyle/>
          <a:p>
            <a:endParaRPr lang="en-US"/>
          </a:p>
        </p:txBody>
      </p:sp>
      <p:pic>
        <p:nvPicPr>
          <p:cNvPr id="7" name="Image 0" descr="/tmp/osa_pres/icons/key_teal.png"/>
          <p:cNvPicPr>
            <a:picLocks noChangeAspect="1"/>
          </p:cNvPicPr>
          <p:nvPr/>
        </p:nvPicPr>
        <p:blipFill>
          <a:blip r:embed="rId3"/>
          <a:stretch>
            <a:fillRect/>
          </a:stretch>
        </p:blipFill>
        <p:spPr>
          <a:xfrm>
            <a:off x="1249070" y="2780690"/>
            <a:ext cx="473659" cy="473659"/>
          </a:xfrm>
          <a:prstGeom prst="rect">
            <a:avLst/>
          </a:prstGeom>
        </p:spPr>
      </p:pic>
      <p:sp>
        <p:nvSpPr>
          <p:cNvPr id="8" name="Text 5"/>
          <p:cNvSpPr txBox="1"/>
          <p:nvPr/>
        </p:nvSpPr>
        <p:spPr>
          <a:xfrm>
            <a:off x="640080" y="3383280"/>
            <a:ext cx="1691640" cy="457200"/>
          </a:xfrm>
          <a:prstGeom prst="rect">
            <a:avLst/>
          </a:prstGeom>
          <a:noFill/>
          <a:ln/>
        </p:spPr>
        <p:txBody>
          <a:bodyPr wrap="square" lIns="0" tIns="0" rIns="0" bIns="0" rtlCol="0" anchor="ctr"/>
          <a:lstStyle/>
          <a:p>
            <a:pPr marL="0" indent="0" algn="ctr">
              <a:lnSpc>
                <a:spcPct val="105000"/>
              </a:lnSpc>
              <a:buNone/>
            </a:pPr>
            <a:r>
              <a:rPr lang="en-US" sz="1150" b="1" dirty="0">
                <a:solidFill>
                  <a:srgbClr val="15213E"/>
                </a:solidFill>
                <a:latin typeface="Calibri" pitchFamily="34" charset="0"/>
                <a:ea typeface="Calibri" pitchFamily="34" charset="-122"/>
                <a:cs typeface="Calibri" pitchFamily="34" charset="-120"/>
              </a:rPr>
              <a:t>PK destino</a:t>
            </a:r>
            <a:endParaRPr lang="en-US" sz="1150" dirty="0"/>
          </a:p>
        </p:txBody>
      </p:sp>
      <p:sp>
        <p:nvSpPr>
          <p:cNvPr id="9" name="Text 6"/>
          <p:cNvSpPr txBox="1"/>
          <p:nvPr/>
        </p:nvSpPr>
        <p:spPr>
          <a:xfrm>
            <a:off x="2423160" y="2514600"/>
            <a:ext cx="429768" cy="1371600"/>
          </a:xfrm>
          <a:prstGeom prst="rect">
            <a:avLst/>
          </a:prstGeom>
          <a:noFill/>
          <a:ln/>
        </p:spPr>
        <p:txBody>
          <a:bodyPr wrap="square" lIns="0" tIns="0" rIns="0" bIns="0" rtlCol="0" anchor="ctr"/>
          <a:lstStyle/>
          <a:p>
            <a:pPr marL="0" indent="0" algn="ctr">
              <a:buNone/>
            </a:pPr>
            <a:r>
              <a:rPr lang="en-US" sz="2200" b="1" dirty="0">
                <a:solidFill>
                  <a:srgbClr val="5B6485"/>
                </a:solidFill>
                <a:latin typeface="Calibri" pitchFamily="34" charset="0"/>
                <a:ea typeface="Calibri" pitchFamily="34" charset="-122"/>
                <a:cs typeface="Calibri" pitchFamily="34" charset="-120"/>
              </a:rPr>
              <a:t>→</a:t>
            </a:r>
            <a:endParaRPr lang="en-US" sz="2200" dirty="0"/>
          </a:p>
        </p:txBody>
      </p:sp>
      <p:sp>
        <p:nvSpPr>
          <p:cNvPr id="10" name="Shape 7"/>
          <p:cNvSpPr/>
          <p:nvPr/>
        </p:nvSpPr>
        <p:spPr>
          <a:xfrm>
            <a:off x="2852928" y="2514600"/>
            <a:ext cx="1874520" cy="1371600"/>
          </a:xfrm>
          <a:prstGeom prst="roundRect">
            <a:avLst>
              <a:gd name="adj" fmla="val 5333"/>
            </a:avLst>
          </a:prstGeom>
          <a:solidFill>
            <a:srgbClr val="15213E"/>
          </a:solidFill>
          <a:ln w="12700">
            <a:solidFill>
              <a:srgbClr val="E2E5F0"/>
            </a:solidFill>
            <a:prstDash val="solid"/>
          </a:ln>
          <a:effectLst>
            <a:outerShdw blurRad="101600" dist="38100" dir="5400000" algn="bl" rotWithShape="0">
              <a:srgbClr val="1B2340">
                <a:alpha val="12000"/>
              </a:srgbClr>
            </a:outerShdw>
          </a:effectLst>
        </p:spPr>
        <p:txBody>
          <a:bodyPr/>
          <a:lstStyle/>
          <a:p>
            <a:endParaRPr lang="en-US"/>
          </a:p>
        </p:txBody>
      </p:sp>
      <p:sp>
        <p:nvSpPr>
          <p:cNvPr id="11" name="Shape 8"/>
          <p:cNvSpPr/>
          <p:nvPr/>
        </p:nvSpPr>
        <p:spPr>
          <a:xfrm>
            <a:off x="3470148" y="2697480"/>
            <a:ext cx="640080" cy="640080"/>
          </a:xfrm>
          <a:prstGeom prst="ellipse">
            <a:avLst/>
          </a:prstGeom>
          <a:solidFill>
            <a:srgbClr val="17B8A6"/>
          </a:solidFill>
          <a:ln/>
        </p:spPr>
        <p:txBody>
          <a:bodyPr/>
          <a:lstStyle/>
          <a:p>
            <a:endParaRPr lang="en-US"/>
          </a:p>
        </p:txBody>
      </p:sp>
      <p:pic>
        <p:nvPicPr>
          <p:cNvPr id="12" name="Image 1" descr="/tmp/osa_pres/icons/exchange_navy.png"/>
          <p:cNvPicPr>
            <a:picLocks noChangeAspect="1"/>
          </p:cNvPicPr>
          <p:nvPr/>
        </p:nvPicPr>
        <p:blipFill>
          <a:blip r:embed="rId4"/>
          <a:stretch>
            <a:fillRect/>
          </a:stretch>
        </p:blipFill>
        <p:spPr>
          <a:xfrm>
            <a:off x="3553358" y="2780690"/>
            <a:ext cx="473659" cy="473659"/>
          </a:xfrm>
          <a:prstGeom prst="rect">
            <a:avLst/>
          </a:prstGeom>
        </p:spPr>
      </p:pic>
      <p:sp>
        <p:nvSpPr>
          <p:cNvPr id="13" name="Text 9"/>
          <p:cNvSpPr txBox="1"/>
          <p:nvPr/>
        </p:nvSpPr>
        <p:spPr>
          <a:xfrm>
            <a:off x="2944368" y="3383280"/>
            <a:ext cx="1691640" cy="457200"/>
          </a:xfrm>
          <a:prstGeom prst="rect">
            <a:avLst/>
          </a:prstGeom>
          <a:noFill/>
          <a:ln/>
        </p:spPr>
        <p:txBody>
          <a:bodyPr wrap="square" lIns="0" tIns="0" rIns="0" bIns="0" rtlCol="0" anchor="ctr"/>
          <a:lstStyle/>
          <a:p>
            <a:pPr marL="0" indent="0" algn="ctr">
              <a:lnSpc>
                <a:spcPct val="105000"/>
              </a:lnSpc>
              <a:buNone/>
            </a:pPr>
            <a:r>
              <a:rPr lang="en-US" sz="1150" b="1" dirty="0">
                <a:solidFill>
                  <a:srgbClr val="FFFFFF"/>
                </a:solidFill>
                <a:latin typeface="Calibri" pitchFamily="34" charset="0"/>
                <a:ea typeface="Calibri" pitchFamily="34" charset="-122"/>
                <a:cs typeface="Calibri" pitchFamily="34" charset="-120"/>
              </a:rPr>
              <a:t>KEM</a:t>
            </a:r>
            <a:endParaRPr lang="en-US" sz="1150" dirty="0"/>
          </a:p>
          <a:p>
            <a:pPr marL="0" indent="0" algn="ctr">
              <a:lnSpc>
                <a:spcPct val="105000"/>
              </a:lnSpc>
              <a:buNone/>
            </a:pPr>
            <a:r>
              <a:rPr lang="en-US" sz="1150" b="1" dirty="0">
                <a:solidFill>
                  <a:srgbClr val="FFFFFF"/>
                </a:solidFill>
                <a:latin typeface="Calibri" pitchFamily="34" charset="0"/>
                <a:ea typeface="Calibri" pitchFamily="34" charset="-122"/>
                <a:cs typeface="Calibri" pitchFamily="34" charset="-120"/>
              </a:rPr>
              <a:t>ECDH + HKDF</a:t>
            </a:r>
            <a:endParaRPr lang="en-US" sz="1150" dirty="0"/>
          </a:p>
        </p:txBody>
      </p:sp>
      <p:sp>
        <p:nvSpPr>
          <p:cNvPr id="14" name="Text 10"/>
          <p:cNvSpPr txBox="1"/>
          <p:nvPr/>
        </p:nvSpPr>
        <p:spPr>
          <a:xfrm>
            <a:off x="4727448" y="2514600"/>
            <a:ext cx="429768" cy="1371600"/>
          </a:xfrm>
          <a:prstGeom prst="rect">
            <a:avLst/>
          </a:prstGeom>
          <a:noFill/>
          <a:ln/>
        </p:spPr>
        <p:txBody>
          <a:bodyPr wrap="square" lIns="0" tIns="0" rIns="0" bIns="0" rtlCol="0" anchor="ctr"/>
          <a:lstStyle/>
          <a:p>
            <a:pPr marL="0" indent="0" algn="ctr">
              <a:buNone/>
            </a:pPr>
            <a:r>
              <a:rPr lang="en-US" sz="2200" b="1" dirty="0">
                <a:solidFill>
                  <a:srgbClr val="5B6485"/>
                </a:solidFill>
                <a:latin typeface="Calibri" pitchFamily="34" charset="0"/>
                <a:ea typeface="Calibri" pitchFamily="34" charset="-122"/>
                <a:cs typeface="Calibri" pitchFamily="34" charset="-120"/>
              </a:rPr>
              <a:t>→</a:t>
            </a:r>
            <a:endParaRPr lang="en-US" sz="2200" dirty="0"/>
          </a:p>
        </p:txBody>
      </p:sp>
      <p:sp>
        <p:nvSpPr>
          <p:cNvPr id="15" name="Shape 11"/>
          <p:cNvSpPr/>
          <p:nvPr/>
        </p:nvSpPr>
        <p:spPr>
          <a:xfrm>
            <a:off x="5157216" y="2514600"/>
            <a:ext cx="1874520" cy="1371600"/>
          </a:xfrm>
          <a:prstGeom prst="roundRect">
            <a:avLst>
              <a:gd name="adj" fmla="val 5333"/>
            </a:avLst>
          </a:prstGeom>
          <a:solidFill>
            <a:srgbClr val="FFFFFF"/>
          </a:solidFill>
          <a:ln w="12700">
            <a:solidFill>
              <a:srgbClr val="E2E5F0"/>
            </a:solidFill>
            <a:prstDash val="solid"/>
          </a:ln>
          <a:effectLst>
            <a:outerShdw blurRad="101600" dist="38100" dir="5400000" algn="bl" rotWithShape="0">
              <a:srgbClr val="1B2340">
                <a:alpha val="12000"/>
              </a:srgbClr>
            </a:outerShdw>
          </a:effectLst>
        </p:spPr>
        <p:txBody>
          <a:bodyPr/>
          <a:lstStyle/>
          <a:p>
            <a:endParaRPr lang="en-US"/>
          </a:p>
        </p:txBody>
      </p:sp>
      <p:sp>
        <p:nvSpPr>
          <p:cNvPr id="16" name="Shape 12"/>
          <p:cNvSpPr/>
          <p:nvPr/>
        </p:nvSpPr>
        <p:spPr>
          <a:xfrm>
            <a:off x="5774436" y="2697480"/>
            <a:ext cx="640080" cy="640080"/>
          </a:xfrm>
          <a:prstGeom prst="ellipse">
            <a:avLst/>
          </a:prstGeom>
          <a:solidFill>
            <a:srgbClr val="15213E"/>
          </a:solidFill>
          <a:ln/>
        </p:spPr>
        <p:txBody>
          <a:bodyPr/>
          <a:lstStyle/>
          <a:p>
            <a:endParaRPr lang="en-US"/>
          </a:p>
        </p:txBody>
      </p:sp>
      <p:pic>
        <p:nvPicPr>
          <p:cNvPr id="17" name="Image 2" descr="/tmp/osa_pres/icons/unlock_teal.png"/>
          <p:cNvPicPr>
            <a:picLocks noChangeAspect="1"/>
          </p:cNvPicPr>
          <p:nvPr/>
        </p:nvPicPr>
        <p:blipFill>
          <a:blip r:embed="rId5"/>
          <a:stretch>
            <a:fillRect/>
          </a:stretch>
        </p:blipFill>
        <p:spPr>
          <a:xfrm>
            <a:off x="5857646" y="2780690"/>
            <a:ext cx="473659" cy="473659"/>
          </a:xfrm>
          <a:prstGeom prst="rect">
            <a:avLst/>
          </a:prstGeom>
        </p:spPr>
      </p:pic>
      <p:sp>
        <p:nvSpPr>
          <p:cNvPr id="18" name="Text 13"/>
          <p:cNvSpPr txBox="1"/>
          <p:nvPr/>
        </p:nvSpPr>
        <p:spPr>
          <a:xfrm>
            <a:off x="5248656" y="3383280"/>
            <a:ext cx="1691640" cy="457200"/>
          </a:xfrm>
          <a:prstGeom prst="rect">
            <a:avLst/>
          </a:prstGeom>
          <a:noFill/>
          <a:ln/>
        </p:spPr>
        <p:txBody>
          <a:bodyPr wrap="square" lIns="0" tIns="0" rIns="0" bIns="0" rtlCol="0" anchor="ctr"/>
          <a:lstStyle/>
          <a:p>
            <a:pPr marL="0" indent="0" algn="ctr">
              <a:lnSpc>
                <a:spcPct val="105000"/>
              </a:lnSpc>
              <a:buNone/>
            </a:pPr>
            <a:r>
              <a:rPr lang="en-US" sz="1150" b="1" dirty="0">
                <a:solidFill>
                  <a:srgbClr val="15213E"/>
                </a:solidFill>
                <a:latin typeface="Calibri" pitchFamily="34" charset="0"/>
                <a:ea typeface="Calibri" pitchFamily="34" charset="-122"/>
                <a:cs typeface="Calibri" pitchFamily="34" charset="-120"/>
              </a:rPr>
              <a:t>K efímera</a:t>
            </a:r>
            <a:endParaRPr lang="en-US" sz="1150" dirty="0"/>
          </a:p>
          <a:p>
            <a:pPr marL="0" indent="0" algn="ctr">
              <a:lnSpc>
                <a:spcPct val="105000"/>
              </a:lnSpc>
              <a:buNone/>
            </a:pPr>
            <a:r>
              <a:rPr lang="en-US" sz="1150" b="1" dirty="0">
                <a:solidFill>
                  <a:srgbClr val="15213E"/>
                </a:solidFill>
                <a:latin typeface="Calibri" pitchFamily="34" charset="0"/>
                <a:ea typeface="Calibri" pitchFamily="34" charset="-122"/>
                <a:cs typeface="Calibri" pitchFamily="34" charset="-120"/>
              </a:rPr>
              <a:t>(AES-256)</a:t>
            </a:r>
            <a:endParaRPr lang="en-US" sz="1150" dirty="0"/>
          </a:p>
        </p:txBody>
      </p:sp>
      <p:sp>
        <p:nvSpPr>
          <p:cNvPr id="19" name="Text 14"/>
          <p:cNvSpPr txBox="1"/>
          <p:nvPr/>
        </p:nvSpPr>
        <p:spPr>
          <a:xfrm>
            <a:off x="7031736" y="2514600"/>
            <a:ext cx="429768" cy="1371600"/>
          </a:xfrm>
          <a:prstGeom prst="rect">
            <a:avLst/>
          </a:prstGeom>
          <a:noFill/>
          <a:ln/>
        </p:spPr>
        <p:txBody>
          <a:bodyPr wrap="square" lIns="0" tIns="0" rIns="0" bIns="0" rtlCol="0" anchor="ctr"/>
          <a:lstStyle/>
          <a:p>
            <a:pPr marL="0" indent="0" algn="ctr">
              <a:buNone/>
            </a:pPr>
            <a:r>
              <a:rPr lang="en-US" sz="2200" b="1" dirty="0">
                <a:solidFill>
                  <a:srgbClr val="5B6485"/>
                </a:solidFill>
                <a:latin typeface="Calibri" pitchFamily="34" charset="0"/>
                <a:ea typeface="Calibri" pitchFamily="34" charset="-122"/>
                <a:cs typeface="Calibri" pitchFamily="34" charset="-120"/>
              </a:rPr>
              <a:t>→</a:t>
            </a:r>
            <a:endParaRPr lang="en-US" sz="2200" dirty="0"/>
          </a:p>
        </p:txBody>
      </p:sp>
      <p:sp>
        <p:nvSpPr>
          <p:cNvPr id="20" name="Shape 15"/>
          <p:cNvSpPr/>
          <p:nvPr/>
        </p:nvSpPr>
        <p:spPr>
          <a:xfrm>
            <a:off x="7461504" y="2514600"/>
            <a:ext cx="1874520" cy="1371600"/>
          </a:xfrm>
          <a:prstGeom prst="roundRect">
            <a:avLst>
              <a:gd name="adj" fmla="val 5333"/>
            </a:avLst>
          </a:prstGeom>
          <a:solidFill>
            <a:srgbClr val="15213E"/>
          </a:solidFill>
          <a:ln w="12700">
            <a:solidFill>
              <a:srgbClr val="E2E5F0"/>
            </a:solidFill>
            <a:prstDash val="solid"/>
          </a:ln>
          <a:effectLst>
            <a:outerShdw blurRad="101600" dist="38100" dir="5400000" algn="bl" rotWithShape="0">
              <a:srgbClr val="1B2340">
                <a:alpha val="12000"/>
              </a:srgbClr>
            </a:outerShdw>
          </a:effectLst>
        </p:spPr>
        <p:txBody>
          <a:bodyPr/>
          <a:lstStyle/>
          <a:p>
            <a:endParaRPr lang="en-US"/>
          </a:p>
        </p:txBody>
      </p:sp>
      <p:sp>
        <p:nvSpPr>
          <p:cNvPr id="21" name="Shape 16"/>
          <p:cNvSpPr/>
          <p:nvPr/>
        </p:nvSpPr>
        <p:spPr>
          <a:xfrm>
            <a:off x="8078724" y="2697480"/>
            <a:ext cx="640080" cy="640080"/>
          </a:xfrm>
          <a:prstGeom prst="ellipse">
            <a:avLst/>
          </a:prstGeom>
          <a:solidFill>
            <a:srgbClr val="17B8A6"/>
          </a:solidFill>
          <a:ln/>
        </p:spPr>
        <p:txBody>
          <a:bodyPr/>
          <a:lstStyle/>
          <a:p>
            <a:endParaRPr lang="en-US"/>
          </a:p>
        </p:txBody>
      </p:sp>
      <p:pic>
        <p:nvPicPr>
          <p:cNvPr id="22" name="Image 3" descr="/tmp/osa_pres/icons/lock_navy.png"/>
          <p:cNvPicPr>
            <a:picLocks noChangeAspect="1"/>
          </p:cNvPicPr>
          <p:nvPr/>
        </p:nvPicPr>
        <p:blipFill>
          <a:blip r:embed="rId6"/>
          <a:stretch>
            <a:fillRect/>
          </a:stretch>
        </p:blipFill>
        <p:spPr>
          <a:xfrm>
            <a:off x="8161934" y="2780690"/>
            <a:ext cx="473659" cy="473659"/>
          </a:xfrm>
          <a:prstGeom prst="rect">
            <a:avLst/>
          </a:prstGeom>
        </p:spPr>
      </p:pic>
      <p:sp>
        <p:nvSpPr>
          <p:cNvPr id="23" name="Text 17"/>
          <p:cNvSpPr txBox="1"/>
          <p:nvPr/>
        </p:nvSpPr>
        <p:spPr>
          <a:xfrm>
            <a:off x="7552944" y="3383280"/>
            <a:ext cx="1691640" cy="457200"/>
          </a:xfrm>
          <a:prstGeom prst="rect">
            <a:avLst/>
          </a:prstGeom>
          <a:noFill/>
          <a:ln/>
        </p:spPr>
        <p:txBody>
          <a:bodyPr wrap="square" lIns="0" tIns="0" rIns="0" bIns="0" rtlCol="0" anchor="ctr"/>
          <a:lstStyle/>
          <a:p>
            <a:pPr marL="0" indent="0" algn="ctr">
              <a:lnSpc>
                <a:spcPct val="105000"/>
              </a:lnSpc>
              <a:buNone/>
            </a:pPr>
            <a:r>
              <a:rPr lang="en-US" sz="1150" b="1" dirty="0">
                <a:solidFill>
                  <a:srgbClr val="FFFFFF"/>
                </a:solidFill>
                <a:latin typeface="Calibri" pitchFamily="34" charset="0"/>
                <a:ea typeface="Calibri" pitchFamily="34" charset="-122"/>
                <a:cs typeface="Calibri" pitchFamily="34" charset="-120"/>
              </a:rPr>
              <a:t>DEM</a:t>
            </a:r>
            <a:endParaRPr lang="en-US" sz="1150" dirty="0"/>
          </a:p>
          <a:p>
            <a:pPr marL="0" indent="0" algn="ctr">
              <a:lnSpc>
                <a:spcPct val="105000"/>
              </a:lnSpc>
              <a:buNone/>
            </a:pPr>
            <a:r>
              <a:rPr lang="en-US" sz="1150" b="1" dirty="0">
                <a:solidFill>
                  <a:srgbClr val="FFFFFF"/>
                </a:solidFill>
                <a:latin typeface="Calibri" pitchFamily="34" charset="0"/>
                <a:ea typeface="Calibri" pitchFamily="34" charset="-122"/>
                <a:cs typeface="Calibri" pitchFamily="34" charset="-120"/>
              </a:rPr>
              <a:t>AES-GCM / SSE-2</a:t>
            </a:r>
            <a:endParaRPr lang="en-US" sz="1150" dirty="0"/>
          </a:p>
        </p:txBody>
      </p:sp>
      <p:sp>
        <p:nvSpPr>
          <p:cNvPr id="24" name="Text 18"/>
          <p:cNvSpPr txBox="1"/>
          <p:nvPr/>
        </p:nvSpPr>
        <p:spPr>
          <a:xfrm>
            <a:off x="9336024" y="2514600"/>
            <a:ext cx="429768" cy="1371600"/>
          </a:xfrm>
          <a:prstGeom prst="rect">
            <a:avLst/>
          </a:prstGeom>
          <a:noFill/>
          <a:ln/>
        </p:spPr>
        <p:txBody>
          <a:bodyPr wrap="square" lIns="0" tIns="0" rIns="0" bIns="0" rtlCol="0" anchor="ctr"/>
          <a:lstStyle/>
          <a:p>
            <a:pPr marL="0" indent="0" algn="ctr">
              <a:buNone/>
            </a:pPr>
            <a:r>
              <a:rPr lang="en-US" sz="2200" b="1" dirty="0">
                <a:solidFill>
                  <a:srgbClr val="5B6485"/>
                </a:solidFill>
                <a:latin typeface="Calibri" pitchFamily="34" charset="0"/>
                <a:ea typeface="Calibri" pitchFamily="34" charset="-122"/>
                <a:cs typeface="Calibri" pitchFamily="34" charset="-120"/>
              </a:rPr>
              <a:t>→</a:t>
            </a:r>
            <a:endParaRPr lang="en-US" sz="2200" dirty="0"/>
          </a:p>
        </p:txBody>
      </p:sp>
      <p:sp>
        <p:nvSpPr>
          <p:cNvPr id="25" name="Shape 19"/>
          <p:cNvSpPr/>
          <p:nvPr/>
        </p:nvSpPr>
        <p:spPr>
          <a:xfrm>
            <a:off x="9765792" y="2514600"/>
            <a:ext cx="1874520" cy="1371600"/>
          </a:xfrm>
          <a:prstGeom prst="roundRect">
            <a:avLst>
              <a:gd name="adj" fmla="val 5333"/>
            </a:avLst>
          </a:prstGeom>
          <a:solidFill>
            <a:srgbClr val="FFFFFF"/>
          </a:solidFill>
          <a:ln w="12700">
            <a:solidFill>
              <a:srgbClr val="E2E5F0"/>
            </a:solidFill>
            <a:prstDash val="solid"/>
          </a:ln>
          <a:effectLst>
            <a:outerShdw blurRad="101600" dist="38100" dir="5400000" algn="bl" rotWithShape="0">
              <a:srgbClr val="1B2340">
                <a:alpha val="12000"/>
              </a:srgbClr>
            </a:outerShdw>
          </a:effectLst>
        </p:spPr>
        <p:txBody>
          <a:bodyPr/>
          <a:lstStyle/>
          <a:p>
            <a:endParaRPr lang="en-US"/>
          </a:p>
        </p:txBody>
      </p:sp>
      <p:sp>
        <p:nvSpPr>
          <p:cNvPr id="26" name="Shape 20"/>
          <p:cNvSpPr/>
          <p:nvPr/>
        </p:nvSpPr>
        <p:spPr>
          <a:xfrm>
            <a:off x="10383012" y="2697480"/>
            <a:ext cx="640080" cy="640080"/>
          </a:xfrm>
          <a:prstGeom prst="ellipse">
            <a:avLst/>
          </a:prstGeom>
          <a:solidFill>
            <a:srgbClr val="15213E"/>
          </a:solidFill>
          <a:ln/>
        </p:spPr>
        <p:txBody>
          <a:bodyPr/>
          <a:lstStyle/>
          <a:p>
            <a:endParaRPr lang="en-US"/>
          </a:p>
        </p:txBody>
      </p:sp>
      <p:pic>
        <p:nvPicPr>
          <p:cNvPr id="27" name="Image 4" descr="/tmp/osa_pres/icons/database_teal.png"/>
          <p:cNvPicPr>
            <a:picLocks noChangeAspect="1"/>
          </p:cNvPicPr>
          <p:nvPr/>
        </p:nvPicPr>
        <p:blipFill>
          <a:blip r:embed="rId7"/>
          <a:stretch>
            <a:fillRect/>
          </a:stretch>
        </p:blipFill>
        <p:spPr>
          <a:xfrm>
            <a:off x="10466222" y="2780690"/>
            <a:ext cx="473659" cy="473659"/>
          </a:xfrm>
          <a:prstGeom prst="rect">
            <a:avLst/>
          </a:prstGeom>
        </p:spPr>
      </p:pic>
      <p:sp>
        <p:nvSpPr>
          <p:cNvPr id="28" name="Text 21"/>
          <p:cNvSpPr txBox="1"/>
          <p:nvPr/>
        </p:nvSpPr>
        <p:spPr>
          <a:xfrm>
            <a:off x="9857232" y="3383280"/>
            <a:ext cx="1691640" cy="457200"/>
          </a:xfrm>
          <a:prstGeom prst="rect">
            <a:avLst/>
          </a:prstGeom>
          <a:noFill/>
          <a:ln/>
        </p:spPr>
        <p:txBody>
          <a:bodyPr wrap="square" lIns="0" tIns="0" rIns="0" bIns="0" rtlCol="0" anchor="ctr"/>
          <a:lstStyle/>
          <a:p>
            <a:pPr marL="0" indent="0" algn="ctr">
              <a:lnSpc>
                <a:spcPct val="105000"/>
              </a:lnSpc>
              <a:buNone/>
            </a:pPr>
            <a:r>
              <a:rPr lang="en-US" sz="1150" b="1" dirty="0">
                <a:solidFill>
                  <a:srgbClr val="15213E"/>
                </a:solidFill>
                <a:latin typeface="Calibri" pitchFamily="34" charset="0"/>
                <a:ea typeface="Calibri" pitchFamily="34" charset="-122"/>
                <a:cs typeface="Calibri" pitchFamily="34" charset="-120"/>
              </a:rPr>
              <a:t>Ciphertext</a:t>
            </a:r>
            <a:endParaRPr lang="en-US" sz="1150" dirty="0"/>
          </a:p>
        </p:txBody>
      </p:sp>
      <p:sp>
        <p:nvSpPr>
          <p:cNvPr id="29" name="Shape 22"/>
          <p:cNvSpPr/>
          <p:nvPr/>
        </p:nvSpPr>
        <p:spPr>
          <a:xfrm>
            <a:off x="548640" y="4297680"/>
            <a:ext cx="7863840" cy="1737360"/>
          </a:xfrm>
          <a:prstGeom prst="roundRect">
            <a:avLst>
              <a:gd name="adj" fmla="val 4211"/>
            </a:avLst>
          </a:prstGeom>
          <a:solidFill>
            <a:srgbClr val="F7F8FC"/>
          </a:solidFill>
          <a:ln w="12700">
            <a:solidFill>
              <a:srgbClr val="E2E5F0"/>
            </a:solidFill>
            <a:prstDash val="solid"/>
          </a:ln>
          <a:effectLst>
            <a:outerShdw blurRad="101600" dist="38100" dir="5400000" algn="bl" rotWithShape="0">
              <a:srgbClr val="1B2340">
                <a:alpha val="12000"/>
              </a:srgbClr>
            </a:outerShdw>
          </a:effectLst>
        </p:spPr>
        <p:txBody>
          <a:bodyPr/>
          <a:lstStyle/>
          <a:p>
            <a:endParaRPr lang="en-US"/>
          </a:p>
        </p:txBody>
      </p:sp>
      <p:sp>
        <p:nvSpPr>
          <p:cNvPr id="30" name="Text 23"/>
          <p:cNvSpPr txBox="1"/>
          <p:nvPr/>
        </p:nvSpPr>
        <p:spPr>
          <a:xfrm>
            <a:off x="822960" y="4434840"/>
            <a:ext cx="7315200" cy="320040"/>
          </a:xfrm>
          <a:prstGeom prst="rect">
            <a:avLst/>
          </a:prstGeom>
          <a:noFill/>
          <a:ln/>
        </p:spPr>
        <p:txBody>
          <a:bodyPr wrap="square" lIns="0" tIns="0" rIns="0" bIns="0" rtlCol="0" anchor="ctr"/>
          <a:lstStyle/>
          <a:p>
            <a:pPr marL="0" indent="0">
              <a:buNone/>
            </a:pPr>
            <a:r>
              <a:rPr lang="en-US" sz="1350" b="1" dirty="0" err="1">
                <a:solidFill>
                  <a:srgbClr val="15213E"/>
                </a:solidFill>
                <a:latin typeface="Cambria" pitchFamily="34" charset="0"/>
                <a:ea typeface="Cambria" pitchFamily="34" charset="-122"/>
                <a:cs typeface="Cambria" pitchFamily="34" charset="-120"/>
              </a:rPr>
              <a:t>Simplificando</a:t>
            </a:r>
            <a:r>
              <a:rPr lang="en-US" sz="1350" b="1" dirty="0">
                <a:solidFill>
                  <a:srgbClr val="15213E"/>
                </a:solidFill>
                <a:latin typeface="Cambria" pitchFamily="34" charset="0"/>
                <a:ea typeface="Cambria" pitchFamily="34" charset="-122"/>
                <a:cs typeface="Cambria" pitchFamily="34" charset="-120"/>
              </a:rPr>
              <a:t>:</a:t>
            </a:r>
            <a:endParaRPr lang="en-US" sz="1350" dirty="0"/>
          </a:p>
        </p:txBody>
      </p:sp>
      <p:sp>
        <p:nvSpPr>
          <p:cNvPr id="31" name="Text 24"/>
          <p:cNvSpPr txBox="1"/>
          <p:nvPr/>
        </p:nvSpPr>
        <p:spPr>
          <a:xfrm>
            <a:off x="822960" y="4800600"/>
            <a:ext cx="7315200" cy="1143000"/>
          </a:xfrm>
          <a:prstGeom prst="rect">
            <a:avLst/>
          </a:prstGeom>
          <a:noFill/>
          <a:ln/>
        </p:spPr>
        <p:txBody>
          <a:bodyPr wrap="square" lIns="0" tIns="0" rIns="0" bIns="0" rtlCol="0" anchor="ctr"/>
          <a:lstStyle/>
          <a:p>
            <a:pPr marL="0" indent="0">
              <a:lnSpc>
                <a:spcPct val="125000"/>
              </a:lnSpc>
              <a:spcAft>
                <a:spcPts val="400"/>
              </a:spcAft>
              <a:buNone/>
            </a:pPr>
            <a:r>
              <a:rPr lang="en-US" sz="1300" dirty="0">
                <a:solidFill>
                  <a:srgbClr val="1B2340"/>
                </a:solidFill>
                <a:latin typeface="Calibri" pitchFamily="34" charset="0"/>
                <a:ea typeface="Calibri" pitchFamily="34" charset="-122"/>
                <a:cs typeface="Calibri" pitchFamily="34" charset="-120"/>
              </a:rPr>
              <a:t>1.  Se genera una clave de un solo uso.</a:t>
            </a:r>
            <a:endParaRPr lang="en-US" sz="1300" dirty="0"/>
          </a:p>
          <a:p>
            <a:pPr marL="0" indent="0">
              <a:lnSpc>
                <a:spcPct val="125000"/>
              </a:lnSpc>
              <a:spcAft>
                <a:spcPts val="400"/>
              </a:spcAft>
              <a:buNone/>
            </a:pPr>
            <a:r>
              <a:rPr lang="en-US" sz="1300" dirty="0">
                <a:solidFill>
                  <a:srgbClr val="1B2340"/>
                </a:solidFill>
                <a:latin typeface="Calibri" pitchFamily="34" charset="0"/>
                <a:ea typeface="Calibri" pitchFamily="34" charset="-122"/>
                <a:cs typeface="Calibri" pitchFamily="34" charset="-120"/>
              </a:rPr>
              <a:t>2.  Esa clave se cifra con la clave pública del destinatario — así solo él la puede abrir.</a:t>
            </a:r>
            <a:endParaRPr lang="en-US" sz="1300" dirty="0"/>
          </a:p>
          <a:p>
            <a:pPr marL="0" indent="0">
              <a:lnSpc>
                <a:spcPct val="125000"/>
              </a:lnSpc>
              <a:spcAft>
                <a:spcPts val="400"/>
              </a:spcAft>
              <a:buNone/>
            </a:pPr>
            <a:r>
              <a:rPr lang="en-US" sz="1300" dirty="0">
                <a:solidFill>
                  <a:srgbClr val="1B2340"/>
                </a:solidFill>
                <a:latin typeface="Calibri" pitchFamily="34" charset="0"/>
                <a:ea typeface="Calibri" pitchFamily="34" charset="-122"/>
                <a:cs typeface="Calibri" pitchFamily="34" charset="-120"/>
              </a:rPr>
              <a:t>3.  Todo el contenido real se cifra con esa clave de un solo uso, que es simétrica y mucho más rápida.</a:t>
            </a:r>
            <a:endParaRPr lang="en-US" sz="1300" dirty="0"/>
          </a:p>
        </p:txBody>
      </p:sp>
      <p:sp>
        <p:nvSpPr>
          <p:cNvPr id="32" name="Shape 25"/>
          <p:cNvSpPr/>
          <p:nvPr/>
        </p:nvSpPr>
        <p:spPr>
          <a:xfrm>
            <a:off x="8595360" y="4297680"/>
            <a:ext cx="3044952" cy="1737360"/>
          </a:xfrm>
          <a:prstGeom prst="roundRect">
            <a:avLst>
              <a:gd name="adj" fmla="val 4211"/>
            </a:avLst>
          </a:prstGeom>
          <a:solidFill>
            <a:srgbClr val="15213E"/>
          </a:solidFill>
          <a:ln w="12700">
            <a:solidFill>
              <a:srgbClr val="E2E5F0"/>
            </a:solidFill>
            <a:prstDash val="solid"/>
          </a:ln>
        </p:spPr>
        <p:txBody>
          <a:bodyPr/>
          <a:lstStyle/>
          <a:p>
            <a:endParaRPr lang="en-US"/>
          </a:p>
        </p:txBody>
      </p:sp>
      <p:sp>
        <p:nvSpPr>
          <p:cNvPr id="33" name="Text 26"/>
          <p:cNvSpPr txBox="1"/>
          <p:nvPr/>
        </p:nvSpPr>
        <p:spPr>
          <a:xfrm>
            <a:off x="8778240" y="4297680"/>
            <a:ext cx="2697480" cy="1737360"/>
          </a:xfrm>
          <a:prstGeom prst="rect">
            <a:avLst/>
          </a:prstGeom>
          <a:noFill/>
          <a:ln/>
        </p:spPr>
        <p:txBody>
          <a:bodyPr wrap="square" lIns="0" tIns="0" rIns="0" bIns="0" rtlCol="0" anchor="ctr"/>
          <a:lstStyle/>
          <a:p>
            <a:pPr marL="0" indent="0" algn="ctr">
              <a:lnSpc>
                <a:spcPct val="120000"/>
              </a:lnSpc>
              <a:buNone/>
            </a:pPr>
            <a:r>
              <a:rPr lang="en-US" sz="1350" b="1" i="1" dirty="0">
                <a:solidFill>
                  <a:srgbClr val="17B8A6"/>
                </a:solidFill>
                <a:latin typeface="Cambria" pitchFamily="34" charset="0"/>
                <a:ea typeface="Cambria" pitchFamily="34" charset="-122"/>
                <a:cs typeface="Cambria" pitchFamily="34" charset="-120"/>
              </a:rPr>
              <a:t>Esto es exactamente ECIES</a:t>
            </a:r>
            <a:endParaRPr lang="en-US" sz="1350" dirty="0"/>
          </a:p>
          <a:p>
            <a:pPr marL="0" indent="0" algn="ctr">
              <a:lnSpc>
                <a:spcPct val="120000"/>
              </a:lnSpc>
              <a:buNone/>
            </a:pPr>
            <a:r>
              <a:rPr lang="en-US" sz="1350" b="1" i="1" dirty="0">
                <a:solidFill>
                  <a:srgbClr val="17B8A6"/>
                </a:solidFill>
                <a:latin typeface="Cambria" pitchFamily="34" charset="0"/>
                <a:ea typeface="Cambria" pitchFamily="34" charset="-122"/>
                <a:cs typeface="Cambria" pitchFamily="34" charset="-120"/>
              </a:rPr>
              <a:t>(Elliptic Curve Integrated</a:t>
            </a:r>
            <a:endParaRPr lang="en-US" sz="1350" dirty="0"/>
          </a:p>
          <a:p>
            <a:pPr marL="0" indent="0" algn="ctr">
              <a:lnSpc>
                <a:spcPct val="120000"/>
              </a:lnSpc>
              <a:buNone/>
            </a:pPr>
            <a:r>
              <a:rPr lang="en-US" sz="1350" b="1" i="1" dirty="0">
                <a:solidFill>
                  <a:srgbClr val="17B8A6"/>
                </a:solidFill>
                <a:latin typeface="Cambria" pitchFamily="34" charset="0"/>
                <a:ea typeface="Cambria" pitchFamily="34" charset="-122"/>
                <a:cs typeface="Cambria" pitchFamily="34" charset="-120"/>
              </a:rPr>
              <a:t>Encryption Scheme).</a:t>
            </a:r>
            <a:endParaRPr lang="en-US" sz="1350" dirty="0"/>
          </a:p>
        </p:txBody>
      </p:sp>
      <p:sp>
        <p:nvSpPr>
          <p:cNvPr id="34" name="Text 27"/>
          <p:cNvSpPr/>
          <p:nvPr/>
        </p:nvSpPr>
        <p:spPr>
          <a:xfrm>
            <a:off x="548640" y="6437376"/>
            <a:ext cx="7315200" cy="274320"/>
          </a:xfrm>
          <a:prstGeom prst="rect">
            <a:avLst/>
          </a:prstGeom>
          <a:noFill/>
          <a:ln/>
        </p:spPr>
        <p:txBody>
          <a:bodyPr wrap="square" rtlCol="0" anchor="ctr"/>
          <a:lstStyle/>
          <a:p>
            <a:pPr marL="0" indent="0" algn="l">
              <a:buNone/>
            </a:pPr>
            <a:r>
              <a:rPr lang="en-US" sz="1050" dirty="0">
                <a:solidFill>
                  <a:srgbClr val="5B6485"/>
                </a:solidFill>
                <a:latin typeface="Calibri" pitchFamily="34" charset="0"/>
                <a:ea typeface="Calibri" pitchFamily="34" charset="-122"/>
                <a:cs typeface="Calibri" pitchFamily="34" charset="-120"/>
              </a:rPr>
              <a:t>Criptografía Avanzada — SSE asimétrico</a:t>
            </a:r>
            <a:endParaRPr lang="en-US" sz="1050" dirty="0"/>
          </a:p>
        </p:txBody>
      </p:sp>
      <p:sp>
        <p:nvSpPr>
          <p:cNvPr id="35" name="Text 28"/>
          <p:cNvSpPr/>
          <p:nvPr/>
        </p:nvSpPr>
        <p:spPr>
          <a:xfrm>
            <a:off x="11185855" y="6437376"/>
            <a:ext cx="457200" cy="274320"/>
          </a:xfrm>
          <a:prstGeom prst="rect">
            <a:avLst/>
          </a:prstGeom>
          <a:noFill/>
          <a:ln/>
        </p:spPr>
        <p:txBody>
          <a:bodyPr wrap="square" rtlCol="0" anchor="ctr"/>
          <a:lstStyle/>
          <a:p>
            <a:pPr marL="0" indent="0" algn="r">
              <a:buNone/>
            </a:pPr>
            <a:r>
              <a:rPr lang="en-US" sz="1050" dirty="0">
                <a:solidFill>
                  <a:srgbClr val="5B6485"/>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marL="0" indent="0">
              <a:buNone/>
            </a:pPr>
            <a:r>
              <a:rPr lang="en-US" sz="1250" b="1" kern="0" spc="200" dirty="0">
                <a:solidFill>
                  <a:srgbClr val="6C6FD9"/>
                </a:solidFill>
                <a:latin typeface="Calibri" pitchFamily="34" charset="0"/>
                <a:ea typeface="Calibri" pitchFamily="34" charset="-122"/>
                <a:cs typeface="Calibri" pitchFamily="34" charset="-120"/>
              </a:rPr>
              <a:t>CASO DE ESTUDIO</a:t>
            </a:r>
            <a:endParaRPr lang="en-US" sz="1250" dirty="0"/>
          </a:p>
        </p:txBody>
      </p:sp>
      <p:sp>
        <p:nvSpPr>
          <p:cNvPr id="3" name="Text 1"/>
          <p:cNvSpPr txBox="1"/>
          <p:nvPr/>
        </p:nvSpPr>
        <p:spPr>
          <a:xfrm>
            <a:off x="548640" y="457200"/>
            <a:ext cx="11094415" cy="822960"/>
          </a:xfrm>
          <a:prstGeom prst="rect">
            <a:avLst/>
          </a:prstGeom>
          <a:noFill/>
          <a:ln/>
        </p:spPr>
        <p:txBody>
          <a:bodyPr wrap="square" lIns="0" tIns="0" rIns="0" bIns="0" rtlCol="0" anchor="ctr"/>
          <a:lstStyle/>
          <a:p>
            <a:pPr marL="0" indent="0">
              <a:buNone/>
            </a:pPr>
            <a:r>
              <a:rPr lang="en-US" sz="3200" b="1" dirty="0">
                <a:solidFill>
                  <a:srgbClr val="15213E"/>
                </a:solidFill>
                <a:latin typeface="Cambria" pitchFamily="34" charset="0"/>
                <a:ea typeface="Cambria" pitchFamily="34" charset="-122"/>
                <a:cs typeface="Cambria" pitchFamily="34" charset="-120"/>
              </a:rPr>
              <a:t>Historia clínica zero-knowledge</a:t>
            </a:r>
            <a:endParaRPr lang="en-US" sz="3200" dirty="0"/>
          </a:p>
        </p:txBody>
      </p:sp>
      <p:sp>
        <p:nvSpPr>
          <p:cNvPr id="4" name="Shape 2"/>
          <p:cNvSpPr/>
          <p:nvPr/>
        </p:nvSpPr>
        <p:spPr>
          <a:xfrm>
            <a:off x="548640" y="1417320"/>
            <a:ext cx="4160520" cy="4754880"/>
          </a:xfrm>
          <a:prstGeom prst="roundRect">
            <a:avLst>
              <a:gd name="adj" fmla="val 1758"/>
            </a:avLst>
          </a:prstGeom>
          <a:solidFill>
            <a:srgbClr val="FFFFFF"/>
          </a:solidFill>
          <a:ln w="12700">
            <a:solidFill>
              <a:srgbClr val="E2E5F0"/>
            </a:solidFill>
            <a:prstDash val="solid"/>
          </a:ln>
          <a:effectLst>
            <a:outerShdw blurRad="101600" dist="38100" dir="5400000" algn="bl" rotWithShape="0">
              <a:srgbClr val="1B2340">
                <a:alpha val="12000"/>
              </a:srgbClr>
            </a:outerShdw>
          </a:effectLst>
        </p:spPr>
        <p:txBody>
          <a:bodyPr/>
          <a:lstStyle/>
          <a:p>
            <a:endParaRPr lang="en-US"/>
          </a:p>
        </p:txBody>
      </p:sp>
      <p:sp>
        <p:nvSpPr>
          <p:cNvPr id="5" name="Shape 3"/>
          <p:cNvSpPr/>
          <p:nvPr/>
        </p:nvSpPr>
        <p:spPr>
          <a:xfrm>
            <a:off x="868680" y="1737360"/>
            <a:ext cx="594360" cy="594360"/>
          </a:xfrm>
          <a:prstGeom prst="ellipse">
            <a:avLst/>
          </a:prstGeom>
          <a:solidFill>
            <a:srgbClr val="15213E"/>
          </a:solidFill>
          <a:ln/>
        </p:spPr>
        <p:txBody>
          <a:bodyPr/>
          <a:lstStyle/>
          <a:p>
            <a:endParaRPr lang="en-US"/>
          </a:p>
        </p:txBody>
      </p:sp>
      <p:pic>
        <p:nvPicPr>
          <p:cNvPr id="6" name="Image 0" descr="/tmp/osa_pres/icons/hospital_teal.png"/>
          <p:cNvPicPr>
            <a:picLocks noChangeAspect="1"/>
          </p:cNvPicPr>
          <p:nvPr/>
        </p:nvPicPr>
        <p:blipFill>
          <a:blip r:embed="rId3"/>
          <a:stretch>
            <a:fillRect/>
          </a:stretch>
        </p:blipFill>
        <p:spPr>
          <a:xfrm>
            <a:off x="945947" y="1814627"/>
            <a:ext cx="439826" cy="439826"/>
          </a:xfrm>
          <a:prstGeom prst="rect">
            <a:avLst/>
          </a:prstGeom>
        </p:spPr>
      </p:pic>
      <p:sp>
        <p:nvSpPr>
          <p:cNvPr id="7" name="Text 4"/>
          <p:cNvSpPr txBox="1"/>
          <p:nvPr/>
        </p:nvSpPr>
        <p:spPr>
          <a:xfrm>
            <a:off x="1600200" y="1737360"/>
            <a:ext cx="2926080" cy="457200"/>
          </a:xfrm>
          <a:prstGeom prst="rect">
            <a:avLst/>
          </a:prstGeom>
          <a:noFill/>
          <a:ln/>
        </p:spPr>
        <p:txBody>
          <a:bodyPr wrap="square" lIns="0" tIns="0" rIns="0" bIns="0" rtlCol="0" anchor="ctr"/>
          <a:lstStyle/>
          <a:p>
            <a:pPr marL="0" indent="0">
              <a:buNone/>
            </a:pPr>
            <a:r>
              <a:rPr lang="en-US" sz="1600" b="1" dirty="0" err="1">
                <a:solidFill>
                  <a:srgbClr val="15213E"/>
                </a:solidFill>
                <a:latin typeface="Cambria" pitchFamily="34" charset="0"/>
                <a:ea typeface="Cambria" pitchFamily="34" charset="-122"/>
                <a:cs typeface="Cambria" pitchFamily="34" charset="-120"/>
              </a:rPr>
              <a:t>Qué</a:t>
            </a:r>
            <a:r>
              <a:rPr lang="en-US" sz="1600" b="1" dirty="0">
                <a:solidFill>
                  <a:srgbClr val="15213E"/>
                </a:solidFill>
                <a:latin typeface="Cambria" pitchFamily="34" charset="0"/>
                <a:ea typeface="Cambria" pitchFamily="34" charset="-122"/>
                <a:cs typeface="Cambria" pitchFamily="34" charset="-120"/>
              </a:rPr>
              <a:t> es??</a:t>
            </a:r>
            <a:endParaRPr lang="en-US" sz="1600" dirty="0"/>
          </a:p>
        </p:txBody>
      </p:sp>
      <p:sp>
        <p:nvSpPr>
          <p:cNvPr id="8" name="Text 5"/>
          <p:cNvSpPr txBox="1"/>
          <p:nvPr/>
        </p:nvSpPr>
        <p:spPr>
          <a:xfrm>
            <a:off x="868680" y="2423160"/>
            <a:ext cx="3520440" cy="1188720"/>
          </a:xfrm>
          <a:prstGeom prst="rect">
            <a:avLst/>
          </a:prstGeom>
          <a:noFill/>
          <a:ln/>
        </p:spPr>
        <p:txBody>
          <a:bodyPr wrap="square" lIns="0" tIns="0" rIns="0" bIns="0" rtlCol="0" anchor="ctr"/>
          <a:lstStyle/>
          <a:p>
            <a:pPr marL="0" indent="0">
              <a:lnSpc>
                <a:spcPct val="120000"/>
              </a:lnSpc>
              <a:buNone/>
            </a:pPr>
            <a:r>
              <a:rPr lang="en-US" sz="1300" dirty="0">
                <a:solidFill>
                  <a:srgbClr val="1B2340"/>
                </a:solidFill>
                <a:latin typeface="Calibri" pitchFamily="34" charset="0"/>
                <a:ea typeface="Calibri" pitchFamily="34" charset="-122"/>
                <a:cs typeface="Calibri" pitchFamily="34" charset="-120"/>
              </a:rPr>
              <a:t>MVP funcional de un portal médico paciente/doctor donde el </a:t>
            </a:r>
            <a:r>
              <a:rPr lang="en-US" sz="1300" dirty="0" err="1">
                <a:solidFill>
                  <a:srgbClr val="1B2340"/>
                </a:solidFill>
                <a:latin typeface="Calibri" pitchFamily="34" charset="0"/>
                <a:ea typeface="Calibri" pitchFamily="34" charset="-122"/>
                <a:cs typeface="Calibri" pitchFamily="34" charset="-120"/>
              </a:rPr>
              <a:t>servidor</a:t>
            </a:r>
            <a:r>
              <a:rPr lang="en-US" sz="1300" dirty="0">
                <a:solidFill>
                  <a:srgbClr val="1B2340"/>
                </a:solidFill>
                <a:latin typeface="Calibri" pitchFamily="34" charset="0"/>
                <a:ea typeface="Calibri" pitchFamily="34" charset="-122"/>
                <a:cs typeface="Calibri" pitchFamily="34" charset="-120"/>
              </a:rPr>
              <a:t> es un custodio ciego: nunca ve contenido clínico, claves de cifrado, ni las palabras que alguien busca.</a:t>
            </a:r>
            <a:endParaRPr lang="en-US" sz="1300" dirty="0"/>
          </a:p>
        </p:txBody>
      </p:sp>
      <p:sp>
        <p:nvSpPr>
          <p:cNvPr id="9" name="Shape 6"/>
          <p:cNvSpPr/>
          <p:nvPr/>
        </p:nvSpPr>
        <p:spPr>
          <a:xfrm>
            <a:off x="868680" y="3803904"/>
            <a:ext cx="109728" cy="109728"/>
          </a:xfrm>
          <a:prstGeom prst="ellipse">
            <a:avLst/>
          </a:prstGeom>
          <a:solidFill>
            <a:srgbClr val="17B8A6"/>
          </a:solidFill>
          <a:ln/>
        </p:spPr>
        <p:txBody>
          <a:bodyPr/>
          <a:lstStyle/>
          <a:p>
            <a:endParaRPr lang="en-US"/>
          </a:p>
        </p:txBody>
      </p:sp>
      <p:sp>
        <p:nvSpPr>
          <p:cNvPr id="10" name="Text 7"/>
          <p:cNvSpPr txBox="1"/>
          <p:nvPr/>
        </p:nvSpPr>
        <p:spPr>
          <a:xfrm>
            <a:off x="1097280" y="3675888"/>
            <a:ext cx="3429000" cy="502920"/>
          </a:xfrm>
          <a:prstGeom prst="rect">
            <a:avLst/>
          </a:prstGeom>
          <a:noFill/>
          <a:ln/>
        </p:spPr>
        <p:txBody>
          <a:bodyPr wrap="square" lIns="0" tIns="0" rIns="0" bIns="0" rtlCol="0" anchor="ctr"/>
          <a:lstStyle/>
          <a:p>
            <a:pPr marL="0" indent="0">
              <a:lnSpc>
                <a:spcPct val="110000"/>
              </a:lnSpc>
              <a:buNone/>
            </a:pPr>
            <a:r>
              <a:rPr lang="en-US" sz="1200" b="1" dirty="0">
                <a:solidFill>
                  <a:srgbClr val="15213E"/>
                </a:solidFill>
                <a:latin typeface="Calibri" pitchFamily="34" charset="0"/>
                <a:ea typeface="Calibri" pitchFamily="34" charset="-122"/>
                <a:cs typeface="Calibri" pitchFamily="34" charset="-120"/>
              </a:rPr>
              <a:t>Argon2id  </a:t>
            </a:r>
            <a:r>
              <a:rPr lang="en-US" sz="1200" dirty="0">
                <a:solidFill>
                  <a:srgbClr val="5B6485"/>
                </a:solidFill>
                <a:latin typeface="Calibri" pitchFamily="34" charset="0"/>
                <a:ea typeface="Calibri" pitchFamily="34" charset="-122"/>
                <a:cs typeface="Calibri" pitchFamily="34" charset="-120"/>
              </a:rPr>
              <a:t>deriva la semilla maestra desde password + salt</a:t>
            </a:r>
            <a:endParaRPr lang="en-US" sz="1200" dirty="0"/>
          </a:p>
        </p:txBody>
      </p:sp>
      <p:sp>
        <p:nvSpPr>
          <p:cNvPr id="11" name="Shape 8"/>
          <p:cNvSpPr/>
          <p:nvPr/>
        </p:nvSpPr>
        <p:spPr>
          <a:xfrm>
            <a:off x="868680" y="4398264"/>
            <a:ext cx="109728" cy="109728"/>
          </a:xfrm>
          <a:prstGeom prst="ellipse">
            <a:avLst/>
          </a:prstGeom>
          <a:solidFill>
            <a:srgbClr val="17B8A6"/>
          </a:solidFill>
          <a:ln/>
        </p:spPr>
        <p:txBody>
          <a:bodyPr/>
          <a:lstStyle/>
          <a:p>
            <a:endParaRPr lang="en-US"/>
          </a:p>
        </p:txBody>
      </p:sp>
      <p:sp>
        <p:nvSpPr>
          <p:cNvPr id="12" name="Text 9"/>
          <p:cNvSpPr txBox="1"/>
          <p:nvPr/>
        </p:nvSpPr>
        <p:spPr>
          <a:xfrm>
            <a:off x="1097280" y="4270248"/>
            <a:ext cx="3429000" cy="502920"/>
          </a:xfrm>
          <a:prstGeom prst="rect">
            <a:avLst/>
          </a:prstGeom>
          <a:noFill/>
          <a:ln/>
        </p:spPr>
        <p:txBody>
          <a:bodyPr wrap="square" lIns="0" tIns="0" rIns="0" bIns="0" rtlCol="0" anchor="ctr"/>
          <a:lstStyle/>
          <a:p>
            <a:pPr marL="0" indent="0">
              <a:lnSpc>
                <a:spcPct val="110000"/>
              </a:lnSpc>
              <a:buNone/>
            </a:pPr>
            <a:r>
              <a:rPr lang="en-US" sz="1200" b="1" dirty="0">
                <a:solidFill>
                  <a:srgbClr val="15213E"/>
                </a:solidFill>
                <a:latin typeface="Calibri" pitchFamily="34" charset="0"/>
                <a:ea typeface="Calibri" pitchFamily="34" charset="-122"/>
                <a:cs typeface="Calibri" pitchFamily="34" charset="-120"/>
              </a:rPr>
              <a:t>AES-256-GCM  </a:t>
            </a:r>
            <a:r>
              <a:rPr lang="en-US" sz="1200" dirty="0">
                <a:solidFill>
                  <a:srgbClr val="5B6485"/>
                </a:solidFill>
                <a:latin typeface="Calibri" pitchFamily="34" charset="0"/>
                <a:ea typeface="Calibri" pitchFamily="34" charset="-122"/>
                <a:cs typeface="Calibri" pitchFamily="34" charset="-120"/>
              </a:rPr>
              <a:t>cifra contenido clínico</a:t>
            </a:r>
            <a:endParaRPr lang="en-US" sz="1200" dirty="0"/>
          </a:p>
        </p:txBody>
      </p:sp>
      <p:sp>
        <p:nvSpPr>
          <p:cNvPr id="13" name="Shape 10"/>
          <p:cNvSpPr/>
          <p:nvPr/>
        </p:nvSpPr>
        <p:spPr>
          <a:xfrm>
            <a:off x="868680" y="4992624"/>
            <a:ext cx="109728" cy="109728"/>
          </a:xfrm>
          <a:prstGeom prst="ellipse">
            <a:avLst/>
          </a:prstGeom>
          <a:solidFill>
            <a:srgbClr val="17B8A6"/>
          </a:solidFill>
          <a:ln/>
        </p:spPr>
        <p:txBody>
          <a:bodyPr/>
          <a:lstStyle/>
          <a:p>
            <a:endParaRPr lang="en-US"/>
          </a:p>
        </p:txBody>
      </p:sp>
      <p:sp>
        <p:nvSpPr>
          <p:cNvPr id="14" name="Text 11"/>
          <p:cNvSpPr txBox="1"/>
          <p:nvPr/>
        </p:nvSpPr>
        <p:spPr>
          <a:xfrm>
            <a:off x="1097280" y="4864608"/>
            <a:ext cx="3429000" cy="502920"/>
          </a:xfrm>
          <a:prstGeom prst="rect">
            <a:avLst/>
          </a:prstGeom>
          <a:noFill/>
          <a:ln/>
        </p:spPr>
        <p:txBody>
          <a:bodyPr wrap="square" lIns="0" tIns="0" rIns="0" bIns="0" rtlCol="0" anchor="ctr"/>
          <a:lstStyle/>
          <a:p>
            <a:pPr marL="0" indent="0">
              <a:lnSpc>
                <a:spcPct val="110000"/>
              </a:lnSpc>
              <a:buNone/>
            </a:pPr>
            <a:r>
              <a:rPr lang="en-US" sz="1200" b="1" dirty="0">
                <a:solidFill>
                  <a:srgbClr val="15213E"/>
                </a:solidFill>
                <a:latin typeface="Calibri" pitchFamily="34" charset="0"/>
                <a:ea typeface="Calibri" pitchFamily="34" charset="-122"/>
                <a:cs typeface="Calibri" pitchFamily="34" charset="-120"/>
              </a:rPr>
              <a:t>HMAC-SHA256  </a:t>
            </a:r>
            <a:r>
              <a:rPr lang="en-US" sz="1200" dirty="0">
                <a:solidFill>
                  <a:srgbClr val="5B6485"/>
                </a:solidFill>
                <a:latin typeface="Calibri" pitchFamily="34" charset="0"/>
                <a:ea typeface="Calibri" pitchFamily="34" charset="-122"/>
                <a:cs typeface="Calibri" pitchFamily="34" charset="-120"/>
              </a:rPr>
              <a:t>genera trapdoors del índice SSE-2</a:t>
            </a:r>
            <a:endParaRPr lang="en-US" sz="1200" dirty="0"/>
          </a:p>
        </p:txBody>
      </p:sp>
      <p:sp>
        <p:nvSpPr>
          <p:cNvPr id="15" name="Shape 12"/>
          <p:cNvSpPr/>
          <p:nvPr/>
        </p:nvSpPr>
        <p:spPr>
          <a:xfrm>
            <a:off x="868680" y="5586984"/>
            <a:ext cx="109728" cy="109728"/>
          </a:xfrm>
          <a:prstGeom prst="ellipse">
            <a:avLst/>
          </a:prstGeom>
          <a:solidFill>
            <a:srgbClr val="17B8A6"/>
          </a:solidFill>
          <a:ln/>
        </p:spPr>
        <p:txBody>
          <a:bodyPr/>
          <a:lstStyle/>
          <a:p>
            <a:endParaRPr lang="en-US"/>
          </a:p>
        </p:txBody>
      </p:sp>
      <p:sp>
        <p:nvSpPr>
          <p:cNvPr id="16" name="Text 13"/>
          <p:cNvSpPr txBox="1"/>
          <p:nvPr/>
        </p:nvSpPr>
        <p:spPr>
          <a:xfrm>
            <a:off x="1097280" y="5458968"/>
            <a:ext cx="3429000" cy="502920"/>
          </a:xfrm>
          <a:prstGeom prst="rect">
            <a:avLst/>
          </a:prstGeom>
          <a:noFill/>
          <a:ln/>
        </p:spPr>
        <p:txBody>
          <a:bodyPr wrap="square" lIns="0" tIns="0" rIns="0" bIns="0" rtlCol="0" anchor="ctr"/>
          <a:lstStyle/>
          <a:p>
            <a:pPr marL="0" indent="0">
              <a:lnSpc>
                <a:spcPct val="110000"/>
              </a:lnSpc>
              <a:buNone/>
            </a:pPr>
            <a:r>
              <a:rPr lang="en-US" sz="1200" b="1" dirty="0">
                <a:solidFill>
                  <a:srgbClr val="15213E"/>
                </a:solidFill>
                <a:latin typeface="Calibri" pitchFamily="34" charset="0"/>
                <a:ea typeface="Calibri" pitchFamily="34" charset="-122"/>
                <a:cs typeface="Calibri" pitchFamily="34" charset="-120"/>
              </a:rPr>
              <a:t>X25519 / Ed25519  </a:t>
            </a:r>
            <a:r>
              <a:rPr lang="en-US" sz="1200" dirty="0">
                <a:solidFill>
                  <a:srgbClr val="5B6485"/>
                </a:solidFill>
                <a:latin typeface="Calibri" pitchFamily="34" charset="0"/>
                <a:ea typeface="Calibri" pitchFamily="34" charset="-122"/>
                <a:cs typeface="Calibri" pitchFamily="34" charset="-120"/>
              </a:rPr>
              <a:t>identidad asimétrica y firma</a:t>
            </a:r>
            <a:endParaRPr lang="en-US" sz="1200" dirty="0"/>
          </a:p>
        </p:txBody>
      </p:sp>
      <p:sp>
        <p:nvSpPr>
          <p:cNvPr id="17" name="Shape 14"/>
          <p:cNvSpPr/>
          <p:nvPr/>
        </p:nvSpPr>
        <p:spPr>
          <a:xfrm>
            <a:off x="5029200" y="1417320"/>
            <a:ext cx="6611112" cy="4754880"/>
          </a:xfrm>
          <a:prstGeom prst="roundRect">
            <a:avLst>
              <a:gd name="adj" fmla="val 1538"/>
            </a:avLst>
          </a:prstGeom>
          <a:solidFill>
            <a:srgbClr val="15213E"/>
          </a:solidFill>
          <a:ln w="12700">
            <a:solidFill>
              <a:srgbClr val="E2E5F0"/>
            </a:solidFill>
            <a:prstDash val="solid"/>
          </a:ln>
        </p:spPr>
        <p:txBody>
          <a:bodyPr/>
          <a:lstStyle/>
          <a:p>
            <a:endParaRPr lang="en-US"/>
          </a:p>
        </p:txBody>
      </p:sp>
      <p:sp>
        <p:nvSpPr>
          <p:cNvPr id="18" name="Text 15"/>
          <p:cNvSpPr txBox="1"/>
          <p:nvPr/>
        </p:nvSpPr>
        <p:spPr>
          <a:xfrm>
            <a:off x="5349240" y="1645920"/>
            <a:ext cx="5971032" cy="36576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Jerarquía de claves del paciente</a:t>
            </a:r>
            <a:endParaRPr lang="en-US" sz="1450" dirty="0"/>
          </a:p>
        </p:txBody>
      </p:sp>
      <p:sp>
        <p:nvSpPr>
          <p:cNvPr id="19" name="Shape 16"/>
          <p:cNvSpPr/>
          <p:nvPr/>
        </p:nvSpPr>
        <p:spPr>
          <a:xfrm>
            <a:off x="5852160" y="2331720"/>
            <a:ext cx="2377440" cy="548640"/>
          </a:xfrm>
          <a:prstGeom prst="roundRect">
            <a:avLst>
              <a:gd name="adj" fmla="val 10000"/>
            </a:avLst>
          </a:prstGeom>
          <a:solidFill>
            <a:srgbClr val="17B8A6"/>
          </a:solidFill>
          <a:ln/>
        </p:spPr>
        <p:txBody>
          <a:bodyPr/>
          <a:lstStyle/>
          <a:p>
            <a:endParaRPr lang="en-US"/>
          </a:p>
        </p:txBody>
      </p:sp>
      <p:sp>
        <p:nvSpPr>
          <p:cNvPr id="20" name="Text 17"/>
          <p:cNvSpPr txBox="1"/>
          <p:nvPr/>
        </p:nvSpPr>
        <p:spPr>
          <a:xfrm>
            <a:off x="5852160" y="2331720"/>
            <a:ext cx="2377440" cy="548640"/>
          </a:xfrm>
          <a:prstGeom prst="rect">
            <a:avLst/>
          </a:prstGeom>
          <a:noFill/>
          <a:ln/>
        </p:spPr>
        <p:txBody>
          <a:bodyPr wrap="square" lIns="0" tIns="0" rIns="0" bIns="0" rtlCol="0" anchor="ctr"/>
          <a:lstStyle/>
          <a:p>
            <a:pPr marL="0" indent="0" algn="ctr">
              <a:buNone/>
            </a:pPr>
            <a:r>
              <a:rPr lang="en-US" sz="1250" b="1" dirty="0">
                <a:solidFill>
                  <a:srgbClr val="15213E"/>
                </a:solidFill>
                <a:latin typeface="Calibri" pitchFamily="34" charset="0"/>
                <a:ea typeface="Calibri" pitchFamily="34" charset="-122"/>
                <a:cs typeface="Calibri" pitchFamily="34" charset="-120"/>
              </a:rPr>
              <a:t>Semilla maestra</a:t>
            </a:r>
            <a:endParaRPr lang="en-US" sz="1250" dirty="0"/>
          </a:p>
        </p:txBody>
      </p:sp>
      <p:sp>
        <p:nvSpPr>
          <p:cNvPr id="21" name="Shape 18"/>
          <p:cNvSpPr/>
          <p:nvPr/>
        </p:nvSpPr>
        <p:spPr>
          <a:xfrm flipH="1">
            <a:off x="6030468" y="2880360"/>
            <a:ext cx="1010412" cy="868680"/>
          </a:xfrm>
          <a:prstGeom prst="line">
            <a:avLst/>
          </a:prstGeom>
          <a:noFill/>
          <a:ln w="15875">
            <a:solidFill>
              <a:srgbClr val="AEB6D6"/>
            </a:solidFill>
            <a:prstDash val="solid"/>
          </a:ln>
        </p:spPr>
        <p:txBody>
          <a:bodyPr/>
          <a:lstStyle/>
          <a:p>
            <a:endParaRPr lang="en-US"/>
          </a:p>
        </p:txBody>
      </p:sp>
      <p:sp>
        <p:nvSpPr>
          <p:cNvPr id="22" name="Shape 19"/>
          <p:cNvSpPr/>
          <p:nvPr/>
        </p:nvSpPr>
        <p:spPr>
          <a:xfrm>
            <a:off x="5344668" y="3749040"/>
            <a:ext cx="1371600" cy="777240"/>
          </a:xfrm>
          <a:prstGeom prst="roundRect">
            <a:avLst>
              <a:gd name="adj" fmla="val 7059"/>
            </a:avLst>
          </a:prstGeom>
          <a:solidFill>
            <a:srgbClr val="1E2E56"/>
          </a:solidFill>
          <a:ln w="12700">
            <a:solidFill>
              <a:srgbClr val="17B8A6"/>
            </a:solidFill>
            <a:prstDash val="solid"/>
          </a:ln>
        </p:spPr>
        <p:txBody>
          <a:bodyPr/>
          <a:lstStyle/>
          <a:p>
            <a:endParaRPr lang="en-US"/>
          </a:p>
        </p:txBody>
      </p:sp>
      <p:sp>
        <p:nvSpPr>
          <p:cNvPr id="23" name="Text 20"/>
          <p:cNvSpPr txBox="1"/>
          <p:nvPr/>
        </p:nvSpPr>
        <p:spPr>
          <a:xfrm>
            <a:off x="5390388" y="3749040"/>
            <a:ext cx="1280160" cy="777240"/>
          </a:xfrm>
          <a:prstGeom prst="rect">
            <a:avLst/>
          </a:prstGeom>
          <a:noFill/>
          <a:ln/>
        </p:spPr>
        <p:txBody>
          <a:bodyPr wrap="square" lIns="0" tIns="0" rIns="0" bIns="0" rtlCol="0" anchor="ctr"/>
          <a:lstStyle/>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Par asimétrico</a:t>
            </a:r>
            <a:endParaRPr lang="en-US" sz="1050" dirty="0"/>
          </a:p>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X25519 / Ed25519</a:t>
            </a:r>
            <a:endParaRPr lang="en-US" sz="1050" dirty="0"/>
          </a:p>
        </p:txBody>
      </p:sp>
      <p:sp>
        <p:nvSpPr>
          <p:cNvPr id="24" name="Shape 21"/>
          <p:cNvSpPr/>
          <p:nvPr/>
        </p:nvSpPr>
        <p:spPr>
          <a:xfrm>
            <a:off x="7040880" y="2880360"/>
            <a:ext cx="525780" cy="868680"/>
          </a:xfrm>
          <a:prstGeom prst="line">
            <a:avLst/>
          </a:prstGeom>
          <a:noFill/>
          <a:ln w="15875">
            <a:solidFill>
              <a:srgbClr val="AEB6D6"/>
            </a:solidFill>
            <a:prstDash val="solid"/>
          </a:ln>
        </p:spPr>
        <p:txBody>
          <a:bodyPr/>
          <a:lstStyle/>
          <a:p>
            <a:endParaRPr lang="en-US"/>
          </a:p>
        </p:txBody>
      </p:sp>
      <p:sp>
        <p:nvSpPr>
          <p:cNvPr id="25" name="Shape 22"/>
          <p:cNvSpPr/>
          <p:nvPr/>
        </p:nvSpPr>
        <p:spPr>
          <a:xfrm>
            <a:off x="6880860" y="3749040"/>
            <a:ext cx="1371600" cy="777240"/>
          </a:xfrm>
          <a:prstGeom prst="roundRect">
            <a:avLst>
              <a:gd name="adj" fmla="val 7059"/>
            </a:avLst>
          </a:prstGeom>
          <a:solidFill>
            <a:srgbClr val="1E2E56"/>
          </a:solidFill>
          <a:ln w="12700">
            <a:solidFill>
              <a:srgbClr val="17B8A6"/>
            </a:solidFill>
            <a:prstDash val="solid"/>
          </a:ln>
        </p:spPr>
        <p:txBody>
          <a:bodyPr/>
          <a:lstStyle/>
          <a:p>
            <a:endParaRPr lang="en-US"/>
          </a:p>
        </p:txBody>
      </p:sp>
      <p:sp>
        <p:nvSpPr>
          <p:cNvPr id="26" name="Text 23"/>
          <p:cNvSpPr txBox="1"/>
          <p:nvPr/>
        </p:nvSpPr>
        <p:spPr>
          <a:xfrm>
            <a:off x="6926580" y="3749040"/>
            <a:ext cx="1280160" cy="777240"/>
          </a:xfrm>
          <a:prstGeom prst="rect">
            <a:avLst/>
          </a:prstGeom>
          <a:noFill/>
          <a:ln/>
        </p:spPr>
        <p:txBody>
          <a:bodyPr wrap="square" lIns="0" tIns="0" rIns="0" bIns="0" rtlCol="0" anchor="ctr"/>
          <a:lstStyle/>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K_enc</a:t>
            </a:r>
            <a:endParaRPr lang="en-US" sz="1050" dirty="0"/>
          </a:p>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AES-256-GCM</a:t>
            </a:r>
            <a:endParaRPr lang="en-US" sz="1050" dirty="0"/>
          </a:p>
        </p:txBody>
      </p:sp>
      <p:sp>
        <p:nvSpPr>
          <p:cNvPr id="27" name="Shape 24"/>
          <p:cNvSpPr/>
          <p:nvPr/>
        </p:nvSpPr>
        <p:spPr>
          <a:xfrm>
            <a:off x="7040880" y="2880360"/>
            <a:ext cx="2061972" cy="868680"/>
          </a:xfrm>
          <a:prstGeom prst="line">
            <a:avLst/>
          </a:prstGeom>
          <a:noFill/>
          <a:ln w="15875">
            <a:solidFill>
              <a:srgbClr val="AEB6D6"/>
            </a:solidFill>
            <a:prstDash val="solid"/>
          </a:ln>
        </p:spPr>
        <p:txBody>
          <a:bodyPr/>
          <a:lstStyle/>
          <a:p>
            <a:endParaRPr lang="en-US"/>
          </a:p>
        </p:txBody>
      </p:sp>
      <p:sp>
        <p:nvSpPr>
          <p:cNvPr id="28" name="Shape 25"/>
          <p:cNvSpPr/>
          <p:nvPr/>
        </p:nvSpPr>
        <p:spPr>
          <a:xfrm>
            <a:off x="8417052" y="3749040"/>
            <a:ext cx="1371600" cy="777240"/>
          </a:xfrm>
          <a:prstGeom prst="roundRect">
            <a:avLst>
              <a:gd name="adj" fmla="val 7059"/>
            </a:avLst>
          </a:prstGeom>
          <a:solidFill>
            <a:srgbClr val="1E2E56"/>
          </a:solidFill>
          <a:ln w="12700">
            <a:solidFill>
              <a:srgbClr val="17B8A6"/>
            </a:solidFill>
            <a:prstDash val="solid"/>
          </a:ln>
        </p:spPr>
        <p:txBody>
          <a:bodyPr/>
          <a:lstStyle/>
          <a:p>
            <a:endParaRPr lang="en-US"/>
          </a:p>
        </p:txBody>
      </p:sp>
      <p:sp>
        <p:nvSpPr>
          <p:cNvPr id="29" name="Text 26"/>
          <p:cNvSpPr txBox="1"/>
          <p:nvPr/>
        </p:nvSpPr>
        <p:spPr>
          <a:xfrm>
            <a:off x="8462772" y="3749040"/>
            <a:ext cx="1280160" cy="777240"/>
          </a:xfrm>
          <a:prstGeom prst="rect">
            <a:avLst/>
          </a:prstGeom>
          <a:noFill/>
          <a:ln/>
        </p:spPr>
        <p:txBody>
          <a:bodyPr wrap="square" lIns="0" tIns="0" rIns="0" bIns="0" rtlCol="0" anchor="ctr"/>
          <a:lstStyle/>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K_idx</a:t>
            </a:r>
            <a:endParaRPr lang="en-US" sz="1050" dirty="0"/>
          </a:p>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HMAC-SHA256</a:t>
            </a:r>
            <a:endParaRPr lang="en-US" sz="1050" dirty="0"/>
          </a:p>
        </p:txBody>
      </p:sp>
      <p:sp>
        <p:nvSpPr>
          <p:cNvPr id="30" name="Shape 27"/>
          <p:cNvSpPr/>
          <p:nvPr/>
        </p:nvSpPr>
        <p:spPr>
          <a:xfrm>
            <a:off x="7040880" y="2880360"/>
            <a:ext cx="3598164" cy="868680"/>
          </a:xfrm>
          <a:prstGeom prst="line">
            <a:avLst/>
          </a:prstGeom>
          <a:noFill/>
          <a:ln w="15875">
            <a:solidFill>
              <a:srgbClr val="AEB6D6"/>
            </a:solidFill>
            <a:prstDash val="solid"/>
          </a:ln>
        </p:spPr>
        <p:txBody>
          <a:bodyPr/>
          <a:lstStyle/>
          <a:p>
            <a:endParaRPr lang="en-US"/>
          </a:p>
        </p:txBody>
      </p:sp>
      <p:sp>
        <p:nvSpPr>
          <p:cNvPr id="31" name="Shape 28"/>
          <p:cNvSpPr/>
          <p:nvPr/>
        </p:nvSpPr>
        <p:spPr>
          <a:xfrm>
            <a:off x="9953244" y="3749040"/>
            <a:ext cx="1371600" cy="777240"/>
          </a:xfrm>
          <a:prstGeom prst="roundRect">
            <a:avLst>
              <a:gd name="adj" fmla="val 7059"/>
            </a:avLst>
          </a:prstGeom>
          <a:solidFill>
            <a:srgbClr val="1E2E56"/>
          </a:solidFill>
          <a:ln w="12700">
            <a:solidFill>
              <a:srgbClr val="17B8A6"/>
            </a:solidFill>
            <a:prstDash val="solid"/>
          </a:ln>
        </p:spPr>
        <p:txBody>
          <a:bodyPr/>
          <a:lstStyle/>
          <a:p>
            <a:endParaRPr lang="en-US"/>
          </a:p>
        </p:txBody>
      </p:sp>
      <p:sp>
        <p:nvSpPr>
          <p:cNvPr id="32" name="Text 29"/>
          <p:cNvSpPr txBox="1"/>
          <p:nvPr/>
        </p:nvSpPr>
        <p:spPr>
          <a:xfrm>
            <a:off x="9998964" y="3749040"/>
            <a:ext cx="1280160" cy="777240"/>
          </a:xfrm>
          <a:prstGeom prst="rect">
            <a:avLst/>
          </a:prstGeom>
          <a:noFill/>
          <a:ln/>
        </p:spPr>
        <p:txBody>
          <a:bodyPr wrap="square" lIns="0" tIns="0" rIns="0" bIns="0" rtlCol="0" anchor="ctr"/>
          <a:lstStyle/>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K_mask</a:t>
            </a:r>
            <a:endParaRPr lang="en-US" sz="1050" dirty="0"/>
          </a:p>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HMAC-SHA256</a:t>
            </a:r>
            <a:endParaRPr lang="en-US" sz="1050" dirty="0"/>
          </a:p>
        </p:txBody>
      </p:sp>
      <p:sp>
        <p:nvSpPr>
          <p:cNvPr id="33" name="Text 30"/>
          <p:cNvSpPr txBox="1"/>
          <p:nvPr/>
        </p:nvSpPr>
        <p:spPr>
          <a:xfrm>
            <a:off x="5349240" y="4709160"/>
            <a:ext cx="5971032" cy="548640"/>
          </a:xfrm>
          <a:prstGeom prst="rect">
            <a:avLst/>
          </a:prstGeom>
          <a:noFill/>
          <a:ln/>
        </p:spPr>
        <p:txBody>
          <a:bodyPr wrap="square" lIns="0" tIns="0" rIns="0" bIns="0" rtlCol="0" anchor="ctr"/>
          <a:lstStyle/>
          <a:p>
            <a:pPr marL="0" indent="0">
              <a:lnSpc>
                <a:spcPct val="115000"/>
              </a:lnSpc>
              <a:buNone/>
            </a:pPr>
            <a:r>
              <a:rPr lang="en-US" sz="1150" i="1" dirty="0">
                <a:solidFill>
                  <a:srgbClr val="AEB6D6"/>
                </a:solidFill>
                <a:latin typeface="Calibri" pitchFamily="34" charset="0"/>
                <a:ea typeface="Calibri" pitchFamily="34" charset="-122"/>
                <a:cs typeface="Calibri" pitchFamily="34" charset="-120"/>
              </a:rPr>
              <a:t>PK_pac es pública (los médicos cifran hacia el paciente); SK_pac vive únicamente en RAM del navegador.</a:t>
            </a:r>
            <a:endParaRPr lang="en-US" sz="1150" dirty="0"/>
          </a:p>
        </p:txBody>
      </p:sp>
      <p:sp>
        <p:nvSpPr>
          <p:cNvPr id="34" name="Text 31"/>
          <p:cNvSpPr/>
          <p:nvPr/>
        </p:nvSpPr>
        <p:spPr>
          <a:xfrm>
            <a:off x="548640" y="6437376"/>
            <a:ext cx="7315200" cy="274320"/>
          </a:xfrm>
          <a:prstGeom prst="rect">
            <a:avLst/>
          </a:prstGeom>
          <a:noFill/>
          <a:ln/>
        </p:spPr>
        <p:txBody>
          <a:bodyPr wrap="square" rtlCol="0" anchor="ctr"/>
          <a:lstStyle/>
          <a:p>
            <a:pPr marL="0" indent="0" algn="l">
              <a:buNone/>
            </a:pPr>
            <a:r>
              <a:rPr lang="en-US" sz="1050" dirty="0">
                <a:solidFill>
                  <a:srgbClr val="5B6485"/>
                </a:solidFill>
                <a:latin typeface="Calibri" pitchFamily="34" charset="0"/>
                <a:ea typeface="Calibri" pitchFamily="34" charset="-122"/>
                <a:cs typeface="Calibri" pitchFamily="34" charset="-120"/>
              </a:rPr>
              <a:t>Criptografía Avanzada — SSE asimétrico</a:t>
            </a:r>
            <a:endParaRPr lang="en-US" sz="1050" dirty="0"/>
          </a:p>
        </p:txBody>
      </p:sp>
      <p:sp>
        <p:nvSpPr>
          <p:cNvPr id="35" name="Text 32"/>
          <p:cNvSpPr/>
          <p:nvPr/>
        </p:nvSpPr>
        <p:spPr>
          <a:xfrm>
            <a:off x="11185855" y="6437376"/>
            <a:ext cx="457200" cy="274320"/>
          </a:xfrm>
          <a:prstGeom prst="rect">
            <a:avLst/>
          </a:prstGeom>
          <a:noFill/>
          <a:ln/>
        </p:spPr>
        <p:txBody>
          <a:bodyPr wrap="square" rtlCol="0" anchor="ctr"/>
          <a:lstStyle/>
          <a:p>
            <a:pPr marL="0" indent="0" algn="r">
              <a:buNone/>
            </a:pPr>
            <a:r>
              <a:rPr lang="en-US" sz="1050" dirty="0">
                <a:solidFill>
                  <a:srgbClr val="5B6485"/>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marL="0" indent="0">
              <a:buNone/>
            </a:pPr>
            <a:r>
              <a:rPr lang="en-US" sz="1250" b="1" kern="0" spc="200" dirty="0">
                <a:solidFill>
                  <a:srgbClr val="6C6FD9"/>
                </a:solidFill>
                <a:latin typeface="Calibri" pitchFamily="34" charset="0"/>
                <a:ea typeface="Calibri" pitchFamily="34" charset="-122"/>
                <a:cs typeface="Calibri" pitchFamily="34" charset="-120"/>
              </a:rPr>
              <a:t>FIRMA Y NO REPUDIO</a:t>
            </a:r>
            <a:endParaRPr lang="en-US" sz="1250" dirty="0"/>
          </a:p>
        </p:txBody>
      </p:sp>
      <p:sp>
        <p:nvSpPr>
          <p:cNvPr id="3" name="Text 1"/>
          <p:cNvSpPr txBox="1"/>
          <p:nvPr/>
        </p:nvSpPr>
        <p:spPr>
          <a:xfrm>
            <a:off x="548640" y="457200"/>
            <a:ext cx="11094415" cy="822960"/>
          </a:xfrm>
          <a:prstGeom prst="rect">
            <a:avLst/>
          </a:prstGeom>
          <a:noFill/>
          <a:ln/>
        </p:spPr>
        <p:txBody>
          <a:bodyPr wrap="square" lIns="0" tIns="0" rIns="0" bIns="0" rtlCol="0" anchor="ctr"/>
          <a:lstStyle/>
          <a:p>
            <a:pPr marL="0" indent="0">
              <a:buNone/>
            </a:pPr>
            <a:r>
              <a:rPr lang="en-US" sz="3200" b="1" dirty="0">
                <a:solidFill>
                  <a:srgbClr val="15213E"/>
                </a:solidFill>
                <a:latin typeface="Cambria" pitchFamily="34" charset="0"/>
                <a:ea typeface="Cambria" pitchFamily="34" charset="-122"/>
                <a:cs typeface="Cambria" pitchFamily="34" charset="-120"/>
              </a:rPr>
              <a:t>El ticket de delegación temporal</a:t>
            </a:r>
            <a:endParaRPr lang="en-US" sz="3200" dirty="0"/>
          </a:p>
        </p:txBody>
      </p:sp>
      <p:sp>
        <p:nvSpPr>
          <p:cNvPr id="4" name="Shape 2"/>
          <p:cNvSpPr/>
          <p:nvPr/>
        </p:nvSpPr>
        <p:spPr>
          <a:xfrm>
            <a:off x="548640" y="1417320"/>
            <a:ext cx="3520440" cy="502920"/>
          </a:xfrm>
          <a:prstGeom prst="roundRect">
            <a:avLst>
              <a:gd name="adj" fmla="val 14545"/>
            </a:avLst>
          </a:prstGeom>
          <a:solidFill>
            <a:srgbClr val="15213E"/>
          </a:solidFill>
          <a:ln/>
        </p:spPr>
        <p:txBody>
          <a:bodyPr/>
          <a:lstStyle/>
          <a:p>
            <a:endParaRPr lang="en-US"/>
          </a:p>
        </p:txBody>
      </p:sp>
      <p:sp>
        <p:nvSpPr>
          <p:cNvPr id="5" name="Shape 3"/>
          <p:cNvSpPr/>
          <p:nvPr/>
        </p:nvSpPr>
        <p:spPr>
          <a:xfrm>
            <a:off x="640080" y="1472184"/>
            <a:ext cx="384048" cy="384048"/>
          </a:xfrm>
          <a:prstGeom prst="ellipse">
            <a:avLst/>
          </a:prstGeom>
          <a:solidFill>
            <a:srgbClr val="17B8A6"/>
          </a:solidFill>
          <a:ln/>
        </p:spPr>
        <p:txBody>
          <a:bodyPr/>
          <a:lstStyle/>
          <a:p>
            <a:endParaRPr lang="en-US"/>
          </a:p>
        </p:txBody>
      </p:sp>
      <p:pic>
        <p:nvPicPr>
          <p:cNvPr id="6" name="Image 0" descr="/tmp/osa_pres/icons/user_navy.png"/>
          <p:cNvPicPr>
            <a:picLocks noChangeAspect="1"/>
          </p:cNvPicPr>
          <p:nvPr/>
        </p:nvPicPr>
        <p:blipFill>
          <a:blip r:embed="rId3"/>
          <a:stretch>
            <a:fillRect/>
          </a:stretch>
        </p:blipFill>
        <p:spPr>
          <a:xfrm>
            <a:off x="690006" y="1522110"/>
            <a:ext cx="284196" cy="284196"/>
          </a:xfrm>
          <a:prstGeom prst="rect">
            <a:avLst/>
          </a:prstGeom>
        </p:spPr>
      </p:pic>
      <p:sp>
        <p:nvSpPr>
          <p:cNvPr id="7" name="Text 4"/>
          <p:cNvSpPr txBox="1"/>
          <p:nvPr/>
        </p:nvSpPr>
        <p:spPr>
          <a:xfrm>
            <a:off x="1097280" y="1417320"/>
            <a:ext cx="2880360" cy="5029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Paciente</a:t>
            </a:r>
            <a:endParaRPr lang="en-US" sz="1250" dirty="0"/>
          </a:p>
        </p:txBody>
      </p:sp>
      <p:sp>
        <p:nvSpPr>
          <p:cNvPr id="8" name="Shape 5"/>
          <p:cNvSpPr/>
          <p:nvPr/>
        </p:nvSpPr>
        <p:spPr>
          <a:xfrm>
            <a:off x="2308860" y="1920240"/>
            <a:ext cx="0" cy="3977640"/>
          </a:xfrm>
          <a:prstGeom prst="line">
            <a:avLst/>
          </a:prstGeom>
          <a:noFill/>
          <a:ln w="12700">
            <a:solidFill>
              <a:srgbClr val="E2E5F0"/>
            </a:solidFill>
            <a:prstDash val="dash"/>
          </a:ln>
        </p:spPr>
        <p:txBody>
          <a:bodyPr/>
          <a:lstStyle/>
          <a:p>
            <a:endParaRPr lang="en-US"/>
          </a:p>
        </p:txBody>
      </p:sp>
      <p:sp>
        <p:nvSpPr>
          <p:cNvPr id="9" name="Shape 6"/>
          <p:cNvSpPr/>
          <p:nvPr/>
        </p:nvSpPr>
        <p:spPr>
          <a:xfrm>
            <a:off x="4334256" y="1417320"/>
            <a:ext cx="3520440" cy="502920"/>
          </a:xfrm>
          <a:prstGeom prst="roundRect">
            <a:avLst>
              <a:gd name="adj" fmla="val 14545"/>
            </a:avLst>
          </a:prstGeom>
          <a:solidFill>
            <a:srgbClr val="15213E"/>
          </a:solidFill>
          <a:ln/>
        </p:spPr>
        <p:txBody>
          <a:bodyPr/>
          <a:lstStyle/>
          <a:p>
            <a:endParaRPr lang="en-US"/>
          </a:p>
        </p:txBody>
      </p:sp>
      <p:sp>
        <p:nvSpPr>
          <p:cNvPr id="10" name="Shape 7"/>
          <p:cNvSpPr/>
          <p:nvPr/>
        </p:nvSpPr>
        <p:spPr>
          <a:xfrm>
            <a:off x="4425696" y="1472184"/>
            <a:ext cx="384048" cy="384048"/>
          </a:xfrm>
          <a:prstGeom prst="ellipse">
            <a:avLst/>
          </a:prstGeom>
          <a:solidFill>
            <a:srgbClr val="17B8A6"/>
          </a:solidFill>
          <a:ln/>
        </p:spPr>
        <p:txBody>
          <a:bodyPr/>
          <a:lstStyle/>
          <a:p>
            <a:endParaRPr lang="en-US"/>
          </a:p>
        </p:txBody>
      </p:sp>
      <p:pic>
        <p:nvPicPr>
          <p:cNvPr id="11" name="Image 1" descr="/tmp/osa_pres/icons/database_navy.png"/>
          <p:cNvPicPr>
            <a:picLocks noChangeAspect="1"/>
          </p:cNvPicPr>
          <p:nvPr/>
        </p:nvPicPr>
        <p:blipFill>
          <a:blip r:embed="rId4"/>
          <a:stretch>
            <a:fillRect/>
          </a:stretch>
        </p:blipFill>
        <p:spPr>
          <a:xfrm>
            <a:off x="4475622" y="1522110"/>
            <a:ext cx="284196" cy="284196"/>
          </a:xfrm>
          <a:prstGeom prst="rect">
            <a:avLst/>
          </a:prstGeom>
        </p:spPr>
      </p:pic>
      <p:sp>
        <p:nvSpPr>
          <p:cNvPr id="12" name="Text 8"/>
          <p:cNvSpPr txBox="1"/>
          <p:nvPr/>
        </p:nvSpPr>
        <p:spPr>
          <a:xfrm>
            <a:off x="4882896" y="1417320"/>
            <a:ext cx="2880360" cy="502920"/>
          </a:xfrm>
          <a:prstGeom prst="rect">
            <a:avLst/>
          </a:prstGeom>
          <a:noFill/>
          <a:ln/>
        </p:spPr>
        <p:txBody>
          <a:bodyPr wrap="square" lIns="0" tIns="0" rIns="0" bIns="0" rtlCol="0" anchor="ctr"/>
          <a:lstStyle/>
          <a:p>
            <a:pPr marL="0" indent="0">
              <a:buNone/>
            </a:pPr>
            <a:r>
              <a:rPr lang="en-US" sz="1250" b="1" dirty="0" err="1">
                <a:solidFill>
                  <a:srgbClr val="FFFFFF"/>
                </a:solidFill>
                <a:latin typeface="Calibri" pitchFamily="34" charset="0"/>
                <a:ea typeface="Calibri" pitchFamily="34" charset="-122"/>
                <a:cs typeface="Calibri" pitchFamily="34" charset="-120"/>
              </a:rPr>
              <a:t>Servidor</a:t>
            </a:r>
            <a:r>
              <a:rPr lang="en-US" sz="1250" b="1" dirty="0">
                <a:solidFill>
                  <a:srgbClr val="FFFFFF"/>
                </a:solidFill>
                <a:latin typeface="Calibri" pitchFamily="34" charset="0"/>
                <a:ea typeface="Calibri" pitchFamily="34" charset="-122"/>
                <a:cs typeface="Calibri" pitchFamily="34" charset="-120"/>
              </a:rPr>
              <a:t> (custodio ciego)</a:t>
            </a:r>
            <a:endParaRPr lang="en-US" sz="1250" dirty="0"/>
          </a:p>
        </p:txBody>
      </p:sp>
      <p:sp>
        <p:nvSpPr>
          <p:cNvPr id="13" name="Shape 9"/>
          <p:cNvSpPr/>
          <p:nvPr/>
        </p:nvSpPr>
        <p:spPr>
          <a:xfrm>
            <a:off x="6094476" y="1920240"/>
            <a:ext cx="0" cy="3977640"/>
          </a:xfrm>
          <a:prstGeom prst="line">
            <a:avLst/>
          </a:prstGeom>
          <a:noFill/>
          <a:ln w="12700">
            <a:solidFill>
              <a:srgbClr val="E2E5F0"/>
            </a:solidFill>
            <a:prstDash val="dash"/>
          </a:ln>
        </p:spPr>
        <p:txBody>
          <a:bodyPr/>
          <a:lstStyle/>
          <a:p>
            <a:endParaRPr lang="en-US"/>
          </a:p>
        </p:txBody>
      </p:sp>
      <p:sp>
        <p:nvSpPr>
          <p:cNvPr id="14" name="Shape 10"/>
          <p:cNvSpPr/>
          <p:nvPr/>
        </p:nvSpPr>
        <p:spPr>
          <a:xfrm>
            <a:off x="8119872" y="1417320"/>
            <a:ext cx="3520440" cy="502920"/>
          </a:xfrm>
          <a:prstGeom prst="roundRect">
            <a:avLst>
              <a:gd name="adj" fmla="val 14545"/>
            </a:avLst>
          </a:prstGeom>
          <a:solidFill>
            <a:srgbClr val="15213E"/>
          </a:solidFill>
          <a:ln/>
        </p:spPr>
        <p:txBody>
          <a:bodyPr/>
          <a:lstStyle/>
          <a:p>
            <a:endParaRPr lang="en-US"/>
          </a:p>
        </p:txBody>
      </p:sp>
      <p:sp>
        <p:nvSpPr>
          <p:cNvPr id="15" name="Shape 11"/>
          <p:cNvSpPr/>
          <p:nvPr/>
        </p:nvSpPr>
        <p:spPr>
          <a:xfrm>
            <a:off x="8211312" y="1472184"/>
            <a:ext cx="384048" cy="384048"/>
          </a:xfrm>
          <a:prstGeom prst="ellipse">
            <a:avLst/>
          </a:prstGeom>
          <a:solidFill>
            <a:srgbClr val="17B8A6"/>
          </a:solidFill>
          <a:ln/>
        </p:spPr>
        <p:txBody>
          <a:bodyPr/>
          <a:lstStyle/>
          <a:p>
            <a:endParaRPr lang="en-US"/>
          </a:p>
        </p:txBody>
      </p:sp>
      <p:pic>
        <p:nvPicPr>
          <p:cNvPr id="16" name="Image 2" descr="/tmp/osa_pres/icons/userMd_navy.png"/>
          <p:cNvPicPr>
            <a:picLocks noChangeAspect="1"/>
          </p:cNvPicPr>
          <p:nvPr/>
        </p:nvPicPr>
        <p:blipFill>
          <a:blip r:embed="rId5"/>
          <a:stretch>
            <a:fillRect/>
          </a:stretch>
        </p:blipFill>
        <p:spPr>
          <a:xfrm>
            <a:off x="8261238" y="1522110"/>
            <a:ext cx="284196" cy="284196"/>
          </a:xfrm>
          <a:prstGeom prst="rect">
            <a:avLst/>
          </a:prstGeom>
        </p:spPr>
      </p:pic>
      <p:sp>
        <p:nvSpPr>
          <p:cNvPr id="17" name="Text 12"/>
          <p:cNvSpPr txBox="1"/>
          <p:nvPr/>
        </p:nvSpPr>
        <p:spPr>
          <a:xfrm>
            <a:off x="8668512" y="1417320"/>
            <a:ext cx="2880360" cy="5029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Médico</a:t>
            </a:r>
            <a:endParaRPr lang="en-US" sz="1250" dirty="0"/>
          </a:p>
        </p:txBody>
      </p:sp>
      <p:sp>
        <p:nvSpPr>
          <p:cNvPr id="18" name="Shape 13"/>
          <p:cNvSpPr/>
          <p:nvPr/>
        </p:nvSpPr>
        <p:spPr>
          <a:xfrm>
            <a:off x="9880092" y="1920240"/>
            <a:ext cx="0" cy="3977640"/>
          </a:xfrm>
          <a:prstGeom prst="line">
            <a:avLst/>
          </a:prstGeom>
          <a:noFill/>
          <a:ln w="12700">
            <a:solidFill>
              <a:srgbClr val="E2E5F0"/>
            </a:solidFill>
            <a:prstDash val="dash"/>
          </a:ln>
        </p:spPr>
        <p:txBody>
          <a:bodyPr/>
          <a:lstStyle/>
          <a:p>
            <a:endParaRPr lang="en-US"/>
          </a:p>
        </p:txBody>
      </p:sp>
      <p:sp>
        <p:nvSpPr>
          <p:cNvPr id="19" name="Shape 14"/>
          <p:cNvSpPr/>
          <p:nvPr/>
        </p:nvSpPr>
        <p:spPr>
          <a:xfrm>
            <a:off x="2208276" y="2194560"/>
            <a:ext cx="201168" cy="201168"/>
          </a:xfrm>
          <a:prstGeom prst="ellipse">
            <a:avLst/>
          </a:prstGeom>
          <a:solidFill>
            <a:srgbClr val="17B8A6"/>
          </a:solidFill>
          <a:ln w="19050">
            <a:solidFill>
              <a:srgbClr val="FFFFFF"/>
            </a:solidFill>
            <a:prstDash val="solid"/>
          </a:ln>
        </p:spPr>
        <p:txBody>
          <a:bodyPr/>
          <a:lstStyle/>
          <a:p>
            <a:endParaRPr lang="en-US"/>
          </a:p>
        </p:txBody>
      </p:sp>
      <p:sp>
        <p:nvSpPr>
          <p:cNvPr id="20" name="Shape 15"/>
          <p:cNvSpPr/>
          <p:nvPr/>
        </p:nvSpPr>
        <p:spPr>
          <a:xfrm>
            <a:off x="548640" y="2514600"/>
            <a:ext cx="4160520" cy="868680"/>
          </a:xfrm>
          <a:prstGeom prst="roundRect">
            <a:avLst>
              <a:gd name="adj" fmla="val 8421"/>
            </a:avLst>
          </a:prstGeom>
          <a:solidFill>
            <a:srgbClr val="FFFFFF"/>
          </a:solidFill>
          <a:ln w="12700">
            <a:solidFill>
              <a:srgbClr val="E2E5F0"/>
            </a:solidFill>
            <a:prstDash val="solid"/>
          </a:ln>
          <a:effectLst>
            <a:outerShdw blurRad="101600" dist="38100" dir="5400000" algn="bl" rotWithShape="0">
              <a:srgbClr val="1B2340">
                <a:alpha val="12000"/>
              </a:srgbClr>
            </a:outerShdw>
          </a:effectLst>
        </p:spPr>
        <p:txBody>
          <a:bodyPr/>
          <a:lstStyle/>
          <a:p>
            <a:endParaRPr lang="en-US"/>
          </a:p>
        </p:txBody>
      </p:sp>
      <p:sp>
        <p:nvSpPr>
          <p:cNvPr id="21" name="Text 16"/>
          <p:cNvSpPr txBox="1"/>
          <p:nvPr/>
        </p:nvSpPr>
        <p:spPr>
          <a:xfrm>
            <a:off x="749808" y="2514600"/>
            <a:ext cx="3758184" cy="868680"/>
          </a:xfrm>
          <a:prstGeom prst="rect">
            <a:avLst/>
          </a:prstGeom>
          <a:noFill/>
          <a:ln/>
        </p:spPr>
        <p:txBody>
          <a:bodyPr wrap="square" lIns="0" tIns="0" rIns="0" bIns="0" rtlCol="0" anchor="ctr"/>
          <a:lstStyle/>
          <a:p>
            <a:pPr marL="0" indent="0">
              <a:lnSpc>
                <a:spcPct val="115000"/>
              </a:lnSpc>
              <a:buNone/>
            </a:pPr>
            <a:r>
              <a:rPr lang="en-US" sz="1200" dirty="0">
                <a:solidFill>
                  <a:srgbClr val="1B2340"/>
                </a:solidFill>
                <a:latin typeface="Calibri" pitchFamily="34" charset="0"/>
                <a:ea typeface="Calibri" pitchFamily="34" charset="-122"/>
                <a:cs typeface="Calibri" pitchFamily="34" charset="-120"/>
              </a:rPr>
              <a:t>Junta sus claves de búsqueda y lectura, las cifra para que solo el médico las pueda abrir, y firma todo el paquete.</a:t>
            </a:r>
            <a:endParaRPr lang="en-US" sz="1200" dirty="0"/>
          </a:p>
        </p:txBody>
      </p:sp>
      <p:sp>
        <p:nvSpPr>
          <p:cNvPr id="22" name="Shape 17"/>
          <p:cNvSpPr/>
          <p:nvPr/>
        </p:nvSpPr>
        <p:spPr>
          <a:xfrm>
            <a:off x="5993892" y="3246120"/>
            <a:ext cx="201168" cy="201168"/>
          </a:xfrm>
          <a:prstGeom prst="ellipse">
            <a:avLst/>
          </a:prstGeom>
          <a:solidFill>
            <a:srgbClr val="17B8A6"/>
          </a:solidFill>
          <a:ln w="19050">
            <a:solidFill>
              <a:srgbClr val="FFFFFF"/>
            </a:solidFill>
            <a:prstDash val="solid"/>
          </a:ln>
        </p:spPr>
        <p:txBody>
          <a:bodyPr/>
          <a:lstStyle/>
          <a:p>
            <a:endParaRPr lang="en-US"/>
          </a:p>
        </p:txBody>
      </p:sp>
      <p:sp>
        <p:nvSpPr>
          <p:cNvPr id="23" name="Shape 18"/>
          <p:cNvSpPr/>
          <p:nvPr/>
        </p:nvSpPr>
        <p:spPr>
          <a:xfrm>
            <a:off x="4014216" y="3566160"/>
            <a:ext cx="4160520" cy="868680"/>
          </a:xfrm>
          <a:prstGeom prst="roundRect">
            <a:avLst>
              <a:gd name="adj" fmla="val 8421"/>
            </a:avLst>
          </a:prstGeom>
          <a:solidFill>
            <a:srgbClr val="FFFFFF"/>
          </a:solidFill>
          <a:ln w="12700">
            <a:solidFill>
              <a:srgbClr val="E2E5F0"/>
            </a:solidFill>
            <a:prstDash val="solid"/>
          </a:ln>
          <a:effectLst>
            <a:outerShdw blurRad="101600" dist="38100" dir="5400000" algn="bl" rotWithShape="0">
              <a:srgbClr val="1B2340">
                <a:alpha val="12000"/>
              </a:srgbClr>
            </a:outerShdw>
          </a:effectLst>
        </p:spPr>
        <p:txBody>
          <a:bodyPr/>
          <a:lstStyle/>
          <a:p>
            <a:endParaRPr lang="en-US"/>
          </a:p>
        </p:txBody>
      </p:sp>
      <p:sp>
        <p:nvSpPr>
          <p:cNvPr id="24" name="Text 19"/>
          <p:cNvSpPr txBox="1"/>
          <p:nvPr/>
        </p:nvSpPr>
        <p:spPr>
          <a:xfrm>
            <a:off x="4215384" y="3566160"/>
            <a:ext cx="3758184" cy="868680"/>
          </a:xfrm>
          <a:prstGeom prst="rect">
            <a:avLst/>
          </a:prstGeom>
          <a:noFill/>
          <a:ln/>
        </p:spPr>
        <p:txBody>
          <a:bodyPr wrap="square" lIns="0" tIns="0" rIns="0" bIns="0" rtlCol="0" anchor="ctr"/>
          <a:lstStyle/>
          <a:p>
            <a:pPr marL="0" indent="0">
              <a:lnSpc>
                <a:spcPct val="115000"/>
              </a:lnSpc>
              <a:buNone/>
            </a:pPr>
            <a:r>
              <a:rPr lang="en-US" sz="1200" dirty="0">
                <a:solidFill>
                  <a:srgbClr val="1B2340"/>
                </a:solidFill>
                <a:latin typeface="Calibri" pitchFamily="34" charset="0"/>
                <a:ea typeface="Calibri" pitchFamily="34" charset="-122"/>
                <a:cs typeface="Calibri" pitchFamily="34" charset="-120"/>
              </a:rPr>
              <a:t>Guarda el paquete firmado. Revisa la firma y que no haya vencido (máximo 120 min). Nunca puede abrirlo: no tiene la clave del médico.</a:t>
            </a:r>
            <a:endParaRPr lang="en-US" sz="1200" dirty="0"/>
          </a:p>
        </p:txBody>
      </p:sp>
      <p:sp>
        <p:nvSpPr>
          <p:cNvPr id="25" name="Shape 20"/>
          <p:cNvSpPr/>
          <p:nvPr/>
        </p:nvSpPr>
        <p:spPr>
          <a:xfrm>
            <a:off x="9779508" y="4297680"/>
            <a:ext cx="201168" cy="201168"/>
          </a:xfrm>
          <a:prstGeom prst="ellipse">
            <a:avLst/>
          </a:prstGeom>
          <a:solidFill>
            <a:srgbClr val="17B8A6"/>
          </a:solidFill>
          <a:ln w="19050">
            <a:solidFill>
              <a:srgbClr val="FFFFFF"/>
            </a:solidFill>
            <a:prstDash val="solid"/>
          </a:ln>
        </p:spPr>
        <p:txBody>
          <a:bodyPr/>
          <a:lstStyle/>
          <a:p>
            <a:endParaRPr lang="en-US"/>
          </a:p>
        </p:txBody>
      </p:sp>
      <p:sp>
        <p:nvSpPr>
          <p:cNvPr id="26" name="Shape 21"/>
          <p:cNvSpPr/>
          <p:nvPr/>
        </p:nvSpPr>
        <p:spPr>
          <a:xfrm>
            <a:off x="7479792" y="4617720"/>
            <a:ext cx="4160520" cy="868680"/>
          </a:xfrm>
          <a:prstGeom prst="roundRect">
            <a:avLst>
              <a:gd name="adj" fmla="val 8421"/>
            </a:avLst>
          </a:prstGeom>
          <a:solidFill>
            <a:srgbClr val="FFFFFF"/>
          </a:solidFill>
          <a:ln w="12700">
            <a:solidFill>
              <a:srgbClr val="E2E5F0"/>
            </a:solidFill>
            <a:prstDash val="solid"/>
          </a:ln>
          <a:effectLst>
            <a:outerShdw blurRad="101600" dist="38100" dir="5400000" algn="bl" rotWithShape="0">
              <a:srgbClr val="1B2340">
                <a:alpha val="12000"/>
              </a:srgbClr>
            </a:outerShdw>
          </a:effectLst>
        </p:spPr>
        <p:txBody>
          <a:bodyPr/>
          <a:lstStyle/>
          <a:p>
            <a:endParaRPr lang="en-US"/>
          </a:p>
        </p:txBody>
      </p:sp>
      <p:sp>
        <p:nvSpPr>
          <p:cNvPr id="27" name="Text 22"/>
          <p:cNvSpPr txBox="1"/>
          <p:nvPr/>
        </p:nvSpPr>
        <p:spPr>
          <a:xfrm>
            <a:off x="7680960" y="4617720"/>
            <a:ext cx="3758184" cy="868680"/>
          </a:xfrm>
          <a:prstGeom prst="rect">
            <a:avLst/>
          </a:prstGeom>
          <a:noFill/>
          <a:ln/>
        </p:spPr>
        <p:txBody>
          <a:bodyPr wrap="square" lIns="0" tIns="0" rIns="0" bIns="0" rtlCol="0" anchor="ctr"/>
          <a:lstStyle/>
          <a:p>
            <a:pPr marL="0" indent="0">
              <a:lnSpc>
                <a:spcPct val="115000"/>
              </a:lnSpc>
              <a:buNone/>
            </a:pPr>
            <a:r>
              <a:rPr lang="en-US" sz="1200" dirty="0">
                <a:solidFill>
                  <a:srgbClr val="1B2340"/>
                </a:solidFill>
                <a:latin typeface="Calibri" pitchFamily="34" charset="0"/>
                <a:ea typeface="Calibri" pitchFamily="34" charset="-122"/>
                <a:cs typeface="Calibri" pitchFamily="34" charset="-120"/>
              </a:rPr>
              <a:t>Descarga el paquete, lo abre con su propia clave privada, y busca en su propia computadora.</a:t>
            </a:r>
            <a:endParaRPr lang="en-US" sz="1200" dirty="0"/>
          </a:p>
        </p:txBody>
      </p:sp>
      <p:sp>
        <p:nvSpPr>
          <p:cNvPr id="31" name="Text 26"/>
          <p:cNvSpPr/>
          <p:nvPr/>
        </p:nvSpPr>
        <p:spPr>
          <a:xfrm>
            <a:off x="11185855" y="6437376"/>
            <a:ext cx="457200" cy="274320"/>
          </a:xfrm>
          <a:prstGeom prst="rect">
            <a:avLst/>
          </a:prstGeom>
          <a:noFill/>
          <a:ln/>
        </p:spPr>
        <p:txBody>
          <a:bodyPr wrap="square" rtlCol="0" anchor="ctr"/>
          <a:lstStyle/>
          <a:p>
            <a:pPr marL="0" indent="0" algn="r">
              <a:buNone/>
            </a:pPr>
            <a:r>
              <a:rPr lang="en-US" sz="1050" dirty="0">
                <a:solidFill>
                  <a:srgbClr val="5B6485"/>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15213E"/>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marL="0" indent="0">
              <a:buNone/>
            </a:pPr>
            <a:r>
              <a:rPr lang="en-US" sz="1250" b="1" kern="0" spc="200" dirty="0">
                <a:solidFill>
                  <a:srgbClr val="17B8A6"/>
                </a:solidFill>
                <a:latin typeface="Calibri" pitchFamily="34" charset="0"/>
                <a:ea typeface="Calibri" pitchFamily="34" charset="-122"/>
                <a:cs typeface="Calibri" pitchFamily="34" charset="-120"/>
              </a:rPr>
              <a:t>CIERRE</a:t>
            </a:r>
            <a:endParaRPr lang="en-US" sz="1250" dirty="0"/>
          </a:p>
        </p:txBody>
      </p:sp>
      <p:sp>
        <p:nvSpPr>
          <p:cNvPr id="3" name="Text 1"/>
          <p:cNvSpPr txBox="1"/>
          <p:nvPr/>
        </p:nvSpPr>
        <p:spPr>
          <a:xfrm>
            <a:off x="548640" y="457200"/>
            <a:ext cx="11094415"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Síntesis y conclusiones</a:t>
            </a:r>
            <a:endParaRPr lang="en-US" sz="3200" dirty="0"/>
          </a:p>
        </p:txBody>
      </p:sp>
      <p:sp>
        <p:nvSpPr>
          <p:cNvPr id="4" name="Shape 2"/>
          <p:cNvSpPr/>
          <p:nvPr/>
        </p:nvSpPr>
        <p:spPr>
          <a:xfrm>
            <a:off x="548640" y="1508760"/>
            <a:ext cx="502920" cy="502920"/>
          </a:xfrm>
          <a:prstGeom prst="ellipse">
            <a:avLst/>
          </a:prstGeom>
          <a:solidFill>
            <a:srgbClr val="17B8A6"/>
          </a:solidFill>
          <a:ln/>
        </p:spPr>
        <p:txBody>
          <a:bodyPr/>
          <a:lstStyle/>
          <a:p>
            <a:endParaRPr lang="en-US"/>
          </a:p>
        </p:txBody>
      </p:sp>
      <p:sp>
        <p:nvSpPr>
          <p:cNvPr id="5" name="Text 3"/>
          <p:cNvSpPr txBox="1"/>
          <p:nvPr/>
        </p:nvSpPr>
        <p:spPr>
          <a:xfrm>
            <a:off x="548640" y="1508760"/>
            <a:ext cx="502920" cy="502920"/>
          </a:xfrm>
          <a:prstGeom prst="rect">
            <a:avLst/>
          </a:prstGeom>
          <a:noFill/>
          <a:ln/>
        </p:spPr>
        <p:txBody>
          <a:bodyPr wrap="square" lIns="0" tIns="0" rIns="0" bIns="0" rtlCol="0" anchor="ctr"/>
          <a:lstStyle/>
          <a:p>
            <a:pPr marL="0" indent="0" algn="ctr">
              <a:buNone/>
            </a:pPr>
            <a:r>
              <a:rPr lang="en-US" sz="1800" b="1" dirty="0">
                <a:solidFill>
                  <a:srgbClr val="15213E"/>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234440" y="1307592"/>
            <a:ext cx="10241280" cy="914400"/>
          </a:xfrm>
          <a:prstGeom prst="rect">
            <a:avLst/>
          </a:prstGeom>
          <a:noFill/>
          <a:ln/>
        </p:spPr>
        <p:txBody>
          <a:bodyPr wrap="square" lIns="0" tIns="0" rIns="0" bIns="0" rtlCol="0" anchor="ctr"/>
          <a:lstStyle/>
          <a:p>
            <a:pPr marL="0" indent="0">
              <a:lnSpc>
                <a:spcPct val="120000"/>
              </a:lnSpc>
              <a:buNone/>
            </a:pPr>
            <a:r>
              <a:rPr lang="en-US" sz="1500" b="1" dirty="0">
                <a:solidFill>
                  <a:srgbClr val="FFFFFF"/>
                </a:solidFill>
                <a:latin typeface="Calibri" pitchFamily="34" charset="0"/>
                <a:ea typeface="Calibri" pitchFamily="34" charset="-122"/>
                <a:cs typeface="Calibri" pitchFamily="34" charset="-120"/>
              </a:rPr>
              <a:t>El límite real no es la primitiva — </a:t>
            </a:r>
            <a:r>
              <a:rPr lang="en-US" sz="1500" dirty="0">
                <a:solidFill>
                  <a:srgbClr val="AEB6D6"/>
                </a:solidFill>
                <a:latin typeface="Calibri" pitchFamily="34" charset="0"/>
                <a:ea typeface="Calibri" pitchFamily="34" charset="-122"/>
                <a:cs typeface="Calibri" pitchFamily="34" charset="-120"/>
              </a:rPr>
              <a:t>es la distribución de claves entre partes que nunca compartieron un canal seguro.</a:t>
            </a:r>
            <a:endParaRPr lang="en-US" sz="1500" dirty="0"/>
          </a:p>
        </p:txBody>
      </p:sp>
      <p:sp>
        <p:nvSpPr>
          <p:cNvPr id="7" name="Shape 5"/>
          <p:cNvSpPr/>
          <p:nvPr/>
        </p:nvSpPr>
        <p:spPr>
          <a:xfrm>
            <a:off x="548640" y="2560320"/>
            <a:ext cx="502920" cy="502920"/>
          </a:xfrm>
          <a:prstGeom prst="ellipse">
            <a:avLst/>
          </a:prstGeom>
          <a:solidFill>
            <a:srgbClr val="17B8A6"/>
          </a:solidFill>
          <a:ln/>
        </p:spPr>
        <p:txBody>
          <a:bodyPr/>
          <a:lstStyle/>
          <a:p>
            <a:endParaRPr lang="en-US"/>
          </a:p>
        </p:txBody>
      </p:sp>
      <p:sp>
        <p:nvSpPr>
          <p:cNvPr id="8" name="Text 6"/>
          <p:cNvSpPr txBox="1"/>
          <p:nvPr/>
        </p:nvSpPr>
        <p:spPr>
          <a:xfrm>
            <a:off x="548640" y="2560320"/>
            <a:ext cx="502920" cy="502920"/>
          </a:xfrm>
          <a:prstGeom prst="rect">
            <a:avLst/>
          </a:prstGeom>
          <a:noFill/>
          <a:ln/>
        </p:spPr>
        <p:txBody>
          <a:bodyPr wrap="square" lIns="0" tIns="0" rIns="0" bIns="0" rtlCol="0" anchor="ctr"/>
          <a:lstStyle/>
          <a:p>
            <a:pPr marL="0" indent="0" algn="ctr">
              <a:buNone/>
            </a:pPr>
            <a:r>
              <a:rPr lang="en-US" sz="1800" b="1" dirty="0">
                <a:solidFill>
                  <a:srgbClr val="15213E"/>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234440" y="2354580"/>
            <a:ext cx="10241280" cy="914400"/>
          </a:xfrm>
          <a:prstGeom prst="rect">
            <a:avLst/>
          </a:prstGeom>
          <a:noFill/>
          <a:ln/>
        </p:spPr>
        <p:txBody>
          <a:bodyPr wrap="square" lIns="0" tIns="0" rIns="0" bIns="0" rtlCol="0" anchor="ctr"/>
          <a:lstStyle/>
          <a:p>
            <a:pPr marL="0" indent="0">
              <a:lnSpc>
                <a:spcPct val="120000"/>
              </a:lnSpc>
              <a:buNone/>
            </a:pPr>
            <a:r>
              <a:rPr lang="en-US" sz="1500" b="1" dirty="0">
                <a:solidFill>
                  <a:srgbClr val="FFFFFF"/>
                </a:solidFill>
                <a:latin typeface="Calibri" pitchFamily="34" charset="0"/>
                <a:ea typeface="Calibri" pitchFamily="34" charset="-122"/>
                <a:cs typeface="Calibri" pitchFamily="34" charset="-120"/>
              </a:rPr>
              <a:t>PEKS resuelve la teoría, no la práctica — </a:t>
            </a:r>
            <a:r>
              <a:rPr lang="en-US" sz="1500" dirty="0">
                <a:solidFill>
                  <a:srgbClr val="AEB6D6"/>
                </a:solidFill>
                <a:latin typeface="Calibri" pitchFamily="34" charset="0"/>
                <a:ea typeface="Calibri" pitchFamily="34" charset="-122"/>
                <a:cs typeface="Calibri" pitchFamily="34" charset="-120"/>
              </a:rPr>
              <a:t>paga con el Keyword Guessing Attack y con emparejamientos costosos.</a:t>
            </a:r>
            <a:endParaRPr lang="en-US" sz="1500" dirty="0"/>
          </a:p>
        </p:txBody>
      </p:sp>
      <p:sp>
        <p:nvSpPr>
          <p:cNvPr id="10" name="Shape 8"/>
          <p:cNvSpPr/>
          <p:nvPr/>
        </p:nvSpPr>
        <p:spPr>
          <a:xfrm>
            <a:off x="548640" y="3611880"/>
            <a:ext cx="502920" cy="502920"/>
          </a:xfrm>
          <a:prstGeom prst="ellipse">
            <a:avLst/>
          </a:prstGeom>
          <a:solidFill>
            <a:srgbClr val="17B8A6"/>
          </a:solidFill>
          <a:ln/>
        </p:spPr>
        <p:txBody>
          <a:bodyPr/>
          <a:lstStyle/>
          <a:p>
            <a:endParaRPr lang="en-US"/>
          </a:p>
        </p:txBody>
      </p:sp>
      <p:sp>
        <p:nvSpPr>
          <p:cNvPr id="11" name="Text 9"/>
          <p:cNvSpPr txBox="1"/>
          <p:nvPr/>
        </p:nvSpPr>
        <p:spPr>
          <a:xfrm>
            <a:off x="548640" y="3611880"/>
            <a:ext cx="502920" cy="502920"/>
          </a:xfrm>
          <a:prstGeom prst="rect">
            <a:avLst/>
          </a:prstGeom>
          <a:noFill/>
          <a:ln/>
        </p:spPr>
        <p:txBody>
          <a:bodyPr wrap="square" lIns="0" tIns="0" rIns="0" bIns="0" rtlCol="0" anchor="ctr"/>
          <a:lstStyle/>
          <a:p>
            <a:pPr marL="0" indent="0" algn="ctr">
              <a:buNone/>
            </a:pPr>
            <a:r>
              <a:rPr lang="en-US" sz="1800" b="1" dirty="0">
                <a:solidFill>
                  <a:srgbClr val="15213E"/>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234440" y="3401568"/>
            <a:ext cx="10241280" cy="914400"/>
          </a:xfrm>
          <a:prstGeom prst="rect">
            <a:avLst/>
          </a:prstGeom>
          <a:noFill/>
          <a:ln/>
        </p:spPr>
        <p:txBody>
          <a:bodyPr wrap="square" lIns="0" tIns="0" rIns="0" bIns="0" rtlCol="0" anchor="ctr"/>
          <a:lstStyle/>
          <a:p>
            <a:pPr marL="0" indent="0">
              <a:lnSpc>
                <a:spcPct val="120000"/>
              </a:lnSpc>
              <a:buNone/>
            </a:pPr>
            <a:r>
              <a:rPr lang="en-US" sz="1500" b="1" dirty="0">
                <a:solidFill>
                  <a:srgbClr val="FFFFFF"/>
                </a:solidFill>
                <a:latin typeface="Calibri" pitchFamily="34" charset="0"/>
                <a:ea typeface="Calibri" pitchFamily="34" charset="-122"/>
                <a:cs typeface="Calibri" pitchFamily="34" charset="-120"/>
              </a:rPr>
              <a:t>La respuesta de producción es híbrida — </a:t>
            </a:r>
            <a:r>
              <a:rPr lang="en-US" sz="1500" dirty="0">
                <a:solidFill>
                  <a:srgbClr val="AEB6D6"/>
                </a:solidFill>
                <a:latin typeface="Calibri" pitchFamily="34" charset="0"/>
                <a:ea typeface="Calibri" pitchFamily="34" charset="-122"/>
                <a:cs typeface="Calibri" pitchFamily="34" charset="-120"/>
              </a:rPr>
              <a:t>asimétrico para transportar claves y firmar; simétrico para todo el volumen — KEM/DEM.</a:t>
            </a:r>
            <a:endParaRPr lang="en-US" sz="1500" dirty="0"/>
          </a:p>
        </p:txBody>
      </p:sp>
      <p:sp>
        <p:nvSpPr>
          <p:cNvPr id="16" name="Shape 14"/>
          <p:cNvSpPr/>
          <p:nvPr/>
        </p:nvSpPr>
        <p:spPr>
          <a:xfrm>
            <a:off x="548640" y="5623560"/>
            <a:ext cx="11091672" cy="777240"/>
          </a:xfrm>
          <a:prstGeom prst="roundRect">
            <a:avLst>
              <a:gd name="adj" fmla="val 9412"/>
            </a:avLst>
          </a:prstGeom>
          <a:solidFill>
            <a:srgbClr val="1E2E56"/>
          </a:solidFill>
          <a:ln w="12700">
            <a:solidFill>
              <a:srgbClr val="E2E5F0"/>
            </a:solidFill>
            <a:prstDash val="solid"/>
          </a:ln>
        </p:spPr>
        <p:txBody>
          <a:bodyPr/>
          <a:lstStyle/>
          <a:p>
            <a:endParaRPr lang="en-US"/>
          </a:p>
        </p:txBody>
      </p:sp>
      <p:sp>
        <p:nvSpPr>
          <p:cNvPr id="17" name="Text 15"/>
          <p:cNvSpPr txBox="1"/>
          <p:nvPr/>
        </p:nvSpPr>
        <p:spPr>
          <a:xfrm>
            <a:off x="868680" y="5623560"/>
            <a:ext cx="10424160" cy="777240"/>
          </a:xfrm>
          <a:prstGeom prst="rect">
            <a:avLst/>
          </a:prstGeom>
          <a:noFill/>
          <a:ln/>
        </p:spPr>
        <p:txBody>
          <a:bodyPr wrap="square" lIns="0" tIns="0" rIns="0" bIns="0" rtlCol="0" anchor="ctr"/>
          <a:lstStyle/>
          <a:p>
            <a:pPr marL="0" indent="0">
              <a:lnSpc>
                <a:spcPct val="120000"/>
              </a:lnSpc>
              <a:buNone/>
            </a:pPr>
            <a:r>
              <a:rPr lang="en-US" sz="1150" i="1" dirty="0">
                <a:solidFill>
                  <a:srgbClr val="AEB6D6"/>
                </a:solidFill>
                <a:latin typeface="Calibri" pitchFamily="34" charset="0"/>
                <a:ea typeface="Calibri" pitchFamily="34" charset="-122"/>
                <a:cs typeface="Calibri" pitchFamily="34" charset="-120"/>
              </a:rPr>
              <a:t>Boneh, Di Crescenzo, Ostrovsky, Persiano (2004) · Byun, Rhee, Park, Lee (2006) · Curtmola, Garay, Kamara, Ostrovsky (2006) · Bernstein — Curve25519 (2006) · Bernstein et al. — Ed25519 (2011)</a:t>
            </a:r>
            <a:endParaRPr lang="en-US" sz="1150" dirty="0"/>
          </a:p>
        </p:txBody>
      </p:sp>
      <p:sp>
        <p:nvSpPr>
          <p:cNvPr id="19" name="Text 17"/>
          <p:cNvSpPr/>
          <p:nvPr/>
        </p:nvSpPr>
        <p:spPr>
          <a:xfrm>
            <a:off x="11185855" y="6437376"/>
            <a:ext cx="457200" cy="274320"/>
          </a:xfrm>
          <a:prstGeom prst="rect">
            <a:avLst/>
          </a:prstGeom>
          <a:noFill/>
          <a:ln/>
        </p:spPr>
        <p:txBody>
          <a:bodyPr wrap="square" rtlCol="0" anchor="ctr"/>
          <a:lstStyle/>
          <a:p>
            <a:pPr marL="0" indent="0" algn="r">
              <a:buNone/>
            </a:pPr>
            <a:r>
              <a:rPr lang="en-US" sz="1050" dirty="0">
                <a:solidFill>
                  <a:srgbClr val="AEB6D6"/>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1229</TotalTime>
  <Words>2191</Words>
  <Application>Microsoft Office PowerPoint</Application>
  <PresentationFormat>Widescreen</PresentationFormat>
  <Paragraphs>171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Hernan Herrera</cp:lastModifiedBy>
  <cp:revision>3</cp:revision>
  <dcterms:created xsi:type="dcterms:W3CDTF">2026-08-27T23:03:53Z</dcterms:created>
  <dcterms:modified xsi:type="dcterms:W3CDTF">2026-09-04T12:15:34Z</dcterms:modified>
</cp:coreProperties>
</file>