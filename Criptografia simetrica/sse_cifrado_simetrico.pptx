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F3B"/>
        </a:solidFill>
      </p:bgPr>
    </p:bg>
    <p:spTree>
      <p:nvGrpSpPr>
        <p:cNvPr id="1" name=""/>
        <p:cNvGrpSpPr/>
        <p:nvPr/>
      </p:nvGrpSpPr>
      <p:grpSpPr>
        <a:xfrm>
          <a:off x="0" y="0"/>
          <a:ext cx="0" cy="0"/>
          <a:chOff x="0" y="0"/>
          <a:chExt cx="0" cy="0"/>
        </a:xfrm>
      </p:grpSpPr>
      <p:sp>
        <p:nvSpPr>
          <p:cNvPr id="2" name="Shape 0"/>
          <p:cNvSpPr/>
          <p:nvPr/>
        </p:nvSpPr>
        <p:spPr>
          <a:xfrm>
            <a:off x="9784080" y="548640"/>
            <a:ext cx="73152" cy="73152"/>
          </a:xfrm>
          <a:prstGeom prst="ellipse">
            <a:avLst/>
          </a:prstGeom>
          <a:solidFill>
            <a:srgbClr val="D9A441">
              <a:alpha val="60000"/>
            </a:srgbClr>
          </a:solidFill>
          <a:ln/>
        </p:spPr>
      </p:sp>
      <p:sp>
        <p:nvSpPr>
          <p:cNvPr id="3" name="Shape 1"/>
          <p:cNvSpPr/>
          <p:nvPr/>
        </p:nvSpPr>
        <p:spPr>
          <a:xfrm>
            <a:off x="10287000" y="548640"/>
            <a:ext cx="73152" cy="73152"/>
          </a:xfrm>
          <a:prstGeom prst="ellipse">
            <a:avLst/>
          </a:prstGeom>
          <a:solidFill>
            <a:srgbClr val="D9A441">
              <a:alpha val="60000"/>
            </a:srgbClr>
          </a:solidFill>
          <a:ln/>
        </p:spPr>
      </p:sp>
      <p:sp>
        <p:nvSpPr>
          <p:cNvPr id="4" name="Shape 2"/>
          <p:cNvSpPr/>
          <p:nvPr/>
        </p:nvSpPr>
        <p:spPr>
          <a:xfrm>
            <a:off x="10789920" y="548640"/>
            <a:ext cx="73152" cy="73152"/>
          </a:xfrm>
          <a:prstGeom prst="ellipse">
            <a:avLst/>
          </a:prstGeom>
          <a:solidFill>
            <a:srgbClr val="D9A441">
              <a:alpha val="60000"/>
            </a:srgbClr>
          </a:solidFill>
          <a:ln/>
        </p:spPr>
      </p:sp>
      <p:sp>
        <p:nvSpPr>
          <p:cNvPr id="5" name="Shape 3"/>
          <p:cNvSpPr/>
          <p:nvPr/>
        </p:nvSpPr>
        <p:spPr>
          <a:xfrm>
            <a:off x="9784080" y="1051560"/>
            <a:ext cx="73152" cy="73152"/>
          </a:xfrm>
          <a:prstGeom prst="ellipse">
            <a:avLst/>
          </a:prstGeom>
          <a:solidFill>
            <a:srgbClr val="D9A441">
              <a:alpha val="60000"/>
            </a:srgbClr>
          </a:solidFill>
          <a:ln/>
        </p:spPr>
      </p:sp>
      <p:sp>
        <p:nvSpPr>
          <p:cNvPr id="6" name="Shape 4"/>
          <p:cNvSpPr/>
          <p:nvPr/>
        </p:nvSpPr>
        <p:spPr>
          <a:xfrm>
            <a:off x="10287000" y="1051560"/>
            <a:ext cx="73152" cy="73152"/>
          </a:xfrm>
          <a:prstGeom prst="ellipse">
            <a:avLst/>
          </a:prstGeom>
          <a:solidFill>
            <a:srgbClr val="D9A441">
              <a:alpha val="60000"/>
            </a:srgbClr>
          </a:solidFill>
          <a:ln/>
        </p:spPr>
      </p:sp>
      <p:sp>
        <p:nvSpPr>
          <p:cNvPr id="7" name="Shape 5"/>
          <p:cNvSpPr/>
          <p:nvPr/>
        </p:nvSpPr>
        <p:spPr>
          <a:xfrm>
            <a:off x="10789920" y="1051560"/>
            <a:ext cx="73152" cy="73152"/>
          </a:xfrm>
          <a:prstGeom prst="ellipse">
            <a:avLst/>
          </a:prstGeom>
          <a:solidFill>
            <a:srgbClr val="D9A441">
              <a:alpha val="60000"/>
            </a:srgbClr>
          </a:solidFill>
          <a:ln/>
        </p:spPr>
      </p:sp>
      <p:sp>
        <p:nvSpPr>
          <p:cNvPr id="8" name="Text 6"/>
          <p:cNvSpPr/>
          <p:nvPr/>
        </p:nvSpPr>
        <p:spPr>
          <a:xfrm>
            <a:off x="822960" y="1417320"/>
            <a:ext cx="9144000" cy="365760"/>
          </a:xfrm>
          <a:prstGeom prst="rect">
            <a:avLst/>
          </a:prstGeom>
          <a:noFill/>
          <a:ln/>
        </p:spPr>
        <p:txBody>
          <a:bodyPr wrap="square" lIns="0" tIns="0" rIns="0" bIns="0" rtlCol="0" anchor="ctr"/>
          <a:lstStyle/>
          <a:p>
            <a:pPr indent="0" marL="0">
              <a:buNone/>
            </a:pPr>
            <a:r>
              <a:rPr lang="en-US" sz="1300" b="1" spc="300" kern="0" dirty="0">
                <a:solidFill>
                  <a:srgbClr val="D9A441"/>
                </a:solidFill>
                <a:latin typeface="Calibri" pitchFamily="34" charset="0"/>
                <a:ea typeface="Calibri" pitchFamily="34" charset="-122"/>
                <a:cs typeface="Calibri" pitchFamily="34" charset="-120"/>
              </a:rPr>
              <a:t>CRIPTOGRAFÍA APLICADA · SSE</a:t>
            </a:r>
            <a:endParaRPr lang="en-US" sz="1300" dirty="0"/>
          </a:p>
        </p:txBody>
      </p:sp>
      <p:sp>
        <p:nvSpPr>
          <p:cNvPr id="9" name="Text 7"/>
          <p:cNvSpPr/>
          <p:nvPr/>
        </p:nvSpPr>
        <p:spPr>
          <a:xfrm>
            <a:off x="777240" y="1828800"/>
            <a:ext cx="10515600" cy="118872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Cifrado Simétrico en SSE</a:t>
            </a:r>
            <a:endParaRPr lang="en-US" sz="4800" dirty="0"/>
          </a:p>
        </p:txBody>
      </p:sp>
      <p:sp>
        <p:nvSpPr>
          <p:cNvPr id="10" name="Text 8"/>
          <p:cNvSpPr/>
          <p:nvPr/>
        </p:nvSpPr>
        <p:spPr>
          <a:xfrm>
            <a:off x="822960" y="2971800"/>
            <a:ext cx="9601200" cy="1005840"/>
          </a:xfrm>
          <a:prstGeom prst="rect">
            <a:avLst/>
          </a:prstGeom>
          <a:noFill/>
          <a:ln/>
        </p:spPr>
        <p:txBody>
          <a:bodyPr wrap="square" lIns="0" tIns="0" rIns="0" bIns="0" rtlCol="0" anchor="ctr"/>
          <a:lstStyle/>
          <a:p>
            <a:pPr indent="0" marL="0">
              <a:lnSpc>
                <a:spcPct val="125000"/>
              </a:lnSpc>
              <a:buNone/>
            </a:pPr>
            <a:r>
              <a:rPr lang="en-US" sz="1800" dirty="0">
                <a:solidFill>
                  <a:srgbClr val="C7D3F0"/>
                </a:solidFill>
                <a:latin typeface="Calibri" pitchFamily="34" charset="0"/>
                <a:ea typeface="Calibri" pitchFamily="34" charset="-122"/>
                <a:cs typeface="Calibri" pitchFamily="34" charset="-120"/>
              </a:rPr>
              <a:t>El núcleo criptográfico que hace posible la búsqueda</a:t>
            </a:r>
            <a:endParaRPr lang="en-US" sz="1800" dirty="0"/>
          </a:p>
          <a:p>
            <a:pPr indent="0" marL="0">
              <a:lnSpc>
                <a:spcPct val="125000"/>
              </a:lnSpc>
              <a:buNone/>
            </a:pPr>
            <a:r>
              <a:rPr lang="en-US" sz="1800" dirty="0">
                <a:solidFill>
                  <a:srgbClr val="C7D3F0"/>
                </a:solidFill>
                <a:latin typeface="Calibri" pitchFamily="34" charset="0"/>
                <a:ea typeface="Calibri" pitchFamily="34" charset="-122"/>
                <a:cs typeface="Calibri" pitchFamily="34" charset="-120"/>
              </a:rPr>
              <a:t>sobre datos cifrados</a:t>
            </a:r>
            <a:endParaRPr lang="en-US" sz="1800" dirty="0"/>
          </a:p>
        </p:txBody>
      </p:sp>
      <p:sp>
        <p:nvSpPr>
          <p:cNvPr id="11" name="Shape 9"/>
          <p:cNvSpPr/>
          <p:nvPr/>
        </p:nvSpPr>
        <p:spPr>
          <a:xfrm>
            <a:off x="822960" y="4297680"/>
            <a:ext cx="457200" cy="54864"/>
          </a:xfrm>
          <a:prstGeom prst="rect">
            <a:avLst/>
          </a:prstGeom>
          <a:solidFill>
            <a:srgbClr val="D9A441"/>
          </a:solidFill>
          <a:ln/>
        </p:spPr>
      </p:sp>
      <p:sp>
        <p:nvSpPr>
          <p:cNvPr id="12" name="Text 10"/>
          <p:cNvSpPr/>
          <p:nvPr/>
        </p:nvSpPr>
        <p:spPr>
          <a:xfrm>
            <a:off x="822960" y="4709160"/>
            <a:ext cx="512064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PRF</a:t>
            </a:r>
            <a:pPr indent="0" marL="0">
              <a:buNone/>
            </a:pPr>
            <a:r>
              <a:rPr lang="en-US" sz="1400" dirty="0">
                <a:solidFill>
                  <a:srgbClr val="8D98C4"/>
                </a:solidFill>
                <a:latin typeface="Calibri" pitchFamily="34" charset="0"/>
                <a:ea typeface="Calibri" pitchFamily="34" charset="-122"/>
                <a:cs typeface="Calibri" pitchFamily="34" charset="-120"/>
              </a:rPr>
              <a:t>  ·  Función Pseudoaleatoria</a:t>
            </a:r>
            <a:endParaRPr lang="en-US" sz="1400" dirty="0"/>
          </a:p>
        </p:txBody>
      </p:sp>
      <p:sp>
        <p:nvSpPr>
          <p:cNvPr id="13" name="Text 11"/>
          <p:cNvSpPr/>
          <p:nvPr/>
        </p:nvSpPr>
        <p:spPr>
          <a:xfrm>
            <a:off x="822960" y="5120640"/>
            <a:ext cx="512064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PRP</a:t>
            </a:r>
            <a:pPr indent="0" marL="0">
              <a:buNone/>
            </a:pPr>
            <a:r>
              <a:rPr lang="en-US" sz="1400" dirty="0">
                <a:solidFill>
                  <a:srgbClr val="8D98C4"/>
                </a:solidFill>
                <a:latin typeface="Calibri" pitchFamily="34" charset="0"/>
                <a:ea typeface="Calibri" pitchFamily="34" charset="-122"/>
                <a:cs typeface="Calibri" pitchFamily="34" charset="-120"/>
              </a:rPr>
              <a:t>  ·  Permutación Pseudoaleatoria</a:t>
            </a:r>
            <a:endParaRPr lang="en-US" sz="1400" dirty="0"/>
          </a:p>
        </p:txBody>
      </p:sp>
      <p:sp>
        <p:nvSpPr>
          <p:cNvPr id="14" name="Text 12"/>
          <p:cNvSpPr/>
          <p:nvPr/>
        </p:nvSpPr>
        <p:spPr>
          <a:xfrm>
            <a:off x="822960" y="5532120"/>
            <a:ext cx="603504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Curtmola, Garay, Kamara, Ostrovsky</a:t>
            </a:r>
            <a:pPr indent="0" marL="0">
              <a:buNone/>
            </a:pPr>
            <a:r>
              <a:rPr lang="en-US" sz="1400" dirty="0">
                <a:solidFill>
                  <a:srgbClr val="8D98C4"/>
                </a:solidFill>
                <a:latin typeface="Calibri" pitchFamily="34" charset="0"/>
                <a:ea typeface="Calibri" pitchFamily="34" charset="-122"/>
                <a:cs typeface="Calibri" pitchFamily="34" charset="-120"/>
              </a:rPr>
              <a:t>  ·  SSE-1 / SSE-2 (2006)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548640" y="164592"/>
            <a:ext cx="11094415" cy="292608"/>
          </a:xfrm>
          <a:prstGeom prst="rect">
            <a:avLst/>
          </a:prstGeom>
          <a:noFill/>
          <a:ln/>
        </p:spPr>
        <p:txBody>
          <a:bodyPr wrap="square" lIns="0" tIns="0" rIns="0" bIns="0" rtlCol="0" anchor="ctr"/>
          <a:lstStyle/>
          <a:p>
            <a:pPr indent="0" marL="0">
              <a:buNone/>
            </a:pPr>
            <a:r>
              <a:rPr lang="en-US" sz="1200" b="1" spc="200" kern="0" dirty="0">
                <a:solidFill>
                  <a:srgbClr val="D9A441"/>
                </a:solidFill>
                <a:latin typeface="Calibri" pitchFamily="34" charset="0"/>
                <a:ea typeface="Calibri" pitchFamily="34" charset="-122"/>
                <a:cs typeface="Calibri" pitchFamily="34" charset="-120"/>
              </a:rPr>
              <a:t>EL PROBLEMA</a:t>
            </a:r>
            <a:endParaRPr lang="en-US" sz="1200" dirty="0"/>
          </a:p>
        </p:txBody>
      </p:sp>
      <p:sp>
        <p:nvSpPr>
          <p:cNvPr id="3" name="Text 1"/>
          <p:cNvSpPr/>
          <p:nvPr/>
        </p:nvSpPr>
        <p:spPr>
          <a:xfrm>
            <a:off x="548640" y="411480"/>
            <a:ext cx="11094415" cy="822960"/>
          </a:xfrm>
          <a:prstGeom prst="rect">
            <a:avLst/>
          </a:prstGeom>
          <a:noFill/>
          <a:ln/>
        </p:spPr>
        <p:txBody>
          <a:bodyPr wrap="square" lIns="0" tIns="0" rIns="0" bIns="0" rtlCol="0" anchor="ctr"/>
          <a:lstStyle/>
          <a:p>
            <a:pPr indent="0" marL="0">
              <a:buNone/>
            </a:pPr>
            <a:r>
              <a:rPr lang="en-US" sz="3000" b="1" dirty="0">
                <a:solidFill>
                  <a:srgbClr val="1B1F3B"/>
                </a:solidFill>
                <a:latin typeface="Cambria" pitchFamily="34" charset="0"/>
                <a:ea typeface="Cambria" pitchFamily="34" charset="-122"/>
                <a:cs typeface="Cambria" pitchFamily="34" charset="-120"/>
              </a:rPr>
              <a:t>Buscar sin ver: la tensión de fondo</a:t>
            </a:r>
            <a:endParaRPr lang="en-US" sz="3000" dirty="0"/>
          </a:p>
        </p:txBody>
      </p:sp>
      <p:sp>
        <p:nvSpPr>
          <p:cNvPr id="4" name="Text 2"/>
          <p:cNvSpPr/>
          <p:nvPr/>
        </p:nvSpPr>
        <p:spPr>
          <a:xfrm>
            <a:off x="548640" y="1371600"/>
            <a:ext cx="11064240" cy="822960"/>
          </a:xfrm>
          <a:prstGeom prst="rect">
            <a:avLst/>
          </a:prstGeom>
          <a:noFill/>
          <a:ln/>
        </p:spPr>
        <p:txBody>
          <a:bodyPr wrap="square" lIns="0" tIns="0" rIns="0" bIns="0" rtlCol="0" anchor="ctr"/>
          <a:lstStyle/>
          <a:p>
            <a:pPr indent="0" marL="0">
              <a:lnSpc>
                <a:spcPct val="130000"/>
              </a:lnSpc>
              <a:buNone/>
            </a:pPr>
            <a:r>
              <a:rPr lang="en-US" sz="1500" dirty="0">
                <a:solidFill>
                  <a:srgbClr val="5B6584"/>
                </a:solidFill>
                <a:latin typeface="Calibri" pitchFamily="34" charset="0"/>
                <a:ea typeface="Calibri" pitchFamily="34" charset="-122"/>
                <a:cs typeface="Calibri" pitchFamily="34" charset="-120"/>
              </a:rPr>
              <a:t>Un cliente cifra sus documentos y los delega a un servidor que no es confiable. Necesita recuperar los documentos que contienen una palabra clave — sin que el servidor aprenda el contenido, y sin descargar todo el dataset para filtrar localmente.</a:t>
            </a:r>
            <a:endParaRPr lang="en-US" sz="1500" dirty="0"/>
          </a:p>
        </p:txBody>
      </p:sp>
      <p:sp>
        <p:nvSpPr>
          <p:cNvPr id="5" name="Shape 3"/>
          <p:cNvSpPr/>
          <p:nvPr/>
        </p:nvSpPr>
        <p:spPr>
          <a:xfrm>
            <a:off x="640080" y="2560320"/>
            <a:ext cx="2377440" cy="1371600"/>
          </a:xfrm>
          <a:prstGeom prst="roundRect">
            <a:avLst>
              <a:gd name="adj" fmla="val 5333"/>
            </a:avLst>
          </a:prstGeom>
          <a:solidFill>
            <a:srgbClr val="1B1F3B"/>
          </a:solidFill>
          <a:ln/>
        </p:spPr>
      </p:sp>
      <p:sp>
        <p:nvSpPr>
          <p:cNvPr id="6" name="Text 4"/>
          <p:cNvSpPr/>
          <p:nvPr/>
        </p:nvSpPr>
        <p:spPr>
          <a:xfrm>
            <a:off x="640080" y="2697480"/>
            <a:ext cx="2377440" cy="3200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Cliente</a:t>
            </a:r>
            <a:endParaRPr lang="en-US" sz="1500" dirty="0"/>
          </a:p>
        </p:txBody>
      </p:sp>
      <p:sp>
        <p:nvSpPr>
          <p:cNvPr id="7" name="Text 5"/>
          <p:cNvSpPr/>
          <p:nvPr/>
        </p:nvSpPr>
        <p:spPr>
          <a:xfrm>
            <a:off x="777240" y="3063240"/>
            <a:ext cx="2103120" cy="777240"/>
          </a:xfrm>
          <a:prstGeom prst="rect">
            <a:avLst/>
          </a:prstGeom>
          <a:noFill/>
          <a:ln/>
        </p:spPr>
        <p:txBody>
          <a:bodyPr wrap="square" lIns="0" tIns="0" rIns="0" bIns="0" rtlCol="0" anchor="ctr"/>
          <a:lstStyle/>
          <a:p>
            <a:pPr algn="ctr" indent="0" marL="0">
              <a:lnSpc>
                <a:spcPct val="120000"/>
              </a:lnSpc>
              <a:buNone/>
            </a:pPr>
            <a:r>
              <a:rPr lang="en-US" sz="1100" dirty="0">
                <a:solidFill>
                  <a:srgbClr val="C7D3F0"/>
                </a:solidFill>
                <a:latin typeface="Calibri" pitchFamily="34" charset="0"/>
                <a:ea typeface="Calibri" pitchFamily="34" charset="-122"/>
                <a:cs typeface="Calibri" pitchFamily="34" charset="-120"/>
              </a:rPr>
              <a:t>Posee la clave simétrica</a:t>
            </a:r>
            <a:endParaRPr lang="en-US" sz="1100" dirty="0"/>
          </a:p>
          <a:p>
            <a:pPr algn="ctr" indent="0" marL="0">
              <a:lnSpc>
                <a:spcPct val="120000"/>
              </a:lnSpc>
              <a:buNone/>
            </a:pPr>
            <a:r>
              <a:rPr lang="en-US" sz="1100" dirty="0">
                <a:solidFill>
                  <a:srgbClr val="C7D3F0"/>
                </a:solidFill>
                <a:latin typeface="Calibri" pitchFamily="34" charset="0"/>
                <a:ea typeface="Calibri" pitchFamily="34" charset="-122"/>
                <a:cs typeface="Calibri" pitchFamily="34" charset="-120"/>
              </a:rPr>
              <a:t>K. Conoce el contenido</a:t>
            </a:r>
            <a:endParaRPr lang="en-US" sz="1100" dirty="0"/>
          </a:p>
          <a:p>
            <a:pPr algn="ctr" indent="0" marL="0">
              <a:lnSpc>
                <a:spcPct val="120000"/>
              </a:lnSpc>
              <a:buNone/>
            </a:pPr>
            <a:r>
              <a:rPr lang="en-US" sz="1100" dirty="0">
                <a:solidFill>
                  <a:srgbClr val="C7D3F0"/>
                </a:solidFill>
                <a:latin typeface="Calibri" pitchFamily="34" charset="0"/>
                <a:ea typeface="Calibri" pitchFamily="34" charset="-122"/>
                <a:cs typeface="Calibri" pitchFamily="34" charset="-120"/>
              </a:rPr>
              <a:t>en claro.</a:t>
            </a:r>
            <a:endParaRPr lang="en-US" sz="1100" dirty="0"/>
          </a:p>
        </p:txBody>
      </p:sp>
      <p:sp>
        <p:nvSpPr>
          <p:cNvPr id="8" name="Shape 6"/>
          <p:cNvSpPr/>
          <p:nvPr/>
        </p:nvSpPr>
        <p:spPr>
          <a:xfrm>
            <a:off x="3017520" y="3246120"/>
            <a:ext cx="1051560" cy="0"/>
          </a:xfrm>
          <a:prstGeom prst="line">
            <a:avLst/>
          </a:prstGeom>
          <a:noFill/>
          <a:ln w="19050">
            <a:solidFill>
              <a:srgbClr val="5B6584"/>
            </a:solidFill>
            <a:prstDash val="solid"/>
            <a:tailEnd type="triangle"/>
          </a:ln>
        </p:spPr>
      </p:sp>
      <p:sp>
        <p:nvSpPr>
          <p:cNvPr id="9" name="Text 7"/>
          <p:cNvSpPr/>
          <p:nvPr/>
        </p:nvSpPr>
        <p:spPr>
          <a:xfrm>
            <a:off x="2999232" y="2176272"/>
            <a:ext cx="1097280" cy="457200"/>
          </a:xfrm>
          <a:prstGeom prst="rect">
            <a:avLst/>
          </a:prstGeom>
          <a:noFill/>
          <a:ln/>
        </p:spPr>
        <p:txBody>
          <a:bodyPr wrap="square" lIns="0" tIns="0" rIns="0" bIns="0" rtlCol="0" anchor="ctr"/>
          <a:lstStyle/>
          <a:p>
            <a:pPr algn="ctr" indent="0" marL="0">
              <a:buNone/>
            </a:pPr>
            <a:r>
              <a:rPr lang="en-US" sz="950" i="1" dirty="0">
                <a:solidFill>
                  <a:srgbClr val="5B6584"/>
                </a:solidFill>
                <a:latin typeface="Calibri" pitchFamily="34" charset="0"/>
                <a:ea typeface="Calibri" pitchFamily="34" charset="-122"/>
                <a:cs typeface="Calibri" pitchFamily="34" charset="-120"/>
              </a:rPr>
              <a:t>cifra + sube</a:t>
            </a:r>
            <a:endParaRPr lang="en-US" sz="950" dirty="0"/>
          </a:p>
          <a:p>
            <a:pPr algn="ctr" indent="0" marL="0">
              <a:buNone/>
            </a:pPr>
            <a:r>
              <a:rPr lang="en-US" sz="950" i="1" dirty="0">
                <a:solidFill>
                  <a:srgbClr val="5B6584"/>
                </a:solidFill>
                <a:latin typeface="Calibri" pitchFamily="34" charset="0"/>
                <a:ea typeface="Calibri" pitchFamily="34" charset="-122"/>
                <a:cs typeface="Calibri" pitchFamily="34" charset="-120"/>
              </a:rPr>
              <a:t>índice invertido</a:t>
            </a:r>
            <a:endParaRPr lang="en-US" sz="950" dirty="0"/>
          </a:p>
        </p:txBody>
      </p:sp>
      <p:sp>
        <p:nvSpPr>
          <p:cNvPr id="10" name="Shape 8"/>
          <p:cNvSpPr/>
          <p:nvPr/>
        </p:nvSpPr>
        <p:spPr>
          <a:xfrm>
            <a:off x="4069080" y="2560320"/>
            <a:ext cx="2834640" cy="1371600"/>
          </a:xfrm>
          <a:prstGeom prst="roundRect">
            <a:avLst>
              <a:gd name="adj" fmla="val 5333"/>
            </a:avLst>
          </a:prstGeom>
          <a:solidFill>
            <a:srgbClr val="FFFFFF"/>
          </a:solidFill>
          <a:ln w="12700">
            <a:solidFill>
              <a:srgbClr val="DCE1F0"/>
            </a:solidFill>
            <a:prstDash val="solid"/>
          </a:ln>
        </p:spPr>
      </p:sp>
      <p:sp>
        <p:nvSpPr>
          <p:cNvPr id="11" name="Text 9"/>
          <p:cNvSpPr/>
          <p:nvPr/>
        </p:nvSpPr>
        <p:spPr>
          <a:xfrm>
            <a:off x="4069080" y="2697480"/>
            <a:ext cx="2834640" cy="320040"/>
          </a:xfrm>
          <a:prstGeom prst="rect">
            <a:avLst/>
          </a:prstGeom>
          <a:noFill/>
          <a:ln/>
        </p:spPr>
        <p:txBody>
          <a:bodyPr wrap="square" lIns="0" tIns="0" rIns="0" bIns="0" rtlCol="0" anchor="ctr"/>
          <a:lstStyle/>
          <a:p>
            <a:pPr algn="ctr" indent="0" marL="0">
              <a:buNone/>
            </a:pPr>
            <a:r>
              <a:rPr lang="en-US" sz="1400" b="1" dirty="0">
                <a:solidFill>
                  <a:srgbClr val="1B1F3B"/>
                </a:solidFill>
                <a:latin typeface="Cambria" pitchFamily="34" charset="0"/>
                <a:ea typeface="Cambria" pitchFamily="34" charset="-122"/>
                <a:cs typeface="Cambria" pitchFamily="34" charset="-120"/>
              </a:rPr>
              <a:t>Servidor (no confiable)</a:t>
            </a:r>
            <a:endParaRPr lang="en-US" sz="1400" dirty="0"/>
          </a:p>
        </p:txBody>
      </p:sp>
      <p:sp>
        <p:nvSpPr>
          <p:cNvPr id="12" name="Text 10"/>
          <p:cNvSpPr/>
          <p:nvPr/>
        </p:nvSpPr>
        <p:spPr>
          <a:xfrm>
            <a:off x="4206240" y="3063240"/>
            <a:ext cx="2560320" cy="777240"/>
          </a:xfrm>
          <a:prstGeom prst="rect">
            <a:avLst/>
          </a:prstGeom>
          <a:noFill/>
          <a:ln/>
        </p:spPr>
        <p:txBody>
          <a:bodyPr wrap="square" lIns="0" tIns="0" rIns="0" bIns="0" rtlCol="0" anchor="ctr"/>
          <a:lstStyle/>
          <a:p>
            <a:pPr algn="ctr" indent="0" marL="0">
              <a:lnSpc>
                <a:spcPct val="120000"/>
              </a:lnSpc>
              <a:buNone/>
            </a:pPr>
            <a:r>
              <a:rPr lang="en-US" sz="1100" dirty="0">
                <a:solidFill>
                  <a:srgbClr val="5B6584"/>
                </a:solidFill>
                <a:latin typeface="Calibri" pitchFamily="34" charset="0"/>
                <a:ea typeface="Calibri" pitchFamily="34" charset="-122"/>
                <a:cs typeface="Calibri" pitchFamily="34" charset="-120"/>
              </a:rPr>
              <a:t>Almacena documentos</a:t>
            </a:r>
            <a:endParaRPr lang="en-US" sz="1100" dirty="0"/>
          </a:p>
          <a:p>
            <a:pPr algn="ctr" indent="0" marL="0">
              <a:lnSpc>
                <a:spcPct val="120000"/>
              </a:lnSpc>
              <a:buNone/>
            </a:pPr>
            <a:r>
              <a:rPr lang="en-US" sz="1100" dirty="0">
                <a:solidFill>
                  <a:srgbClr val="5B6584"/>
                </a:solidFill>
                <a:latin typeface="Calibri" pitchFamily="34" charset="0"/>
                <a:ea typeface="Calibri" pitchFamily="34" charset="-122"/>
                <a:cs typeface="Calibri" pitchFamily="34" charset="-120"/>
              </a:rPr>
              <a:t>cifrados + índice cifrado.</a:t>
            </a:r>
            <a:endParaRPr lang="en-US" sz="1100" dirty="0"/>
          </a:p>
          <a:p>
            <a:pPr algn="ctr" indent="0" marL="0">
              <a:lnSpc>
                <a:spcPct val="120000"/>
              </a:lnSpc>
              <a:buNone/>
            </a:pPr>
            <a:r>
              <a:rPr lang="en-US" sz="1100" dirty="0">
                <a:solidFill>
                  <a:srgbClr val="5B6584"/>
                </a:solidFill>
                <a:latin typeface="Calibri" pitchFamily="34" charset="0"/>
                <a:ea typeface="Calibri" pitchFamily="34" charset="-122"/>
                <a:cs typeface="Calibri" pitchFamily="34" charset="-120"/>
              </a:rPr>
              <a:t>Nunca ve texto plano.</a:t>
            </a:r>
            <a:endParaRPr lang="en-US" sz="1100" dirty="0"/>
          </a:p>
        </p:txBody>
      </p:sp>
      <p:sp>
        <p:nvSpPr>
          <p:cNvPr id="13" name="Shape 11"/>
          <p:cNvSpPr/>
          <p:nvPr/>
        </p:nvSpPr>
        <p:spPr>
          <a:xfrm>
            <a:off x="7040880" y="2990088"/>
            <a:ext cx="1051560" cy="0"/>
          </a:xfrm>
          <a:prstGeom prst="line">
            <a:avLst/>
          </a:prstGeom>
          <a:noFill/>
          <a:ln w="19050">
            <a:solidFill>
              <a:srgbClr val="B4842E"/>
            </a:solidFill>
            <a:prstDash val="solid"/>
            <a:tailEnd type="triangle"/>
          </a:ln>
        </p:spPr>
      </p:sp>
      <p:sp>
        <p:nvSpPr>
          <p:cNvPr id="14" name="Text 12"/>
          <p:cNvSpPr/>
          <p:nvPr/>
        </p:nvSpPr>
        <p:spPr>
          <a:xfrm>
            <a:off x="7022592" y="2606040"/>
            <a:ext cx="1097280" cy="320040"/>
          </a:xfrm>
          <a:prstGeom prst="rect">
            <a:avLst/>
          </a:prstGeom>
          <a:noFill/>
          <a:ln/>
        </p:spPr>
        <p:txBody>
          <a:bodyPr wrap="square" lIns="0" tIns="0" rIns="0" bIns="0" rtlCol="0" anchor="ctr"/>
          <a:lstStyle/>
          <a:p>
            <a:pPr algn="ctr" indent="0" marL="0">
              <a:buNone/>
            </a:pPr>
            <a:r>
              <a:rPr lang="en-US" sz="950" i="1" dirty="0">
                <a:solidFill>
                  <a:srgbClr val="B4842E"/>
                </a:solidFill>
                <a:latin typeface="Calibri" pitchFamily="34" charset="0"/>
                <a:ea typeface="Calibri" pitchFamily="34" charset="-122"/>
                <a:cs typeface="Calibri" pitchFamily="34" charset="-120"/>
              </a:rPr>
              <a:t>trapdoor(w)</a:t>
            </a:r>
            <a:endParaRPr lang="en-US" sz="950" dirty="0"/>
          </a:p>
        </p:txBody>
      </p:sp>
      <p:sp>
        <p:nvSpPr>
          <p:cNvPr id="15" name="Shape 13"/>
          <p:cNvSpPr/>
          <p:nvPr/>
        </p:nvSpPr>
        <p:spPr>
          <a:xfrm>
            <a:off x="8092440" y="3502152"/>
            <a:ext cx="-1051560" cy="0"/>
          </a:xfrm>
          <a:prstGeom prst="line">
            <a:avLst/>
          </a:prstGeom>
          <a:noFill/>
          <a:ln w="19050">
            <a:solidFill>
              <a:srgbClr val="5B6584"/>
            </a:solidFill>
            <a:prstDash val="solid"/>
            <a:tailEnd type="triangle"/>
          </a:ln>
        </p:spPr>
      </p:sp>
      <p:sp>
        <p:nvSpPr>
          <p:cNvPr id="16" name="Text 14"/>
          <p:cNvSpPr/>
          <p:nvPr/>
        </p:nvSpPr>
        <p:spPr>
          <a:xfrm>
            <a:off x="7022592" y="3429000"/>
            <a:ext cx="1097280" cy="457200"/>
          </a:xfrm>
          <a:prstGeom prst="rect">
            <a:avLst/>
          </a:prstGeom>
          <a:noFill/>
          <a:ln/>
        </p:spPr>
        <p:txBody>
          <a:bodyPr wrap="square" lIns="0" tIns="0" rIns="0" bIns="0" rtlCol="0" anchor="ctr"/>
          <a:lstStyle/>
          <a:p>
            <a:pPr algn="ctr" indent="0" marL="0">
              <a:buNone/>
            </a:pPr>
            <a:r>
              <a:rPr lang="en-US" sz="950" i="1" dirty="0">
                <a:solidFill>
                  <a:srgbClr val="5B6584"/>
                </a:solidFill>
                <a:latin typeface="Calibri" pitchFamily="34" charset="0"/>
                <a:ea typeface="Calibri" pitchFamily="34" charset="-122"/>
                <a:cs typeface="Calibri" pitchFamily="34" charset="-120"/>
              </a:rPr>
              <a:t>IDs cifrados</a:t>
            </a:r>
            <a:endParaRPr lang="en-US" sz="950" dirty="0"/>
          </a:p>
          <a:p>
            <a:pPr algn="ctr" indent="0" marL="0">
              <a:buNone/>
            </a:pPr>
            <a:r>
              <a:rPr lang="en-US" sz="950" i="1" dirty="0">
                <a:solidFill>
                  <a:srgbClr val="5B6584"/>
                </a:solidFill>
                <a:latin typeface="Calibri" pitchFamily="34" charset="0"/>
                <a:ea typeface="Calibri" pitchFamily="34" charset="-122"/>
                <a:cs typeface="Calibri" pitchFamily="34" charset="-120"/>
              </a:rPr>
              <a:t>coincidentes</a:t>
            </a:r>
            <a:endParaRPr lang="en-US" sz="950" dirty="0"/>
          </a:p>
        </p:txBody>
      </p:sp>
      <p:sp>
        <p:nvSpPr>
          <p:cNvPr id="17" name="Shape 15"/>
          <p:cNvSpPr/>
          <p:nvPr/>
        </p:nvSpPr>
        <p:spPr>
          <a:xfrm>
            <a:off x="8138160" y="2560320"/>
            <a:ext cx="2651760" cy="1371600"/>
          </a:xfrm>
          <a:prstGeom prst="roundRect">
            <a:avLst>
              <a:gd name="adj" fmla="val 5333"/>
            </a:avLst>
          </a:prstGeom>
          <a:solidFill>
            <a:srgbClr val="2E355E"/>
          </a:solidFill>
          <a:ln/>
        </p:spPr>
      </p:sp>
      <p:sp>
        <p:nvSpPr>
          <p:cNvPr id="18" name="Text 16"/>
          <p:cNvSpPr/>
          <p:nvPr/>
        </p:nvSpPr>
        <p:spPr>
          <a:xfrm>
            <a:off x="8138160" y="2697480"/>
            <a:ext cx="265176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Cliente autorizado</a:t>
            </a:r>
            <a:endParaRPr lang="en-US" sz="1400" dirty="0"/>
          </a:p>
        </p:txBody>
      </p:sp>
      <p:sp>
        <p:nvSpPr>
          <p:cNvPr id="19" name="Text 17"/>
          <p:cNvSpPr/>
          <p:nvPr/>
        </p:nvSpPr>
        <p:spPr>
          <a:xfrm>
            <a:off x="8275320" y="3063240"/>
            <a:ext cx="2377440" cy="777240"/>
          </a:xfrm>
          <a:prstGeom prst="rect">
            <a:avLst/>
          </a:prstGeom>
          <a:noFill/>
          <a:ln/>
        </p:spPr>
        <p:txBody>
          <a:bodyPr wrap="square" lIns="0" tIns="0" rIns="0" bIns="0" rtlCol="0" anchor="ctr"/>
          <a:lstStyle/>
          <a:p>
            <a:pPr algn="ctr" indent="0" marL="0">
              <a:lnSpc>
                <a:spcPct val="120000"/>
              </a:lnSpc>
              <a:buNone/>
            </a:pPr>
            <a:r>
              <a:rPr lang="en-US" sz="1100" dirty="0">
                <a:solidFill>
                  <a:srgbClr val="C7D3F0"/>
                </a:solidFill>
                <a:latin typeface="Calibri" pitchFamily="34" charset="0"/>
                <a:ea typeface="Calibri" pitchFamily="34" charset="-122"/>
                <a:cs typeface="Calibri" pitchFamily="34" charset="-120"/>
              </a:rPr>
              <a:t>Genera un trapdoor con K</a:t>
            </a:r>
            <a:endParaRPr lang="en-US" sz="1100" dirty="0"/>
          </a:p>
          <a:p>
            <a:pPr algn="ctr" indent="0" marL="0">
              <a:lnSpc>
                <a:spcPct val="120000"/>
              </a:lnSpc>
              <a:buNone/>
            </a:pPr>
            <a:r>
              <a:rPr lang="en-US" sz="1100" dirty="0">
                <a:solidFill>
                  <a:srgbClr val="C7D3F0"/>
                </a:solidFill>
                <a:latin typeface="Calibri" pitchFamily="34" charset="0"/>
                <a:ea typeface="Calibri" pitchFamily="34" charset="-122"/>
                <a:cs typeface="Calibri" pitchFamily="34" charset="-120"/>
              </a:rPr>
              <a:t>para la palabra buscada,</a:t>
            </a:r>
            <a:endParaRPr lang="en-US" sz="1100" dirty="0"/>
          </a:p>
          <a:p>
            <a:pPr algn="ctr" indent="0" marL="0">
              <a:lnSpc>
                <a:spcPct val="120000"/>
              </a:lnSpc>
              <a:buNone/>
            </a:pPr>
            <a:r>
              <a:rPr lang="en-US" sz="1100" dirty="0">
                <a:solidFill>
                  <a:srgbClr val="C7D3F0"/>
                </a:solidFill>
                <a:latin typeface="Calibri" pitchFamily="34" charset="0"/>
                <a:ea typeface="Calibri" pitchFamily="34" charset="-122"/>
                <a:cs typeface="Calibri" pitchFamily="34" charset="-120"/>
              </a:rPr>
              <a:t>sin revelarla en claro.</a:t>
            </a:r>
            <a:endParaRPr lang="en-US" sz="1100" dirty="0"/>
          </a:p>
        </p:txBody>
      </p:sp>
      <p:sp>
        <p:nvSpPr>
          <p:cNvPr id="20" name="Shape 18"/>
          <p:cNvSpPr/>
          <p:nvPr/>
        </p:nvSpPr>
        <p:spPr>
          <a:xfrm>
            <a:off x="548640" y="4572000"/>
            <a:ext cx="11064240" cy="868680"/>
          </a:xfrm>
          <a:prstGeom prst="roundRect">
            <a:avLst>
              <a:gd name="adj" fmla="val 6316"/>
            </a:avLst>
          </a:prstGeom>
          <a:solidFill>
            <a:srgbClr val="FFFFFF"/>
          </a:solidFill>
          <a:ln w="12700">
            <a:solidFill>
              <a:srgbClr val="DCE1F0"/>
            </a:solidFill>
            <a:prstDash val="solid"/>
          </a:ln>
        </p:spPr>
      </p:sp>
      <p:sp>
        <p:nvSpPr>
          <p:cNvPr id="21" name="Text 19"/>
          <p:cNvSpPr/>
          <p:nvPr/>
        </p:nvSpPr>
        <p:spPr>
          <a:xfrm>
            <a:off x="822960" y="4572000"/>
            <a:ext cx="10515600" cy="868680"/>
          </a:xfrm>
          <a:prstGeom prst="rect">
            <a:avLst/>
          </a:prstGeom>
          <a:noFill/>
          <a:ln/>
        </p:spPr>
        <p:txBody>
          <a:bodyPr wrap="square" lIns="0" tIns="0" rIns="0" bIns="0" rtlCol="0" anchor="ctr"/>
          <a:lstStyle/>
          <a:p>
            <a:pPr indent="0" marL="0">
              <a:lnSpc>
                <a:spcPct val="120000"/>
              </a:lnSpc>
              <a:buNone/>
            </a:pPr>
            <a:r>
              <a:rPr lang="en-US" sz="1350" b="1" dirty="0">
                <a:solidFill>
                  <a:srgbClr val="1B1F3B"/>
                </a:solidFill>
                <a:latin typeface="Calibri" pitchFamily="34" charset="0"/>
                <a:ea typeface="Calibri" pitchFamily="34" charset="-122"/>
                <a:cs typeface="Calibri" pitchFamily="34" charset="-120"/>
              </a:rPr>
              <a:t>El objetivo de SSE:  </a:t>
            </a:r>
            <a:pPr indent="0" marL="0">
              <a:lnSpc>
                <a:spcPct val="120000"/>
              </a:lnSpc>
              <a:buNone/>
            </a:pPr>
            <a:r>
              <a:rPr lang="en-US" sz="1350" dirty="0">
                <a:solidFill>
                  <a:srgbClr val="5B6584"/>
                </a:solidFill>
                <a:latin typeface="Calibri" pitchFamily="34" charset="0"/>
                <a:ea typeface="Calibri" pitchFamily="34" charset="-122"/>
                <a:cs typeface="Calibri" pitchFamily="34" charset="-120"/>
              </a:rPr>
              <a:t>confidencialidad de los datos + capacidad de búsqueda, sin servidor confiable y sin cifrado de clave pública en el camino crítico.</a:t>
            </a:r>
            <a:endParaRPr lang="en-US" sz="1350" dirty="0"/>
          </a:p>
        </p:txBody>
      </p:sp>
      <p:sp>
        <p:nvSpPr>
          <p:cNvPr id="22" name="Text 20"/>
          <p:cNvSpPr/>
          <p:nvPr/>
        </p:nvSpPr>
        <p:spPr>
          <a:xfrm>
            <a:off x="11368735" y="6400800"/>
            <a:ext cx="457200" cy="274320"/>
          </a:xfrm>
          <a:prstGeom prst="rect">
            <a:avLst/>
          </a:prstGeom>
          <a:noFill/>
          <a:ln/>
        </p:spPr>
        <p:txBody>
          <a:bodyPr wrap="square" lIns="0" tIns="0" rIns="0" bIns="0" rtlCol="0" anchor="ctr"/>
          <a:lstStyle/>
          <a:p>
            <a:pPr algn="r" indent="0" marL="0">
              <a:buNone/>
            </a:pPr>
            <a:r>
              <a:rPr lang="en-US" sz="1000" dirty="0">
                <a:solidFill>
                  <a:srgbClr val="5B6584"/>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548640" y="164592"/>
            <a:ext cx="11094415" cy="292608"/>
          </a:xfrm>
          <a:prstGeom prst="rect">
            <a:avLst/>
          </a:prstGeom>
          <a:noFill/>
          <a:ln/>
        </p:spPr>
        <p:txBody>
          <a:bodyPr wrap="square" lIns="0" tIns="0" rIns="0" bIns="0" rtlCol="0" anchor="ctr"/>
          <a:lstStyle/>
          <a:p>
            <a:pPr indent="0" marL="0">
              <a:buNone/>
            </a:pPr>
            <a:r>
              <a:rPr lang="en-US" sz="1200" b="1" spc="200" kern="0" dirty="0">
                <a:solidFill>
                  <a:srgbClr val="D9A441"/>
                </a:solidFill>
                <a:latin typeface="Calibri" pitchFamily="34" charset="0"/>
                <a:ea typeface="Calibri" pitchFamily="34" charset="-122"/>
                <a:cs typeface="Calibri" pitchFamily="34" charset="-120"/>
              </a:rPr>
              <a:t>EL PUNTO DE PARTIDA</a:t>
            </a:r>
            <a:endParaRPr lang="en-US" sz="1200" dirty="0"/>
          </a:p>
        </p:txBody>
      </p:sp>
      <p:sp>
        <p:nvSpPr>
          <p:cNvPr id="3" name="Text 1"/>
          <p:cNvSpPr/>
          <p:nvPr/>
        </p:nvSpPr>
        <p:spPr>
          <a:xfrm>
            <a:off x="548640" y="411480"/>
            <a:ext cx="11094415" cy="822960"/>
          </a:xfrm>
          <a:prstGeom prst="rect">
            <a:avLst/>
          </a:prstGeom>
          <a:noFill/>
          <a:ln/>
        </p:spPr>
        <p:txBody>
          <a:bodyPr wrap="square" lIns="0" tIns="0" rIns="0" bIns="0" rtlCol="0" anchor="ctr"/>
          <a:lstStyle/>
          <a:p>
            <a:pPr indent="0" marL="0">
              <a:buNone/>
            </a:pPr>
            <a:r>
              <a:rPr lang="en-US" sz="3000" b="1" dirty="0">
                <a:solidFill>
                  <a:srgbClr val="1B1F3B"/>
                </a:solidFill>
                <a:latin typeface="Cambria" pitchFamily="34" charset="0"/>
                <a:ea typeface="Cambria" pitchFamily="34" charset="-122"/>
                <a:cs typeface="Cambria" pitchFamily="34" charset="-120"/>
              </a:rPr>
              <a:t>¿Por qué no alcanza con AES estándar?</a:t>
            </a:r>
            <a:endParaRPr lang="en-US" sz="3000" dirty="0"/>
          </a:p>
        </p:txBody>
      </p:sp>
      <p:sp>
        <p:nvSpPr>
          <p:cNvPr id="4" name="Text 2"/>
          <p:cNvSpPr/>
          <p:nvPr/>
        </p:nvSpPr>
        <p:spPr>
          <a:xfrm>
            <a:off x="548640" y="1371600"/>
            <a:ext cx="11064240" cy="640080"/>
          </a:xfrm>
          <a:prstGeom prst="rect">
            <a:avLst/>
          </a:prstGeom>
          <a:noFill/>
          <a:ln/>
        </p:spPr>
        <p:txBody>
          <a:bodyPr wrap="square" lIns="0" tIns="0" rIns="0" bIns="0" rtlCol="0" anchor="ctr"/>
          <a:lstStyle/>
          <a:p>
            <a:pPr indent="0" marL="0">
              <a:lnSpc>
                <a:spcPct val="125000"/>
              </a:lnSpc>
              <a:buNone/>
            </a:pPr>
            <a:r>
              <a:rPr lang="en-US" sz="1450" dirty="0">
                <a:solidFill>
                  <a:srgbClr val="5B6584"/>
                </a:solidFill>
                <a:latin typeface="Calibri" pitchFamily="34" charset="0"/>
                <a:ea typeface="Calibri" pitchFamily="34" charset="-122"/>
                <a:cs typeface="Calibri" pitchFamily="34" charset="-120"/>
              </a:rPr>
              <a:t>El cifrado simétrico semánticamente seguro (IND-CPA) es exactamente lo que rompe la búsqueda: dos cifrados del mismo texto son indistinguibles, así que el servidor no puede comparar nada.</a:t>
            </a:r>
            <a:endParaRPr lang="en-US" sz="1450" dirty="0"/>
          </a:p>
        </p:txBody>
      </p:sp>
      <p:sp>
        <p:nvSpPr>
          <p:cNvPr id="5" name="Shape 3"/>
          <p:cNvSpPr/>
          <p:nvPr/>
        </p:nvSpPr>
        <p:spPr>
          <a:xfrm>
            <a:off x="548640" y="2331720"/>
            <a:ext cx="3520440" cy="3246120"/>
          </a:xfrm>
          <a:prstGeom prst="roundRect">
            <a:avLst>
              <a:gd name="adj" fmla="val 2254"/>
            </a:avLst>
          </a:prstGeom>
          <a:solidFill>
            <a:srgbClr val="FFFFFF"/>
          </a:solidFill>
          <a:ln w="12700">
            <a:solidFill>
              <a:srgbClr val="DCE1F0"/>
            </a:solidFill>
            <a:prstDash val="solid"/>
          </a:ln>
        </p:spPr>
      </p:sp>
      <p:sp>
        <p:nvSpPr>
          <p:cNvPr id="6" name="Text 4"/>
          <p:cNvSpPr/>
          <p:nvPr/>
        </p:nvSpPr>
        <p:spPr>
          <a:xfrm>
            <a:off x="777240" y="2532888"/>
            <a:ext cx="3063240" cy="594360"/>
          </a:xfrm>
          <a:prstGeom prst="rect">
            <a:avLst/>
          </a:prstGeom>
          <a:noFill/>
          <a:ln/>
        </p:spPr>
        <p:txBody>
          <a:bodyPr wrap="square" lIns="0" tIns="0" rIns="0" bIns="0" rtlCol="0" anchor="ctr"/>
          <a:lstStyle/>
          <a:p>
            <a:pPr indent="0" marL="0">
              <a:lnSpc>
                <a:spcPct val="105000"/>
              </a:lnSpc>
              <a:buNone/>
            </a:pPr>
            <a:r>
              <a:rPr lang="en-US" sz="1550" b="1" dirty="0">
                <a:solidFill>
                  <a:srgbClr val="1B1F3B"/>
                </a:solidFill>
                <a:latin typeface="Cambria" pitchFamily="34" charset="0"/>
                <a:ea typeface="Cambria" pitchFamily="34" charset="-122"/>
                <a:cs typeface="Cambria" pitchFamily="34" charset="-120"/>
              </a:rPr>
              <a:t>Descifrar en el servidor</a:t>
            </a:r>
            <a:endParaRPr lang="en-US" sz="1550" dirty="0"/>
          </a:p>
        </p:txBody>
      </p:sp>
      <p:sp>
        <p:nvSpPr>
          <p:cNvPr id="7" name="Text 5"/>
          <p:cNvSpPr/>
          <p:nvPr/>
        </p:nvSpPr>
        <p:spPr>
          <a:xfrm>
            <a:off x="777240" y="3200400"/>
            <a:ext cx="3063240" cy="1691640"/>
          </a:xfrm>
          <a:prstGeom prst="rect">
            <a:avLst/>
          </a:prstGeom>
          <a:noFill/>
          <a:ln/>
        </p:spPr>
        <p:txBody>
          <a:bodyPr wrap="square" lIns="0" tIns="0" rIns="0" bIns="0" rtlCol="0" anchor="ctr"/>
          <a:lstStyle/>
          <a:p>
            <a:pPr indent="0" marL="0">
              <a:lnSpc>
                <a:spcPct val="125000"/>
              </a:lnSpc>
              <a:buNone/>
            </a:pPr>
            <a:r>
              <a:rPr lang="en-US" sz="1200" dirty="0">
                <a:solidFill>
                  <a:srgbClr val="5B6584"/>
                </a:solidFill>
                <a:latin typeface="Calibri" pitchFamily="34" charset="0"/>
                <a:ea typeface="Calibri" pitchFamily="34" charset="-122"/>
                <a:cs typeface="Calibri" pitchFamily="34" charset="-120"/>
              </a:rPr>
              <a:t>Permite indexar y buscar con libertad, pero destruye la confidencialidad: el servidor ve todo en claro.</a:t>
            </a:r>
            <a:endParaRPr lang="en-US" sz="1200" dirty="0"/>
          </a:p>
        </p:txBody>
      </p:sp>
      <p:sp>
        <p:nvSpPr>
          <p:cNvPr id="8" name="Shape 6"/>
          <p:cNvSpPr/>
          <p:nvPr/>
        </p:nvSpPr>
        <p:spPr>
          <a:xfrm>
            <a:off x="777240" y="5029200"/>
            <a:ext cx="3063240" cy="365760"/>
          </a:xfrm>
          <a:prstGeom prst="roundRect">
            <a:avLst>
              <a:gd name="adj" fmla="val 50000"/>
            </a:avLst>
          </a:prstGeom>
          <a:solidFill>
            <a:srgbClr val="F7E4E6"/>
          </a:solidFill>
          <a:ln/>
        </p:spPr>
      </p:sp>
      <p:sp>
        <p:nvSpPr>
          <p:cNvPr id="9" name="Text 7"/>
          <p:cNvSpPr/>
          <p:nvPr/>
        </p:nvSpPr>
        <p:spPr>
          <a:xfrm>
            <a:off x="777240" y="5029200"/>
            <a:ext cx="3063240" cy="365760"/>
          </a:xfrm>
          <a:prstGeom prst="rect">
            <a:avLst/>
          </a:prstGeom>
          <a:noFill/>
          <a:ln/>
        </p:spPr>
        <p:txBody>
          <a:bodyPr wrap="square" lIns="0" tIns="0" rIns="0" bIns="0" rtlCol="0" anchor="ctr"/>
          <a:lstStyle/>
          <a:p>
            <a:pPr algn="ctr" indent="0" marL="0">
              <a:buNone/>
            </a:pPr>
            <a:r>
              <a:rPr lang="en-US" sz="1100" b="1" dirty="0">
                <a:solidFill>
                  <a:srgbClr val="B23A48"/>
                </a:solidFill>
                <a:latin typeface="Calibri" pitchFamily="34" charset="0"/>
                <a:ea typeface="Calibri" pitchFamily="34" charset="-122"/>
                <a:cs typeface="Calibri" pitchFamily="34" charset="-120"/>
              </a:rPr>
              <a:t>Rompe confidencialidad</a:t>
            </a:r>
            <a:endParaRPr lang="en-US" sz="1100" dirty="0"/>
          </a:p>
        </p:txBody>
      </p:sp>
      <p:sp>
        <p:nvSpPr>
          <p:cNvPr id="10" name="Shape 8"/>
          <p:cNvSpPr/>
          <p:nvPr/>
        </p:nvSpPr>
        <p:spPr>
          <a:xfrm>
            <a:off x="4343400" y="2331720"/>
            <a:ext cx="3520440" cy="3246120"/>
          </a:xfrm>
          <a:prstGeom prst="roundRect">
            <a:avLst>
              <a:gd name="adj" fmla="val 2254"/>
            </a:avLst>
          </a:prstGeom>
          <a:solidFill>
            <a:srgbClr val="FFFFFF"/>
          </a:solidFill>
          <a:ln w="12700">
            <a:solidFill>
              <a:srgbClr val="DCE1F0"/>
            </a:solidFill>
            <a:prstDash val="solid"/>
          </a:ln>
        </p:spPr>
      </p:sp>
      <p:sp>
        <p:nvSpPr>
          <p:cNvPr id="11" name="Text 9"/>
          <p:cNvSpPr/>
          <p:nvPr/>
        </p:nvSpPr>
        <p:spPr>
          <a:xfrm>
            <a:off x="4572000" y="2532888"/>
            <a:ext cx="3063240" cy="594360"/>
          </a:xfrm>
          <a:prstGeom prst="rect">
            <a:avLst/>
          </a:prstGeom>
          <a:noFill/>
          <a:ln/>
        </p:spPr>
        <p:txBody>
          <a:bodyPr wrap="square" lIns="0" tIns="0" rIns="0" bIns="0" rtlCol="0" anchor="ctr"/>
          <a:lstStyle/>
          <a:p>
            <a:pPr indent="0" marL="0">
              <a:lnSpc>
                <a:spcPct val="105000"/>
              </a:lnSpc>
              <a:buNone/>
            </a:pPr>
            <a:r>
              <a:rPr lang="en-US" sz="1550" b="1" dirty="0">
                <a:solidFill>
                  <a:srgbClr val="1B1F3B"/>
                </a:solidFill>
                <a:latin typeface="Cambria" pitchFamily="34" charset="0"/>
                <a:ea typeface="Cambria" pitchFamily="34" charset="-122"/>
                <a:cs typeface="Cambria" pitchFamily="34" charset="-120"/>
              </a:rPr>
              <a:t>Cifrado determinista simple</a:t>
            </a:r>
            <a:endParaRPr lang="en-US" sz="1550" dirty="0"/>
          </a:p>
        </p:txBody>
      </p:sp>
      <p:sp>
        <p:nvSpPr>
          <p:cNvPr id="12" name="Text 10"/>
          <p:cNvSpPr/>
          <p:nvPr/>
        </p:nvSpPr>
        <p:spPr>
          <a:xfrm>
            <a:off x="4572000" y="3200400"/>
            <a:ext cx="3063240" cy="1691640"/>
          </a:xfrm>
          <a:prstGeom prst="rect">
            <a:avLst/>
          </a:prstGeom>
          <a:noFill/>
          <a:ln/>
        </p:spPr>
        <p:txBody>
          <a:bodyPr wrap="square" lIns="0" tIns="0" rIns="0" bIns="0" rtlCol="0" anchor="ctr"/>
          <a:lstStyle/>
          <a:p>
            <a:pPr indent="0" marL="0">
              <a:lnSpc>
                <a:spcPct val="125000"/>
              </a:lnSpc>
              <a:buNone/>
            </a:pPr>
            <a:r>
              <a:rPr lang="en-US" sz="1200" dirty="0">
                <a:solidFill>
                  <a:srgbClr val="5B6584"/>
                </a:solidFill>
                <a:latin typeface="Calibri" pitchFamily="34" charset="0"/>
                <a:ea typeface="Calibri" pitchFamily="34" charset="-122"/>
                <a:cs typeface="Calibri" pitchFamily="34" charset="-120"/>
              </a:rPr>
              <a:t>Mismo texto → mismo cifrado, así que el servidor sí puede indexar palabras. Pero expone patrones de frecuencia: análisis estadístico revela el vocabulario.</a:t>
            </a:r>
            <a:endParaRPr lang="en-US" sz="1200" dirty="0"/>
          </a:p>
        </p:txBody>
      </p:sp>
      <p:sp>
        <p:nvSpPr>
          <p:cNvPr id="13" name="Shape 11"/>
          <p:cNvSpPr/>
          <p:nvPr/>
        </p:nvSpPr>
        <p:spPr>
          <a:xfrm>
            <a:off x="4572000" y="5029200"/>
            <a:ext cx="3063240" cy="365760"/>
          </a:xfrm>
          <a:prstGeom prst="roundRect">
            <a:avLst>
              <a:gd name="adj" fmla="val 50000"/>
            </a:avLst>
          </a:prstGeom>
          <a:solidFill>
            <a:srgbClr val="F7E4E6"/>
          </a:solidFill>
          <a:ln/>
        </p:spPr>
      </p:sp>
      <p:sp>
        <p:nvSpPr>
          <p:cNvPr id="14" name="Text 12"/>
          <p:cNvSpPr/>
          <p:nvPr/>
        </p:nvSpPr>
        <p:spPr>
          <a:xfrm>
            <a:off x="4572000" y="5029200"/>
            <a:ext cx="3063240" cy="365760"/>
          </a:xfrm>
          <a:prstGeom prst="rect">
            <a:avLst/>
          </a:prstGeom>
          <a:noFill/>
          <a:ln/>
        </p:spPr>
        <p:txBody>
          <a:bodyPr wrap="square" lIns="0" tIns="0" rIns="0" bIns="0" rtlCol="0" anchor="ctr"/>
          <a:lstStyle/>
          <a:p>
            <a:pPr algn="ctr" indent="0" marL="0">
              <a:buNone/>
            </a:pPr>
            <a:r>
              <a:rPr lang="en-US" sz="1100" b="1" dirty="0">
                <a:solidFill>
                  <a:srgbClr val="B23A48"/>
                </a:solidFill>
                <a:latin typeface="Calibri" pitchFamily="34" charset="0"/>
                <a:ea typeface="Calibri" pitchFamily="34" charset="-122"/>
                <a:cs typeface="Calibri" pitchFamily="34" charset="-120"/>
              </a:rPr>
              <a:t>Fuga por frecuencia</a:t>
            </a:r>
            <a:endParaRPr lang="en-US" sz="1100" dirty="0"/>
          </a:p>
        </p:txBody>
      </p:sp>
      <p:sp>
        <p:nvSpPr>
          <p:cNvPr id="15" name="Shape 13"/>
          <p:cNvSpPr/>
          <p:nvPr/>
        </p:nvSpPr>
        <p:spPr>
          <a:xfrm>
            <a:off x="8138160" y="2331720"/>
            <a:ext cx="3520440" cy="3246120"/>
          </a:xfrm>
          <a:prstGeom prst="roundRect">
            <a:avLst>
              <a:gd name="adj" fmla="val 2254"/>
            </a:avLst>
          </a:prstGeom>
          <a:solidFill>
            <a:srgbClr val="FFFFFF"/>
          </a:solidFill>
          <a:ln w="12700">
            <a:solidFill>
              <a:srgbClr val="DCE1F0"/>
            </a:solidFill>
            <a:prstDash val="solid"/>
          </a:ln>
        </p:spPr>
      </p:sp>
      <p:sp>
        <p:nvSpPr>
          <p:cNvPr id="16" name="Text 14"/>
          <p:cNvSpPr/>
          <p:nvPr/>
        </p:nvSpPr>
        <p:spPr>
          <a:xfrm>
            <a:off x="8366760" y="2532888"/>
            <a:ext cx="3063240" cy="594360"/>
          </a:xfrm>
          <a:prstGeom prst="rect">
            <a:avLst/>
          </a:prstGeom>
          <a:noFill/>
          <a:ln/>
        </p:spPr>
        <p:txBody>
          <a:bodyPr wrap="square" lIns="0" tIns="0" rIns="0" bIns="0" rtlCol="0" anchor="ctr"/>
          <a:lstStyle/>
          <a:p>
            <a:pPr indent="0" marL="0">
              <a:lnSpc>
                <a:spcPct val="105000"/>
              </a:lnSpc>
              <a:buNone/>
            </a:pPr>
            <a:r>
              <a:rPr lang="en-US" sz="1550" b="1" dirty="0">
                <a:solidFill>
                  <a:srgbClr val="1B1F3B"/>
                </a:solidFill>
                <a:latin typeface="Cambria" pitchFamily="34" charset="0"/>
                <a:ea typeface="Cambria" pitchFamily="34" charset="-122"/>
                <a:cs typeface="Cambria" pitchFamily="34" charset="-120"/>
              </a:rPr>
              <a:t>Descargar todo y filtrar</a:t>
            </a:r>
            <a:endParaRPr lang="en-US" sz="1550" dirty="0"/>
          </a:p>
        </p:txBody>
      </p:sp>
      <p:sp>
        <p:nvSpPr>
          <p:cNvPr id="17" name="Text 15"/>
          <p:cNvSpPr/>
          <p:nvPr/>
        </p:nvSpPr>
        <p:spPr>
          <a:xfrm>
            <a:off x="8366760" y="3200400"/>
            <a:ext cx="3063240" cy="1691640"/>
          </a:xfrm>
          <a:prstGeom prst="rect">
            <a:avLst/>
          </a:prstGeom>
          <a:noFill/>
          <a:ln/>
        </p:spPr>
        <p:txBody>
          <a:bodyPr wrap="square" lIns="0" tIns="0" rIns="0" bIns="0" rtlCol="0" anchor="ctr"/>
          <a:lstStyle/>
          <a:p>
            <a:pPr indent="0" marL="0">
              <a:lnSpc>
                <a:spcPct val="125000"/>
              </a:lnSpc>
              <a:buNone/>
            </a:pPr>
            <a:r>
              <a:rPr lang="en-US" sz="1200" dirty="0">
                <a:solidFill>
                  <a:srgbClr val="5B6584"/>
                </a:solidFill>
                <a:latin typeface="Calibri" pitchFamily="34" charset="0"/>
                <a:ea typeface="Calibri" pitchFamily="34" charset="-122"/>
                <a:cs typeface="Calibri" pitchFamily="34" charset="-120"/>
              </a:rPr>
              <a:t>El cliente descifra localmente y busca. Preserva la seguridad pero es lineal en el tamaño del dataset: inviable a escala.</a:t>
            </a:r>
            <a:endParaRPr lang="en-US" sz="1200" dirty="0"/>
          </a:p>
        </p:txBody>
      </p:sp>
      <p:sp>
        <p:nvSpPr>
          <p:cNvPr id="18" name="Shape 16"/>
          <p:cNvSpPr/>
          <p:nvPr/>
        </p:nvSpPr>
        <p:spPr>
          <a:xfrm>
            <a:off x="8366760" y="5029200"/>
            <a:ext cx="3063240" cy="365760"/>
          </a:xfrm>
          <a:prstGeom prst="roundRect">
            <a:avLst>
              <a:gd name="adj" fmla="val 50000"/>
            </a:avLst>
          </a:prstGeom>
          <a:solidFill>
            <a:srgbClr val="F7E4E6"/>
          </a:solidFill>
          <a:ln/>
        </p:spPr>
      </p:sp>
      <p:sp>
        <p:nvSpPr>
          <p:cNvPr id="19" name="Text 17"/>
          <p:cNvSpPr/>
          <p:nvPr/>
        </p:nvSpPr>
        <p:spPr>
          <a:xfrm>
            <a:off x="8366760" y="5029200"/>
            <a:ext cx="3063240" cy="365760"/>
          </a:xfrm>
          <a:prstGeom prst="rect">
            <a:avLst/>
          </a:prstGeom>
          <a:noFill/>
          <a:ln/>
        </p:spPr>
        <p:txBody>
          <a:bodyPr wrap="square" lIns="0" tIns="0" rIns="0" bIns="0" rtlCol="0" anchor="ctr"/>
          <a:lstStyle/>
          <a:p>
            <a:pPr algn="ctr" indent="0" marL="0">
              <a:buNone/>
            </a:pPr>
            <a:r>
              <a:rPr lang="en-US" sz="1100" b="1" dirty="0">
                <a:solidFill>
                  <a:srgbClr val="B23A48"/>
                </a:solidFill>
                <a:latin typeface="Calibri" pitchFamily="34" charset="0"/>
                <a:ea typeface="Calibri" pitchFamily="34" charset="-122"/>
                <a:cs typeface="Calibri" pitchFamily="34" charset="-120"/>
              </a:rPr>
              <a:t>No escala</a:t>
            </a:r>
            <a:endParaRPr lang="en-US" sz="1100" dirty="0"/>
          </a:p>
        </p:txBody>
      </p:sp>
      <p:sp>
        <p:nvSpPr>
          <p:cNvPr id="20" name="Text 18"/>
          <p:cNvSpPr/>
          <p:nvPr/>
        </p:nvSpPr>
        <p:spPr>
          <a:xfrm>
            <a:off x="548640" y="5806440"/>
            <a:ext cx="11064240" cy="640080"/>
          </a:xfrm>
          <a:prstGeom prst="rect">
            <a:avLst/>
          </a:prstGeom>
          <a:noFill/>
          <a:ln/>
        </p:spPr>
        <p:txBody>
          <a:bodyPr wrap="square" lIns="0" tIns="0" rIns="0" bIns="0" rtlCol="0" anchor="ctr"/>
          <a:lstStyle/>
          <a:p>
            <a:pPr indent="0" marL="0">
              <a:lnSpc>
                <a:spcPct val="120000"/>
              </a:lnSpc>
              <a:buNone/>
            </a:pPr>
            <a:r>
              <a:rPr lang="en-US" sz="1350" dirty="0">
                <a:solidFill>
                  <a:srgbClr val="1B1F3B"/>
                </a:solidFill>
                <a:latin typeface="Calibri" pitchFamily="34" charset="0"/>
                <a:ea typeface="Calibri" pitchFamily="34" charset="-122"/>
                <a:cs typeface="Calibri" pitchFamily="34" charset="-120"/>
              </a:rPr>
              <a:t>La salida no es abandonar el cifrado simétrico — es </a:t>
            </a:r>
            <a:pPr indent="0" marL="0">
              <a:lnSpc>
                <a:spcPct val="120000"/>
              </a:lnSpc>
              <a:buNone/>
            </a:pPr>
            <a:r>
              <a:rPr lang="en-US" sz="1350" b="1" dirty="0">
                <a:solidFill>
                  <a:srgbClr val="B4842E"/>
                </a:solidFill>
                <a:latin typeface="Calibri" pitchFamily="34" charset="0"/>
                <a:ea typeface="Calibri" pitchFamily="34" charset="-122"/>
                <a:cs typeface="Calibri" pitchFamily="34" charset="-120"/>
              </a:rPr>
              <a:t>estructurarlo distinto</a:t>
            </a:r>
            <a:pPr indent="0" marL="0">
              <a:lnSpc>
                <a:spcPct val="120000"/>
              </a:lnSpc>
              <a:buNone/>
            </a:pPr>
            <a:r>
              <a:rPr lang="en-US" sz="1350" dirty="0">
                <a:solidFill>
                  <a:srgbClr val="1B1F3B"/>
                </a:solidFill>
                <a:latin typeface="Calibri" pitchFamily="34" charset="0"/>
                <a:ea typeface="Calibri" pitchFamily="34" charset="-122"/>
                <a:cs typeface="Calibri" pitchFamily="34" charset="-120"/>
              </a:rPr>
              <a:t>: separar el índice de búsqueda del contenido, y usar primitivas simétricas específicas (PRF, PRP) para generar accesos controlados.</a:t>
            </a:r>
            <a:endParaRPr lang="en-US" sz="1350" dirty="0"/>
          </a:p>
        </p:txBody>
      </p:sp>
      <p:sp>
        <p:nvSpPr>
          <p:cNvPr id="21" name="Text 19"/>
          <p:cNvSpPr/>
          <p:nvPr/>
        </p:nvSpPr>
        <p:spPr>
          <a:xfrm>
            <a:off x="11368735" y="6400800"/>
            <a:ext cx="457200" cy="274320"/>
          </a:xfrm>
          <a:prstGeom prst="rect">
            <a:avLst/>
          </a:prstGeom>
          <a:noFill/>
          <a:ln/>
        </p:spPr>
        <p:txBody>
          <a:bodyPr wrap="square" lIns="0" tIns="0" rIns="0" bIns="0" rtlCol="0" anchor="ctr"/>
          <a:lstStyle/>
          <a:p>
            <a:pPr algn="r" indent="0" marL="0">
              <a:buNone/>
            </a:pPr>
            <a:r>
              <a:rPr lang="en-US" sz="1000" dirty="0">
                <a:solidFill>
                  <a:srgbClr val="5B6584"/>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1F3B"/>
        </a:solidFill>
      </p:bgPr>
    </p:bg>
    <p:spTree>
      <p:nvGrpSpPr>
        <p:cNvPr id="1" name=""/>
        <p:cNvGrpSpPr/>
        <p:nvPr/>
      </p:nvGrpSpPr>
      <p:grpSpPr>
        <a:xfrm>
          <a:off x="0" y="0"/>
          <a:ext cx="0" cy="0"/>
          <a:chOff x="0" y="0"/>
          <a:chExt cx="0" cy="0"/>
        </a:xfrm>
      </p:grpSpPr>
      <p:sp>
        <p:nvSpPr>
          <p:cNvPr id="2" name="Text 0"/>
          <p:cNvSpPr/>
          <p:nvPr/>
        </p:nvSpPr>
        <p:spPr>
          <a:xfrm>
            <a:off x="548640" y="164592"/>
            <a:ext cx="11094415" cy="292608"/>
          </a:xfrm>
          <a:prstGeom prst="rect">
            <a:avLst/>
          </a:prstGeom>
          <a:noFill/>
          <a:ln/>
        </p:spPr>
        <p:txBody>
          <a:bodyPr wrap="square" lIns="0" tIns="0" rIns="0" bIns="0" rtlCol="0" anchor="ctr"/>
          <a:lstStyle/>
          <a:p>
            <a:pPr indent="0" marL="0">
              <a:buNone/>
            </a:pPr>
            <a:r>
              <a:rPr lang="en-US" sz="1200" b="1" spc="200" kern="0" dirty="0">
                <a:solidFill>
                  <a:srgbClr val="D9A441"/>
                </a:solidFill>
                <a:latin typeface="Calibri" pitchFamily="34" charset="0"/>
                <a:ea typeface="Calibri" pitchFamily="34" charset="-122"/>
                <a:cs typeface="Calibri" pitchFamily="34" charset="-120"/>
              </a:rPr>
              <a:t>PRIMITIVAS BASE</a:t>
            </a:r>
            <a:endParaRPr lang="en-US" sz="1200" dirty="0"/>
          </a:p>
        </p:txBody>
      </p:sp>
      <p:sp>
        <p:nvSpPr>
          <p:cNvPr id="3" name="Text 1"/>
          <p:cNvSpPr/>
          <p:nvPr/>
        </p:nvSpPr>
        <p:spPr>
          <a:xfrm>
            <a:off x="548640" y="411480"/>
            <a:ext cx="11094415" cy="822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PRF y PRP: los bloques simétricos de SSE</a:t>
            </a:r>
            <a:endParaRPr lang="en-US" sz="3000" dirty="0"/>
          </a:p>
        </p:txBody>
      </p:sp>
      <p:sp>
        <p:nvSpPr>
          <p:cNvPr id="4" name="Text 2"/>
          <p:cNvSpPr/>
          <p:nvPr/>
        </p:nvSpPr>
        <p:spPr>
          <a:xfrm>
            <a:off x="548640" y="1371600"/>
            <a:ext cx="11064240" cy="640080"/>
          </a:xfrm>
          <a:prstGeom prst="rect">
            <a:avLst/>
          </a:prstGeom>
          <a:noFill/>
          <a:ln/>
        </p:spPr>
        <p:txBody>
          <a:bodyPr wrap="square" lIns="0" tIns="0" rIns="0" bIns="0" rtlCol="0" anchor="ctr"/>
          <a:lstStyle/>
          <a:p>
            <a:pPr indent="0" marL="0">
              <a:lnSpc>
                <a:spcPct val="125000"/>
              </a:lnSpc>
              <a:buNone/>
            </a:pPr>
            <a:r>
              <a:rPr lang="en-US" sz="1400" dirty="0">
                <a:solidFill>
                  <a:srgbClr val="C7D3F0"/>
                </a:solidFill>
                <a:latin typeface="Calibri" pitchFamily="34" charset="0"/>
                <a:ea typeface="Calibri" pitchFamily="34" charset="-122"/>
                <a:cs typeface="Calibri" pitchFamily="34" charset="-120"/>
              </a:rPr>
              <a:t>Toda construcción de SSE se apoya en dos primitivas simétricas estándar. Su seguridad computacional es lo que garantiza que los trapdoors y las claves derivadas sean indistinguibles de aleatorio para el servidor.</a:t>
            </a:r>
            <a:endParaRPr lang="en-US" sz="1400" dirty="0"/>
          </a:p>
        </p:txBody>
      </p:sp>
      <p:sp>
        <p:nvSpPr>
          <p:cNvPr id="5" name="Shape 3"/>
          <p:cNvSpPr/>
          <p:nvPr/>
        </p:nvSpPr>
        <p:spPr>
          <a:xfrm>
            <a:off x="548640" y="2240280"/>
            <a:ext cx="5349240" cy="3246120"/>
          </a:xfrm>
          <a:prstGeom prst="roundRect">
            <a:avLst>
              <a:gd name="adj" fmla="val 2817"/>
            </a:avLst>
          </a:prstGeom>
          <a:solidFill>
            <a:srgbClr val="262C56"/>
          </a:solidFill>
          <a:ln/>
        </p:spPr>
      </p:sp>
      <p:sp>
        <p:nvSpPr>
          <p:cNvPr id="6" name="Shape 4"/>
          <p:cNvSpPr/>
          <p:nvPr/>
        </p:nvSpPr>
        <p:spPr>
          <a:xfrm>
            <a:off x="822960" y="2514600"/>
            <a:ext cx="1051560" cy="548640"/>
          </a:xfrm>
          <a:prstGeom prst="roundRect">
            <a:avLst>
              <a:gd name="adj" fmla="val 13333"/>
            </a:avLst>
          </a:prstGeom>
          <a:solidFill>
            <a:srgbClr val="D9A441"/>
          </a:solidFill>
          <a:ln/>
        </p:spPr>
      </p:sp>
      <p:sp>
        <p:nvSpPr>
          <p:cNvPr id="7" name="Text 5"/>
          <p:cNvSpPr/>
          <p:nvPr/>
        </p:nvSpPr>
        <p:spPr>
          <a:xfrm>
            <a:off x="822960" y="2514600"/>
            <a:ext cx="1051560" cy="548640"/>
          </a:xfrm>
          <a:prstGeom prst="rect">
            <a:avLst/>
          </a:prstGeom>
          <a:noFill/>
          <a:ln/>
        </p:spPr>
        <p:txBody>
          <a:bodyPr wrap="square" lIns="0" tIns="0" rIns="0" bIns="0" rtlCol="0" anchor="ctr"/>
          <a:lstStyle/>
          <a:p>
            <a:pPr algn="ctr" indent="0" marL="0">
              <a:buNone/>
            </a:pPr>
            <a:r>
              <a:rPr lang="en-US" sz="2000" b="1" dirty="0">
                <a:solidFill>
                  <a:srgbClr val="1B1F3B"/>
                </a:solidFill>
                <a:latin typeface="Cambria" pitchFamily="34" charset="0"/>
                <a:ea typeface="Cambria" pitchFamily="34" charset="-122"/>
                <a:cs typeface="Cambria" pitchFamily="34" charset="-120"/>
              </a:rPr>
              <a:t>PRF</a:t>
            </a:r>
            <a:endParaRPr lang="en-US" sz="2000" dirty="0"/>
          </a:p>
        </p:txBody>
      </p:sp>
      <p:sp>
        <p:nvSpPr>
          <p:cNvPr id="8" name="Text 6"/>
          <p:cNvSpPr/>
          <p:nvPr/>
        </p:nvSpPr>
        <p:spPr>
          <a:xfrm>
            <a:off x="2057400" y="2532888"/>
            <a:ext cx="3611880" cy="5486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Función Pseudoaleatoria</a:t>
            </a:r>
            <a:endParaRPr lang="en-US" sz="1500" dirty="0"/>
          </a:p>
        </p:txBody>
      </p:sp>
      <p:sp>
        <p:nvSpPr>
          <p:cNvPr id="9" name="Text 7"/>
          <p:cNvSpPr/>
          <p:nvPr/>
        </p:nvSpPr>
        <p:spPr>
          <a:xfrm>
            <a:off x="822960" y="3291840"/>
            <a:ext cx="4800600" cy="457200"/>
          </a:xfrm>
          <a:prstGeom prst="rect">
            <a:avLst/>
          </a:prstGeom>
          <a:noFill/>
          <a:ln/>
        </p:spPr>
        <p:txBody>
          <a:bodyPr wrap="square" lIns="0" tIns="0" rIns="0" bIns="0" rtlCol="0" anchor="ctr"/>
          <a:lstStyle/>
          <a:p>
            <a:pPr indent="0" marL="0">
              <a:buNone/>
            </a:pPr>
            <a:r>
              <a:rPr lang="en-US" sz="1300" dirty="0">
                <a:solidFill>
                  <a:srgbClr val="D9A441"/>
                </a:solidFill>
                <a:latin typeface="Courier New" pitchFamily="34" charset="0"/>
                <a:ea typeface="Courier New" pitchFamily="34" charset="-122"/>
                <a:cs typeface="Courier New" pitchFamily="34" charset="-120"/>
              </a:rPr>
              <a:t>F : {0,1}ᵏ × {0,1}ⁿ → {0,1}ⁿ</a:t>
            </a:r>
            <a:endParaRPr lang="en-US" sz="1300" dirty="0"/>
          </a:p>
        </p:txBody>
      </p:sp>
      <p:sp>
        <p:nvSpPr>
          <p:cNvPr id="10" name="Text 8"/>
          <p:cNvSpPr/>
          <p:nvPr/>
        </p:nvSpPr>
        <p:spPr>
          <a:xfrm>
            <a:off x="822960" y="3931920"/>
            <a:ext cx="4800600" cy="274320"/>
          </a:xfrm>
          <a:prstGeom prst="rect">
            <a:avLst/>
          </a:prstGeom>
          <a:noFill/>
          <a:ln/>
        </p:spPr>
        <p:txBody>
          <a:bodyPr wrap="square" lIns="0" tIns="0" rIns="0" bIns="0" rtlCol="0" anchor="ctr"/>
          <a:lstStyle/>
          <a:p>
            <a:pPr indent="0" marL="0">
              <a:buNone/>
            </a:pPr>
            <a:r>
              <a:rPr lang="en-US" sz="1050" b="1" spc="100" kern="0" dirty="0">
                <a:solidFill>
                  <a:srgbClr val="8D98C4"/>
                </a:solidFill>
                <a:latin typeface="Calibri" pitchFamily="34" charset="0"/>
                <a:ea typeface="Calibri" pitchFamily="34" charset="-122"/>
                <a:cs typeface="Calibri" pitchFamily="34" charset="-120"/>
              </a:rPr>
              <a:t>USO EN SSE</a:t>
            </a:r>
            <a:endParaRPr lang="en-US" sz="1050" dirty="0"/>
          </a:p>
        </p:txBody>
      </p:sp>
      <p:sp>
        <p:nvSpPr>
          <p:cNvPr id="11" name="Text 9"/>
          <p:cNvSpPr/>
          <p:nvPr/>
        </p:nvSpPr>
        <p:spPr>
          <a:xfrm>
            <a:off x="822960" y="4206240"/>
            <a:ext cx="4800600" cy="594360"/>
          </a:xfrm>
          <a:prstGeom prst="rect">
            <a:avLst/>
          </a:prstGeom>
          <a:noFill/>
          <a:ln/>
        </p:spPr>
        <p:txBody>
          <a:bodyPr wrap="square" lIns="0" tIns="0" rIns="0" bIns="0" rtlCol="0" anchor="ctr"/>
          <a:lstStyle/>
          <a:p>
            <a:pPr indent="0" marL="0">
              <a:lnSpc>
                <a:spcPct val="120000"/>
              </a:lnSpc>
              <a:buNone/>
            </a:pPr>
            <a:r>
              <a:rPr lang="en-US" sz="1200" dirty="0">
                <a:solidFill>
                  <a:srgbClr val="C7D3F0"/>
                </a:solidFill>
                <a:latin typeface="Calibri" pitchFamily="34" charset="0"/>
                <a:ea typeface="Calibri" pitchFamily="34" charset="-122"/>
                <a:cs typeface="Calibri" pitchFamily="34" charset="-120"/>
              </a:rPr>
              <a:t>Deriva claves e identificadores por palabra clave a partir de una clave maestra K y el término w.</a:t>
            </a:r>
            <a:endParaRPr lang="en-US" sz="1200" dirty="0"/>
          </a:p>
        </p:txBody>
      </p:sp>
      <p:sp>
        <p:nvSpPr>
          <p:cNvPr id="12" name="Text 10"/>
          <p:cNvSpPr/>
          <p:nvPr/>
        </p:nvSpPr>
        <p:spPr>
          <a:xfrm>
            <a:off x="822960" y="4846320"/>
            <a:ext cx="4800600" cy="274320"/>
          </a:xfrm>
          <a:prstGeom prst="rect">
            <a:avLst/>
          </a:prstGeom>
          <a:noFill/>
          <a:ln/>
        </p:spPr>
        <p:txBody>
          <a:bodyPr wrap="square" lIns="0" tIns="0" rIns="0" bIns="0" rtlCol="0" anchor="ctr"/>
          <a:lstStyle/>
          <a:p>
            <a:pPr indent="0" marL="0">
              <a:buNone/>
            </a:pPr>
            <a:r>
              <a:rPr lang="en-US" sz="1050" b="1" spc="100" kern="0" dirty="0">
                <a:solidFill>
                  <a:srgbClr val="8D98C4"/>
                </a:solidFill>
                <a:latin typeface="Calibri" pitchFamily="34" charset="0"/>
                <a:ea typeface="Calibri" pitchFamily="34" charset="-122"/>
                <a:cs typeface="Calibri" pitchFamily="34" charset="-120"/>
              </a:rPr>
              <a:t>ROL ESTRUCTURAL</a:t>
            </a:r>
            <a:endParaRPr lang="en-US" sz="1050" dirty="0"/>
          </a:p>
        </p:txBody>
      </p:sp>
      <p:sp>
        <p:nvSpPr>
          <p:cNvPr id="13" name="Text 11"/>
          <p:cNvSpPr/>
          <p:nvPr/>
        </p:nvSpPr>
        <p:spPr>
          <a:xfrm>
            <a:off x="822960" y="5102352"/>
            <a:ext cx="4800600" cy="548640"/>
          </a:xfrm>
          <a:prstGeom prst="rect">
            <a:avLst/>
          </a:prstGeom>
          <a:noFill/>
          <a:ln/>
        </p:spPr>
        <p:txBody>
          <a:bodyPr wrap="square" lIns="0" tIns="0" rIns="0" bIns="0" rtlCol="0" anchor="ctr"/>
          <a:lstStyle/>
          <a:p>
            <a:pPr indent="0" marL="0">
              <a:lnSpc>
                <a:spcPct val="120000"/>
              </a:lnSpc>
              <a:buNone/>
            </a:pPr>
            <a:r>
              <a:rPr lang="en-US" sz="1200" dirty="0">
                <a:solidFill>
                  <a:srgbClr val="C7D3F0"/>
                </a:solidFill>
                <a:latin typeface="Calibri" pitchFamily="34" charset="0"/>
                <a:ea typeface="Calibri" pitchFamily="34" charset="-122"/>
                <a:cs typeface="Calibri" pitchFamily="34" charset="-120"/>
              </a:rPr>
              <a:t>Genera el trapdoor de búsqueda y las claves por-nodo del índice.</a:t>
            </a:r>
            <a:endParaRPr lang="en-US" sz="1200" dirty="0"/>
          </a:p>
        </p:txBody>
      </p:sp>
      <p:sp>
        <p:nvSpPr>
          <p:cNvPr id="14" name="Shape 12"/>
          <p:cNvSpPr/>
          <p:nvPr/>
        </p:nvSpPr>
        <p:spPr>
          <a:xfrm>
            <a:off x="6355080" y="2240280"/>
            <a:ext cx="5349240" cy="3246120"/>
          </a:xfrm>
          <a:prstGeom prst="roundRect">
            <a:avLst>
              <a:gd name="adj" fmla="val 2817"/>
            </a:avLst>
          </a:prstGeom>
          <a:solidFill>
            <a:srgbClr val="262C56"/>
          </a:solidFill>
          <a:ln/>
        </p:spPr>
      </p:sp>
      <p:sp>
        <p:nvSpPr>
          <p:cNvPr id="15" name="Shape 13"/>
          <p:cNvSpPr/>
          <p:nvPr/>
        </p:nvSpPr>
        <p:spPr>
          <a:xfrm>
            <a:off x="6629400" y="2514600"/>
            <a:ext cx="1051560" cy="548640"/>
          </a:xfrm>
          <a:prstGeom prst="roundRect">
            <a:avLst>
              <a:gd name="adj" fmla="val 13333"/>
            </a:avLst>
          </a:prstGeom>
          <a:solidFill>
            <a:srgbClr val="D9A441"/>
          </a:solidFill>
          <a:ln/>
        </p:spPr>
      </p:sp>
      <p:sp>
        <p:nvSpPr>
          <p:cNvPr id="16" name="Text 14"/>
          <p:cNvSpPr/>
          <p:nvPr/>
        </p:nvSpPr>
        <p:spPr>
          <a:xfrm>
            <a:off x="6629400" y="2514600"/>
            <a:ext cx="1051560" cy="548640"/>
          </a:xfrm>
          <a:prstGeom prst="rect">
            <a:avLst/>
          </a:prstGeom>
          <a:noFill/>
          <a:ln/>
        </p:spPr>
        <p:txBody>
          <a:bodyPr wrap="square" lIns="0" tIns="0" rIns="0" bIns="0" rtlCol="0" anchor="ctr"/>
          <a:lstStyle/>
          <a:p>
            <a:pPr algn="ctr" indent="0" marL="0">
              <a:buNone/>
            </a:pPr>
            <a:r>
              <a:rPr lang="en-US" sz="2000" b="1" dirty="0">
                <a:solidFill>
                  <a:srgbClr val="1B1F3B"/>
                </a:solidFill>
                <a:latin typeface="Cambria" pitchFamily="34" charset="0"/>
                <a:ea typeface="Cambria" pitchFamily="34" charset="-122"/>
                <a:cs typeface="Cambria" pitchFamily="34" charset="-120"/>
              </a:rPr>
              <a:t>PRP</a:t>
            </a:r>
            <a:endParaRPr lang="en-US" sz="2000" dirty="0"/>
          </a:p>
        </p:txBody>
      </p:sp>
      <p:sp>
        <p:nvSpPr>
          <p:cNvPr id="17" name="Text 15"/>
          <p:cNvSpPr/>
          <p:nvPr/>
        </p:nvSpPr>
        <p:spPr>
          <a:xfrm>
            <a:off x="7863840" y="2532888"/>
            <a:ext cx="3611880" cy="5486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Permutación Pseudoaleatoria</a:t>
            </a:r>
            <a:endParaRPr lang="en-US" sz="1500" dirty="0"/>
          </a:p>
        </p:txBody>
      </p:sp>
      <p:sp>
        <p:nvSpPr>
          <p:cNvPr id="18" name="Text 16"/>
          <p:cNvSpPr/>
          <p:nvPr/>
        </p:nvSpPr>
        <p:spPr>
          <a:xfrm>
            <a:off x="6629400" y="3291840"/>
            <a:ext cx="4800600" cy="457200"/>
          </a:xfrm>
          <a:prstGeom prst="rect">
            <a:avLst/>
          </a:prstGeom>
          <a:noFill/>
          <a:ln/>
        </p:spPr>
        <p:txBody>
          <a:bodyPr wrap="square" lIns="0" tIns="0" rIns="0" bIns="0" rtlCol="0" anchor="ctr"/>
          <a:lstStyle/>
          <a:p>
            <a:pPr indent="0" marL="0">
              <a:buNone/>
            </a:pPr>
            <a:r>
              <a:rPr lang="en-US" sz="1300" dirty="0">
                <a:solidFill>
                  <a:srgbClr val="D9A441"/>
                </a:solidFill>
                <a:latin typeface="Courier New" pitchFamily="34" charset="0"/>
                <a:ea typeface="Courier New" pitchFamily="34" charset="-122"/>
                <a:cs typeface="Courier New" pitchFamily="34" charset="-120"/>
              </a:rPr>
              <a:t>P : {0,1}ᵏ × {0,1}ⁿ → {0,1}ⁿ  (biyectiva)</a:t>
            </a:r>
            <a:endParaRPr lang="en-US" sz="1300" dirty="0"/>
          </a:p>
        </p:txBody>
      </p:sp>
      <p:sp>
        <p:nvSpPr>
          <p:cNvPr id="19" name="Text 17"/>
          <p:cNvSpPr/>
          <p:nvPr/>
        </p:nvSpPr>
        <p:spPr>
          <a:xfrm>
            <a:off x="6629400" y="3931920"/>
            <a:ext cx="4800600" cy="274320"/>
          </a:xfrm>
          <a:prstGeom prst="rect">
            <a:avLst/>
          </a:prstGeom>
          <a:noFill/>
          <a:ln/>
        </p:spPr>
        <p:txBody>
          <a:bodyPr wrap="square" lIns="0" tIns="0" rIns="0" bIns="0" rtlCol="0" anchor="ctr"/>
          <a:lstStyle/>
          <a:p>
            <a:pPr indent="0" marL="0">
              <a:buNone/>
            </a:pPr>
            <a:r>
              <a:rPr lang="en-US" sz="1050" b="1" spc="100" kern="0" dirty="0">
                <a:solidFill>
                  <a:srgbClr val="8D98C4"/>
                </a:solidFill>
                <a:latin typeface="Calibri" pitchFamily="34" charset="0"/>
                <a:ea typeface="Calibri" pitchFamily="34" charset="-122"/>
                <a:cs typeface="Calibri" pitchFamily="34" charset="-120"/>
              </a:rPr>
              <a:t>USO EN SSE</a:t>
            </a:r>
            <a:endParaRPr lang="en-US" sz="1050" dirty="0"/>
          </a:p>
        </p:txBody>
      </p:sp>
      <p:sp>
        <p:nvSpPr>
          <p:cNvPr id="20" name="Text 18"/>
          <p:cNvSpPr/>
          <p:nvPr/>
        </p:nvSpPr>
        <p:spPr>
          <a:xfrm>
            <a:off x="6629400" y="4206240"/>
            <a:ext cx="4800600" cy="594360"/>
          </a:xfrm>
          <a:prstGeom prst="rect">
            <a:avLst/>
          </a:prstGeom>
          <a:noFill/>
          <a:ln/>
        </p:spPr>
        <p:txBody>
          <a:bodyPr wrap="square" lIns="0" tIns="0" rIns="0" bIns="0" rtlCol="0" anchor="ctr"/>
          <a:lstStyle/>
          <a:p>
            <a:pPr indent="0" marL="0">
              <a:lnSpc>
                <a:spcPct val="120000"/>
              </a:lnSpc>
              <a:buNone/>
            </a:pPr>
            <a:r>
              <a:rPr lang="en-US" sz="1200" dirty="0">
                <a:solidFill>
                  <a:srgbClr val="C7D3F0"/>
                </a:solidFill>
                <a:latin typeface="Calibri" pitchFamily="34" charset="0"/>
                <a:ea typeface="Calibri" pitchFamily="34" charset="-122"/>
                <a:cs typeface="Calibri" pitchFamily="34" charset="-120"/>
              </a:rPr>
              <a:t>Un cifrador de bloque (p. ej. AES) modelado como permutación indistinguible de una aleatoria.</a:t>
            </a:r>
            <a:endParaRPr lang="en-US" sz="1200" dirty="0"/>
          </a:p>
        </p:txBody>
      </p:sp>
      <p:sp>
        <p:nvSpPr>
          <p:cNvPr id="21" name="Text 19"/>
          <p:cNvSpPr/>
          <p:nvPr/>
        </p:nvSpPr>
        <p:spPr>
          <a:xfrm>
            <a:off x="6629400" y="4846320"/>
            <a:ext cx="4800600" cy="274320"/>
          </a:xfrm>
          <a:prstGeom prst="rect">
            <a:avLst/>
          </a:prstGeom>
          <a:noFill/>
          <a:ln/>
        </p:spPr>
        <p:txBody>
          <a:bodyPr wrap="square" lIns="0" tIns="0" rIns="0" bIns="0" rtlCol="0" anchor="ctr"/>
          <a:lstStyle/>
          <a:p>
            <a:pPr indent="0" marL="0">
              <a:buNone/>
            </a:pPr>
            <a:r>
              <a:rPr lang="en-US" sz="1050" b="1" spc="100" kern="0" dirty="0">
                <a:solidFill>
                  <a:srgbClr val="8D98C4"/>
                </a:solidFill>
                <a:latin typeface="Calibri" pitchFamily="34" charset="0"/>
                <a:ea typeface="Calibri" pitchFamily="34" charset="-122"/>
                <a:cs typeface="Calibri" pitchFamily="34" charset="-120"/>
              </a:rPr>
              <a:t>ROL ESTRUCTURAL</a:t>
            </a:r>
            <a:endParaRPr lang="en-US" sz="1050" dirty="0"/>
          </a:p>
        </p:txBody>
      </p:sp>
      <p:sp>
        <p:nvSpPr>
          <p:cNvPr id="22" name="Text 20"/>
          <p:cNvSpPr/>
          <p:nvPr/>
        </p:nvSpPr>
        <p:spPr>
          <a:xfrm>
            <a:off x="6629400" y="5102352"/>
            <a:ext cx="4800600" cy="548640"/>
          </a:xfrm>
          <a:prstGeom prst="rect">
            <a:avLst/>
          </a:prstGeom>
          <a:noFill/>
          <a:ln/>
        </p:spPr>
        <p:txBody>
          <a:bodyPr wrap="square" lIns="0" tIns="0" rIns="0" bIns="0" rtlCol="0" anchor="ctr"/>
          <a:lstStyle/>
          <a:p>
            <a:pPr indent="0" marL="0">
              <a:lnSpc>
                <a:spcPct val="120000"/>
              </a:lnSpc>
              <a:buNone/>
            </a:pPr>
            <a:r>
              <a:rPr lang="en-US" sz="1200" dirty="0">
                <a:solidFill>
                  <a:srgbClr val="C7D3F0"/>
                </a:solidFill>
                <a:latin typeface="Calibri" pitchFamily="34" charset="0"/>
                <a:ea typeface="Calibri" pitchFamily="34" charset="-122"/>
                <a:cs typeface="Calibri" pitchFamily="34" charset="-120"/>
              </a:rPr>
              <a:t>Cifra los nodos del índice de forma que sean indistinguibles sin la clave.</a:t>
            </a:r>
            <a:endParaRPr lang="en-US" sz="1200" dirty="0"/>
          </a:p>
        </p:txBody>
      </p:sp>
      <p:sp>
        <p:nvSpPr>
          <p:cNvPr id="23" name="Text 21"/>
          <p:cNvSpPr/>
          <p:nvPr/>
        </p:nvSpPr>
        <p:spPr>
          <a:xfrm>
            <a:off x="548640" y="5760720"/>
            <a:ext cx="11064240" cy="548640"/>
          </a:xfrm>
          <a:prstGeom prst="rect">
            <a:avLst/>
          </a:prstGeom>
          <a:noFill/>
          <a:ln/>
        </p:spPr>
        <p:txBody>
          <a:bodyPr wrap="square" lIns="0" tIns="0" rIns="0" bIns="0" rtlCol="0" anchor="ctr"/>
          <a:lstStyle/>
          <a:p>
            <a:pPr indent="0" marL="0">
              <a:lnSpc>
                <a:spcPct val="120000"/>
              </a:lnSpc>
              <a:buNone/>
            </a:pPr>
            <a:r>
              <a:rPr lang="en-US" sz="1250" i="1" dirty="0">
                <a:solidFill>
                  <a:srgbClr val="8D98C4"/>
                </a:solidFill>
                <a:latin typeface="Calibri" pitchFamily="34" charset="0"/>
                <a:ea typeface="Calibri" pitchFamily="34" charset="-122"/>
                <a:cs typeface="Calibri" pitchFamily="34" charset="-120"/>
              </a:rPr>
              <a:t>Ambas son órdenes de magnitud más rápidas que operaciones de clave pública — la razón por la que SSE puede escalar a millones de documentos.</a:t>
            </a:r>
            <a:endParaRPr lang="en-US" sz="1250" dirty="0"/>
          </a:p>
        </p:txBody>
      </p:sp>
      <p:sp>
        <p:nvSpPr>
          <p:cNvPr id="24" name="Text 22"/>
          <p:cNvSpPr/>
          <p:nvPr/>
        </p:nvSpPr>
        <p:spPr>
          <a:xfrm>
            <a:off x="11368735" y="6400800"/>
            <a:ext cx="457200" cy="274320"/>
          </a:xfrm>
          <a:prstGeom prst="rect">
            <a:avLst/>
          </a:prstGeom>
          <a:noFill/>
          <a:ln/>
        </p:spPr>
        <p:txBody>
          <a:bodyPr wrap="square" lIns="0" tIns="0" rIns="0" bIns="0" rtlCol="0" anchor="ctr"/>
          <a:lstStyle/>
          <a:p>
            <a:pPr algn="r" indent="0" marL="0">
              <a:buNone/>
            </a:pPr>
            <a:r>
              <a:rPr lang="en-US" sz="1000" dirty="0">
                <a:solidFill>
                  <a:srgbClr val="8D98C4"/>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548640" y="164592"/>
            <a:ext cx="11094415" cy="292608"/>
          </a:xfrm>
          <a:prstGeom prst="rect">
            <a:avLst/>
          </a:prstGeom>
          <a:noFill/>
          <a:ln/>
        </p:spPr>
        <p:txBody>
          <a:bodyPr wrap="square" lIns="0" tIns="0" rIns="0" bIns="0" rtlCol="0" anchor="ctr"/>
          <a:lstStyle/>
          <a:p>
            <a:pPr indent="0" marL="0">
              <a:buNone/>
            </a:pPr>
            <a:r>
              <a:rPr lang="en-US" sz="1200" b="1" spc="200" kern="0" dirty="0">
                <a:solidFill>
                  <a:srgbClr val="D9A441"/>
                </a:solidFill>
                <a:latin typeface="Calibri" pitchFamily="34" charset="0"/>
                <a:ea typeface="Calibri" pitchFamily="34" charset="-122"/>
                <a:cs typeface="Calibri" pitchFamily="34" charset="-120"/>
              </a:rPr>
              <a:t>LA IDEA CENTRAL</a:t>
            </a:r>
            <a:endParaRPr lang="en-US" sz="1200" dirty="0"/>
          </a:p>
        </p:txBody>
      </p:sp>
      <p:sp>
        <p:nvSpPr>
          <p:cNvPr id="3" name="Text 1"/>
          <p:cNvSpPr/>
          <p:nvPr/>
        </p:nvSpPr>
        <p:spPr>
          <a:xfrm>
            <a:off x="548640" y="411480"/>
            <a:ext cx="11094415" cy="822960"/>
          </a:xfrm>
          <a:prstGeom prst="rect">
            <a:avLst/>
          </a:prstGeom>
          <a:noFill/>
          <a:ln/>
        </p:spPr>
        <p:txBody>
          <a:bodyPr wrap="square" lIns="0" tIns="0" rIns="0" bIns="0" rtlCol="0" anchor="ctr"/>
          <a:lstStyle/>
          <a:p>
            <a:pPr indent="0" marL="0">
              <a:buNone/>
            </a:pPr>
            <a:r>
              <a:rPr lang="en-US" sz="3000" b="1" dirty="0">
                <a:solidFill>
                  <a:srgbClr val="1B1F3B"/>
                </a:solidFill>
                <a:latin typeface="Cambria" pitchFamily="34" charset="0"/>
                <a:ea typeface="Cambria" pitchFamily="34" charset="-122"/>
                <a:cs typeface="Cambria" pitchFamily="34" charset="-120"/>
              </a:rPr>
              <a:t>El índice invertido cifrado</a:t>
            </a:r>
            <a:endParaRPr lang="en-US" sz="3000" dirty="0"/>
          </a:p>
        </p:txBody>
      </p:sp>
      <p:sp>
        <p:nvSpPr>
          <p:cNvPr id="4" name="Text 2"/>
          <p:cNvSpPr/>
          <p:nvPr/>
        </p:nvSpPr>
        <p:spPr>
          <a:xfrm>
            <a:off x="548640" y="1371600"/>
            <a:ext cx="11064240" cy="640080"/>
          </a:xfrm>
          <a:prstGeom prst="rect">
            <a:avLst/>
          </a:prstGeom>
          <a:noFill/>
          <a:ln/>
        </p:spPr>
        <p:txBody>
          <a:bodyPr wrap="square" lIns="0" tIns="0" rIns="0" bIns="0" rtlCol="0" anchor="ctr"/>
          <a:lstStyle/>
          <a:p>
            <a:pPr indent="0" marL="0">
              <a:lnSpc>
                <a:spcPct val="125000"/>
              </a:lnSpc>
              <a:buNone/>
            </a:pPr>
            <a:r>
              <a:rPr lang="en-US" sz="1450" dirty="0">
                <a:solidFill>
                  <a:srgbClr val="5B6584"/>
                </a:solidFill>
                <a:latin typeface="Calibri" pitchFamily="34" charset="0"/>
                <a:ea typeface="Calibri" pitchFamily="34" charset="-122"/>
                <a:cs typeface="Calibri" pitchFamily="34" charset="-120"/>
              </a:rPr>
              <a:t>En vez de cifrar documentos y esperar poder inspeccionarlos, SSE construye un índice invertido — palabra clave → lista de documentos — y lo cifra como estructura completa usando PRF y PRP.</a:t>
            </a:r>
            <a:endParaRPr lang="en-US" sz="1450" dirty="0"/>
          </a:p>
        </p:txBody>
      </p:sp>
      <p:sp>
        <p:nvSpPr>
          <p:cNvPr id="5" name="Shape 3"/>
          <p:cNvSpPr/>
          <p:nvPr/>
        </p:nvSpPr>
        <p:spPr>
          <a:xfrm>
            <a:off x="548640" y="2468880"/>
            <a:ext cx="2514600" cy="1005840"/>
          </a:xfrm>
          <a:prstGeom prst="roundRect">
            <a:avLst>
              <a:gd name="adj" fmla="val 8182"/>
            </a:avLst>
          </a:prstGeom>
          <a:solidFill>
            <a:srgbClr val="2E355E"/>
          </a:solidFill>
          <a:ln/>
        </p:spPr>
      </p:sp>
      <p:sp>
        <p:nvSpPr>
          <p:cNvPr id="6" name="Text 4"/>
          <p:cNvSpPr/>
          <p:nvPr/>
        </p:nvSpPr>
        <p:spPr>
          <a:xfrm>
            <a:off x="685800" y="2606040"/>
            <a:ext cx="224028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palabra clave  w</a:t>
            </a:r>
            <a:endParaRPr lang="en-US" sz="1500" dirty="0"/>
          </a:p>
        </p:txBody>
      </p:sp>
      <p:sp>
        <p:nvSpPr>
          <p:cNvPr id="7" name="Text 5"/>
          <p:cNvSpPr/>
          <p:nvPr/>
        </p:nvSpPr>
        <p:spPr>
          <a:xfrm>
            <a:off x="685800" y="3035808"/>
            <a:ext cx="2240280" cy="384048"/>
          </a:xfrm>
          <a:prstGeom prst="rect">
            <a:avLst/>
          </a:prstGeom>
          <a:noFill/>
          <a:ln/>
        </p:spPr>
        <p:txBody>
          <a:bodyPr wrap="square" lIns="0" tIns="0" rIns="0" bIns="0" rtlCol="0" anchor="ctr"/>
          <a:lstStyle/>
          <a:p>
            <a:pPr algn="ctr" indent="0" marL="0">
              <a:lnSpc>
                <a:spcPct val="105000"/>
              </a:lnSpc>
              <a:buNone/>
            </a:pPr>
            <a:r>
              <a:rPr lang="en-US" sz="950" dirty="0">
                <a:solidFill>
                  <a:srgbClr val="C7D3F0"/>
                </a:solidFill>
                <a:latin typeface="Calibri" pitchFamily="34" charset="0"/>
                <a:ea typeface="Calibri" pitchFamily="34" charset="-122"/>
                <a:cs typeface="Calibri" pitchFamily="34" charset="-120"/>
              </a:rPr>
              <a:t>en claro, solo del lado cliente</a:t>
            </a:r>
            <a:endParaRPr lang="en-US" sz="950" dirty="0"/>
          </a:p>
        </p:txBody>
      </p:sp>
      <p:sp>
        <p:nvSpPr>
          <p:cNvPr id="8" name="Shape 6"/>
          <p:cNvSpPr/>
          <p:nvPr/>
        </p:nvSpPr>
        <p:spPr>
          <a:xfrm>
            <a:off x="3090672" y="2971800"/>
            <a:ext cx="265176" cy="0"/>
          </a:xfrm>
          <a:prstGeom prst="line">
            <a:avLst/>
          </a:prstGeom>
          <a:noFill/>
          <a:ln w="19050">
            <a:solidFill>
              <a:srgbClr val="5B6584"/>
            </a:solidFill>
            <a:prstDash val="solid"/>
            <a:tailEnd type="triangle"/>
          </a:ln>
        </p:spPr>
      </p:sp>
      <p:sp>
        <p:nvSpPr>
          <p:cNvPr id="9" name="Shape 7"/>
          <p:cNvSpPr/>
          <p:nvPr/>
        </p:nvSpPr>
        <p:spPr>
          <a:xfrm>
            <a:off x="3383280" y="2468880"/>
            <a:ext cx="2514600" cy="1005840"/>
          </a:xfrm>
          <a:prstGeom prst="roundRect">
            <a:avLst>
              <a:gd name="adj" fmla="val 8182"/>
            </a:avLst>
          </a:prstGeom>
          <a:solidFill>
            <a:srgbClr val="D9A441"/>
          </a:solidFill>
          <a:ln/>
        </p:spPr>
      </p:sp>
      <p:sp>
        <p:nvSpPr>
          <p:cNvPr id="10" name="Text 8"/>
          <p:cNvSpPr/>
          <p:nvPr/>
        </p:nvSpPr>
        <p:spPr>
          <a:xfrm>
            <a:off x="3520440" y="2606040"/>
            <a:ext cx="2240280" cy="457200"/>
          </a:xfrm>
          <a:prstGeom prst="rect">
            <a:avLst/>
          </a:prstGeom>
          <a:noFill/>
          <a:ln/>
        </p:spPr>
        <p:txBody>
          <a:bodyPr wrap="square" lIns="0" tIns="0" rIns="0" bIns="0" rtlCol="0" anchor="ctr"/>
          <a:lstStyle/>
          <a:p>
            <a:pPr algn="ctr" indent="0" marL="0">
              <a:buNone/>
            </a:pPr>
            <a:r>
              <a:rPr lang="en-US" sz="1500" b="1" dirty="0">
                <a:solidFill>
                  <a:srgbClr val="1B1F3B"/>
                </a:solidFill>
                <a:latin typeface="Cambria" pitchFamily="34" charset="0"/>
                <a:ea typeface="Cambria" pitchFamily="34" charset="-122"/>
                <a:cs typeface="Cambria" pitchFamily="34" charset="-120"/>
              </a:rPr>
              <a:t>F(K, w)</a:t>
            </a:r>
            <a:endParaRPr lang="en-US" sz="1500" dirty="0"/>
          </a:p>
        </p:txBody>
      </p:sp>
      <p:sp>
        <p:nvSpPr>
          <p:cNvPr id="11" name="Text 9"/>
          <p:cNvSpPr/>
          <p:nvPr/>
        </p:nvSpPr>
        <p:spPr>
          <a:xfrm>
            <a:off x="3520440" y="3035808"/>
            <a:ext cx="2240280" cy="384048"/>
          </a:xfrm>
          <a:prstGeom prst="rect">
            <a:avLst/>
          </a:prstGeom>
          <a:noFill/>
          <a:ln/>
        </p:spPr>
        <p:txBody>
          <a:bodyPr wrap="square" lIns="0" tIns="0" rIns="0" bIns="0" rtlCol="0" anchor="ctr"/>
          <a:lstStyle/>
          <a:p>
            <a:pPr algn="ctr" indent="0" marL="0">
              <a:lnSpc>
                <a:spcPct val="105000"/>
              </a:lnSpc>
              <a:buNone/>
            </a:pPr>
            <a:r>
              <a:rPr lang="en-US" sz="950" dirty="0">
                <a:solidFill>
                  <a:srgbClr val="1B1F3B"/>
                </a:solidFill>
                <a:latin typeface="Calibri" pitchFamily="34" charset="0"/>
                <a:ea typeface="Calibri" pitchFamily="34" charset="-122"/>
                <a:cs typeface="Calibri" pitchFamily="34" charset="-120"/>
              </a:rPr>
              <a:t>PRF con clave maestra K</a:t>
            </a:r>
            <a:endParaRPr lang="en-US" sz="950" dirty="0"/>
          </a:p>
        </p:txBody>
      </p:sp>
      <p:sp>
        <p:nvSpPr>
          <p:cNvPr id="12" name="Shape 10"/>
          <p:cNvSpPr/>
          <p:nvPr/>
        </p:nvSpPr>
        <p:spPr>
          <a:xfrm>
            <a:off x="5925312" y="2971800"/>
            <a:ext cx="265176" cy="0"/>
          </a:xfrm>
          <a:prstGeom prst="line">
            <a:avLst/>
          </a:prstGeom>
          <a:noFill/>
          <a:ln w="19050">
            <a:solidFill>
              <a:srgbClr val="5B6584"/>
            </a:solidFill>
            <a:prstDash val="solid"/>
            <a:tailEnd type="triangle"/>
          </a:ln>
        </p:spPr>
      </p:sp>
      <p:sp>
        <p:nvSpPr>
          <p:cNvPr id="13" name="Shape 11"/>
          <p:cNvSpPr/>
          <p:nvPr/>
        </p:nvSpPr>
        <p:spPr>
          <a:xfrm>
            <a:off x="6217920" y="2468880"/>
            <a:ext cx="2514600" cy="1005840"/>
          </a:xfrm>
          <a:prstGeom prst="roundRect">
            <a:avLst>
              <a:gd name="adj" fmla="val 8182"/>
            </a:avLst>
          </a:prstGeom>
          <a:solidFill>
            <a:srgbClr val="2E355E"/>
          </a:solidFill>
          <a:ln/>
        </p:spPr>
      </p:sp>
      <p:sp>
        <p:nvSpPr>
          <p:cNvPr id="14" name="Text 12"/>
          <p:cNvSpPr/>
          <p:nvPr/>
        </p:nvSpPr>
        <p:spPr>
          <a:xfrm>
            <a:off x="6355080" y="2606040"/>
            <a:ext cx="224028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trapdoor</a:t>
            </a:r>
            <a:endParaRPr lang="en-US" sz="1500" dirty="0"/>
          </a:p>
        </p:txBody>
      </p:sp>
      <p:sp>
        <p:nvSpPr>
          <p:cNvPr id="15" name="Text 13"/>
          <p:cNvSpPr/>
          <p:nvPr/>
        </p:nvSpPr>
        <p:spPr>
          <a:xfrm>
            <a:off x="6355080" y="3035808"/>
            <a:ext cx="2240280" cy="384048"/>
          </a:xfrm>
          <a:prstGeom prst="rect">
            <a:avLst/>
          </a:prstGeom>
          <a:noFill/>
          <a:ln/>
        </p:spPr>
        <p:txBody>
          <a:bodyPr wrap="square" lIns="0" tIns="0" rIns="0" bIns="0" rtlCol="0" anchor="ctr"/>
          <a:lstStyle/>
          <a:p>
            <a:pPr algn="ctr" indent="0" marL="0">
              <a:lnSpc>
                <a:spcPct val="105000"/>
              </a:lnSpc>
              <a:buNone/>
            </a:pPr>
            <a:r>
              <a:rPr lang="en-US" sz="950" dirty="0">
                <a:solidFill>
                  <a:srgbClr val="C7D3F0"/>
                </a:solidFill>
                <a:latin typeface="Calibri" pitchFamily="34" charset="0"/>
                <a:ea typeface="Calibri" pitchFamily="34" charset="-122"/>
                <a:cs typeface="Calibri" pitchFamily="34" charset="-120"/>
              </a:rPr>
              <a:t>valor pseudoaleatorio enviado al servidor</a:t>
            </a:r>
            <a:endParaRPr lang="en-US" sz="950" dirty="0"/>
          </a:p>
        </p:txBody>
      </p:sp>
      <p:sp>
        <p:nvSpPr>
          <p:cNvPr id="16" name="Shape 14"/>
          <p:cNvSpPr/>
          <p:nvPr/>
        </p:nvSpPr>
        <p:spPr>
          <a:xfrm>
            <a:off x="8759952" y="2971800"/>
            <a:ext cx="265176" cy="0"/>
          </a:xfrm>
          <a:prstGeom prst="line">
            <a:avLst/>
          </a:prstGeom>
          <a:noFill/>
          <a:ln w="19050">
            <a:solidFill>
              <a:srgbClr val="5B6584"/>
            </a:solidFill>
            <a:prstDash val="solid"/>
            <a:tailEnd type="triangle"/>
          </a:ln>
        </p:spPr>
      </p:sp>
      <p:sp>
        <p:nvSpPr>
          <p:cNvPr id="17" name="Shape 15"/>
          <p:cNvSpPr/>
          <p:nvPr/>
        </p:nvSpPr>
        <p:spPr>
          <a:xfrm>
            <a:off x="9052560" y="2468880"/>
            <a:ext cx="2514600" cy="1005840"/>
          </a:xfrm>
          <a:prstGeom prst="roundRect">
            <a:avLst>
              <a:gd name="adj" fmla="val 8182"/>
            </a:avLst>
          </a:prstGeom>
          <a:solidFill>
            <a:srgbClr val="FFFFFF"/>
          </a:solidFill>
          <a:ln w="12700">
            <a:solidFill>
              <a:srgbClr val="DCE1F0"/>
            </a:solidFill>
            <a:prstDash val="solid"/>
          </a:ln>
        </p:spPr>
      </p:sp>
      <p:sp>
        <p:nvSpPr>
          <p:cNvPr id="18" name="Text 16"/>
          <p:cNvSpPr/>
          <p:nvPr/>
        </p:nvSpPr>
        <p:spPr>
          <a:xfrm>
            <a:off x="9189720" y="2606040"/>
            <a:ext cx="2240280" cy="457200"/>
          </a:xfrm>
          <a:prstGeom prst="rect">
            <a:avLst/>
          </a:prstGeom>
          <a:noFill/>
          <a:ln/>
        </p:spPr>
        <p:txBody>
          <a:bodyPr wrap="square" lIns="0" tIns="0" rIns="0" bIns="0" rtlCol="0" anchor="ctr"/>
          <a:lstStyle/>
          <a:p>
            <a:pPr algn="ctr" indent="0" marL="0">
              <a:buNone/>
            </a:pPr>
            <a:r>
              <a:rPr lang="en-US" sz="1500" b="1" dirty="0">
                <a:solidFill>
                  <a:srgbClr val="1B1F3B"/>
                </a:solidFill>
                <a:latin typeface="Cambria" pitchFamily="34" charset="0"/>
                <a:ea typeface="Cambria" pitchFamily="34" charset="-122"/>
                <a:cs typeface="Cambria" pitchFamily="34" charset="-120"/>
              </a:rPr>
              <a:t>lookup en T</a:t>
            </a:r>
            <a:endParaRPr lang="en-US" sz="1500" dirty="0"/>
          </a:p>
        </p:txBody>
      </p:sp>
      <p:sp>
        <p:nvSpPr>
          <p:cNvPr id="19" name="Text 17"/>
          <p:cNvSpPr/>
          <p:nvPr/>
        </p:nvSpPr>
        <p:spPr>
          <a:xfrm>
            <a:off x="9189720" y="3035808"/>
            <a:ext cx="2240280" cy="384048"/>
          </a:xfrm>
          <a:prstGeom prst="rect">
            <a:avLst/>
          </a:prstGeom>
          <a:noFill/>
          <a:ln/>
        </p:spPr>
        <p:txBody>
          <a:bodyPr wrap="square" lIns="0" tIns="0" rIns="0" bIns="0" rtlCol="0" anchor="ctr"/>
          <a:lstStyle/>
          <a:p>
            <a:pPr algn="ctr" indent="0" marL="0">
              <a:lnSpc>
                <a:spcPct val="105000"/>
              </a:lnSpc>
              <a:buNone/>
            </a:pPr>
            <a:r>
              <a:rPr lang="en-US" sz="950" dirty="0">
                <a:solidFill>
                  <a:srgbClr val="5B6584"/>
                </a:solidFill>
                <a:latin typeface="Calibri" pitchFamily="34" charset="0"/>
                <a:ea typeface="Calibri" pitchFamily="34" charset="-122"/>
                <a:cs typeface="Calibri" pitchFamily="34" charset="-120"/>
              </a:rPr>
              <a:t>el servidor solo compara bytes</a:t>
            </a:r>
            <a:endParaRPr lang="en-US" sz="950" dirty="0"/>
          </a:p>
        </p:txBody>
      </p:sp>
      <p:sp>
        <p:nvSpPr>
          <p:cNvPr id="20" name="Shape 18"/>
          <p:cNvSpPr/>
          <p:nvPr/>
        </p:nvSpPr>
        <p:spPr>
          <a:xfrm>
            <a:off x="548640" y="3977640"/>
            <a:ext cx="5212080" cy="1920240"/>
          </a:xfrm>
          <a:prstGeom prst="roundRect">
            <a:avLst>
              <a:gd name="adj" fmla="val 3810"/>
            </a:avLst>
          </a:prstGeom>
          <a:solidFill>
            <a:srgbClr val="FFFFFF"/>
          </a:solidFill>
          <a:ln w="12700">
            <a:solidFill>
              <a:srgbClr val="DCE1F0"/>
            </a:solidFill>
            <a:prstDash val="solid"/>
          </a:ln>
        </p:spPr>
      </p:sp>
      <p:sp>
        <p:nvSpPr>
          <p:cNvPr id="21" name="Text 19"/>
          <p:cNvSpPr/>
          <p:nvPr/>
        </p:nvSpPr>
        <p:spPr>
          <a:xfrm>
            <a:off x="777240" y="4114800"/>
            <a:ext cx="4754880" cy="365760"/>
          </a:xfrm>
          <a:prstGeom prst="rect">
            <a:avLst/>
          </a:prstGeom>
          <a:noFill/>
          <a:ln/>
        </p:spPr>
        <p:txBody>
          <a:bodyPr wrap="square" lIns="0" tIns="0" rIns="0" bIns="0" rtlCol="0" anchor="ctr"/>
          <a:lstStyle/>
          <a:p>
            <a:pPr indent="0" marL="0">
              <a:buNone/>
            </a:pPr>
            <a:r>
              <a:rPr lang="en-US" sz="1400" b="1" dirty="0">
                <a:solidFill>
                  <a:srgbClr val="1B1F3B"/>
                </a:solidFill>
                <a:latin typeface="Cambria" pitchFamily="34" charset="0"/>
                <a:ea typeface="Cambria" pitchFamily="34" charset="-122"/>
                <a:cs typeface="Cambria" pitchFamily="34" charset="-120"/>
              </a:rPr>
              <a:t>Tabla de búsqueda  T</a:t>
            </a:r>
            <a:endParaRPr lang="en-US" sz="1400" dirty="0"/>
          </a:p>
        </p:txBody>
      </p:sp>
      <p:sp>
        <p:nvSpPr>
          <p:cNvPr id="22" name="Text 20"/>
          <p:cNvSpPr/>
          <p:nvPr/>
        </p:nvSpPr>
        <p:spPr>
          <a:xfrm>
            <a:off x="777240" y="4526280"/>
            <a:ext cx="4754880" cy="1234440"/>
          </a:xfrm>
          <a:prstGeom prst="rect">
            <a:avLst/>
          </a:prstGeom>
          <a:noFill/>
          <a:ln/>
        </p:spPr>
        <p:txBody>
          <a:bodyPr wrap="square" lIns="0" tIns="0" rIns="0" bIns="0" rtlCol="0" anchor="ctr"/>
          <a:lstStyle/>
          <a:p>
            <a:pPr indent="0" marL="0">
              <a:lnSpc>
                <a:spcPct val="125000"/>
              </a:lnSpc>
              <a:buNone/>
            </a:pPr>
            <a:r>
              <a:rPr lang="en-US" sz="1150" dirty="0">
                <a:solidFill>
                  <a:srgbClr val="5B6584"/>
                </a:solidFill>
                <a:latin typeface="Calibri" pitchFamily="34" charset="0"/>
                <a:ea typeface="Calibri" pitchFamily="34" charset="-122"/>
                <a:cs typeface="Calibri" pitchFamily="34" charset="-120"/>
              </a:rPr>
              <a:t>Indexada por el trapdoor de cada palabra. Cada entrada está cifrada y apunta al primer nodo de la lista de documentos correspondiente en A, junto con la clave para desencadenarla.</a:t>
            </a:r>
            <a:endParaRPr lang="en-US" sz="1150" dirty="0"/>
          </a:p>
        </p:txBody>
      </p:sp>
      <p:sp>
        <p:nvSpPr>
          <p:cNvPr id="23" name="Shape 21"/>
          <p:cNvSpPr/>
          <p:nvPr/>
        </p:nvSpPr>
        <p:spPr>
          <a:xfrm>
            <a:off x="5760720" y="4937760"/>
            <a:ext cx="777240" cy="0"/>
          </a:xfrm>
          <a:prstGeom prst="line">
            <a:avLst/>
          </a:prstGeom>
          <a:noFill/>
          <a:ln w="19050">
            <a:solidFill>
              <a:srgbClr val="5B6584"/>
            </a:solidFill>
            <a:prstDash val="solid"/>
            <a:tailEnd type="triangle"/>
          </a:ln>
        </p:spPr>
      </p:sp>
      <p:sp>
        <p:nvSpPr>
          <p:cNvPr id="24" name="Shape 22"/>
          <p:cNvSpPr/>
          <p:nvPr/>
        </p:nvSpPr>
        <p:spPr>
          <a:xfrm>
            <a:off x="6537960" y="3977640"/>
            <a:ext cx="5074920" cy="1920240"/>
          </a:xfrm>
          <a:prstGeom prst="roundRect">
            <a:avLst>
              <a:gd name="adj" fmla="val 3810"/>
            </a:avLst>
          </a:prstGeom>
          <a:solidFill>
            <a:srgbClr val="FFFFFF"/>
          </a:solidFill>
          <a:ln w="12700">
            <a:solidFill>
              <a:srgbClr val="DCE1F0"/>
            </a:solidFill>
            <a:prstDash val="solid"/>
          </a:ln>
        </p:spPr>
      </p:sp>
      <p:sp>
        <p:nvSpPr>
          <p:cNvPr id="25" name="Text 23"/>
          <p:cNvSpPr/>
          <p:nvPr/>
        </p:nvSpPr>
        <p:spPr>
          <a:xfrm>
            <a:off x="6766560" y="4114800"/>
            <a:ext cx="4572000" cy="365760"/>
          </a:xfrm>
          <a:prstGeom prst="rect">
            <a:avLst/>
          </a:prstGeom>
          <a:noFill/>
          <a:ln/>
        </p:spPr>
        <p:txBody>
          <a:bodyPr wrap="square" lIns="0" tIns="0" rIns="0" bIns="0" rtlCol="0" anchor="ctr"/>
          <a:lstStyle/>
          <a:p>
            <a:pPr indent="0" marL="0">
              <a:buNone/>
            </a:pPr>
            <a:r>
              <a:rPr lang="en-US" sz="1400" b="1" dirty="0">
                <a:solidFill>
                  <a:srgbClr val="1B1F3B"/>
                </a:solidFill>
                <a:latin typeface="Cambria" pitchFamily="34" charset="0"/>
                <a:ea typeface="Cambria" pitchFamily="34" charset="-122"/>
                <a:cs typeface="Cambria" pitchFamily="34" charset="-120"/>
              </a:rPr>
              <a:t>Arreglo enlazado  A</a:t>
            </a:r>
            <a:endParaRPr lang="en-US" sz="1400" dirty="0"/>
          </a:p>
        </p:txBody>
      </p:sp>
      <p:sp>
        <p:nvSpPr>
          <p:cNvPr id="26" name="Text 24"/>
          <p:cNvSpPr/>
          <p:nvPr/>
        </p:nvSpPr>
        <p:spPr>
          <a:xfrm>
            <a:off x="6766560" y="4526280"/>
            <a:ext cx="4572000" cy="1234440"/>
          </a:xfrm>
          <a:prstGeom prst="rect">
            <a:avLst/>
          </a:prstGeom>
          <a:noFill/>
          <a:ln/>
        </p:spPr>
        <p:txBody>
          <a:bodyPr wrap="square" lIns="0" tIns="0" rIns="0" bIns="0" rtlCol="0" anchor="ctr"/>
          <a:lstStyle/>
          <a:p>
            <a:pPr indent="0" marL="0">
              <a:lnSpc>
                <a:spcPct val="125000"/>
              </a:lnSpc>
              <a:buNone/>
            </a:pPr>
            <a:r>
              <a:rPr lang="en-US" sz="1150" dirty="0">
                <a:solidFill>
                  <a:srgbClr val="5B6584"/>
                </a:solidFill>
                <a:latin typeface="Calibri" pitchFamily="34" charset="0"/>
                <a:ea typeface="Calibri" pitchFamily="34" charset="-122"/>
                <a:cs typeface="Calibri" pitchFamily="34" charset="-120"/>
              </a:rPr>
              <a:t>Nodos cifrados individualmente, cada uno con un identificador de documento y un puntero al siguiente nodo — cifrado con una clave distinta derivada por PRF, de forma que no revela la longitud de la lista de antemano.</a:t>
            </a:r>
            <a:endParaRPr lang="en-US" sz="1150" dirty="0"/>
          </a:p>
        </p:txBody>
      </p:sp>
      <p:sp>
        <p:nvSpPr>
          <p:cNvPr id="27" name="Text 25"/>
          <p:cNvSpPr/>
          <p:nvPr/>
        </p:nvSpPr>
        <p:spPr>
          <a:xfrm>
            <a:off x="11368735" y="6400800"/>
            <a:ext cx="457200" cy="274320"/>
          </a:xfrm>
          <a:prstGeom prst="rect">
            <a:avLst/>
          </a:prstGeom>
          <a:noFill/>
          <a:ln/>
        </p:spPr>
        <p:txBody>
          <a:bodyPr wrap="square" lIns="0" tIns="0" rIns="0" bIns="0" rtlCol="0" anchor="ctr"/>
          <a:lstStyle/>
          <a:p>
            <a:pPr algn="r" indent="0" marL="0">
              <a:buNone/>
            </a:pPr>
            <a:r>
              <a:rPr lang="en-US" sz="1000" dirty="0">
                <a:solidFill>
                  <a:srgbClr val="5B6584"/>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548640" y="164592"/>
            <a:ext cx="11094415" cy="292608"/>
          </a:xfrm>
          <a:prstGeom prst="rect">
            <a:avLst/>
          </a:prstGeom>
          <a:noFill/>
          <a:ln/>
        </p:spPr>
        <p:txBody>
          <a:bodyPr wrap="square" lIns="0" tIns="0" rIns="0" bIns="0" rtlCol="0" anchor="ctr"/>
          <a:lstStyle/>
          <a:p>
            <a:pPr indent="0" marL="0">
              <a:buNone/>
            </a:pPr>
            <a:r>
              <a:rPr lang="en-US" sz="1200" b="1" spc="200" kern="0" dirty="0">
                <a:solidFill>
                  <a:srgbClr val="D9A441"/>
                </a:solidFill>
                <a:latin typeface="Calibri" pitchFamily="34" charset="0"/>
                <a:ea typeface="Calibri" pitchFamily="34" charset="-122"/>
                <a:cs typeface="Calibri" pitchFamily="34" charset="-120"/>
              </a:rPr>
              <a:t>CONSTRUCCIÓN</a:t>
            </a:r>
            <a:endParaRPr lang="en-US" sz="1200" dirty="0"/>
          </a:p>
        </p:txBody>
      </p:sp>
      <p:sp>
        <p:nvSpPr>
          <p:cNvPr id="3" name="Text 1"/>
          <p:cNvSpPr/>
          <p:nvPr/>
        </p:nvSpPr>
        <p:spPr>
          <a:xfrm>
            <a:off x="548640" y="411480"/>
            <a:ext cx="11094415" cy="822960"/>
          </a:xfrm>
          <a:prstGeom prst="rect">
            <a:avLst/>
          </a:prstGeom>
          <a:noFill/>
          <a:ln/>
        </p:spPr>
        <p:txBody>
          <a:bodyPr wrap="square" lIns="0" tIns="0" rIns="0" bIns="0" rtlCol="0" anchor="ctr"/>
          <a:lstStyle/>
          <a:p>
            <a:pPr indent="0" marL="0">
              <a:buNone/>
            </a:pPr>
            <a:r>
              <a:rPr lang="en-US" sz="3000" b="1" dirty="0">
                <a:solidFill>
                  <a:srgbClr val="1B1F3B"/>
                </a:solidFill>
                <a:latin typeface="Cambria" pitchFamily="34" charset="0"/>
                <a:ea typeface="Cambria" pitchFamily="34" charset="-122"/>
                <a:cs typeface="Cambria" pitchFamily="34" charset="-120"/>
              </a:rPr>
              <a:t>SSE-1 (Curtmola et al., 2006)</a:t>
            </a:r>
            <a:endParaRPr lang="en-US" sz="3000" dirty="0"/>
          </a:p>
        </p:txBody>
      </p:sp>
      <p:sp>
        <p:nvSpPr>
          <p:cNvPr id="4" name="Text 2"/>
          <p:cNvSpPr/>
          <p:nvPr/>
        </p:nvSpPr>
        <p:spPr>
          <a:xfrm>
            <a:off x="548640" y="1371600"/>
            <a:ext cx="11064240" cy="548640"/>
          </a:xfrm>
          <a:prstGeom prst="rect">
            <a:avLst/>
          </a:prstGeom>
          <a:noFill/>
          <a:ln/>
        </p:spPr>
        <p:txBody>
          <a:bodyPr wrap="square" lIns="0" tIns="0" rIns="0" bIns="0" rtlCol="0" anchor="ctr"/>
          <a:lstStyle/>
          <a:p>
            <a:pPr indent="0" marL="0">
              <a:lnSpc>
                <a:spcPct val="120000"/>
              </a:lnSpc>
              <a:buNone/>
            </a:pPr>
            <a:r>
              <a:rPr lang="en-US" sz="1400" dirty="0">
                <a:solidFill>
                  <a:srgbClr val="5B6584"/>
                </a:solidFill>
                <a:latin typeface="Calibri" pitchFamily="34" charset="0"/>
                <a:ea typeface="Calibri" pitchFamily="34" charset="-122"/>
                <a:cs typeface="Calibri" pitchFamily="34" charset="-120"/>
              </a:rPr>
              <a:t>El primer esquema con prueba formal de seguridad y complejidad de búsqueda sublineal — proporcional a los documentos que coinciden, no al tamaño del dataset.</a:t>
            </a:r>
            <a:endParaRPr lang="en-US" sz="1400" dirty="0"/>
          </a:p>
        </p:txBody>
      </p:sp>
      <p:sp>
        <p:nvSpPr>
          <p:cNvPr id="5" name="Shape 3"/>
          <p:cNvSpPr/>
          <p:nvPr/>
        </p:nvSpPr>
        <p:spPr>
          <a:xfrm>
            <a:off x="548640" y="2148840"/>
            <a:ext cx="11064240" cy="914400"/>
          </a:xfrm>
          <a:prstGeom prst="roundRect">
            <a:avLst>
              <a:gd name="adj" fmla="val 7000"/>
            </a:avLst>
          </a:prstGeom>
          <a:solidFill>
            <a:srgbClr val="FFFFFF"/>
          </a:solidFill>
          <a:ln w="12700">
            <a:solidFill>
              <a:srgbClr val="DCE1F0"/>
            </a:solidFill>
            <a:prstDash val="solid"/>
          </a:ln>
        </p:spPr>
      </p:sp>
      <p:sp>
        <p:nvSpPr>
          <p:cNvPr id="6" name="Shape 4"/>
          <p:cNvSpPr/>
          <p:nvPr/>
        </p:nvSpPr>
        <p:spPr>
          <a:xfrm>
            <a:off x="777240" y="2350008"/>
            <a:ext cx="512064" cy="512064"/>
          </a:xfrm>
          <a:prstGeom prst="ellipse">
            <a:avLst/>
          </a:prstGeom>
          <a:solidFill>
            <a:srgbClr val="1B1F3B"/>
          </a:solidFill>
          <a:ln/>
        </p:spPr>
      </p:sp>
      <p:sp>
        <p:nvSpPr>
          <p:cNvPr id="7" name="Text 5"/>
          <p:cNvSpPr/>
          <p:nvPr/>
        </p:nvSpPr>
        <p:spPr>
          <a:xfrm>
            <a:off x="777240" y="2350008"/>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8" name="Text 6"/>
          <p:cNvSpPr/>
          <p:nvPr/>
        </p:nvSpPr>
        <p:spPr>
          <a:xfrm>
            <a:off x="1508760" y="2258568"/>
            <a:ext cx="1828800" cy="694944"/>
          </a:xfrm>
          <a:prstGeom prst="rect">
            <a:avLst/>
          </a:prstGeom>
          <a:noFill/>
          <a:ln/>
        </p:spPr>
        <p:txBody>
          <a:bodyPr wrap="square" lIns="0" tIns="0" rIns="0" bIns="0" rtlCol="0" anchor="ctr"/>
          <a:lstStyle/>
          <a:p>
            <a:pPr indent="0" marL="0">
              <a:buNone/>
            </a:pPr>
            <a:r>
              <a:rPr lang="en-US" sz="1450" b="1" dirty="0">
                <a:solidFill>
                  <a:srgbClr val="B4842E"/>
                </a:solidFill>
                <a:latin typeface="Cambria" pitchFamily="34" charset="0"/>
                <a:ea typeface="Cambria" pitchFamily="34" charset="-122"/>
                <a:cs typeface="Cambria" pitchFamily="34" charset="-120"/>
              </a:rPr>
              <a:t>Setup</a:t>
            </a:r>
            <a:endParaRPr lang="en-US" sz="1450" dirty="0"/>
          </a:p>
        </p:txBody>
      </p:sp>
      <p:sp>
        <p:nvSpPr>
          <p:cNvPr id="9" name="Text 7"/>
          <p:cNvSpPr/>
          <p:nvPr/>
        </p:nvSpPr>
        <p:spPr>
          <a:xfrm>
            <a:off x="3429000" y="2240280"/>
            <a:ext cx="8001000" cy="731520"/>
          </a:xfrm>
          <a:prstGeom prst="rect">
            <a:avLst/>
          </a:prstGeom>
          <a:noFill/>
          <a:ln/>
        </p:spPr>
        <p:txBody>
          <a:bodyPr wrap="square" lIns="0" tIns="0" rIns="0" bIns="0" rtlCol="0" anchor="ctr"/>
          <a:lstStyle/>
          <a:p>
            <a:pPr indent="0" marL="0">
              <a:lnSpc>
                <a:spcPct val="115000"/>
              </a:lnSpc>
              <a:buNone/>
            </a:pPr>
            <a:r>
              <a:rPr lang="en-US" sz="1200" dirty="0">
                <a:solidFill>
                  <a:srgbClr val="5B6584"/>
                </a:solidFill>
                <a:latin typeface="Calibri" pitchFamily="34" charset="0"/>
                <a:ea typeface="Calibri" pitchFamily="34" charset="-122"/>
                <a:cs typeface="Calibri" pitchFamily="34" charset="-120"/>
              </a:rPr>
              <a:t>El cliente genera claves maestras para las PRF y construye T y A a partir de la colección de documentos en claro.</a:t>
            </a:r>
            <a:endParaRPr lang="en-US" sz="1200" dirty="0"/>
          </a:p>
        </p:txBody>
      </p:sp>
      <p:sp>
        <p:nvSpPr>
          <p:cNvPr id="10" name="Shape 8"/>
          <p:cNvSpPr/>
          <p:nvPr/>
        </p:nvSpPr>
        <p:spPr>
          <a:xfrm>
            <a:off x="548640" y="3154680"/>
            <a:ext cx="11064240" cy="914400"/>
          </a:xfrm>
          <a:prstGeom prst="roundRect">
            <a:avLst>
              <a:gd name="adj" fmla="val 7000"/>
            </a:avLst>
          </a:prstGeom>
          <a:solidFill>
            <a:srgbClr val="FFFFFF"/>
          </a:solidFill>
          <a:ln w="12700">
            <a:solidFill>
              <a:srgbClr val="DCE1F0"/>
            </a:solidFill>
            <a:prstDash val="solid"/>
          </a:ln>
        </p:spPr>
      </p:sp>
      <p:sp>
        <p:nvSpPr>
          <p:cNvPr id="11" name="Shape 9"/>
          <p:cNvSpPr/>
          <p:nvPr/>
        </p:nvSpPr>
        <p:spPr>
          <a:xfrm>
            <a:off x="777240" y="3355848"/>
            <a:ext cx="512064" cy="512064"/>
          </a:xfrm>
          <a:prstGeom prst="ellipse">
            <a:avLst/>
          </a:prstGeom>
          <a:solidFill>
            <a:srgbClr val="1B1F3B"/>
          </a:solidFill>
          <a:ln/>
        </p:spPr>
      </p:sp>
      <p:sp>
        <p:nvSpPr>
          <p:cNvPr id="12" name="Text 10"/>
          <p:cNvSpPr/>
          <p:nvPr/>
        </p:nvSpPr>
        <p:spPr>
          <a:xfrm>
            <a:off x="777240" y="3355848"/>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11"/>
          <p:cNvSpPr/>
          <p:nvPr/>
        </p:nvSpPr>
        <p:spPr>
          <a:xfrm>
            <a:off x="1508760" y="3264408"/>
            <a:ext cx="1828800" cy="694944"/>
          </a:xfrm>
          <a:prstGeom prst="rect">
            <a:avLst/>
          </a:prstGeom>
          <a:noFill/>
          <a:ln/>
        </p:spPr>
        <p:txBody>
          <a:bodyPr wrap="square" lIns="0" tIns="0" rIns="0" bIns="0" rtlCol="0" anchor="ctr"/>
          <a:lstStyle/>
          <a:p>
            <a:pPr indent="0" marL="0">
              <a:buNone/>
            </a:pPr>
            <a:r>
              <a:rPr lang="en-US" sz="1450" b="1" dirty="0">
                <a:solidFill>
                  <a:srgbClr val="B4842E"/>
                </a:solidFill>
                <a:latin typeface="Cambria" pitchFamily="34" charset="0"/>
                <a:ea typeface="Cambria" pitchFamily="34" charset="-122"/>
                <a:cs typeface="Cambria" pitchFamily="34" charset="-120"/>
              </a:rPr>
              <a:t>Encrypt</a:t>
            </a:r>
            <a:endParaRPr lang="en-US" sz="1450" dirty="0"/>
          </a:p>
        </p:txBody>
      </p:sp>
      <p:sp>
        <p:nvSpPr>
          <p:cNvPr id="14" name="Text 12"/>
          <p:cNvSpPr/>
          <p:nvPr/>
        </p:nvSpPr>
        <p:spPr>
          <a:xfrm>
            <a:off x="3429000" y="3246120"/>
            <a:ext cx="8001000" cy="731520"/>
          </a:xfrm>
          <a:prstGeom prst="rect">
            <a:avLst/>
          </a:prstGeom>
          <a:noFill/>
          <a:ln/>
        </p:spPr>
        <p:txBody>
          <a:bodyPr wrap="square" lIns="0" tIns="0" rIns="0" bIns="0" rtlCol="0" anchor="ctr"/>
          <a:lstStyle/>
          <a:p>
            <a:pPr indent="0" marL="0">
              <a:lnSpc>
                <a:spcPct val="115000"/>
              </a:lnSpc>
              <a:buNone/>
            </a:pPr>
            <a:r>
              <a:rPr lang="en-US" sz="1200" dirty="0">
                <a:solidFill>
                  <a:srgbClr val="5B6584"/>
                </a:solidFill>
                <a:latin typeface="Calibri" pitchFamily="34" charset="0"/>
                <a:ea typeface="Calibri" pitchFamily="34" charset="-122"/>
                <a:cs typeface="Calibri" pitchFamily="34" charset="-120"/>
              </a:rPr>
              <a:t>Cada nodo de A se cifra con una clave por-palabra derivada por PRF; cada entrada de T se cifra con una clave derivada de una PRF distinta.</a:t>
            </a:r>
            <a:endParaRPr lang="en-US" sz="1200" dirty="0"/>
          </a:p>
        </p:txBody>
      </p:sp>
      <p:sp>
        <p:nvSpPr>
          <p:cNvPr id="15" name="Shape 13"/>
          <p:cNvSpPr/>
          <p:nvPr/>
        </p:nvSpPr>
        <p:spPr>
          <a:xfrm>
            <a:off x="548640" y="4160520"/>
            <a:ext cx="11064240" cy="914400"/>
          </a:xfrm>
          <a:prstGeom prst="roundRect">
            <a:avLst>
              <a:gd name="adj" fmla="val 7000"/>
            </a:avLst>
          </a:prstGeom>
          <a:solidFill>
            <a:srgbClr val="FFFFFF"/>
          </a:solidFill>
          <a:ln w="12700">
            <a:solidFill>
              <a:srgbClr val="DCE1F0"/>
            </a:solidFill>
            <a:prstDash val="solid"/>
          </a:ln>
        </p:spPr>
      </p:sp>
      <p:sp>
        <p:nvSpPr>
          <p:cNvPr id="16" name="Shape 14"/>
          <p:cNvSpPr/>
          <p:nvPr/>
        </p:nvSpPr>
        <p:spPr>
          <a:xfrm>
            <a:off x="777240" y="4361688"/>
            <a:ext cx="512064" cy="512064"/>
          </a:xfrm>
          <a:prstGeom prst="ellipse">
            <a:avLst/>
          </a:prstGeom>
          <a:solidFill>
            <a:srgbClr val="1B1F3B"/>
          </a:solidFill>
          <a:ln/>
        </p:spPr>
      </p:sp>
      <p:sp>
        <p:nvSpPr>
          <p:cNvPr id="17" name="Text 15"/>
          <p:cNvSpPr/>
          <p:nvPr/>
        </p:nvSpPr>
        <p:spPr>
          <a:xfrm>
            <a:off x="777240" y="4361688"/>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8" name="Text 16"/>
          <p:cNvSpPr/>
          <p:nvPr/>
        </p:nvSpPr>
        <p:spPr>
          <a:xfrm>
            <a:off x="1508760" y="4270248"/>
            <a:ext cx="1828800" cy="694944"/>
          </a:xfrm>
          <a:prstGeom prst="rect">
            <a:avLst/>
          </a:prstGeom>
          <a:noFill/>
          <a:ln/>
        </p:spPr>
        <p:txBody>
          <a:bodyPr wrap="square" lIns="0" tIns="0" rIns="0" bIns="0" rtlCol="0" anchor="ctr"/>
          <a:lstStyle/>
          <a:p>
            <a:pPr indent="0" marL="0">
              <a:buNone/>
            </a:pPr>
            <a:r>
              <a:rPr lang="en-US" sz="1450" b="1" dirty="0">
                <a:solidFill>
                  <a:srgbClr val="B4842E"/>
                </a:solidFill>
                <a:latin typeface="Cambria" pitchFamily="34" charset="0"/>
                <a:ea typeface="Cambria" pitchFamily="34" charset="-122"/>
                <a:cs typeface="Cambria" pitchFamily="34" charset="-120"/>
              </a:rPr>
              <a:t>Trapdoor</a:t>
            </a:r>
            <a:endParaRPr lang="en-US" sz="1450" dirty="0"/>
          </a:p>
        </p:txBody>
      </p:sp>
      <p:sp>
        <p:nvSpPr>
          <p:cNvPr id="19" name="Text 17"/>
          <p:cNvSpPr/>
          <p:nvPr/>
        </p:nvSpPr>
        <p:spPr>
          <a:xfrm>
            <a:off x="3429000" y="4251960"/>
            <a:ext cx="8001000" cy="731520"/>
          </a:xfrm>
          <a:prstGeom prst="rect">
            <a:avLst/>
          </a:prstGeom>
          <a:noFill/>
          <a:ln/>
        </p:spPr>
        <p:txBody>
          <a:bodyPr wrap="square" lIns="0" tIns="0" rIns="0" bIns="0" rtlCol="0" anchor="ctr"/>
          <a:lstStyle/>
          <a:p>
            <a:pPr indent="0" marL="0">
              <a:lnSpc>
                <a:spcPct val="115000"/>
              </a:lnSpc>
              <a:buNone/>
            </a:pPr>
            <a:r>
              <a:rPr lang="en-US" sz="1200" dirty="0">
                <a:solidFill>
                  <a:srgbClr val="5B6584"/>
                </a:solidFill>
                <a:latin typeface="Calibri" pitchFamily="34" charset="0"/>
                <a:ea typeface="Calibri" pitchFamily="34" charset="-122"/>
                <a:cs typeface="Calibri" pitchFamily="34" charset="-120"/>
              </a:rPr>
              <a:t>Para buscar w, el cliente calcula F(K, w) y lo envía — un valor pseudoaleatorio que no revela w.</a:t>
            </a:r>
            <a:endParaRPr lang="en-US" sz="1200" dirty="0"/>
          </a:p>
        </p:txBody>
      </p:sp>
      <p:sp>
        <p:nvSpPr>
          <p:cNvPr id="20" name="Shape 18"/>
          <p:cNvSpPr/>
          <p:nvPr/>
        </p:nvSpPr>
        <p:spPr>
          <a:xfrm>
            <a:off x="548640" y="5166360"/>
            <a:ext cx="11064240" cy="914400"/>
          </a:xfrm>
          <a:prstGeom prst="roundRect">
            <a:avLst>
              <a:gd name="adj" fmla="val 7000"/>
            </a:avLst>
          </a:prstGeom>
          <a:solidFill>
            <a:srgbClr val="FFFFFF"/>
          </a:solidFill>
          <a:ln w="12700">
            <a:solidFill>
              <a:srgbClr val="DCE1F0"/>
            </a:solidFill>
            <a:prstDash val="solid"/>
          </a:ln>
        </p:spPr>
      </p:sp>
      <p:sp>
        <p:nvSpPr>
          <p:cNvPr id="21" name="Shape 19"/>
          <p:cNvSpPr/>
          <p:nvPr/>
        </p:nvSpPr>
        <p:spPr>
          <a:xfrm>
            <a:off x="777240" y="5367528"/>
            <a:ext cx="512064" cy="512064"/>
          </a:xfrm>
          <a:prstGeom prst="ellipse">
            <a:avLst/>
          </a:prstGeom>
          <a:solidFill>
            <a:srgbClr val="1B1F3B"/>
          </a:solidFill>
          <a:ln/>
        </p:spPr>
      </p:sp>
      <p:sp>
        <p:nvSpPr>
          <p:cNvPr id="22" name="Text 20"/>
          <p:cNvSpPr/>
          <p:nvPr/>
        </p:nvSpPr>
        <p:spPr>
          <a:xfrm>
            <a:off x="777240" y="5367528"/>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3" name="Text 21"/>
          <p:cNvSpPr/>
          <p:nvPr/>
        </p:nvSpPr>
        <p:spPr>
          <a:xfrm>
            <a:off x="1508760" y="5276088"/>
            <a:ext cx="1828800" cy="694944"/>
          </a:xfrm>
          <a:prstGeom prst="rect">
            <a:avLst/>
          </a:prstGeom>
          <a:noFill/>
          <a:ln/>
        </p:spPr>
        <p:txBody>
          <a:bodyPr wrap="square" lIns="0" tIns="0" rIns="0" bIns="0" rtlCol="0" anchor="ctr"/>
          <a:lstStyle/>
          <a:p>
            <a:pPr indent="0" marL="0">
              <a:buNone/>
            </a:pPr>
            <a:r>
              <a:rPr lang="en-US" sz="1450" b="1" dirty="0">
                <a:solidFill>
                  <a:srgbClr val="B4842E"/>
                </a:solidFill>
                <a:latin typeface="Cambria" pitchFamily="34" charset="0"/>
                <a:ea typeface="Cambria" pitchFamily="34" charset="-122"/>
                <a:cs typeface="Cambria" pitchFamily="34" charset="-120"/>
              </a:rPr>
              <a:t>Search</a:t>
            </a:r>
            <a:endParaRPr lang="en-US" sz="1450" dirty="0"/>
          </a:p>
        </p:txBody>
      </p:sp>
      <p:sp>
        <p:nvSpPr>
          <p:cNvPr id="24" name="Text 22"/>
          <p:cNvSpPr/>
          <p:nvPr/>
        </p:nvSpPr>
        <p:spPr>
          <a:xfrm>
            <a:off x="3429000" y="5257800"/>
            <a:ext cx="8001000" cy="731520"/>
          </a:xfrm>
          <a:prstGeom prst="rect">
            <a:avLst/>
          </a:prstGeom>
          <a:noFill/>
          <a:ln/>
        </p:spPr>
        <p:txBody>
          <a:bodyPr wrap="square" lIns="0" tIns="0" rIns="0" bIns="0" rtlCol="0" anchor="ctr"/>
          <a:lstStyle/>
          <a:p>
            <a:pPr indent="0" marL="0">
              <a:lnSpc>
                <a:spcPct val="115000"/>
              </a:lnSpc>
              <a:buNone/>
            </a:pPr>
            <a:r>
              <a:rPr lang="en-US" sz="1200" dirty="0">
                <a:solidFill>
                  <a:srgbClr val="5B6584"/>
                </a:solidFill>
                <a:latin typeface="Calibri" pitchFamily="34" charset="0"/>
                <a:ea typeface="Calibri" pitchFamily="34" charset="-122"/>
                <a:cs typeface="Calibri" pitchFamily="34" charset="-120"/>
              </a:rPr>
              <a:t>El servidor usa el trapdoor para ubicar la entrada en T, desencadena el puntero inicial y recorre A devolviendo solo los IDs cifrados de esa lista.</a:t>
            </a:r>
            <a:endParaRPr lang="en-US" sz="1200" dirty="0"/>
          </a:p>
        </p:txBody>
      </p:sp>
      <p:sp>
        <p:nvSpPr>
          <p:cNvPr id="25" name="Text 23"/>
          <p:cNvSpPr/>
          <p:nvPr/>
        </p:nvSpPr>
        <p:spPr>
          <a:xfrm>
            <a:off x="548640" y="6080760"/>
            <a:ext cx="11064240" cy="457200"/>
          </a:xfrm>
          <a:prstGeom prst="rect">
            <a:avLst/>
          </a:prstGeom>
          <a:noFill/>
          <a:ln/>
        </p:spPr>
        <p:txBody>
          <a:bodyPr wrap="square" lIns="0" tIns="0" rIns="0" bIns="0" rtlCol="0" anchor="ctr"/>
          <a:lstStyle/>
          <a:p>
            <a:pPr indent="0" marL="0">
              <a:lnSpc>
                <a:spcPct val="115000"/>
              </a:lnSpc>
              <a:buNone/>
            </a:pPr>
            <a:r>
              <a:rPr lang="en-US" sz="1250" b="1" dirty="0">
                <a:solidFill>
                  <a:srgbClr val="1B1F3B"/>
                </a:solidFill>
                <a:latin typeface="Calibri" pitchFamily="34" charset="0"/>
                <a:ea typeface="Calibri" pitchFamily="34" charset="-122"/>
                <a:cs typeface="Calibri" pitchFamily="34" charset="-120"/>
              </a:rPr>
              <a:t>Modelo de seguridad: </a:t>
            </a:r>
            <a:pPr indent="0" marL="0">
              <a:lnSpc>
                <a:spcPct val="115000"/>
              </a:lnSpc>
              <a:buNone/>
            </a:pPr>
            <a:r>
              <a:rPr lang="en-US" sz="1250" dirty="0">
                <a:solidFill>
                  <a:srgbClr val="5B6584"/>
                </a:solidFill>
                <a:latin typeface="Calibri" pitchFamily="34" charset="0"/>
                <a:ea typeface="Calibri" pitchFamily="34" charset="-122"/>
                <a:cs typeface="Calibri" pitchFamily="34" charset="-120"/>
              </a:rPr>
              <a:t>CKA1 — seguro contra un adversario que elige sus consultas </a:t>
            </a:r>
            <a:pPr indent="0" marL="0">
              <a:lnSpc>
                <a:spcPct val="115000"/>
              </a:lnSpc>
              <a:buNone/>
            </a:pPr>
            <a:r>
              <a:rPr lang="en-US" sz="1250" i="1" dirty="0">
                <a:solidFill>
                  <a:srgbClr val="5B6584"/>
                </a:solidFill>
                <a:latin typeface="Calibri" pitchFamily="34" charset="0"/>
                <a:ea typeface="Calibri" pitchFamily="34" charset="-122"/>
                <a:cs typeface="Calibri" pitchFamily="34" charset="-120"/>
              </a:rPr>
              <a:t>sin</a:t>
            </a:r>
            <a:pPr indent="0" marL="0">
              <a:lnSpc>
                <a:spcPct val="115000"/>
              </a:lnSpc>
              <a:buNone/>
            </a:pPr>
            <a:r>
              <a:rPr lang="en-US" sz="1250" dirty="0">
                <a:solidFill>
                  <a:srgbClr val="5B6584"/>
                </a:solidFill>
                <a:latin typeface="Calibri" pitchFamily="34" charset="0"/>
                <a:ea typeface="Calibri" pitchFamily="34" charset="-122"/>
                <a:cs typeface="Calibri" pitchFamily="34" charset="-120"/>
              </a:rPr>
              <a:t> ver resultados previos (no adaptativo).</a:t>
            </a:r>
            <a:endParaRPr lang="en-US" sz="1250" dirty="0"/>
          </a:p>
        </p:txBody>
      </p:sp>
      <p:sp>
        <p:nvSpPr>
          <p:cNvPr id="26" name="Text 24"/>
          <p:cNvSpPr/>
          <p:nvPr/>
        </p:nvSpPr>
        <p:spPr>
          <a:xfrm>
            <a:off x="11368735" y="6400800"/>
            <a:ext cx="457200" cy="274320"/>
          </a:xfrm>
          <a:prstGeom prst="rect">
            <a:avLst/>
          </a:prstGeom>
          <a:noFill/>
          <a:ln/>
        </p:spPr>
        <p:txBody>
          <a:bodyPr wrap="square" lIns="0" tIns="0" rIns="0" bIns="0" rtlCol="0" anchor="ctr"/>
          <a:lstStyle/>
          <a:p>
            <a:pPr algn="r" indent="0" marL="0">
              <a:buNone/>
            </a:pPr>
            <a:r>
              <a:rPr lang="en-US" sz="1000" dirty="0">
                <a:solidFill>
                  <a:srgbClr val="5B6584"/>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1F3B"/>
        </a:solidFill>
      </p:bgPr>
    </p:bg>
    <p:spTree>
      <p:nvGrpSpPr>
        <p:cNvPr id="1" name=""/>
        <p:cNvGrpSpPr/>
        <p:nvPr/>
      </p:nvGrpSpPr>
      <p:grpSpPr>
        <a:xfrm>
          <a:off x="0" y="0"/>
          <a:ext cx="0" cy="0"/>
          <a:chOff x="0" y="0"/>
          <a:chExt cx="0" cy="0"/>
        </a:xfrm>
      </p:grpSpPr>
      <p:sp>
        <p:nvSpPr>
          <p:cNvPr id="2" name="Text 0"/>
          <p:cNvSpPr/>
          <p:nvPr/>
        </p:nvSpPr>
        <p:spPr>
          <a:xfrm>
            <a:off x="548640" y="164592"/>
            <a:ext cx="11094415" cy="292608"/>
          </a:xfrm>
          <a:prstGeom prst="rect">
            <a:avLst/>
          </a:prstGeom>
          <a:noFill/>
          <a:ln/>
        </p:spPr>
        <p:txBody>
          <a:bodyPr wrap="square" lIns="0" tIns="0" rIns="0" bIns="0" rtlCol="0" anchor="ctr"/>
          <a:lstStyle/>
          <a:p>
            <a:pPr indent="0" marL="0">
              <a:buNone/>
            </a:pPr>
            <a:r>
              <a:rPr lang="en-US" sz="1200" b="1" spc="200" kern="0" dirty="0">
                <a:solidFill>
                  <a:srgbClr val="D9A441"/>
                </a:solidFill>
                <a:latin typeface="Calibri" pitchFamily="34" charset="0"/>
                <a:ea typeface="Calibri" pitchFamily="34" charset="-122"/>
                <a:cs typeface="Calibri" pitchFamily="34" charset="-120"/>
              </a:rPr>
              <a:t>ENDURECIENDO EL MODELO</a:t>
            </a:r>
            <a:endParaRPr lang="en-US" sz="1200" dirty="0"/>
          </a:p>
        </p:txBody>
      </p:sp>
      <p:sp>
        <p:nvSpPr>
          <p:cNvPr id="3" name="Text 1"/>
          <p:cNvSpPr/>
          <p:nvPr/>
        </p:nvSpPr>
        <p:spPr>
          <a:xfrm>
            <a:off x="548640" y="411480"/>
            <a:ext cx="11094415" cy="822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SSE-2: seguridad adaptativa</a:t>
            </a:r>
            <a:endParaRPr lang="en-US" sz="3000" dirty="0"/>
          </a:p>
        </p:txBody>
      </p:sp>
      <p:sp>
        <p:nvSpPr>
          <p:cNvPr id="4" name="Text 2"/>
          <p:cNvSpPr/>
          <p:nvPr/>
        </p:nvSpPr>
        <p:spPr>
          <a:xfrm>
            <a:off x="548640" y="1371600"/>
            <a:ext cx="11064240" cy="777240"/>
          </a:xfrm>
          <a:prstGeom prst="rect">
            <a:avLst/>
          </a:prstGeom>
          <a:noFill/>
          <a:ln/>
        </p:spPr>
        <p:txBody>
          <a:bodyPr wrap="square" lIns="0" tIns="0" rIns="0" bIns="0" rtlCol="0" anchor="ctr"/>
          <a:lstStyle/>
          <a:p>
            <a:pPr indent="0" marL="0">
              <a:lnSpc>
                <a:spcPct val="125000"/>
              </a:lnSpc>
              <a:buNone/>
            </a:pPr>
            <a:r>
              <a:rPr lang="en-US" sz="1400" dirty="0">
                <a:solidFill>
                  <a:srgbClr val="C7D3F0"/>
                </a:solidFill>
                <a:latin typeface="Calibri" pitchFamily="34" charset="0"/>
                <a:ea typeface="Calibri" pitchFamily="34" charset="-122"/>
                <a:cs typeface="Calibri" pitchFamily="34" charset="-120"/>
              </a:rPr>
              <a:t>SSE-1 no protege si el atacante elige la siguiente consulta en función de las respuestas anteriores. SSE-2 cierra esa brecha con dos PRF independientes y una construcción del índice que evita que la fuga se acumule entre consultas.</a:t>
            </a:r>
            <a:endParaRPr lang="en-US" sz="1400" dirty="0"/>
          </a:p>
        </p:txBody>
      </p:sp>
      <p:sp>
        <p:nvSpPr>
          <p:cNvPr id="5" name="Shape 3"/>
          <p:cNvSpPr/>
          <p:nvPr/>
        </p:nvSpPr>
        <p:spPr>
          <a:xfrm>
            <a:off x="548640" y="2423160"/>
            <a:ext cx="5349240" cy="2926080"/>
          </a:xfrm>
          <a:prstGeom prst="roundRect">
            <a:avLst>
              <a:gd name="adj" fmla="val 3125"/>
            </a:avLst>
          </a:prstGeom>
          <a:solidFill>
            <a:srgbClr val="262C56"/>
          </a:solidFill>
          <a:ln/>
        </p:spPr>
      </p:sp>
      <p:sp>
        <p:nvSpPr>
          <p:cNvPr id="6" name="Shape 4"/>
          <p:cNvSpPr/>
          <p:nvPr/>
        </p:nvSpPr>
        <p:spPr>
          <a:xfrm>
            <a:off x="822960" y="2679192"/>
            <a:ext cx="1371600" cy="502920"/>
          </a:xfrm>
          <a:prstGeom prst="roundRect">
            <a:avLst>
              <a:gd name="adj" fmla="val 10909"/>
            </a:avLst>
          </a:prstGeom>
          <a:solidFill>
            <a:srgbClr val="D9A441"/>
          </a:solidFill>
          <a:ln/>
        </p:spPr>
      </p:sp>
      <p:sp>
        <p:nvSpPr>
          <p:cNvPr id="7" name="Text 5"/>
          <p:cNvSpPr/>
          <p:nvPr/>
        </p:nvSpPr>
        <p:spPr>
          <a:xfrm>
            <a:off x="822960" y="2679192"/>
            <a:ext cx="1371600" cy="502920"/>
          </a:xfrm>
          <a:prstGeom prst="rect">
            <a:avLst/>
          </a:prstGeom>
          <a:noFill/>
          <a:ln/>
        </p:spPr>
        <p:txBody>
          <a:bodyPr wrap="square" lIns="0" tIns="0" rIns="0" bIns="0" rtlCol="0" anchor="ctr"/>
          <a:lstStyle/>
          <a:p>
            <a:pPr algn="ctr" indent="0" marL="0">
              <a:buNone/>
            </a:pPr>
            <a:r>
              <a:rPr lang="en-US" sz="1500" b="1" dirty="0">
                <a:solidFill>
                  <a:srgbClr val="1B1F3B"/>
                </a:solidFill>
                <a:latin typeface="Cambria" pitchFamily="34" charset="0"/>
                <a:ea typeface="Cambria" pitchFamily="34" charset="-122"/>
                <a:cs typeface="Cambria" pitchFamily="34" charset="-120"/>
              </a:rPr>
              <a:t>SSE-1</a:t>
            </a:r>
            <a:endParaRPr lang="en-US" sz="1500" dirty="0"/>
          </a:p>
        </p:txBody>
      </p:sp>
      <p:sp>
        <p:nvSpPr>
          <p:cNvPr id="8" name="Text 6"/>
          <p:cNvSpPr/>
          <p:nvPr/>
        </p:nvSpPr>
        <p:spPr>
          <a:xfrm>
            <a:off x="2331720" y="2679192"/>
            <a:ext cx="3337560" cy="502920"/>
          </a:xfrm>
          <a:prstGeom prst="rect">
            <a:avLst/>
          </a:prstGeom>
          <a:noFill/>
          <a:ln/>
        </p:spPr>
        <p:txBody>
          <a:bodyPr wrap="square" lIns="0" tIns="0" rIns="0" bIns="0" rtlCol="0" anchor="ctr"/>
          <a:lstStyle/>
          <a:p>
            <a:pPr indent="0" marL="0">
              <a:buNone/>
            </a:pPr>
            <a:r>
              <a:rPr lang="en-US" sz="1250" b="1" dirty="0">
                <a:solidFill>
                  <a:srgbClr val="C7D3F0"/>
                </a:solidFill>
                <a:latin typeface="Calibri" pitchFamily="34" charset="0"/>
                <a:ea typeface="Calibri" pitchFamily="34" charset="-122"/>
                <a:cs typeface="Calibri" pitchFamily="34" charset="-120"/>
              </a:rPr>
              <a:t>CKA1 · No adaptativo</a:t>
            </a:r>
            <a:endParaRPr lang="en-US" sz="1250" dirty="0"/>
          </a:p>
        </p:txBody>
      </p:sp>
      <p:sp>
        <p:nvSpPr>
          <p:cNvPr id="9" name="Shape 7"/>
          <p:cNvSpPr/>
          <p:nvPr/>
        </p:nvSpPr>
        <p:spPr>
          <a:xfrm>
            <a:off x="841248" y="3456432"/>
            <a:ext cx="82296" cy="82296"/>
          </a:xfrm>
          <a:prstGeom prst="ellipse">
            <a:avLst/>
          </a:prstGeom>
          <a:solidFill>
            <a:srgbClr val="D9A441"/>
          </a:solidFill>
          <a:ln/>
        </p:spPr>
      </p:sp>
      <p:sp>
        <p:nvSpPr>
          <p:cNvPr id="10" name="Text 8"/>
          <p:cNvSpPr/>
          <p:nvPr/>
        </p:nvSpPr>
        <p:spPr>
          <a:xfrm>
            <a:off x="1051560" y="3383280"/>
            <a:ext cx="4572000" cy="621792"/>
          </a:xfrm>
          <a:prstGeom prst="rect">
            <a:avLst/>
          </a:prstGeom>
          <a:noFill/>
          <a:ln/>
        </p:spPr>
        <p:txBody>
          <a:bodyPr wrap="square" lIns="0" tIns="0" rIns="0" bIns="0" rtlCol="0" anchor="ctr"/>
          <a:lstStyle/>
          <a:p>
            <a:pPr indent="0" marL="0">
              <a:lnSpc>
                <a:spcPct val="120000"/>
              </a:lnSpc>
              <a:buNone/>
            </a:pPr>
            <a:r>
              <a:rPr lang="en-US" sz="1150" dirty="0">
                <a:solidFill>
                  <a:srgbClr val="C7D3F0"/>
                </a:solidFill>
                <a:latin typeface="Calibri" pitchFamily="34" charset="0"/>
                <a:ea typeface="Calibri" pitchFamily="34" charset="-122"/>
                <a:cs typeface="Calibri" pitchFamily="34" charset="-120"/>
              </a:rPr>
              <a:t>El adversario fija todas sus consultas por adelantado.</a:t>
            </a:r>
            <a:endParaRPr lang="en-US" sz="1150" dirty="0"/>
          </a:p>
        </p:txBody>
      </p:sp>
      <p:sp>
        <p:nvSpPr>
          <p:cNvPr id="11" name="Shape 9"/>
          <p:cNvSpPr/>
          <p:nvPr/>
        </p:nvSpPr>
        <p:spPr>
          <a:xfrm>
            <a:off x="841248" y="4114800"/>
            <a:ext cx="82296" cy="82296"/>
          </a:xfrm>
          <a:prstGeom prst="ellipse">
            <a:avLst/>
          </a:prstGeom>
          <a:solidFill>
            <a:srgbClr val="D9A441"/>
          </a:solidFill>
          <a:ln/>
        </p:spPr>
      </p:sp>
      <p:sp>
        <p:nvSpPr>
          <p:cNvPr id="12" name="Text 10"/>
          <p:cNvSpPr/>
          <p:nvPr/>
        </p:nvSpPr>
        <p:spPr>
          <a:xfrm>
            <a:off x="1051560" y="4041648"/>
            <a:ext cx="4572000" cy="621792"/>
          </a:xfrm>
          <a:prstGeom prst="rect">
            <a:avLst/>
          </a:prstGeom>
          <a:noFill/>
          <a:ln/>
        </p:spPr>
        <p:txBody>
          <a:bodyPr wrap="square" lIns="0" tIns="0" rIns="0" bIns="0" rtlCol="0" anchor="ctr"/>
          <a:lstStyle/>
          <a:p>
            <a:pPr indent="0" marL="0">
              <a:lnSpc>
                <a:spcPct val="120000"/>
              </a:lnSpc>
              <a:buNone/>
            </a:pPr>
            <a:r>
              <a:rPr lang="en-US" sz="1150" dirty="0">
                <a:solidFill>
                  <a:srgbClr val="C7D3F0"/>
                </a:solidFill>
                <a:latin typeface="Calibri" pitchFamily="34" charset="0"/>
                <a:ea typeface="Calibri" pitchFamily="34" charset="-122"/>
                <a:cs typeface="Calibri" pitchFamily="34" charset="-120"/>
              </a:rPr>
              <a:t>Una sola PRF deriva claves de nodo y de trapdoor.</a:t>
            </a:r>
            <a:endParaRPr lang="en-US" sz="1150" dirty="0"/>
          </a:p>
        </p:txBody>
      </p:sp>
      <p:sp>
        <p:nvSpPr>
          <p:cNvPr id="13" name="Shape 11"/>
          <p:cNvSpPr/>
          <p:nvPr/>
        </p:nvSpPr>
        <p:spPr>
          <a:xfrm>
            <a:off x="841248" y="4773168"/>
            <a:ext cx="82296" cy="82296"/>
          </a:xfrm>
          <a:prstGeom prst="ellipse">
            <a:avLst/>
          </a:prstGeom>
          <a:solidFill>
            <a:srgbClr val="D9A441"/>
          </a:solidFill>
          <a:ln/>
        </p:spPr>
      </p:sp>
      <p:sp>
        <p:nvSpPr>
          <p:cNvPr id="14" name="Text 12"/>
          <p:cNvSpPr/>
          <p:nvPr/>
        </p:nvSpPr>
        <p:spPr>
          <a:xfrm>
            <a:off x="1051560" y="4700016"/>
            <a:ext cx="4572000" cy="621792"/>
          </a:xfrm>
          <a:prstGeom prst="rect">
            <a:avLst/>
          </a:prstGeom>
          <a:noFill/>
          <a:ln/>
        </p:spPr>
        <p:txBody>
          <a:bodyPr wrap="square" lIns="0" tIns="0" rIns="0" bIns="0" rtlCol="0" anchor="ctr"/>
          <a:lstStyle/>
          <a:p>
            <a:pPr indent="0" marL="0">
              <a:lnSpc>
                <a:spcPct val="120000"/>
              </a:lnSpc>
              <a:buNone/>
            </a:pPr>
            <a:r>
              <a:rPr lang="en-US" sz="1150" dirty="0">
                <a:solidFill>
                  <a:srgbClr val="C7D3F0"/>
                </a:solidFill>
                <a:latin typeface="Calibri" pitchFamily="34" charset="0"/>
                <a:ea typeface="Calibri" pitchFamily="34" charset="-122"/>
                <a:cs typeface="Calibri" pitchFamily="34" charset="-120"/>
              </a:rPr>
              <a:t>Vulnerable si el servidor correlaciona consultas sucesivas con resultados previos.</a:t>
            </a:r>
            <a:endParaRPr lang="en-US" sz="1150" dirty="0"/>
          </a:p>
        </p:txBody>
      </p:sp>
      <p:sp>
        <p:nvSpPr>
          <p:cNvPr id="15" name="Shape 13"/>
          <p:cNvSpPr/>
          <p:nvPr/>
        </p:nvSpPr>
        <p:spPr>
          <a:xfrm>
            <a:off x="6355080" y="2423160"/>
            <a:ext cx="5349240" cy="2926080"/>
          </a:xfrm>
          <a:prstGeom prst="roundRect">
            <a:avLst>
              <a:gd name="adj" fmla="val 3125"/>
            </a:avLst>
          </a:prstGeom>
          <a:solidFill>
            <a:srgbClr val="262C56"/>
          </a:solidFill>
          <a:ln/>
        </p:spPr>
      </p:sp>
      <p:sp>
        <p:nvSpPr>
          <p:cNvPr id="16" name="Shape 14"/>
          <p:cNvSpPr/>
          <p:nvPr/>
        </p:nvSpPr>
        <p:spPr>
          <a:xfrm>
            <a:off x="6629400" y="2679192"/>
            <a:ext cx="1371600" cy="502920"/>
          </a:xfrm>
          <a:prstGeom prst="roundRect">
            <a:avLst>
              <a:gd name="adj" fmla="val 10909"/>
            </a:avLst>
          </a:prstGeom>
          <a:solidFill>
            <a:srgbClr val="D9A441"/>
          </a:solidFill>
          <a:ln/>
        </p:spPr>
      </p:sp>
      <p:sp>
        <p:nvSpPr>
          <p:cNvPr id="17" name="Text 15"/>
          <p:cNvSpPr/>
          <p:nvPr/>
        </p:nvSpPr>
        <p:spPr>
          <a:xfrm>
            <a:off x="6629400" y="2679192"/>
            <a:ext cx="1371600" cy="502920"/>
          </a:xfrm>
          <a:prstGeom prst="rect">
            <a:avLst/>
          </a:prstGeom>
          <a:noFill/>
          <a:ln/>
        </p:spPr>
        <p:txBody>
          <a:bodyPr wrap="square" lIns="0" tIns="0" rIns="0" bIns="0" rtlCol="0" anchor="ctr"/>
          <a:lstStyle/>
          <a:p>
            <a:pPr algn="ctr" indent="0" marL="0">
              <a:buNone/>
            </a:pPr>
            <a:r>
              <a:rPr lang="en-US" sz="1500" b="1" dirty="0">
                <a:solidFill>
                  <a:srgbClr val="1B1F3B"/>
                </a:solidFill>
                <a:latin typeface="Cambria" pitchFamily="34" charset="0"/>
                <a:ea typeface="Cambria" pitchFamily="34" charset="-122"/>
                <a:cs typeface="Cambria" pitchFamily="34" charset="-120"/>
              </a:rPr>
              <a:t>SSE-2</a:t>
            </a:r>
            <a:endParaRPr lang="en-US" sz="1500" dirty="0"/>
          </a:p>
        </p:txBody>
      </p:sp>
      <p:sp>
        <p:nvSpPr>
          <p:cNvPr id="18" name="Text 16"/>
          <p:cNvSpPr/>
          <p:nvPr/>
        </p:nvSpPr>
        <p:spPr>
          <a:xfrm>
            <a:off x="8138160" y="2679192"/>
            <a:ext cx="3337560" cy="502920"/>
          </a:xfrm>
          <a:prstGeom prst="rect">
            <a:avLst/>
          </a:prstGeom>
          <a:noFill/>
          <a:ln/>
        </p:spPr>
        <p:txBody>
          <a:bodyPr wrap="square" lIns="0" tIns="0" rIns="0" bIns="0" rtlCol="0" anchor="ctr"/>
          <a:lstStyle/>
          <a:p>
            <a:pPr indent="0" marL="0">
              <a:buNone/>
            </a:pPr>
            <a:r>
              <a:rPr lang="en-US" sz="1250" b="1" dirty="0">
                <a:solidFill>
                  <a:srgbClr val="C7D3F0"/>
                </a:solidFill>
                <a:latin typeface="Calibri" pitchFamily="34" charset="0"/>
                <a:ea typeface="Calibri" pitchFamily="34" charset="-122"/>
                <a:cs typeface="Calibri" pitchFamily="34" charset="-120"/>
              </a:rPr>
              <a:t>CKA2 · Adaptativo</a:t>
            </a:r>
            <a:endParaRPr lang="en-US" sz="1250" dirty="0"/>
          </a:p>
        </p:txBody>
      </p:sp>
      <p:sp>
        <p:nvSpPr>
          <p:cNvPr id="19" name="Shape 17"/>
          <p:cNvSpPr/>
          <p:nvPr/>
        </p:nvSpPr>
        <p:spPr>
          <a:xfrm>
            <a:off x="6647688" y="3456432"/>
            <a:ext cx="82296" cy="82296"/>
          </a:xfrm>
          <a:prstGeom prst="ellipse">
            <a:avLst/>
          </a:prstGeom>
          <a:solidFill>
            <a:srgbClr val="D9A441"/>
          </a:solidFill>
          <a:ln/>
        </p:spPr>
      </p:sp>
      <p:sp>
        <p:nvSpPr>
          <p:cNvPr id="20" name="Text 18"/>
          <p:cNvSpPr/>
          <p:nvPr/>
        </p:nvSpPr>
        <p:spPr>
          <a:xfrm>
            <a:off x="6858000" y="3383280"/>
            <a:ext cx="4572000" cy="621792"/>
          </a:xfrm>
          <a:prstGeom prst="rect">
            <a:avLst/>
          </a:prstGeom>
          <a:noFill/>
          <a:ln/>
        </p:spPr>
        <p:txBody>
          <a:bodyPr wrap="square" lIns="0" tIns="0" rIns="0" bIns="0" rtlCol="0" anchor="ctr"/>
          <a:lstStyle/>
          <a:p>
            <a:pPr indent="0" marL="0">
              <a:lnSpc>
                <a:spcPct val="120000"/>
              </a:lnSpc>
              <a:buNone/>
            </a:pPr>
            <a:r>
              <a:rPr lang="en-US" sz="1150" dirty="0">
                <a:solidFill>
                  <a:srgbClr val="C7D3F0"/>
                </a:solidFill>
                <a:latin typeface="Calibri" pitchFamily="34" charset="0"/>
                <a:ea typeface="Calibri" pitchFamily="34" charset="-122"/>
                <a:cs typeface="Calibri" pitchFamily="34" charset="-120"/>
              </a:rPr>
              <a:t>El adversario puede elegir cada consulta tras ver las respuestas anteriores.</a:t>
            </a:r>
            <a:endParaRPr lang="en-US" sz="1150" dirty="0"/>
          </a:p>
        </p:txBody>
      </p:sp>
      <p:sp>
        <p:nvSpPr>
          <p:cNvPr id="21" name="Shape 19"/>
          <p:cNvSpPr/>
          <p:nvPr/>
        </p:nvSpPr>
        <p:spPr>
          <a:xfrm>
            <a:off x="6647688" y="4114800"/>
            <a:ext cx="82296" cy="82296"/>
          </a:xfrm>
          <a:prstGeom prst="ellipse">
            <a:avLst/>
          </a:prstGeom>
          <a:solidFill>
            <a:srgbClr val="D9A441"/>
          </a:solidFill>
          <a:ln/>
        </p:spPr>
      </p:sp>
      <p:sp>
        <p:nvSpPr>
          <p:cNvPr id="22" name="Text 20"/>
          <p:cNvSpPr/>
          <p:nvPr/>
        </p:nvSpPr>
        <p:spPr>
          <a:xfrm>
            <a:off x="6858000" y="4041648"/>
            <a:ext cx="4572000" cy="621792"/>
          </a:xfrm>
          <a:prstGeom prst="rect">
            <a:avLst/>
          </a:prstGeom>
          <a:noFill/>
          <a:ln/>
        </p:spPr>
        <p:txBody>
          <a:bodyPr wrap="square" lIns="0" tIns="0" rIns="0" bIns="0" rtlCol="0" anchor="ctr"/>
          <a:lstStyle/>
          <a:p>
            <a:pPr indent="0" marL="0">
              <a:lnSpc>
                <a:spcPct val="120000"/>
              </a:lnSpc>
              <a:buNone/>
            </a:pPr>
            <a:r>
              <a:rPr lang="en-US" sz="1150" dirty="0">
                <a:solidFill>
                  <a:srgbClr val="C7D3F0"/>
                </a:solidFill>
                <a:latin typeface="Calibri" pitchFamily="34" charset="0"/>
                <a:ea typeface="Calibri" pitchFamily="34" charset="-122"/>
                <a:cs typeface="Calibri" pitchFamily="34" charset="-120"/>
              </a:rPr>
              <a:t>Dos PRF independientes separan la derivación de claves y de identificadores.</a:t>
            </a:r>
            <a:endParaRPr lang="en-US" sz="1150" dirty="0"/>
          </a:p>
        </p:txBody>
      </p:sp>
      <p:sp>
        <p:nvSpPr>
          <p:cNvPr id="23" name="Shape 21"/>
          <p:cNvSpPr/>
          <p:nvPr/>
        </p:nvSpPr>
        <p:spPr>
          <a:xfrm>
            <a:off x="6647688" y="4773168"/>
            <a:ext cx="82296" cy="82296"/>
          </a:xfrm>
          <a:prstGeom prst="ellipse">
            <a:avLst/>
          </a:prstGeom>
          <a:solidFill>
            <a:srgbClr val="D9A441"/>
          </a:solidFill>
          <a:ln/>
        </p:spPr>
      </p:sp>
      <p:sp>
        <p:nvSpPr>
          <p:cNvPr id="24" name="Text 22"/>
          <p:cNvSpPr/>
          <p:nvPr/>
        </p:nvSpPr>
        <p:spPr>
          <a:xfrm>
            <a:off x="6858000" y="4700016"/>
            <a:ext cx="4572000" cy="621792"/>
          </a:xfrm>
          <a:prstGeom prst="rect">
            <a:avLst/>
          </a:prstGeom>
          <a:noFill/>
          <a:ln/>
        </p:spPr>
        <p:txBody>
          <a:bodyPr wrap="square" lIns="0" tIns="0" rIns="0" bIns="0" rtlCol="0" anchor="ctr"/>
          <a:lstStyle/>
          <a:p>
            <a:pPr indent="0" marL="0">
              <a:lnSpc>
                <a:spcPct val="120000"/>
              </a:lnSpc>
              <a:buNone/>
            </a:pPr>
            <a:r>
              <a:rPr lang="en-US" sz="1150" dirty="0">
                <a:solidFill>
                  <a:srgbClr val="C7D3F0"/>
                </a:solidFill>
                <a:latin typeface="Calibri" pitchFamily="34" charset="0"/>
                <a:ea typeface="Calibri" pitchFamily="34" charset="-122"/>
                <a:cs typeface="Calibri" pitchFamily="34" charset="-120"/>
              </a:rPr>
              <a:t>La fuga queda acotada al patrón de acceso y de búsqueda — nada más, consulta tras consulta.</a:t>
            </a:r>
            <a:endParaRPr lang="en-US" sz="1150" dirty="0"/>
          </a:p>
        </p:txBody>
      </p:sp>
      <p:sp>
        <p:nvSpPr>
          <p:cNvPr id="25" name="Text 23"/>
          <p:cNvSpPr/>
          <p:nvPr/>
        </p:nvSpPr>
        <p:spPr>
          <a:xfrm>
            <a:off x="548640" y="5623560"/>
            <a:ext cx="11064240" cy="640080"/>
          </a:xfrm>
          <a:prstGeom prst="rect">
            <a:avLst/>
          </a:prstGeom>
          <a:noFill/>
          <a:ln/>
        </p:spPr>
        <p:txBody>
          <a:bodyPr wrap="square" lIns="0" tIns="0" rIns="0" bIns="0" rtlCol="0" anchor="ctr"/>
          <a:lstStyle/>
          <a:p>
            <a:pPr indent="0" marL="0">
              <a:lnSpc>
                <a:spcPct val="120000"/>
              </a:lnSpc>
              <a:buNone/>
            </a:pPr>
            <a:r>
              <a:rPr lang="en-US" sz="1250" b="1" dirty="0">
                <a:solidFill>
                  <a:srgbClr val="D9A441"/>
                </a:solidFill>
                <a:latin typeface="Calibri" pitchFamily="34" charset="0"/>
                <a:ea typeface="Calibri" pitchFamily="34" charset="-122"/>
                <a:cs typeface="Calibri" pitchFamily="34" charset="-120"/>
              </a:rPr>
              <a:t>Para el desarrollador: </a:t>
            </a:r>
            <a:pPr indent="0" marL="0">
              <a:lnSpc>
                <a:spcPct val="120000"/>
              </a:lnSpc>
              <a:buNone/>
            </a:pPr>
            <a:r>
              <a:rPr lang="en-US" sz="1250" dirty="0">
                <a:solidFill>
                  <a:srgbClr val="C7D3F0"/>
                </a:solidFill>
                <a:latin typeface="Calibri" pitchFamily="34" charset="0"/>
                <a:ea typeface="Calibri" pitchFamily="34" charset="-122"/>
                <a:cs typeface="Calibri" pitchFamily="34" charset="-120"/>
              </a:rPr>
              <a:t>adaptativo vs. no-adaptativo no es un matiz académico — define si el esquema resiste a un servidor que observa patrones de tráfico en producción, que es el caso real.</a:t>
            </a:r>
            <a:endParaRPr lang="en-US" sz="1250" dirty="0"/>
          </a:p>
        </p:txBody>
      </p:sp>
      <p:sp>
        <p:nvSpPr>
          <p:cNvPr id="26" name="Text 24"/>
          <p:cNvSpPr/>
          <p:nvPr/>
        </p:nvSpPr>
        <p:spPr>
          <a:xfrm>
            <a:off x="11368735" y="6400800"/>
            <a:ext cx="457200" cy="274320"/>
          </a:xfrm>
          <a:prstGeom prst="rect">
            <a:avLst/>
          </a:prstGeom>
          <a:noFill/>
          <a:ln/>
        </p:spPr>
        <p:txBody>
          <a:bodyPr wrap="square" lIns="0" tIns="0" rIns="0" bIns="0" rtlCol="0" anchor="ctr"/>
          <a:lstStyle/>
          <a:p>
            <a:pPr algn="r" indent="0" marL="0">
              <a:buNone/>
            </a:pPr>
            <a:r>
              <a:rPr lang="en-US" sz="1000" dirty="0">
                <a:solidFill>
                  <a:srgbClr val="8D98C4"/>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548640" y="164592"/>
            <a:ext cx="11094415" cy="292608"/>
          </a:xfrm>
          <a:prstGeom prst="rect">
            <a:avLst/>
          </a:prstGeom>
          <a:noFill/>
          <a:ln/>
        </p:spPr>
        <p:txBody>
          <a:bodyPr wrap="square" lIns="0" tIns="0" rIns="0" bIns="0" rtlCol="0" anchor="ctr"/>
          <a:lstStyle/>
          <a:p>
            <a:pPr indent="0" marL="0">
              <a:buNone/>
            </a:pPr>
            <a:r>
              <a:rPr lang="en-US" sz="1200" b="1" spc="200" kern="0" dirty="0">
                <a:solidFill>
                  <a:srgbClr val="D9A441"/>
                </a:solidFill>
                <a:latin typeface="Calibri" pitchFamily="34" charset="0"/>
                <a:ea typeface="Calibri" pitchFamily="34" charset="-122"/>
                <a:cs typeface="Calibri" pitchFamily="34" charset="-120"/>
              </a:rPr>
              <a:t>QUÉ SE ACEPTA REVELAR</a:t>
            </a:r>
            <a:endParaRPr lang="en-US" sz="1200" dirty="0"/>
          </a:p>
        </p:txBody>
      </p:sp>
      <p:sp>
        <p:nvSpPr>
          <p:cNvPr id="3" name="Text 1"/>
          <p:cNvSpPr/>
          <p:nvPr/>
        </p:nvSpPr>
        <p:spPr>
          <a:xfrm>
            <a:off x="548640" y="411480"/>
            <a:ext cx="11094415" cy="822960"/>
          </a:xfrm>
          <a:prstGeom prst="rect">
            <a:avLst/>
          </a:prstGeom>
          <a:noFill/>
          <a:ln/>
        </p:spPr>
        <p:txBody>
          <a:bodyPr wrap="square" lIns="0" tIns="0" rIns="0" bIns="0" rtlCol="0" anchor="ctr"/>
          <a:lstStyle/>
          <a:p>
            <a:pPr indent="0" marL="0">
              <a:buNone/>
            </a:pPr>
            <a:r>
              <a:rPr lang="en-US" sz="3000" b="1" dirty="0">
                <a:solidFill>
                  <a:srgbClr val="1B1F3B"/>
                </a:solidFill>
                <a:latin typeface="Cambria" pitchFamily="34" charset="0"/>
                <a:ea typeface="Cambria" pitchFamily="34" charset="-122"/>
                <a:cs typeface="Cambria" pitchFamily="34" charset="-120"/>
              </a:rPr>
              <a:t>El perfil de fuga (leakage)</a:t>
            </a:r>
            <a:endParaRPr lang="en-US" sz="3000" dirty="0"/>
          </a:p>
        </p:txBody>
      </p:sp>
      <p:sp>
        <p:nvSpPr>
          <p:cNvPr id="4" name="Text 2"/>
          <p:cNvSpPr/>
          <p:nvPr/>
        </p:nvSpPr>
        <p:spPr>
          <a:xfrm>
            <a:off x="548640" y="1371600"/>
            <a:ext cx="11064240" cy="640080"/>
          </a:xfrm>
          <a:prstGeom prst="rect">
            <a:avLst/>
          </a:prstGeom>
          <a:noFill/>
          <a:ln/>
        </p:spPr>
        <p:txBody>
          <a:bodyPr wrap="square" lIns="0" tIns="0" rIns="0" bIns="0" rtlCol="0" anchor="ctr"/>
          <a:lstStyle/>
          <a:p>
            <a:pPr indent="0" marL="0">
              <a:lnSpc>
                <a:spcPct val="125000"/>
              </a:lnSpc>
              <a:buNone/>
            </a:pPr>
            <a:r>
              <a:rPr lang="en-US" sz="1450" dirty="0">
                <a:solidFill>
                  <a:srgbClr val="5B6584"/>
                </a:solidFill>
                <a:latin typeface="Calibri" pitchFamily="34" charset="0"/>
                <a:ea typeface="Calibri" pitchFamily="34" charset="-122"/>
                <a:cs typeface="Calibri" pitchFamily="34" charset="-120"/>
              </a:rPr>
              <a:t>Ningún esquema de SSE es de fuga cero — esa es la concesión que compra la eficiencia. La seguridad formal consiste en probar que no se filtra nada más allá de un perfil de fuga explícito y acotado.</a:t>
            </a:r>
            <a:endParaRPr lang="en-US" sz="1450" dirty="0"/>
          </a:p>
        </p:txBody>
      </p:sp>
      <p:sp>
        <p:nvSpPr>
          <p:cNvPr id="5" name="Shape 3"/>
          <p:cNvSpPr/>
          <p:nvPr/>
        </p:nvSpPr>
        <p:spPr>
          <a:xfrm>
            <a:off x="548640" y="2286000"/>
            <a:ext cx="3520440" cy="2286000"/>
          </a:xfrm>
          <a:prstGeom prst="roundRect">
            <a:avLst>
              <a:gd name="adj" fmla="val 3200"/>
            </a:avLst>
          </a:prstGeom>
          <a:solidFill>
            <a:srgbClr val="FFFFFF"/>
          </a:solidFill>
          <a:ln w="12700">
            <a:solidFill>
              <a:srgbClr val="DCE1F0"/>
            </a:solidFill>
            <a:prstDash val="solid"/>
          </a:ln>
        </p:spPr>
      </p:sp>
      <p:sp>
        <p:nvSpPr>
          <p:cNvPr id="6" name="Shape 4"/>
          <p:cNvSpPr/>
          <p:nvPr/>
        </p:nvSpPr>
        <p:spPr>
          <a:xfrm>
            <a:off x="777240" y="2514600"/>
            <a:ext cx="457200" cy="457200"/>
          </a:xfrm>
          <a:prstGeom prst="roundRect">
            <a:avLst>
              <a:gd name="adj" fmla="val 12000"/>
            </a:avLst>
          </a:prstGeom>
          <a:solidFill>
            <a:srgbClr val="EFE1C4"/>
          </a:solidFill>
          <a:ln/>
        </p:spPr>
      </p:sp>
      <p:sp>
        <p:nvSpPr>
          <p:cNvPr id="7" name="Text 5"/>
          <p:cNvSpPr/>
          <p:nvPr/>
        </p:nvSpPr>
        <p:spPr>
          <a:xfrm>
            <a:off x="777240" y="2514600"/>
            <a:ext cx="457200" cy="457200"/>
          </a:xfrm>
          <a:prstGeom prst="rect">
            <a:avLst/>
          </a:prstGeom>
          <a:noFill/>
          <a:ln/>
        </p:spPr>
        <p:txBody>
          <a:bodyPr wrap="square" lIns="0" tIns="0" rIns="0" bIns="0" rtlCol="0" anchor="ctr"/>
          <a:lstStyle/>
          <a:p>
            <a:pPr algn="ctr" indent="0" marL="0">
              <a:buNone/>
            </a:pPr>
            <a:r>
              <a:rPr lang="en-US" sz="1600" b="1" dirty="0">
                <a:solidFill>
                  <a:srgbClr val="B4842E"/>
                </a:solidFill>
                <a:latin typeface="Cambria" pitchFamily="34" charset="0"/>
                <a:ea typeface="Cambria" pitchFamily="34" charset="-122"/>
                <a:cs typeface="Cambria" pitchFamily="34" charset="-120"/>
              </a:rPr>
              <a:t>1</a:t>
            </a:r>
            <a:endParaRPr lang="en-US" sz="1600" dirty="0"/>
          </a:p>
        </p:txBody>
      </p:sp>
      <p:sp>
        <p:nvSpPr>
          <p:cNvPr id="8" name="Text 6"/>
          <p:cNvSpPr/>
          <p:nvPr/>
        </p:nvSpPr>
        <p:spPr>
          <a:xfrm>
            <a:off x="777240" y="3108960"/>
            <a:ext cx="3063240" cy="502920"/>
          </a:xfrm>
          <a:prstGeom prst="rect">
            <a:avLst/>
          </a:prstGeom>
          <a:noFill/>
          <a:ln/>
        </p:spPr>
        <p:txBody>
          <a:bodyPr wrap="square" lIns="0" tIns="0" rIns="0" bIns="0" rtlCol="0" anchor="ctr"/>
          <a:lstStyle/>
          <a:p>
            <a:pPr indent="0" marL="0">
              <a:lnSpc>
                <a:spcPct val="105000"/>
              </a:lnSpc>
              <a:buNone/>
            </a:pPr>
            <a:r>
              <a:rPr lang="en-US" sz="1400" b="1" dirty="0">
                <a:solidFill>
                  <a:srgbClr val="1B1F3B"/>
                </a:solidFill>
                <a:latin typeface="Cambria" pitchFamily="34" charset="0"/>
                <a:ea typeface="Cambria" pitchFamily="34" charset="-122"/>
                <a:cs typeface="Cambria" pitchFamily="34" charset="-120"/>
              </a:rPr>
              <a:t>Patrón de acceso</a:t>
            </a:r>
            <a:endParaRPr lang="en-US" sz="1400" dirty="0"/>
          </a:p>
        </p:txBody>
      </p:sp>
      <p:sp>
        <p:nvSpPr>
          <p:cNvPr id="9" name="Text 7"/>
          <p:cNvSpPr/>
          <p:nvPr/>
        </p:nvSpPr>
        <p:spPr>
          <a:xfrm>
            <a:off x="777240" y="3611880"/>
            <a:ext cx="3063240" cy="868680"/>
          </a:xfrm>
          <a:prstGeom prst="rect">
            <a:avLst/>
          </a:prstGeom>
          <a:noFill/>
          <a:ln/>
        </p:spPr>
        <p:txBody>
          <a:bodyPr wrap="square" lIns="0" tIns="0" rIns="0" bIns="0" rtlCol="0" anchor="ctr"/>
          <a:lstStyle/>
          <a:p>
            <a:pPr indent="0" marL="0">
              <a:lnSpc>
                <a:spcPct val="120000"/>
              </a:lnSpc>
              <a:buNone/>
            </a:pPr>
            <a:r>
              <a:rPr lang="en-US" sz="1150" dirty="0">
                <a:solidFill>
                  <a:srgbClr val="5B6584"/>
                </a:solidFill>
                <a:latin typeface="Calibri" pitchFamily="34" charset="0"/>
                <a:ea typeface="Calibri" pitchFamily="34" charset="-122"/>
                <a:cs typeface="Calibri" pitchFamily="34" charset="-120"/>
              </a:rPr>
              <a:t>Qué documentos (identificadores cifrados) coinciden con cada consulta, aunque no su contenido.</a:t>
            </a:r>
            <a:endParaRPr lang="en-US" sz="1150" dirty="0"/>
          </a:p>
        </p:txBody>
      </p:sp>
      <p:sp>
        <p:nvSpPr>
          <p:cNvPr id="10" name="Shape 8"/>
          <p:cNvSpPr/>
          <p:nvPr/>
        </p:nvSpPr>
        <p:spPr>
          <a:xfrm>
            <a:off x="4343400" y="2286000"/>
            <a:ext cx="3520440" cy="2286000"/>
          </a:xfrm>
          <a:prstGeom prst="roundRect">
            <a:avLst>
              <a:gd name="adj" fmla="val 3200"/>
            </a:avLst>
          </a:prstGeom>
          <a:solidFill>
            <a:srgbClr val="FFFFFF"/>
          </a:solidFill>
          <a:ln w="12700">
            <a:solidFill>
              <a:srgbClr val="DCE1F0"/>
            </a:solidFill>
            <a:prstDash val="solid"/>
          </a:ln>
        </p:spPr>
      </p:sp>
      <p:sp>
        <p:nvSpPr>
          <p:cNvPr id="11" name="Shape 9"/>
          <p:cNvSpPr/>
          <p:nvPr/>
        </p:nvSpPr>
        <p:spPr>
          <a:xfrm>
            <a:off x="4572000" y="2514600"/>
            <a:ext cx="457200" cy="457200"/>
          </a:xfrm>
          <a:prstGeom prst="roundRect">
            <a:avLst>
              <a:gd name="adj" fmla="val 12000"/>
            </a:avLst>
          </a:prstGeom>
          <a:solidFill>
            <a:srgbClr val="EFE1C4"/>
          </a:solidFill>
          <a:ln/>
        </p:spPr>
      </p:sp>
      <p:sp>
        <p:nvSpPr>
          <p:cNvPr id="12" name="Text 10"/>
          <p:cNvSpPr/>
          <p:nvPr/>
        </p:nvSpPr>
        <p:spPr>
          <a:xfrm>
            <a:off x="4572000" y="2514600"/>
            <a:ext cx="457200" cy="457200"/>
          </a:xfrm>
          <a:prstGeom prst="rect">
            <a:avLst/>
          </a:prstGeom>
          <a:noFill/>
          <a:ln/>
        </p:spPr>
        <p:txBody>
          <a:bodyPr wrap="square" lIns="0" tIns="0" rIns="0" bIns="0" rtlCol="0" anchor="ctr"/>
          <a:lstStyle/>
          <a:p>
            <a:pPr algn="ctr" indent="0" marL="0">
              <a:buNone/>
            </a:pPr>
            <a:r>
              <a:rPr lang="en-US" sz="1600" b="1" dirty="0">
                <a:solidFill>
                  <a:srgbClr val="B4842E"/>
                </a:solidFill>
                <a:latin typeface="Cambria" pitchFamily="34" charset="0"/>
                <a:ea typeface="Cambria" pitchFamily="34" charset="-122"/>
                <a:cs typeface="Cambria" pitchFamily="34" charset="-120"/>
              </a:rPr>
              <a:t>2</a:t>
            </a:r>
            <a:endParaRPr lang="en-US" sz="1600" dirty="0"/>
          </a:p>
        </p:txBody>
      </p:sp>
      <p:sp>
        <p:nvSpPr>
          <p:cNvPr id="13" name="Text 11"/>
          <p:cNvSpPr/>
          <p:nvPr/>
        </p:nvSpPr>
        <p:spPr>
          <a:xfrm>
            <a:off x="4572000" y="3108960"/>
            <a:ext cx="3063240" cy="502920"/>
          </a:xfrm>
          <a:prstGeom prst="rect">
            <a:avLst/>
          </a:prstGeom>
          <a:noFill/>
          <a:ln/>
        </p:spPr>
        <p:txBody>
          <a:bodyPr wrap="square" lIns="0" tIns="0" rIns="0" bIns="0" rtlCol="0" anchor="ctr"/>
          <a:lstStyle/>
          <a:p>
            <a:pPr indent="0" marL="0">
              <a:lnSpc>
                <a:spcPct val="105000"/>
              </a:lnSpc>
              <a:buNone/>
            </a:pPr>
            <a:r>
              <a:rPr lang="en-US" sz="1400" b="1" dirty="0">
                <a:solidFill>
                  <a:srgbClr val="1B1F3B"/>
                </a:solidFill>
                <a:latin typeface="Cambria" pitchFamily="34" charset="0"/>
                <a:ea typeface="Cambria" pitchFamily="34" charset="-122"/>
                <a:cs typeface="Cambria" pitchFamily="34" charset="-120"/>
              </a:rPr>
              <a:t>Patrón de búsqueda</a:t>
            </a:r>
            <a:endParaRPr lang="en-US" sz="1400" dirty="0"/>
          </a:p>
        </p:txBody>
      </p:sp>
      <p:sp>
        <p:nvSpPr>
          <p:cNvPr id="14" name="Text 12"/>
          <p:cNvSpPr/>
          <p:nvPr/>
        </p:nvSpPr>
        <p:spPr>
          <a:xfrm>
            <a:off x="4572000" y="3611880"/>
            <a:ext cx="3063240" cy="868680"/>
          </a:xfrm>
          <a:prstGeom prst="rect">
            <a:avLst/>
          </a:prstGeom>
          <a:noFill/>
          <a:ln/>
        </p:spPr>
        <p:txBody>
          <a:bodyPr wrap="square" lIns="0" tIns="0" rIns="0" bIns="0" rtlCol="0" anchor="ctr"/>
          <a:lstStyle/>
          <a:p>
            <a:pPr indent="0" marL="0">
              <a:lnSpc>
                <a:spcPct val="120000"/>
              </a:lnSpc>
              <a:buNone/>
            </a:pPr>
            <a:r>
              <a:rPr lang="en-US" sz="1150" dirty="0">
                <a:solidFill>
                  <a:srgbClr val="5B6584"/>
                </a:solidFill>
                <a:latin typeface="Calibri" pitchFamily="34" charset="0"/>
                <a:ea typeface="Calibri" pitchFamily="34" charset="-122"/>
                <a:cs typeface="Calibri" pitchFamily="34" charset="-120"/>
              </a:rPr>
              <a:t>Si dos trapdoors son iguales, el servidor sabe que corresponden a la misma palabra clave, aunque no cuál.</a:t>
            </a:r>
            <a:endParaRPr lang="en-US" sz="1150" dirty="0"/>
          </a:p>
        </p:txBody>
      </p:sp>
      <p:sp>
        <p:nvSpPr>
          <p:cNvPr id="15" name="Shape 13"/>
          <p:cNvSpPr/>
          <p:nvPr/>
        </p:nvSpPr>
        <p:spPr>
          <a:xfrm>
            <a:off x="8138160" y="2286000"/>
            <a:ext cx="3520440" cy="2286000"/>
          </a:xfrm>
          <a:prstGeom prst="roundRect">
            <a:avLst>
              <a:gd name="adj" fmla="val 3200"/>
            </a:avLst>
          </a:prstGeom>
          <a:solidFill>
            <a:srgbClr val="FFFFFF"/>
          </a:solidFill>
          <a:ln w="12700">
            <a:solidFill>
              <a:srgbClr val="DCE1F0"/>
            </a:solidFill>
            <a:prstDash val="solid"/>
          </a:ln>
        </p:spPr>
      </p:sp>
      <p:sp>
        <p:nvSpPr>
          <p:cNvPr id="16" name="Shape 14"/>
          <p:cNvSpPr/>
          <p:nvPr/>
        </p:nvSpPr>
        <p:spPr>
          <a:xfrm>
            <a:off x="8366760" y="2514600"/>
            <a:ext cx="457200" cy="457200"/>
          </a:xfrm>
          <a:prstGeom prst="roundRect">
            <a:avLst>
              <a:gd name="adj" fmla="val 12000"/>
            </a:avLst>
          </a:prstGeom>
          <a:solidFill>
            <a:srgbClr val="EFE1C4"/>
          </a:solidFill>
          <a:ln/>
        </p:spPr>
      </p:sp>
      <p:sp>
        <p:nvSpPr>
          <p:cNvPr id="17" name="Text 15"/>
          <p:cNvSpPr/>
          <p:nvPr/>
        </p:nvSpPr>
        <p:spPr>
          <a:xfrm>
            <a:off x="8366760" y="2514600"/>
            <a:ext cx="457200" cy="457200"/>
          </a:xfrm>
          <a:prstGeom prst="rect">
            <a:avLst/>
          </a:prstGeom>
          <a:noFill/>
          <a:ln/>
        </p:spPr>
        <p:txBody>
          <a:bodyPr wrap="square" lIns="0" tIns="0" rIns="0" bIns="0" rtlCol="0" anchor="ctr"/>
          <a:lstStyle/>
          <a:p>
            <a:pPr algn="ctr" indent="0" marL="0">
              <a:buNone/>
            </a:pPr>
            <a:r>
              <a:rPr lang="en-US" sz="1600" b="1" dirty="0">
                <a:solidFill>
                  <a:srgbClr val="B4842E"/>
                </a:solidFill>
                <a:latin typeface="Cambria" pitchFamily="34" charset="0"/>
                <a:ea typeface="Cambria" pitchFamily="34" charset="-122"/>
                <a:cs typeface="Cambria" pitchFamily="34" charset="-120"/>
              </a:rPr>
              <a:t>3</a:t>
            </a:r>
            <a:endParaRPr lang="en-US" sz="1600" dirty="0"/>
          </a:p>
        </p:txBody>
      </p:sp>
      <p:sp>
        <p:nvSpPr>
          <p:cNvPr id="18" name="Text 16"/>
          <p:cNvSpPr/>
          <p:nvPr/>
        </p:nvSpPr>
        <p:spPr>
          <a:xfrm>
            <a:off x="8366760" y="3108960"/>
            <a:ext cx="3063240" cy="502920"/>
          </a:xfrm>
          <a:prstGeom prst="rect">
            <a:avLst/>
          </a:prstGeom>
          <a:noFill/>
          <a:ln/>
        </p:spPr>
        <p:txBody>
          <a:bodyPr wrap="square" lIns="0" tIns="0" rIns="0" bIns="0" rtlCol="0" anchor="ctr"/>
          <a:lstStyle/>
          <a:p>
            <a:pPr indent="0" marL="0">
              <a:lnSpc>
                <a:spcPct val="105000"/>
              </a:lnSpc>
              <a:buNone/>
            </a:pPr>
            <a:r>
              <a:rPr lang="en-US" sz="1400" b="1" dirty="0">
                <a:solidFill>
                  <a:srgbClr val="1B1F3B"/>
                </a:solidFill>
                <a:latin typeface="Cambria" pitchFamily="34" charset="0"/>
                <a:ea typeface="Cambria" pitchFamily="34" charset="-122"/>
                <a:cs typeface="Cambria" pitchFamily="34" charset="-120"/>
              </a:rPr>
              <a:t>Tamaño de la colección</a:t>
            </a:r>
            <a:endParaRPr lang="en-US" sz="1400" dirty="0"/>
          </a:p>
        </p:txBody>
      </p:sp>
      <p:sp>
        <p:nvSpPr>
          <p:cNvPr id="19" name="Text 17"/>
          <p:cNvSpPr/>
          <p:nvPr/>
        </p:nvSpPr>
        <p:spPr>
          <a:xfrm>
            <a:off x="8366760" y="3611880"/>
            <a:ext cx="3063240" cy="868680"/>
          </a:xfrm>
          <a:prstGeom prst="rect">
            <a:avLst/>
          </a:prstGeom>
          <a:noFill/>
          <a:ln/>
        </p:spPr>
        <p:txBody>
          <a:bodyPr wrap="square" lIns="0" tIns="0" rIns="0" bIns="0" rtlCol="0" anchor="ctr"/>
          <a:lstStyle/>
          <a:p>
            <a:pPr indent="0" marL="0">
              <a:lnSpc>
                <a:spcPct val="120000"/>
              </a:lnSpc>
              <a:buNone/>
            </a:pPr>
            <a:r>
              <a:rPr lang="en-US" sz="1150" dirty="0">
                <a:solidFill>
                  <a:srgbClr val="5B6584"/>
                </a:solidFill>
                <a:latin typeface="Calibri" pitchFamily="34" charset="0"/>
                <a:ea typeface="Calibri" pitchFamily="34" charset="-122"/>
                <a:cs typeface="Calibri" pitchFamily="34" charset="-120"/>
              </a:rPr>
              <a:t>Cantidad de documentos y, según el esquema, longitud aproximada del índice.</a:t>
            </a:r>
            <a:endParaRPr lang="en-US" sz="1150" dirty="0"/>
          </a:p>
        </p:txBody>
      </p:sp>
      <p:sp>
        <p:nvSpPr>
          <p:cNvPr id="20" name="Shape 18"/>
          <p:cNvSpPr/>
          <p:nvPr/>
        </p:nvSpPr>
        <p:spPr>
          <a:xfrm>
            <a:off x="548640" y="4892040"/>
            <a:ext cx="11064240" cy="1051560"/>
          </a:xfrm>
          <a:prstGeom prst="roundRect">
            <a:avLst>
              <a:gd name="adj" fmla="val 5217"/>
            </a:avLst>
          </a:prstGeom>
          <a:solidFill>
            <a:srgbClr val="1B1F3B"/>
          </a:solidFill>
          <a:ln/>
        </p:spPr>
      </p:sp>
      <p:sp>
        <p:nvSpPr>
          <p:cNvPr id="21" name="Text 19"/>
          <p:cNvSpPr/>
          <p:nvPr/>
        </p:nvSpPr>
        <p:spPr>
          <a:xfrm>
            <a:off x="822960" y="4892040"/>
            <a:ext cx="10515600" cy="1051560"/>
          </a:xfrm>
          <a:prstGeom prst="rect">
            <a:avLst/>
          </a:prstGeom>
          <a:noFill/>
          <a:ln/>
        </p:spPr>
        <p:txBody>
          <a:bodyPr wrap="square" lIns="0" tIns="0" rIns="0" bIns="0" rtlCol="0" anchor="ctr"/>
          <a:lstStyle/>
          <a:p>
            <a:pPr indent="0" marL="0">
              <a:lnSpc>
                <a:spcPct val="120000"/>
              </a:lnSpc>
              <a:buNone/>
            </a:pPr>
            <a:r>
              <a:rPr lang="en-US" sz="1300" b="1" dirty="0">
                <a:solidFill>
                  <a:srgbClr val="D9A441"/>
                </a:solidFill>
                <a:latin typeface="Calibri" pitchFamily="34" charset="0"/>
                <a:ea typeface="Calibri" pitchFamily="34" charset="-122"/>
                <a:cs typeface="Calibri" pitchFamily="34" charset="-120"/>
              </a:rPr>
              <a:t>Lo que las primitivas simétricas garantizan:  </a:t>
            </a:r>
            <a:pPr indent="0" marL="0">
              <a:lnSpc>
                <a:spcPct val="120000"/>
              </a:lnSpc>
              <a:buNone/>
            </a:pPr>
            <a:r>
              <a:rPr lang="en-US" sz="1300" dirty="0">
                <a:solidFill>
                  <a:srgbClr val="C7D3F0"/>
                </a:solidFill>
                <a:latin typeface="Calibri" pitchFamily="34" charset="0"/>
                <a:ea typeface="Calibri" pitchFamily="34" charset="-122"/>
                <a:cs typeface="Calibri" pitchFamily="34" charset="-120"/>
              </a:rPr>
              <a:t>más allá de este perfil, cifrado y trapdoors son indistinguibles de valores aleatorios para cualquier adversario computacionalmente acotado — sin ese límite formal, "SSE seguro" es solo marketing.</a:t>
            </a:r>
            <a:endParaRPr lang="en-US" sz="1300" dirty="0"/>
          </a:p>
        </p:txBody>
      </p:sp>
      <p:sp>
        <p:nvSpPr>
          <p:cNvPr id="22" name="Text 20"/>
          <p:cNvSpPr/>
          <p:nvPr/>
        </p:nvSpPr>
        <p:spPr>
          <a:xfrm>
            <a:off x="11368735" y="6400800"/>
            <a:ext cx="457200" cy="274320"/>
          </a:xfrm>
          <a:prstGeom prst="rect">
            <a:avLst/>
          </a:prstGeom>
          <a:noFill/>
          <a:ln/>
        </p:spPr>
        <p:txBody>
          <a:bodyPr wrap="square" lIns="0" tIns="0" rIns="0" bIns="0" rtlCol="0" anchor="ctr"/>
          <a:lstStyle/>
          <a:p>
            <a:pPr algn="r" indent="0" marL="0">
              <a:buNone/>
            </a:pPr>
            <a:r>
              <a:rPr lang="en-US" sz="1000" dirty="0">
                <a:solidFill>
                  <a:srgbClr val="5B6584"/>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548640" y="164592"/>
            <a:ext cx="11094415" cy="292608"/>
          </a:xfrm>
          <a:prstGeom prst="rect">
            <a:avLst/>
          </a:prstGeom>
          <a:noFill/>
          <a:ln/>
        </p:spPr>
        <p:txBody>
          <a:bodyPr wrap="square" lIns="0" tIns="0" rIns="0" bIns="0" rtlCol="0" anchor="ctr"/>
          <a:lstStyle/>
          <a:p>
            <a:pPr indent="0" marL="0">
              <a:buNone/>
            </a:pPr>
            <a:r>
              <a:rPr lang="en-US" sz="1200" b="1" spc="200" kern="0" dirty="0">
                <a:solidFill>
                  <a:srgbClr val="D9A441"/>
                </a:solidFill>
                <a:latin typeface="Calibri" pitchFamily="34" charset="0"/>
                <a:ea typeface="Calibri" pitchFamily="34" charset="-122"/>
                <a:cs typeface="Calibri" pitchFamily="34" charset="-120"/>
              </a:rPr>
              <a:t>POR QUÉ IMPORTA QUE SEA SIMÉTRICO</a:t>
            </a:r>
            <a:endParaRPr lang="en-US" sz="1200" dirty="0"/>
          </a:p>
        </p:txBody>
      </p:sp>
      <p:sp>
        <p:nvSpPr>
          <p:cNvPr id="3" name="Text 1"/>
          <p:cNvSpPr/>
          <p:nvPr/>
        </p:nvSpPr>
        <p:spPr>
          <a:xfrm>
            <a:off x="548640" y="411480"/>
            <a:ext cx="11094415" cy="822960"/>
          </a:xfrm>
          <a:prstGeom prst="rect">
            <a:avLst/>
          </a:prstGeom>
          <a:noFill/>
          <a:ln/>
        </p:spPr>
        <p:txBody>
          <a:bodyPr wrap="square" lIns="0" tIns="0" rIns="0" bIns="0" rtlCol="0" anchor="ctr"/>
          <a:lstStyle/>
          <a:p>
            <a:pPr indent="0" marL="0">
              <a:buNone/>
            </a:pPr>
            <a:r>
              <a:rPr lang="en-US" sz="3000" b="1" dirty="0">
                <a:solidFill>
                  <a:srgbClr val="1B1F3B"/>
                </a:solidFill>
                <a:latin typeface="Cambria" pitchFamily="34" charset="0"/>
                <a:ea typeface="Cambria" pitchFamily="34" charset="-122"/>
                <a:cs typeface="Cambria" pitchFamily="34" charset="-120"/>
              </a:rPr>
              <a:t>Simétrico vs. clave pública: la brecha de eficiencia</a:t>
            </a:r>
            <a:endParaRPr lang="en-US" sz="3000" dirty="0"/>
          </a:p>
        </p:txBody>
      </p:sp>
      <p:sp>
        <p:nvSpPr>
          <p:cNvPr id="4" name="Text 2"/>
          <p:cNvSpPr/>
          <p:nvPr/>
        </p:nvSpPr>
        <p:spPr>
          <a:xfrm>
            <a:off x="548640" y="1371600"/>
            <a:ext cx="11064240" cy="640080"/>
          </a:xfrm>
          <a:prstGeom prst="rect">
            <a:avLst/>
          </a:prstGeom>
          <a:noFill/>
          <a:ln/>
        </p:spPr>
        <p:txBody>
          <a:bodyPr wrap="square" lIns="0" tIns="0" rIns="0" bIns="0" rtlCol="0" anchor="ctr"/>
          <a:lstStyle/>
          <a:p>
            <a:pPr indent="0" marL="0">
              <a:lnSpc>
                <a:spcPct val="125000"/>
              </a:lnSpc>
              <a:buNone/>
            </a:pPr>
            <a:r>
              <a:rPr lang="en-US" sz="1450" dirty="0">
                <a:solidFill>
                  <a:srgbClr val="5B6584"/>
                </a:solidFill>
                <a:latin typeface="Calibri" pitchFamily="34" charset="0"/>
                <a:ea typeface="Calibri" pitchFamily="34" charset="-122"/>
                <a:cs typeface="Calibri" pitchFamily="34" charset="-120"/>
              </a:rPr>
              <a:t>Existe una alternativa de clave pública — PEKS (Public-Key Encryption with Keyword Search) — pero su costo computacional la deja fuera de escala para colecciones grandes.</a:t>
            </a:r>
            <a:endParaRPr lang="en-US" sz="1450" dirty="0"/>
          </a:p>
        </p:txBody>
      </p:sp>
      <p:sp>
        <p:nvSpPr>
          <p:cNvPr id="5" name="Shape 3"/>
          <p:cNvSpPr/>
          <p:nvPr/>
        </p:nvSpPr>
        <p:spPr>
          <a:xfrm>
            <a:off x="548640" y="2240280"/>
            <a:ext cx="11064240" cy="566928"/>
          </a:xfrm>
          <a:prstGeom prst="roundRect">
            <a:avLst>
              <a:gd name="adj" fmla="val 9677"/>
            </a:avLst>
          </a:prstGeom>
          <a:solidFill>
            <a:srgbClr val="1B1F3B"/>
          </a:solidFill>
          <a:ln/>
        </p:spPr>
      </p:sp>
      <p:sp>
        <p:nvSpPr>
          <p:cNvPr id="6" name="Text 4"/>
          <p:cNvSpPr/>
          <p:nvPr/>
        </p:nvSpPr>
        <p:spPr>
          <a:xfrm>
            <a:off x="731520" y="2240280"/>
            <a:ext cx="3108960" cy="566928"/>
          </a:xfrm>
          <a:prstGeom prst="rect">
            <a:avLst/>
          </a:prstGeom>
          <a:noFill/>
          <a:ln/>
        </p:spPr>
        <p:txBody>
          <a:bodyPr wrap="square" lIns="0" tIns="0" rIns="0" bIns="0" rtlCol="0" anchor="ctr"/>
          <a:lstStyle/>
          <a:p>
            <a:pPr indent="0" marL="0">
              <a:buNone/>
            </a:pPr>
            <a:endParaRPr lang="en-US" sz="1300" dirty="0"/>
          </a:p>
        </p:txBody>
      </p:sp>
      <p:sp>
        <p:nvSpPr>
          <p:cNvPr id="7" name="Text 5"/>
          <p:cNvSpPr/>
          <p:nvPr/>
        </p:nvSpPr>
        <p:spPr>
          <a:xfrm>
            <a:off x="4114800" y="2240280"/>
            <a:ext cx="3566160" cy="566928"/>
          </a:xfrm>
          <a:prstGeom prst="rect">
            <a:avLst/>
          </a:prstGeom>
          <a:noFill/>
          <a:ln/>
        </p:spPr>
        <p:txBody>
          <a:bodyPr wrap="square" lIns="0" tIns="0" rIns="0" bIns="0" rtlCol="0" anchor="ctr"/>
          <a:lstStyle/>
          <a:p>
            <a:pPr indent="0" marL="0">
              <a:buNone/>
            </a:pPr>
            <a:r>
              <a:rPr lang="en-US" sz="1300" b="1" dirty="0">
                <a:solidFill>
                  <a:srgbClr val="D9A441"/>
                </a:solidFill>
                <a:latin typeface="Cambria" pitchFamily="34" charset="0"/>
                <a:ea typeface="Cambria" pitchFamily="34" charset="-122"/>
                <a:cs typeface="Cambria" pitchFamily="34" charset="-120"/>
              </a:rPr>
              <a:t>SSE (simétrico)</a:t>
            </a:r>
            <a:endParaRPr lang="en-US" sz="1300" dirty="0"/>
          </a:p>
        </p:txBody>
      </p:sp>
      <p:sp>
        <p:nvSpPr>
          <p:cNvPr id="8" name="Text 6"/>
          <p:cNvSpPr/>
          <p:nvPr/>
        </p:nvSpPr>
        <p:spPr>
          <a:xfrm>
            <a:off x="7955280" y="2240280"/>
            <a:ext cx="3566160" cy="56692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PEKS (clave pública)</a:t>
            </a:r>
            <a:endParaRPr lang="en-US" sz="1300" dirty="0"/>
          </a:p>
        </p:txBody>
      </p:sp>
      <p:sp>
        <p:nvSpPr>
          <p:cNvPr id="9" name="Shape 7"/>
          <p:cNvSpPr/>
          <p:nvPr/>
        </p:nvSpPr>
        <p:spPr>
          <a:xfrm>
            <a:off x="548640" y="2807208"/>
            <a:ext cx="11064240" cy="566928"/>
          </a:xfrm>
          <a:prstGeom prst="rect">
            <a:avLst/>
          </a:prstGeom>
          <a:solidFill>
            <a:srgbClr val="FFFFFF"/>
          </a:solidFill>
          <a:ln/>
        </p:spPr>
      </p:sp>
      <p:sp>
        <p:nvSpPr>
          <p:cNvPr id="10" name="Text 8"/>
          <p:cNvSpPr/>
          <p:nvPr/>
        </p:nvSpPr>
        <p:spPr>
          <a:xfrm>
            <a:off x="731520" y="2807208"/>
            <a:ext cx="3108960" cy="566928"/>
          </a:xfrm>
          <a:prstGeom prst="rect">
            <a:avLst/>
          </a:prstGeom>
          <a:noFill/>
          <a:ln/>
        </p:spPr>
        <p:txBody>
          <a:bodyPr wrap="square" lIns="0" tIns="0" rIns="0" bIns="0" rtlCol="0" anchor="ctr"/>
          <a:lstStyle/>
          <a:p>
            <a:pPr indent="0" marL="0">
              <a:lnSpc>
                <a:spcPct val="105000"/>
              </a:lnSpc>
              <a:buNone/>
            </a:pPr>
            <a:r>
              <a:rPr lang="en-US" sz="1150" b="1" dirty="0">
                <a:solidFill>
                  <a:srgbClr val="1B1F3B"/>
                </a:solidFill>
                <a:latin typeface="Calibri" pitchFamily="34" charset="0"/>
                <a:ea typeface="Calibri" pitchFamily="34" charset="-122"/>
                <a:cs typeface="Calibri" pitchFamily="34" charset="-120"/>
              </a:rPr>
              <a:t>Primitiva base</a:t>
            </a:r>
            <a:endParaRPr lang="en-US" sz="1150" dirty="0"/>
          </a:p>
        </p:txBody>
      </p:sp>
      <p:sp>
        <p:nvSpPr>
          <p:cNvPr id="11" name="Text 9"/>
          <p:cNvSpPr/>
          <p:nvPr/>
        </p:nvSpPr>
        <p:spPr>
          <a:xfrm>
            <a:off x="4114800" y="2807208"/>
            <a:ext cx="3566160" cy="566928"/>
          </a:xfrm>
          <a:prstGeom prst="rect">
            <a:avLst/>
          </a:prstGeom>
          <a:noFill/>
          <a:ln/>
        </p:spPr>
        <p:txBody>
          <a:bodyPr wrap="square" lIns="0" tIns="0" rIns="0" bIns="0" rtlCol="0" anchor="ctr"/>
          <a:lstStyle/>
          <a:p>
            <a:pPr indent="0" marL="0">
              <a:lnSpc>
                <a:spcPct val="105000"/>
              </a:lnSpc>
              <a:buNone/>
            </a:pPr>
            <a:r>
              <a:rPr lang="en-US" sz="1150" dirty="0">
                <a:solidFill>
                  <a:srgbClr val="3F7D5C"/>
                </a:solidFill>
                <a:latin typeface="Calibri" pitchFamily="34" charset="0"/>
                <a:ea typeface="Calibri" pitchFamily="34" charset="-122"/>
                <a:cs typeface="Calibri" pitchFamily="34" charset="-120"/>
              </a:rPr>
              <a:t>PRF / PRP (p. ej. AES)</a:t>
            </a:r>
            <a:endParaRPr lang="en-US" sz="1150" dirty="0"/>
          </a:p>
        </p:txBody>
      </p:sp>
      <p:sp>
        <p:nvSpPr>
          <p:cNvPr id="12" name="Text 10"/>
          <p:cNvSpPr/>
          <p:nvPr/>
        </p:nvSpPr>
        <p:spPr>
          <a:xfrm>
            <a:off x="7955280" y="2807208"/>
            <a:ext cx="3566160" cy="566928"/>
          </a:xfrm>
          <a:prstGeom prst="rect">
            <a:avLst/>
          </a:prstGeom>
          <a:noFill/>
          <a:ln/>
        </p:spPr>
        <p:txBody>
          <a:bodyPr wrap="square" lIns="0" tIns="0" rIns="0" bIns="0" rtlCol="0" anchor="ctr"/>
          <a:lstStyle/>
          <a:p>
            <a:pPr indent="0" marL="0">
              <a:lnSpc>
                <a:spcPct val="105000"/>
              </a:lnSpc>
              <a:buNone/>
            </a:pPr>
            <a:r>
              <a:rPr lang="en-US" sz="1150" dirty="0">
                <a:solidFill>
                  <a:srgbClr val="5B6584"/>
                </a:solidFill>
                <a:latin typeface="Calibri" pitchFamily="34" charset="0"/>
                <a:ea typeface="Calibri" pitchFamily="34" charset="-122"/>
                <a:cs typeface="Calibri" pitchFamily="34" charset="-120"/>
              </a:rPr>
              <a:t>Emparejamientos bilineales / RSA</a:t>
            </a:r>
            <a:endParaRPr lang="en-US" sz="1150" dirty="0"/>
          </a:p>
        </p:txBody>
      </p:sp>
      <p:sp>
        <p:nvSpPr>
          <p:cNvPr id="13" name="Shape 11"/>
          <p:cNvSpPr/>
          <p:nvPr/>
        </p:nvSpPr>
        <p:spPr>
          <a:xfrm>
            <a:off x="548640" y="3374136"/>
            <a:ext cx="11064240" cy="566928"/>
          </a:xfrm>
          <a:prstGeom prst="rect">
            <a:avLst/>
          </a:prstGeom>
          <a:solidFill>
            <a:srgbClr val="EEF1F9"/>
          </a:solidFill>
          <a:ln/>
        </p:spPr>
      </p:sp>
      <p:sp>
        <p:nvSpPr>
          <p:cNvPr id="14" name="Text 12"/>
          <p:cNvSpPr/>
          <p:nvPr/>
        </p:nvSpPr>
        <p:spPr>
          <a:xfrm>
            <a:off x="731520" y="3374136"/>
            <a:ext cx="3108960" cy="566928"/>
          </a:xfrm>
          <a:prstGeom prst="rect">
            <a:avLst/>
          </a:prstGeom>
          <a:noFill/>
          <a:ln/>
        </p:spPr>
        <p:txBody>
          <a:bodyPr wrap="square" lIns="0" tIns="0" rIns="0" bIns="0" rtlCol="0" anchor="ctr"/>
          <a:lstStyle/>
          <a:p>
            <a:pPr indent="0" marL="0">
              <a:lnSpc>
                <a:spcPct val="105000"/>
              </a:lnSpc>
              <a:buNone/>
            </a:pPr>
            <a:r>
              <a:rPr lang="en-US" sz="1150" b="1" dirty="0">
                <a:solidFill>
                  <a:srgbClr val="1B1F3B"/>
                </a:solidFill>
                <a:latin typeface="Calibri" pitchFamily="34" charset="0"/>
                <a:ea typeface="Calibri" pitchFamily="34" charset="-122"/>
                <a:cs typeface="Calibri" pitchFamily="34" charset="-120"/>
              </a:rPr>
              <a:t>Generar un trapdoor</a:t>
            </a:r>
            <a:endParaRPr lang="en-US" sz="1150" dirty="0"/>
          </a:p>
        </p:txBody>
      </p:sp>
      <p:sp>
        <p:nvSpPr>
          <p:cNvPr id="15" name="Text 13"/>
          <p:cNvSpPr/>
          <p:nvPr/>
        </p:nvSpPr>
        <p:spPr>
          <a:xfrm>
            <a:off x="4114800" y="3374136"/>
            <a:ext cx="3566160" cy="566928"/>
          </a:xfrm>
          <a:prstGeom prst="rect">
            <a:avLst/>
          </a:prstGeom>
          <a:noFill/>
          <a:ln/>
        </p:spPr>
        <p:txBody>
          <a:bodyPr wrap="square" lIns="0" tIns="0" rIns="0" bIns="0" rtlCol="0" anchor="ctr"/>
          <a:lstStyle/>
          <a:p>
            <a:pPr indent="0" marL="0">
              <a:lnSpc>
                <a:spcPct val="105000"/>
              </a:lnSpc>
              <a:buNone/>
            </a:pPr>
            <a:r>
              <a:rPr lang="en-US" sz="1150" dirty="0">
                <a:solidFill>
                  <a:srgbClr val="3F7D5C"/>
                </a:solidFill>
                <a:latin typeface="Calibri" pitchFamily="34" charset="0"/>
                <a:ea typeface="Calibri" pitchFamily="34" charset="-122"/>
                <a:cs typeface="Calibri" pitchFamily="34" charset="-120"/>
              </a:rPr>
              <a:t>Una evaluación de PRF</a:t>
            </a:r>
            <a:endParaRPr lang="en-US" sz="1150" dirty="0"/>
          </a:p>
        </p:txBody>
      </p:sp>
      <p:sp>
        <p:nvSpPr>
          <p:cNvPr id="16" name="Text 14"/>
          <p:cNvSpPr/>
          <p:nvPr/>
        </p:nvSpPr>
        <p:spPr>
          <a:xfrm>
            <a:off x="7955280" y="3374136"/>
            <a:ext cx="3566160" cy="566928"/>
          </a:xfrm>
          <a:prstGeom prst="rect">
            <a:avLst/>
          </a:prstGeom>
          <a:noFill/>
          <a:ln/>
        </p:spPr>
        <p:txBody>
          <a:bodyPr wrap="square" lIns="0" tIns="0" rIns="0" bIns="0" rtlCol="0" anchor="ctr"/>
          <a:lstStyle/>
          <a:p>
            <a:pPr indent="0" marL="0">
              <a:lnSpc>
                <a:spcPct val="105000"/>
              </a:lnSpc>
              <a:buNone/>
            </a:pPr>
            <a:r>
              <a:rPr lang="en-US" sz="1150" dirty="0">
                <a:solidFill>
                  <a:srgbClr val="5B6584"/>
                </a:solidFill>
                <a:latin typeface="Calibri" pitchFamily="34" charset="0"/>
                <a:ea typeface="Calibri" pitchFamily="34" charset="-122"/>
                <a:cs typeface="Calibri" pitchFamily="34" charset="-120"/>
              </a:rPr>
              <a:t>Una operación de clave pública</a:t>
            </a:r>
            <a:endParaRPr lang="en-US" sz="1150" dirty="0"/>
          </a:p>
        </p:txBody>
      </p:sp>
      <p:sp>
        <p:nvSpPr>
          <p:cNvPr id="17" name="Shape 15"/>
          <p:cNvSpPr/>
          <p:nvPr/>
        </p:nvSpPr>
        <p:spPr>
          <a:xfrm>
            <a:off x="548640" y="3941064"/>
            <a:ext cx="11064240" cy="566928"/>
          </a:xfrm>
          <a:prstGeom prst="rect">
            <a:avLst/>
          </a:prstGeom>
          <a:solidFill>
            <a:srgbClr val="FFFFFF"/>
          </a:solidFill>
          <a:ln/>
        </p:spPr>
      </p:sp>
      <p:sp>
        <p:nvSpPr>
          <p:cNvPr id="18" name="Text 16"/>
          <p:cNvSpPr/>
          <p:nvPr/>
        </p:nvSpPr>
        <p:spPr>
          <a:xfrm>
            <a:off x="731520" y="3941064"/>
            <a:ext cx="3108960" cy="566928"/>
          </a:xfrm>
          <a:prstGeom prst="rect">
            <a:avLst/>
          </a:prstGeom>
          <a:noFill/>
          <a:ln/>
        </p:spPr>
        <p:txBody>
          <a:bodyPr wrap="square" lIns="0" tIns="0" rIns="0" bIns="0" rtlCol="0" anchor="ctr"/>
          <a:lstStyle/>
          <a:p>
            <a:pPr indent="0" marL="0">
              <a:lnSpc>
                <a:spcPct val="105000"/>
              </a:lnSpc>
              <a:buNone/>
            </a:pPr>
            <a:r>
              <a:rPr lang="en-US" sz="1150" b="1" dirty="0">
                <a:solidFill>
                  <a:srgbClr val="1B1F3B"/>
                </a:solidFill>
                <a:latin typeface="Calibri" pitchFamily="34" charset="0"/>
                <a:ea typeface="Calibri" pitchFamily="34" charset="-122"/>
                <a:cs typeface="Calibri" pitchFamily="34" charset="-120"/>
              </a:rPr>
              <a:t>Costo relativo</a:t>
            </a:r>
            <a:endParaRPr lang="en-US" sz="1150" dirty="0"/>
          </a:p>
        </p:txBody>
      </p:sp>
      <p:sp>
        <p:nvSpPr>
          <p:cNvPr id="19" name="Text 17"/>
          <p:cNvSpPr/>
          <p:nvPr/>
        </p:nvSpPr>
        <p:spPr>
          <a:xfrm>
            <a:off x="4114800" y="3941064"/>
            <a:ext cx="3566160" cy="566928"/>
          </a:xfrm>
          <a:prstGeom prst="rect">
            <a:avLst/>
          </a:prstGeom>
          <a:noFill/>
          <a:ln/>
        </p:spPr>
        <p:txBody>
          <a:bodyPr wrap="square" lIns="0" tIns="0" rIns="0" bIns="0" rtlCol="0" anchor="ctr"/>
          <a:lstStyle/>
          <a:p>
            <a:pPr indent="0" marL="0">
              <a:lnSpc>
                <a:spcPct val="105000"/>
              </a:lnSpc>
              <a:buNone/>
            </a:pPr>
            <a:r>
              <a:rPr lang="en-US" sz="1150" dirty="0">
                <a:solidFill>
                  <a:srgbClr val="3F7D5C"/>
                </a:solidFill>
                <a:latin typeface="Calibri" pitchFamily="34" charset="0"/>
                <a:ea typeface="Calibri" pitchFamily="34" charset="-122"/>
                <a:cs typeface="Calibri" pitchFamily="34" charset="-120"/>
              </a:rPr>
              <a:t>Órdenes de magnitud más rápido</a:t>
            </a:r>
            <a:endParaRPr lang="en-US" sz="1150" dirty="0"/>
          </a:p>
        </p:txBody>
      </p:sp>
      <p:sp>
        <p:nvSpPr>
          <p:cNvPr id="20" name="Text 18"/>
          <p:cNvSpPr/>
          <p:nvPr/>
        </p:nvSpPr>
        <p:spPr>
          <a:xfrm>
            <a:off x="7955280" y="3941064"/>
            <a:ext cx="3566160" cy="566928"/>
          </a:xfrm>
          <a:prstGeom prst="rect">
            <a:avLst/>
          </a:prstGeom>
          <a:noFill/>
          <a:ln/>
        </p:spPr>
        <p:txBody>
          <a:bodyPr wrap="square" lIns="0" tIns="0" rIns="0" bIns="0" rtlCol="0" anchor="ctr"/>
          <a:lstStyle/>
          <a:p>
            <a:pPr indent="0" marL="0">
              <a:lnSpc>
                <a:spcPct val="105000"/>
              </a:lnSpc>
              <a:buNone/>
            </a:pPr>
            <a:r>
              <a:rPr lang="en-US" sz="1150" dirty="0">
                <a:solidFill>
                  <a:srgbClr val="5B6584"/>
                </a:solidFill>
                <a:latin typeface="Calibri" pitchFamily="34" charset="0"/>
                <a:ea typeface="Calibri" pitchFamily="34" charset="-122"/>
                <a:cs typeface="Calibri" pitchFamily="34" charset="-120"/>
              </a:rPr>
              <a:t>Cientos–miles de veces más lento</a:t>
            </a:r>
            <a:endParaRPr lang="en-US" sz="1150" dirty="0"/>
          </a:p>
        </p:txBody>
      </p:sp>
      <p:sp>
        <p:nvSpPr>
          <p:cNvPr id="21" name="Shape 19"/>
          <p:cNvSpPr/>
          <p:nvPr/>
        </p:nvSpPr>
        <p:spPr>
          <a:xfrm>
            <a:off x="548640" y="4507992"/>
            <a:ext cx="11064240" cy="566928"/>
          </a:xfrm>
          <a:prstGeom prst="rect">
            <a:avLst/>
          </a:prstGeom>
          <a:solidFill>
            <a:srgbClr val="EEF1F9"/>
          </a:solidFill>
          <a:ln/>
        </p:spPr>
      </p:sp>
      <p:sp>
        <p:nvSpPr>
          <p:cNvPr id="22" name="Text 20"/>
          <p:cNvSpPr/>
          <p:nvPr/>
        </p:nvSpPr>
        <p:spPr>
          <a:xfrm>
            <a:off x="731520" y="4507992"/>
            <a:ext cx="3108960" cy="566928"/>
          </a:xfrm>
          <a:prstGeom prst="rect">
            <a:avLst/>
          </a:prstGeom>
          <a:noFill/>
          <a:ln/>
        </p:spPr>
        <p:txBody>
          <a:bodyPr wrap="square" lIns="0" tIns="0" rIns="0" bIns="0" rtlCol="0" anchor="ctr"/>
          <a:lstStyle/>
          <a:p>
            <a:pPr indent="0" marL="0">
              <a:lnSpc>
                <a:spcPct val="105000"/>
              </a:lnSpc>
              <a:buNone/>
            </a:pPr>
            <a:r>
              <a:rPr lang="en-US" sz="1150" b="1" dirty="0">
                <a:solidFill>
                  <a:srgbClr val="1B1F3B"/>
                </a:solidFill>
                <a:latin typeface="Calibri" pitchFamily="34" charset="0"/>
                <a:ea typeface="Calibri" pitchFamily="34" charset="-122"/>
                <a:cs typeface="Calibri" pitchFamily="34" charset="-120"/>
              </a:rPr>
              <a:t>Complejidad de búsqueda</a:t>
            </a:r>
            <a:endParaRPr lang="en-US" sz="1150" dirty="0"/>
          </a:p>
        </p:txBody>
      </p:sp>
      <p:sp>
        <p:nvSpPr>
          <p:cNvPr id="23" name="Text 21"/>
          <p:cNvSpPr/>
          <p:nvPr/>
        </p:nvSpPr>
        <p:spPr>
          <a:xfrm>
            <a:off x="4114800" y="4507992"/>
            <a:ext cx="3566160" cy="566928"/>
          </a:xfrm>
          <a:prstGeom prst="rect">
            <a:avLst/>
          </a:prstGeom>
          <a:noFill/>
          <a:ln/>
        </p:spPr>
        <p:txBody>
          <a:bodyPr wrap="square" lIns="0" tIns="0" rIns="0" bIns="0" rtlCol="0" anchor="ctr"/>
          <a:lstStyle/>
          <a:p>
            <a:pPr indent="0" marL="0">
              <a:lnSpc>
                <a:spcPct val="105000"/>
              </a:lnSpc>
              <a:buNone/>
            </a:pPr>
            <a:r>
              <a:rPr lang="en-US" sz="1150" dirty="0">
                <a:solidFill>
                  <a:srgbClr val="3F7D5C"/>
                </a:solidFill>
                <a:latin typeface="Calibri" pitchFamily="34" charset="0"/>
                <a:ea typeface="Calibri" pitchFamily="34" charset="-122"/>
                <a:cs typeface="Calibri" pitchFamily="34" charset="-120"/>
              </a:rPr>
              <a:t>Sublineal (∝ documentos que matchean)</a:t>
            </a:r>
            <a:endParaRPr lang="en-US" sz="1150" dirty="0"/>
          </a:p>
        </p:txBody>
      </p:sp>
      <p:sp>
        <p:nvSpPr>
          <p:cNvPr id="24" name="Text 22"/>
          <p:cNvSpPr/>
          <p:nvPr/>
        </p:nvSpPr>
        <p:spPr>
          <a:xfrm>
            <a:off x="7955280" y="4507992"/>
            <a:ext cx="3566160" cy="566928"/>
          </a:xfrm>
          <a:prstGeom prst="rect">
            <a:avLst/>
          </a:prstGeom>
          <a:noFill/>
          <a:ln/>
        </p:spPr>
        <p:txBody>
          <a:bodyPr wrap="square" lIns="0" tIns="0" rIns="0" bIns="0" rtlCol="0" anchor="ctr"/>
          <a:lstStyle/>
          <a:p>
            <a:pPr indent="0" marL="0">
              <a:lnSpc>
                <a:spcPct val="105000"/>
              </a:lnSpc>
              <a:buNone/>
            </a:pPr>
            <a:r>
              <a:rPr lang="en-US" sz="1150" dirty="0">
                <a:solidFill>
                  <a:srgbClr val="5B6584"/>
                </a:solidFill>
                <a:latin typeface="Calibri" pitchFamily="34" charset="0"/>
                <a:ea typeface="Calibri" pitchFamily="34" charset="-122"/>
                <a:cs typeface="Calibri" pitchFamily="34" charset="-120"/>
              </a:rPr>
              <a:t>Lineal en el tamaño del índice, típicamente</a:t>
            </a:r>
            <a:endParaRPr lang="en-US" sz="1150" dirty="0"/>
          </a:p>
        </p:txBody>
      </p:sp>
      <p:sp>
        <p:nvSpPr>
          <p:cNvPr id="25" name="Shape 23"/>
          <p:cNvSpPr/>
          <p:nvPr/>
        </p:nvSpPr>
        <p:spPr>
          <a:xfrm>
            <a:off x="548640" y="5074920"/>
            <a:ext cx="11064240" cy="566928"/>
          </a:xfrm>
          <a:prstGeom prst="rect">
            <a:avLst/>
          </a:prstGeom>
          <a:solidFill>
            <a:srgbClr val="FFFFFF"/>
          </a:solidFill>
          <a:ln/>
        </p:spPr>
      </p:sp>
      <p:sp>
        <p:nvSpPr>
          <p:cNvPr id="26" name="Text 24"/>
          <p:cNvSpPr/>
          <p:nvPr/>
        </p:nvSpPr>
        <p:spPr>
          <a:xfrm>
            <a:off x="731520" y="5074920"/>
            <a:ext cx="3108960" cy="566928"/>
          </a:xfrm>
          <a:prstGeom prst="rect">
            <a:avLst/>
          </a:prstGeom>
          <a:noFill/>
          <a:ln/>
        </p:spPr>
        <p:txBody>
          <a:bodyPr wrap="square" lIns="0" tIns="0" rIns="0" bIns="0" rtlCol="0" anchor="ctr"/>
          <a:lstStyle/>
          <a:p>
            <a:pPr indent="0" marL="0">
              <a:lnSpc>
                <a:spcPct val="105000"/>
              </a:lnSpc>
              <a:buNone/>
            </a:pPr>
            <a:r>
              <a:rPr lang="en-US" sz="1150" b="1" dirty="0">
                <a:solidFill>
                  <a:srgbClr val="1B1F3B"/>
                </a:solidFill>
                <a:latin typeface="Calibri" pitchFamily="34" charset="0"/>
                <a:ea typeface="Calibri" pitchFamily="34" charset="-122"/>
                <a:cs typeface="Calibri" pitchFamily="34" charset="-120"/>
              </a:rPr>
              <a:t>Escala práctica</a:t>
            </a:r>
            <a:endParaRPr lang="en-US" sz="1150" dirty="0"/>
          </a:p>
        </p:txBody>
      </p:sp>
      <p:sp>
        <p:nvSpPr>
          <p:cNvPr id="27" name="Text 25"/>
          <p:cNvSpPr/>
          <p:nvPr/>
        </p:nvSpPr>
        <p:spPr>
          <a:xfrm>
            <a:off x="4114800" y="5074920"/>
            <a:ext cx="3566160" cy="566928"/>
          </a:xfrm>
          <a:prstGeom prst="rect">
            <a:avLst/>
          </a:prstGeom>
          <a:noFill/>
          <a:ln/>
        </p:spPr>
        <p:txBody>
          <a:bodyPr wrap="square" lIns="0" tIns="0" rIns="0" bIns="0" rtlCol="0" anchor="ctr"/>
          <a:lstStyle/>
          <a:p>
            <a:pPr indent="0" marL="0">
              <a:lnSpc>
                <a:spcPct val="105000"/>
              </a:lnSpc>
              <a:buNone/>
            </a:pPr>
            <a:r>
              <a:rPr lang="en-US" sz="1150" dirty="0">
                <a:solidFill>
                  <a:srgbClr val="3F7D5C"/>
                </a:solidFill>
                <a:latin typeface="Calibri" pitchFamily="34" charset="0"/>
                <a:ea typeface="Calibri" pitchFamily="34" charset="-122"/>
                <a:cs typeface="Calibri" pitchFamily="34" charset="-120"/>
              </a:rPr>
              <a:t>Millones de documentos</a:t>
            </a:r>
            <a:endParaRPr lang="en-US" sz="1150" dirty="0"/>
          </a:p>
        </p:txBody>
      </p:sp>
      <p:sp>
        <p:nvSpPr>
          <p:cNvPr id="28" name="Text 26"/>
          <p:cNvSpPr/>
          <p:nvPr/>
        </p:nvSpPr>
        <p:spPr>
          <a:xfrm>
            <a:off x="7955280" y="5074920"/>
            <a:ext cx="3566160" cy="566928"/>
          </a:xfrm>
          <a:prstGeom prst="rect">
            <a:avLst/>
          </a:prstGeom>
          <a:noFill/>
          <a:ln/>
        </p:spPr>
        <p:txBody>
          <a:bodyPr wrap="square" lIns="0" tIns="0" rIns="0" bIns="0" rtlCol="0" anchor="ctr"/>
          <a:lstStyle/>
          <a:p>
            <a:pPr indent="0" marL="0">
              <a:lnSpc>
                <a:spcPct val="105000"/>
              </a:lnSpc>
              <a:buNone/>
            </a:pPr>
            <a:r>
              <a:rPr lang="en-US" sz="1150" dirty="0">
                <a:solidFill>
                  <a:srgbClr val="5B6584"/>
                </a:solidFill>
                <a:latin typeface="Calibri" pitchFamily="34" charset="0"/>
                <a:ea typeface="Calibri" pitchFamily="34" charset="-122"/>
                <a:cs typeface="Calibri" pitchFamily="34" charset="-120"/>
              </a:rPr>
              <a:t>Colecciones pequeñas / nichos específicos</a:t>
            </a:r>
            <a:endParaRPr lang="en-US" sz="1150" dirty="0"/>
          </a:p>
        </p:txBody>
      </p:sp>
      <p:sp>
        <p:nvSpPr>
          <p:cNvPr id="29" name="Shape 27"/>
          <p:cNvSpPr/>
          <p:nvPr/>
        </p:nvSpPr>
        <p:spPr>
          <a:xfrm>
            <a:off x="548640" y="2240280"/>
            <a:ext cx="11064240" cy="3401568"/>
          </a:xfrm>
          <a:prstGeom prst="rect">
            <a:avLst/>
          </a:prstGeom>
          <a:ln w="12700">
            <a:solidFill>
              <a:srgbClr val="DCE1F0"/>
            </a:solidFill>
            <a:prstDash val="solid"/>
          </a:ln>
        </p:spPr>
      </p:sp>
      <p:sp>
        <p:nvSpPr>
          <p:cNvPr id="30" name="Text 28"/>
          <p:cNvSpPr/>
          <p:nvPr/>
        </p:nvSpPr>
        <p:spPr>
          <a:xfrm>
            <a:off x="548640" y="5870448"/>
            <a:ext cx="11064240" cy="457200"/>
          </a:xfrm>
          <a:prstGeom prst="rect">
            <a:avLst/>
          </a:prstGeom>
          <a:noFill/>
          <a:ln/>
        </p:spPr>
        <p:txBody>
          <a:bodyPr wrap="square" lIns="0" tIns="0" rIns="0" bIns="0" rtlCol="0" anchor="ctr"/>
          <a:lstStyle/>
          <a:p>
            <a:pPr indent="0" marL="0">
              <a:lnSpc>
                <a:spcPct val="115000"/>
              </a:lnSpc>
              <a:buNone/>
            </a:pPr>
            <a:r>
              <a:rPr lang="en-US" sz="1300" b="1" dirty="0">
                <a:solidFill>
                  <a:srgbClr val="1B1F3B"/>
                </a:solidFill>
                <a:latin typeface="Calibri" pitchFamily="34" charset="0"/>
                <a:ea typeface="Calibri" pitchFamily="34" charset="-122"/>
                <a:cs typeface="Calibri" pitchFamily="34" charset="-120"/>
              </a:rPr>
              <a:t>Esto no es un detalle de rendimiento marginal: </a:t>
            </a:r>
            <a:pPr indent="0" marL="0">
              <a:lnSpc>
                <a:spcPct val="115000"/>
              </a:lnSpc>
              <a:buNone/>
            </a:pPr>
            <a:r>
              <a:rPr lang="en-US" sz="1300" dirty="0">
                <a:solidFill>
                  <a:srgbClr val="5B6584"/>
                </a:solidFill>
                <a:latin typeface="Calibri" pitchFamily="34" charset="0"/>
                <a:ea typeface="Calibri" pitchFamily="34" charset="-122"/>
                <a:cs typeface="Calibri" pitchFamily="34" charset="-120"/>
              </a:rPr>
              <a:t>es la diferencia entre un sistema de búsqueda cifrada operable en producción y uno que solo funciona en el paper.</a:t>
            </a:r>
            <a:endParaRPr lang="en-US" sz="1300" dirty="0"/>
          </a:p>
        </p:txBody>
      </p:sp>
      <p:sp>
        <p:nvSpPr>
          <p:cNvPr id="31" name="Text 29"/>
          <p:cNvSpPr/>
          <p:nvPr/>
        </p:nvSpPr>
        <p:spPr>
          <a:xfrm>
            <a:off x="11368735" y="6400800"/>
            <a:ext cx="457200" cy="274320"/>
          </a:xfrm>
          <a:prstGeom prst="rect">
            <a:avLst/>
          </a:prstGeom>
          <a:noFill/>
          <a:ln/>
        </p:spPr>
        <p:txBody>
          <a:bodyPr wrap="square" lIns="0" tIns="0" rIns="0" bIns="0" rtlCol="0" anchor="ctr"/>
          <a:lstStyle/>
          <a:p>
            <a:pPr algn="r" indent="0" marL="0">
              <a:buNone/>
            </a:pPr>
            <a:r>
              <a:rPr lang="en-US" sz="1000" dirty="0">
                <a:solidFill>
                  <a:srgbClr val="5B6584"/>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1F3B"/>
        </a:solidFill>
      </p:bgPr>
    </p:bg>
    <p:spTree>
      <p:nvGrpSpPr>
        <p:cNvPr id="1" name=""/>
        <p:cNvGrpSpPr/>
        <p:nvPr/>
      </p:nvGrpSpPr>
      <p:grpSpPr>
        <a:xfrm>
          <a:off x="0" y="0"/>
          <a:ext cx="0" cy="0"/>
          <a:chOff x="0" y="0"/>
          <a:chExt cx="0" cy="0"/>
        </a:xfrm>
      </p:grpSpPr>
      <p:sp>
        <p:nvSpPr>
          <p:cNvPr id="2" name="Text 0"/>
          <p:cNvSpPr/>
          <p:nvPr/>
        </p:nvSpPr>
        <p:spPr>
          <a:xfrm>
            <a:off x="548640" y="164592"/>
            <a:ext cx="11094415" cy="292608"/>
          </a:xfrm>
          <a:prstGeom prst="rect">
            <a:avLst/>
          </a:prstGeom>
          <a:noFill/>
          <a:ln/>
        </p:spPr>
        <p:txBody>
          <a:bodyPr wrap="square" lIns="0" tIns="0" rIns="0" bIns="0" rtlCol="0" anchor="ctr"/>
          <a:lstStyle/>
          <a:p>
            <a:pPr indent="0" marL="0">
              <a:buNone/>
            </a:pPr>
            <a:r>
              <a:rPr lang="en-US" sz="1200" b="1" spc="200" kern="0" dirty="0">
                <a:solidFill>
                  <a:srgbClr val="D9A441"/>
                </a:solidFill>
                <a:latin typeface="Calibri" pitchFamily="34" charset="0"/>
                <a:ea typeface="Calibri" pitchFamily="34" charset="-122"/>
                <a:cs typeface="Calibri" pitchFamily="34" charset="-120"/>
              </a:rPr>
              <a:t>LA TENSIÓN DE DISEÑO</a:t>
            </a:r>
            <a:endParaRPr lang="en-US" sz="1200" dirty="0"/>
          </a:p>
        </p:txBody>
      </p:sp>
      <p:sp>
        <p:nvSpPr>
          <p:cNvPr id="3" name="Text 1"/>
          <p:cNvSpPr/>
          <p:nvPr/>
        </p:nvSpPr>
        <p:spPr>
          <a:xfrm>
            <a:off x="548640" y="411480"/>
            <a:ext cx="11094415" cy="822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El trade-off: eficiencia vs. fuga controlada</a:t>
            </a:r>
            <a:endParaRPr lang="en-US" sz="3000" dirty="0"/>
          </a:p>
        </p:txBody>
      </p:sp>
      <p:sp>
        <p:nvSpPr>
          <p:cNvPr id="4" name="Text 2"/>
          <p:cNvSpPr/>
          <p:nvPr/>
        </p:nvSpPr>
        <p:spPr>
          <a:xfrm>
            <a:off x="548640" y="1371600"/>
            <a:ext cx="11064240" cy="685800"/>
          </a:xfrm>
          <a:prstGeom prst="rect">
            <a:avLst/>
          </a:prstGeom>
          <a:noFill/>
          <a:ln/>
        </p:spPr>
        <p:txBody>
          <a:bodyPr wrap="square" lIns="0" tIns="0" rIns="0" bIns="0" rtlCol="0" anchor="ctr"/>
          <a:lstStyle/>
          <a:p>
            <a:pPr indent="0" marL="0">
              <a:lnSpc>
                <a:spcPct val="125000"/>
              </a:lnSpc>
              <a:buNone/>
            </a:pPr>
            <a:r>
              <a:rPr lang="en-US" sz="1400" dirty="0">
                <a:solidFill>
                  <a:srgbClr val="C7D3F0"/>
                </a:solidFill>
                <a:latin typeface="Calibri" pitchFamily="34" charset="0"/>
                <a:ea typeface="Calibri" pitchFamily="34" charset="-122"/>
                <a:cs typeface="Calibri" pitchFamily="34" charset="-120"/>
              </a:rPr>
              <a:t>Todo el espacio de diseño de SSE se mueve sobre un mismo eje. Las primitivas simétricas son las que permiten elegir un punto específico de ese eje, en vez de quedar atado a uno de los dos extremos.</a:t>
            </a:r>
            <a:endParaRPr lang="en-US" sz="1400" dirty="0"/>
          </a:p>
        </p:txBody>
      </p:sp>
      <p:sp>
        <p:nvSpPr>
          <p:cNvPr id="5" name="Shape 3"/>
          <p:cNvSpPr/>
          <p:nvPr/>
        </p:nvSpPr>
        <p:spPr>
          <a:xfrm>
            <a:off x="914400" y="3017520"/>
            <a:ext cx="10332720" cy="320040"/>
          </a:xfrm>
          <a:prstGeom prst="roundRect">
            <a:avLst>
              <a:gd name="adj" fmla="val 48571"/>
            </a:avLst>
          </a:prstGeom>
          <a:solidFill>
            <a:srgbClr val="262C56"/>
          </a:solidFill>
          <a:ln/>
        </p:spPr>
      </p:sp>
      <p:sp>
        <p:nvSpPr>
          <p:cNvPr id="6" name="Shape 4"/>
          <p:cNvSpPr/>
          <p:nvPr/>
        </p:nvSpPr>
        <p:spPr>
          <a:xfrm>
            <a:off x="914400" y="3017520"/>
            <a:ext cx="439674" cy="320040"/>
          </a:xfrm>
          <a:prstGeom prst="rect">
            <a:avLst/>
          </a:prstGeom>
          <a:solidFill>
            <a:srgbClr val="D9A441">
              <a:alpha val="0"/>
            </a:srgbClr>
          </a:solidFill>
          <a:ln/>
        </p:spPr>
      </p:sp>
      <p:sp>
        <p:nvSpPr>
          <p:cNvPr id="7" name="Shape 5"/>
          <p:cNvSpPr/>
          <p:nvPr/>
        </p:nvSpPr>
        <p:spPr>
          <a:xfrm>
            <a:off x="1344930" y="3017520"/>
            <a:ext cx="439674" cy="320040"/>
          </a:xfrm>
          <a:prstGeom prst="rect">
            <a:avLst/>
          </a:prstGeom>
          <a:solidFill>
            <a:srgbClr val="D9A441">
              <a:alpha val="4000"/>
            </a:srgbClr>
          </a:solidFill>
          <a:ln/>
        </p:spPr>
      </p:sp>
      <p:sp>
        <p:nvSpPr>
          <p:cNvPr id="8" name="Shape 6"/>
          <p:cNvSpPr/>
          <p:nvPr/>
        </p:nvSpPr>
        <p:spPr>
          <a:xfrm>
            <a:off x="1775460" y="3017520"/>
            <a:ext cx="439674" cy="320040"/>
          </a:xfrm>
          <a:prstGeom prst="rect">
            <a:avLst/>
          </a:prstGeom>
          <a:solidFill>
            <a:srgbClr val="D9A441">
              <a:alpha val="7000"/>
            </a:srgbClr>
          </a:solidFill>
          <a:ln/>
        </p:spPr>
      </p:sp>
      <p:sp>
        <p:nvSpPr>
          <p:cNvPr id="9" name="Shape 7"/>
          <p:cNvSpPr/>
          <p:nvPr/>
        </p:nvSpPr>
        <p:spPr>
          <a:xfrm>
            <a:off x="2205990" y="3017520"/>
            <a:ext cx="439674" cy="320040"/>
          </a:xfrm>
          <a:prstGeom prst="rect">
            <a:avLst/>
          </a:prstGeom>
          <a:solidFill>
            <a:srgbClr val="D9A441">
              <a:alpha val="11000"/>
            </a:srgbClr>
          </a:solidFill>
          <a:ln/>
        </p:spPr>
      </p:sp>
      <p:sp>
        <p:nvSpPr>
          <p:cNvPr id="10" name="Shape 8"/>
          <p:cNvSpPr/>
          <p:nvPr/>
        </p:nvSpPr>
        <p:spPr>
          <a:xfrm>
            <a:off x="2636520" y="3017520"/>
            <a:ext cx="439674" cy="320040"/>
          </a:xfrm>
          <a:prstGeom prst="rect">
            <a:avLst/>
          </a:prstGeom>
          <a:solidFill>
            <a:srgbClr val="D9A441">
              <a:alpha val="15000"/>
            </a:srgbClr>
          </a:solidFill>
          <a:ln/>
        </p:spPr>
      </p:sp>
      <p:sp>
        <p:nvSpPr>
          <p:cNvPr id="11" name="Shape 9"/>
          <p:cNvSpPr/>
          <p:nvPr/>
        </p:nvSpPr>
        <p:spPr>
          <a:xfrm>
            <a:off x="3067050" y="3017520"/>
            <a:ext cx="439674" cy="320040"/>
          </a:xfrm>
          <a:prstGeom prst="rect">
            <a:avLst/>
          </a:prstGeom>
          <a:solidFill>
            <a:srgbClr val="D9A441">
              <a:alpha val="18000"/>
            </a:srgbClr>
          </a:solidFill>
          <a:ln/>
        </p:spPr>
      </p:sp>
      <p:sp>
        <p:nvSpPr>
          <p:cNvPr id="12" name="Shape 10"/>
          <p:cNvSpPr/>
          <p:nvPr/>
        </p:nvSpPr>
        <p:spPr>
          <a:xfrm>
            <a:off x="3497580" y="3017520"/>
            <a:ext cx="439674" cy="320040"/>
          </a:xfrm>
          <a:prstGeom prst="rect">
            <a:avLst/>
          </a:prstGeom>
          <a:solidFill>
            <a:srgbClr val="D9A441">
              <a:alpha val="22000"/>
            </a:srgbClr>
          </a:solidFill>
          <a:ln/>
        </p:spPr>
      </p:sp>
      <p:sp>
        <p:nvSpPr>
          <p:cNvPr id="13" name="Shape 11"/>
          <p:cNvSpPr/>
          <p:nvPr/>
        </p:nvSpPr>
        <p:spPr>
          <a:xfrm>
            <a:off x="3928110" y="3017520"/>
            <a:ext cx="439674" cy="320040"/>
          </a:xfrm>
          <a:prstGeom prst="rect">
            <a:avLst/>
          </a:prstGeom>
          <a:solidFill>
            <a:srgbClr val="D9A441">
              <a:alpha val="26000"/>
            </a:srgbClr>
          </a:solidFill>
          <a:ln/>
        </p:spPr>
      </p:sp>
      <p:sp>
        <p:nvSpPr>
          <p:cNvPr id="14" name="Shape 12"/>
          <p:cNvSpPr/>
          <p:nvPr/>
        </p:nvSpPr>
        <p:spPr>
          <a:xfrm>
            <a:off x="4358640" y="3017520"/>
            <a:ext cx="439674" cy="320040"/>
          </a:xfrm>
          <a:prstGeom prst="rect">
            <a:avLst/>
          </a:prstGeom>
          <a:solidFill>
            <a:srgbClr val="D9A441">
              <a:alpha val="30000"/>
            </a:srgbClr>
          </a:solidFill>
          <a:ln/>
        </p:spPr>
      </p:sp>
      <p:sp>
        <p:nvSpPr>
          <p:cNvPr id="15" name="Shape 13"/>
          <p:cNvSpPr/>
          <p:nvPr/>
        </p:nvSpPr>
        <p:spPr>
          <a:xfrm>
            <a:off x="4789170" y="3017520"/>
            <a:ext cx="439674" cy="320040"/>
          </a:xfrm>
          <a:prstGeom prst="rect">
            <a:avLst/>
          </a:prstGeom>
          <a:solidFill>
            <a:srgbClr val="D9A441">
              <a:alpha val="33000"/>
            </a:srgbClr>
          </a:solidFill>
          <a:ln/>
        </p:spPr>
      </p:sp>
      <p:sp>
        <p:nvSpPr>
          <p:cNvPr id="16" name="Shape 14"/>
          <p:cNvSpPr/>
          <p:nvPr/>
        </p:nvSpPr>
        <p:spPr>
          <a:xfrm>
            <a:off x="5219700" y="3017520"/>
            <a:ext cx="439674" cy="320040"/>
          </a:xfrm>
          <a:prstGeom prst="rect">
            <a:avLst/>
          </a:prstGeom>
          <a:solidFill>
            <a:srgbClr val="D9A441">
              <a:alpha val="37000"/>
            </a:srgbClr>
          </a:solidFill>
          <a:ln/>
        </p:spPr>
      </p:sp>
      <p:sp>
        <p:nvSpPr>
          <p:cNvPr id="17" name="Shape 15"/>
          <p:cNvSpPr/>
          <p:nvPr/>
        </p:nvSpPr>
        <p:spPr>
          <a:xfrm>
            <a:off x="5650230" y="3017520"/>
            <a:ext cx="439674" cy="320040"/>
          </a:xfrm>
          <a:prstGeom prst="rect">
            <a:avLst/>
          </a:prstGeom>
          <a:solidFill>
            <a:srgbClr val="D9A441">
              <a:alpha val="41000"/>
            </a:srgbClr>
          </a:solidFill>
          <a:ln/>
        </p:spPr>
      </p:sp>
      <p:sp>
        <p:nvSpPr>
          <p:cNvPr id="18" name="Shape 16"/>
          <p:cNvSpPr/>
          <p:nvPr/>
        </p:nvSpPr>
        <p:spPr>
          <a:xfrm>
            <a:off x="6080760" y="3017520"/>
            <a:ext cx="439674" cy="320040"/>
          </a:xfrm>
          <a:prstGeom prst="rect">
            <a:avLst/>
          </a:prstGeom>
          <a:solidFill>
            <a:srgbClr val="D9A441">
              <a:alpha val="44000"/>
            </a:srgbClr>
          </a:solidFill>
          <a:ln/>
        </p:spPr>
      </p:sp>
      <p:sp>
        <p:nvSpPr>
          <p:cNvPr id="19" name="Shape 17"/>
          <p:cNvSpPr/>
          <p:nvPr/>
        </p:nvSpPr>
        <p:spPr>
          <a:xfrm>
            <a:off x="6511290" y="3017520"/>
            <a:ext cx="439674" cy="320040"/>
          </a:xfrm>
          <a:prstGeom prst="rect">
            <a:avLst/>
          </a:prstGeom>
          <a:solidFill>
            <a:srgbClr val="D9A441">
              <a:alpha val="48000"/>
            </a:srgbClr>
          </a:solidFill>
          <a:ln/>
        </p:spPr>
      </p:sp>
      <p:sp>
        <p:nvSpPr>
          <p:cNvPr id="20" name="Shape 18"/>
          <p:cNvSpPr/>
          <p:nvPr/>
        </p:nvSpPr>
        <p:spPr>
          <a:xfrm>
            <a:off x="6941820" y="3017520"/>
            <a:ext cx="439674" cy="320040"/>
          </a:xfrm>
          <a:prstGeom prst="rect">
            <a:avLst/>
          </a:prstGeom>
          <a:solidFill>
            <a:srgbClr val="D9A441">
              <a:alpha val="52000"/>
            </a:srgbClr>
          </a:solidFill>
          <a:ln/>
        </p:spPr>
      </p:sp>
      <p:sp>
        <p:nvSpPr>
          <p:cNvPr id="21" name="Shape 19"/>
          <p:cNvSpPr/>
          <p:nvPr/>
        </p:nvSpPr>
        <p:spPr>
          <a:xfrm>
            <a:off x="7372350" y="3017520"/>
            <a:ext cx="439674" cy="320040"/>
          </a:xfrm>
          <a:prstGeom prst="rect">
            <a:avLst/>
          </a:prstGeom>
          <a:solidFill>
            <a:srgbClr val="D9A441">
              <a:alpha val="55000"/>
            </a:srgbClr>
          </a:solidFill>
          <a:ln/>
        </p:spPr>
      </p:sp>
      <p:sp>
        <p:nvSpPr>
          <p:cNvPr id="22" name="Shape 20"/>
          <p:cNvSpPr/>
          <p:nvPr/>
        </p:nvSpPr>
        <p:spPr>
          <a:xfrm>
            <a:off x="7802880" y="3017520"/>
            <a:ext cx="439674" cy="320040"/>
          </a:xfrm>
          <a:prstGeom prst="rect">
            <a:avLst/>
          </a:prstGeom>
          <a:solidFill>
            <a:srgbClr val="D9A441">
              <a:alpha val="59000"/>
            </a:srgbClr>
          </a:solidFill>
          <a:ln/>
        </p:spPr>
      </p:sp>
      <p:sp>
        <p:nvSpPr>
          <p:cNvPr id="23" name="Shape 21"/>
          <p:cNvSpPr/>
          <p:nvPr/>
        </p:nvSpPr>
        <p:spPr>
          <a:xfrm>
            <a:off x="8233410" y="3017520"/>
            <a:ext cx="439674" cy="320040"/>
          </a:xfrm>
          <a:prstGeom prst="rect">
            <a:avLst/>
          </a:prstGeom>
          <a:solidFill>
            <a:srgbClr val="D9A441">
              <a:alpha val="63000"/>
            </a:srgbClr>
          </a:solidFill>
          <a:ln/>
        </p:spPr>
      </p:sp>
      <p:sp>
        <p:nvSpPr>
          <p:cNvPr id="24" name="Shape 22"/>
          <p:cNvSpPr/>
          <p:nvPr/>
        </p:nvSpPr>
        <p:spPr>
          <a:xfrm>
            <a:off x="8663940" y="3017520"/>
            <a:ext cx="439674" cy="320040"/>
          </a:xfrm>
          <a:prstGeom prst="rect">
            <a:avLst/>
          </a:prstGeom>
          <a:solidFill>
            <a:srgbClr val="D9A441">
              <a:alpha val="67000"/>
            </a:srgbClr>
          </a:solidFill>
          <a:ln/>
        </p:spPr>
      </p:sp>
      <p:sp>
        <p:nvSpPr>
          <p:cNvPr id="25" name="Shape 23"/>
          <p:cNvSpPr/>
          <p:nvPr/>
        </p:nvSpPr>
        <p:spPr>
          <a:xfrm>
            <a:off x="9094470" y="3017520"/>
            <a:ext cx="439674" cy="320040"/>
          </a:xfrm>
          <a:prstGeom prst="rect">
            <a:avLst/>
          </a:prstGeom>
          <a:solidFill>
            <a:srgbClr val="D9A441">
              <a:alpha val="70000"/>
            </a:srgbClr>
          </a:solidFill>
          <a:ln/>
        </p:spPr>
      </p:sp>
      <p:sp>
        <p:nvSpPr>
          <p:cNvPr id="26" name="Shape 24"/>
          <p:cNvSpPr/>
          <p:nvPr/>
        </p:nvSpPr>
        <p:spPr>
          <a:xfrm>
            <a:off x="9525000" y="3017520"/>
            <a:ext cx="439674" cy="320040"/>
          </a:xfrm>
          <a:prstGeom prst="rect">
            <a:avLst/>
          </a:prstGeom>
          <a:solidFill>
            <a:srgbClr val="D9A441">
              <a:alpha val="74000"/>
            </a:srgbClr>
          </a:solidFill>
          <a:ln/>
        </p:spPr>
      </p:sp>
      <p:sp>
        <p:nvSpPr>
          <p:cNvPr id="27" name="Shape 25"/>
          <p:cNvSpPr/>
          <p:nvPr/>
        </p:nvSpPr>
        <p:spPr>
          <a:xfrm>
            <a:off x="9955530" y="3017520"/>
            <a:ext cx="439674" cy="320040"/>
          </a:xfrm>
          <a:prstGeom prst="rect">
            <a:avLst/>
          </a:prstGeom>
          <a:solidFill>
            <a:srgbClr val="D9A441">
              <a:alpha val="78000"/>
            </a:srgbClr>
          </a:solidFill>
          <a:ln/>
        </p:spPr>
      </p:sp>
      <p:sp>
        <p:nvSpPr>
          <p:cNvPr id="28" name="Shape 26"/>
          <p:cNvSpPr/>
          <p:nvPr/>
        </p:nvSpPr>
        <p:spPr>
          <a:xfrm>
            <a:off x="10386060" y="3017520"/>
            <a:ext cx="439674" cy="320040"/>
          </a:xfrm>
          <a:prstGeom prst="rect">
            <a:avLst/>
          </a:prstGeom>
          <a:solidFill>
            <a:srgbClr val="D9A441">
              <a:alpha val="81000"/>
            </a:srgbClr>
          </a:solidFill>
          <a:ln/>
        </p:spPr>
      </p:sp>
      <p:sp>
        <p:nvSpPr>
          <p:cNvPr id="29" name="Shape 27"/>
          <p:cNvSpPr/>
          <p:nvPr/>
        </p:nvSpPr>
        <p:spPr>
          <a:xfrm>
            <a:off x="10816590" y="3017520"/>
            <a:ext cx="439674" cy="320040"/>
          </a:xfrm>
          <a:prstGeom prst="rect">
            <a:avLst/>
          </a:prstGeom>
          <a:solidFill>
            <a:srgbClr val="D9A441">
              <a:alpha val="85000"/>
            </a:srgbClr>
          </a:solidFill>
          <a:ln/>
        </p:spPr>
      </p:sp>
      <p:sp>
        <p:nvSpPr>
          <p:cNvPr id="30" name="Text 28"/>
          <p:cNvSpPr/>
          <p:nvPr/>
        </p:nvSpPr>
        <p:spPr>
          <a:xfrm>
            <a:off x="822960" y="2633472"/>
            <a:ext cx="2926080" cy="274320"/>
          </a:xfrm>
          <a:prstGeom prst="rect">
            <a:avLst/>
          </a:prstGeom>
          <a:noFill/>
          <a:ln/>
        </p:spPr>
        <p:txBody>
          <a:bodyPr wrap="square" lIns="0" tIns="0" rIns="0" bIns="0" rtlCol="0" anchor="ctr"/>
          <a:lstStyle/>
          <a:p>
            <a:pPr indent="0" marL="0">
              <a:buNone/>
            </a:pPr>
            <a:r>
              <a:rPr lang="en-US" sz="1050" b="1" spc="100" kern="0" dirty="0">
                <a:solidFill>
                  <a:srgbClr val="C7D3F0"/>
                </a:solidFill>
                <a:latin typeface="Calibri" pitchFamily="34" charset="0"/>
                <a:ea typeface="Calibri" pitchFamily="34" charset="-122"/>
                <a:cs typeface="Calibri" pitchFamily="34" charset="-120"/>
              </a:rPr>
              <a:t>MÁXIMA SEGURIDAD</a:t>
            </a:r>
            <a:endParaRPr lang="en-US" sz="1050" dirty="0"/>
          </a:p>
        </p:txBody>
      </p:sp>
      <p:sp>
        <p:nvSpPr>
          <p:cNvPr id="31" name="Text 29"/>
          <p:cNvSpPr/>
          <p:nvPr/>
        </p:nvSpPr>
        <p:spPr>
          <a:xfrm>
            <a:off x="822960" y="3401568"/>
            <a:ext cx="2926080" cy="274320"/>
          </a:xfrm>
          <a:prstGeom prst="rect">
            <a:avLst/>
          </a:prstGeom>
          <a:noFill/>
          <a:ln/>
        </p:spPr>
        <p:txBody>
          <a:bodyPr wrap="square" lIns="0" tIns="0" rIns="0" bIns="0" rtlCol="0" anchor="ctr"/>
          <a:lstStyle/>
          <a:p>
            <a:pPr indent="0" marL="0">
              <a:buNone/>
            </a:pPr>
            <a:r>
              <a:rPr lang="en-US" sz="1000" i="1" dirty="0">
                <a:solidFill>
                  <a:srgbClr val="8D98C4"/>
                </a:solidFill>
                <a:latin typeface="Calibri" pitchFamily="34" charset="0"/>
                <a:ea typeface="Calibri" pitchFamily="34" charset="-122"/>
                <a:cs typeface="Calibri" pitchFamily="34" charset="-120"/>
              </a:rPr>
              <a:t>ORAM / fuga ~nula · costo alto</a:t>
            </a:r>
            <a:endParaRPr lang="en-US" sz="1000" dirty="0"/>
          </a:p>
        </p:txBody>
      </p:sp>
      <p:sp>
        <p:nvSpPr>
          <p:cNvPr id="32" name="Text 30"/>
          <p:cNvSpPr/>
          <p:nvPr/>
        </p:nvSpPr>
        <p:spPr>
          <a:xfrm>
            <a:off x="8412480" y="2633472"/>
            <a:ext cx="2926080" cy="274320"/>
          </a:xfrm>
          <a:prstGeom prst="rect">
            <a:avLst/>
          </a:prstGeom>
          <a:noFill/>
          <a:ln/>
        </p:spPr>
        <p:txBody>
          <a:bodyPr wrap="square" lIns="0" tIns="0" rIns="0" bIns="0" rtlCol="0" anchor="ctr"/>
          <a:lstStyle/>
          <a:p>
            <a:pPr algn="r" indent="0" marL="0">
              <a:buNone/>
            </a:pPr>
            <a:r>
              <a:rPr lang="en-US" sz="1050" b="1" spc="100" kern="0" dirty="0">
                <a:solidFill>
                  <a:srgbClr val="D9A441"/>
                </a:solidFill>
                <a:latin typeface="Calibri" pitchFamily="34" charset="0"/>
                <a:ea typeface="Calibri" pitchFamily="34" charset="-122"/>
                <a:cs typeface="Calibri" pitchFamily="34" charset="-120"/>
              </a:rPr>
              <a:t>MÁXIMA EFICIENCIA</a:t>
            </a:r>
            <a:endParaRPr lang="en-US" sz="1050" dirty="0"/>
          </a:p>
        </p:txBody>
      </p:sp>
      <p:sp>
        <p:nvSpPr>
          <p:cNvPr id="33" name="Text 31"/>
          <p:cNvSpPr/>
          <p:nvPr/>
        </p:nvSpPr>
        <p:spPr>
          <a:xfrm>
            <a:off x="8412480" y="3401568"/>
            <a:ext cx="2926080" cy="274320"/>
          </a:xfrm>
          <a:prstGeom prst="rect">
            <a:avLst/>
          </a:prstGeom>
          <a:noFill/>
          <a:ln/>
        </p:spPr>
        <p:txBody>
          <a:bodyPr wrap="square" lIns="0" tIns="0" rIns="0" bIns="0" rtlCol="0" anchor="ctr"/>
          <a:lstStyle/>
          <a:p>
            <a:pPr algn="r" indent="0" marL="0">
              <a:buNone/>
            </a:pPr>
            <a:r>
              <a:rPr lang="en-US" sz="1000" i="1" dirty="0">
                <a:solidFill>
                  <a:srgbClr val="8D98C4"/>
                </a:solidFill>
                <a:latin typeface="Calibri" pitchFamily="34" charset="0"/>
                <a:ea typeface="Calibri" pitchFamily="34" charset="-122"/>
                <a:cs typeface="Calibri" pitchFamily="34" charset="-120"/>
              </a:rPr>
              <a:t>cifrado determinista · fuga alta</a:t>
            </a:r>
            <a:endParaRPr lang="en-US" sz="1000" dirty="0"/>
          </a:p>
        </p:txBody>
      </p:sp>
      <p:sp>
        <p:nvSpPr>
          <p:cNvPr id="34" name="Shape 32"/>
          <p:cNvSpPr/>
          <p:nvPr/>
        </p:nvSpPr>
        <p:spPr>
          <a:xfrm>
            <a:off x="7426757" y="3076956"/>
            <a:ext cx="201168" cy="201168"/>
          </a:xfrm>
          <a:prstGeom prst="ellipse">
            <a:avLst/>
          </a:prstGeom>
          <a:solidFill>
            <a:srgbClr val="FFFFFF"/>
          </a:solidFill>
          <a:ln w="25400">
            <a:solidFill>
              <a:srgbClr val="1B1F3B"/>
            </a:solidFill>
            <a:prstDash val="solid"/>
          </a:ln>
        </p:spPr>
      </p:sp>
      <p:sp>
        <p:nvSpPr>
          <p:cNvPr id="35" name="Text 33"/>
          <p:cNvSpPr/>
          <p:nvPr/>
        </p:nvSpPr>
        <p:spPr>
          <a:xfrm>
            <a:off x="6521501" y="3840480"/>
            <a:ext cx="2011680" cy="502920"/>
          </a:xfrm>
          <a:prstGeom prst="rect">
            <a:avLst/>
          </a:prstGeom>
          <a:noFill/>
          <a:ln/>
        </p:spPr>
        <p:txBody>
          <a:bodyPr wrap="square" lIns="0" tIns="0" rIns="0" bIns="0" rtlCol="0" anchor="ctr"/>
          <a:lstStyle/>
          <a:p>
            <a:pPr algn="ctr" indent="0" marL="0">
              <a:lnSpc>
                <a:spcPct val="110000"/>
              </a:lnSpc>
              <a:buNone/>
            </a:pPr>
            <a:r>
              <a:rPr lang="en-US" sz="1100" b="1" dirty="0">
                <a:solidFill>
                  <a:srgbClr val="FFFFFF"/>
                </a:solidFill>
                <a:latin typeface="Calibri" pitchFamily="34" charset="0"/>
                <a:ea typeface="Calibri" pitchFamily="34" charset="-122"/>
                <a:cs typeface="Calibri" pitchFamily="34" charset="-120"/>
              </a:rPr>
              <a:t>SSE-1 / SSE-2</a:t>
            </a:r>
            <a:endParaRPr lang="en-US" sz="1100" dirty="0"/>
          </a:p>
          <a:p>
            <a:pPr algn="ctr" indent="0" marL="0">
              <a:lnSpc>
                <a:spcPct val="110000"/>
              </a:lnSpc>
              <a:buNone/>
            </a:pPr>
            <a:r>
              <a:rPr lang="en-US" sz="1100" b="1" dirty="0">
                <a:solidFill>
                  <a:srgbClr val="FFFFFF"/>
                </a:solidFill>
                <a:latin typeface="Calibri" pitchFamily="34" charset="0"/>
                <a:ea typeface="Calibri" pitchFamily="34" charset="-122"/>
                <a:cs typeface="Calibri" pitchFamily="34" charset="-120"/>
              </a:rPr>
              <a:t>(PRF + PRP)</a:t>
            </a:r>
            <a:endParaRPr lang="en-US" sz="1100" dirty="0"/>
          </a:p>
        </p:txBody>
      </p:sp>
      <p:sp>
        <p:nvSpPr>
          <p:cNvPr id="36" name="Shape 34"/>
          <p:cNvSpPr/>
          <p:nvPr/>
        </p:nvSpPr>
        <p:spPr>
          <a:xfrm>
            <a:off x="548640" y="4892040"/>
            <a:ext cx="5349240" cy="1417320"/>
          </a:xfrm>
          <a:prstGeom prst="roundRect">
            <a:avLst>
              <a:gd name="adj" fmla="val 5161"/>
            </a:avLst>
          </a:prstGeom>
          <a:solidFill>
            <a:srgbClr val="262C56"/>
          </a:solidFill>
          <a:ln/>
        </p:spPr>
      </p:sp>
      <p:sp>
        <p:nvSpPr>
          <p:cNvPr id="37" name="Text 35"/>
          <p:cNvSpPr/>
          <p:nvPr/>
        </p:nvSpPr>
        <p:spPr>
          <a:xfrm>
            <a:off x="777240" y="5029200"/>
            <a:ext cx="4892040" cy="411480"/>
          </a:xfrm>
          <a:prstGeom prst="rect">
            <a:avLst/>
          </a:prstGeom>
          <a:noFill/>
          <a:ln/>
        </p:spPr>
        <p:txBody>
          <a:bodyPr wrap="square" lIns="0" tIns="0" rIns="0" bIns="0" rtlCol="0" anchor="ctr"/>
          <a:lstStyle/>
          <a:p>
            <a:pPr indent="0" marL="0">
              <a:buNone/>
            </a:pPr>
            <a:r>
              <a:rPr lang="en-US" sz="1400" b="1" dirty="0">
                <a:solidFill>
                  <a:srgbClr val="D9A441"/>
                </a:solidFill>
                <a:latin typeface="Cambria" pitchFamily="34" charset="0"/>
                <a:ea typeface="Cambria" pitchFamily="34" charset="-122"/>
                <a:cs typeface="Cambria" pitchFamily="34" charset="-120"/>
              </a:rPr>
              <a:t>El límite no es la clave pública</a:t>
            </a:r>
            <a:endParaRPr lang="en-US" sz="1400" dirty="0"/>
          </a:p>
        </p:txBody>
      </p:sp>
      <p:sp>
        <p:nvSpPr>
          <p:cNvPr id="38" name="Text 36"/>
          <p:cNvSpPr/>
          <p:nvPr/>
        </p:nvSpPr>
        <p:spPr>
          <a:xfrm>
            <a:off x="777240" y="5458968"/>
            <a:ext cx="4892040" cy="777240"/>
          </a:xfrm>
          <a:prstGeom prst="rect">
            <a:avLst/>
          </a:prstGeom>
          <a:noFill/>
          <a:ln/>
        </p:spPr>
        <p:txBody>
          <a:bodyPr wrap="square" lIns="0" tIns="0" rIns="0" bIns="0" rtlCol="0" anchor="ctr"/>
          <a:lstStyle/>
          <a:p>
            <a:pPr indent="0" marL="0">
              <a:lnSpc>
                <a:spcPct val="120000"/>
              </a:lnSpc>
              <a:buNone/>
            </a:pPr>
            <a:r>
              <a:rPr lang="en-US" sz="1150" dirty="0">
                <a:solidFill>
                  <a:srgbClr val="C7D3F0"/>
                </a:solidFill>
                <a:latin typeface="Calibri" pitchFamily="34" charset="0"/>
                <a:ea typeface="Calibri" pitchFamily="34" charset="-122"/>
                <a:cs typeface="Calibri" pitchFamily="34" charset="-120"/>
              </a:rPr>
              <a:t>El problema nunca fue cifrar — fue cifrar de forma que el patrón de acceso resultante siga siendo demostrablemente acotado.</a:t>
            </a:r>
            <a:endParaRPr lang="en-US" sz="1150" dirty="0"/>
          </a:p>
        </p:txBody>
      </p:sp>
      <p:sp>
        <p:nvSpPr>
          <p:cNvPr id="39" name="Shape 37"/>
          <p:cNvSpPr/>
          <p:nvPr/>
        </p:nvSpPr>
        <p:spPr>
          <a:xfrm>
            <a:off x="6355080" y="4892040"/>
            <a:ext cx="5349240" cy="1417320"/>
          </a:xfrm>
          <a:prstGeom prst="roundRect">
            <a:avLst>
              <a:gd name="adj" fmla="val 5161"/>
            </a:avLst>
          </a:prstGeom>
          <a:solidFill>
            <a:srgbClr val="262C56"/>
          </a:solidFill>
          <a:ln/>
        </p:spPr>
      </p:sp>
      <p:sp>
        <p:nvSpPr>
          <p:cNvPr id="40" name="Text 38"/>
          <p:cNvSpPr/>
          <p:nvPr/>
        </p:nvSpPr>
        <p:spPr>
          <a:xfrm>
            <a:off x="6583680" y="5029200"/>
            <a:ext cx="4892040" cy="411480"/>
          </a:xfrm>
          <a:prstGeom prst="rect">
            <a:avLst/>
          </a:prstGeom>
          <a:noFill/>
          <a:ln/>
        </p:spPr>
        <p:txBody>
          <a:bodyPr wrap="square" lIns="0" tIns="0" rIns="0" bIns="0" rtlCol="0" anchor="ctr"/>
          <a:lstStyle/>
          <a:p>
            <a:pPr indent="0" marL="0">
              <a:buNone/>
            </a:pPr>
            <a:r>
              <a:rPr lang="en-US" sz="1400" b="1" dirty="0">
                <a:solidFill>
                  <a:srgbClr val="D9A441"/>
                </a:solidFill>
                <a:latin typeface="Cambria" pitchFamily="34" charset="0"/>
                <a:ea typeface="Cambria" pitchFamily="34" charset="-122"/>
                <a:cs typeface="Cambria" pitchFamily="34" charset="-120"/>
              </a:rPr>
              <a:t>El diseño está en la estructura</a:t>
            </a:r>
            <a:endParaRPr lang="en-US" sz="1400" dirty="0"/>
          </a:p>
        </p:txBody>
      </p:sp>
      <p:sp>
        <p:nvSpPr>
          <p:cNvPr id="41" name="Text 39"/>
          <p:cNvSpPr/>
          <p:nvPr/>
        </p:nvSpPr>
        <p:spPr>
          <a:xfrm>
            <a:off x="6583680" y="5458968"/>
            <a:ext cx="4892040" cy="777240"/>
          </a:xfrm>
          <a:prstGeom prst="rect">
            <a:avLst/>
          </a:prstGeom>
          <a:noFill/>
          <a:ln/>
        </p:spPr>
        <p:txBody>
          <a:bodyPr wrap="square" lIns="0" tIns="0" rIns="0" bIns="0" rtlCol="0" anchor="ctr"/>
          <a:lstStyle/>
          <a:p>
            <a:pPr indent="0" marL="0">
              <a:lnSpc>
                <a:spcPct val="120000"/>
              </a:lnSpc>
              <a:buNone/>
            </a:pPr>
            <a:r>
              <a:rPr lang="en-US" sz="1150" dirty="0">
                <a:solidFill>
                  <a:srgbClr val="C7D3F0"/>
                </a:solidFill>
                <a:latin typeface="Calibri" pitchFamily="34" charset="0"/>
                <a:ea typeface="Calibri" pitchFamily="34" charset="-122"/>
                <a:cs typeface="Calibri" pitchFamily="34" charset="-120"/>
              </a:rPr>
              <a:t>PRF y PRP dan la velocidad; la estructura del índice (T + A) decide exactamente qué se filtra y cuándo.</a:t>
            </a:r>
            <a:endParaRPr lang="en-US" sz="1150" dirty="0"/>
          </a:p>
        </p:txBody>
      </p:sp>
      <p:sp>
        <p:nvSpPr>
          <p:cNvPr id="42" name="Text 40"/>
          <p:cNvSpPr/>
          <p:nvPr/>
        </p:nvSpPr>
        <p:spPr>
          <a:xfrm>
            <a:off x="11368735" y="6400800"/>
            <a:ext cx="457200" cy="274320"/>
          </a:xfrm>
          <a:prstGeom prst="rect">
            <a:avLst/>
          </a:prstGeom>
          <a:noFill/>
          <a:ln/>
        </p:spPr>
        <p:txBody>
          <a:bodyPr wrap="square" lIns="0" tIns="0" rIns="0" bIns="0" rtlCol="0" anchor="ctr"/>
          <a:lstStyle/>
          <a:p>
            <a:pPr algn="r" indent="0" marL="0">
              <a:buNone/>
            </a:pPr>
            <a:r>
              <a:rPr lang="en-US" sz="1000" dirty="0">
                <a:solidFill>
                  <a:srgbClr val="8D98C4"/>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1F3B"/>
        </a:solidFill>
      </p:bgPr>
    </p:bg>
    <p:spTree>
      <p:nvGrpSpPr>
        <p:cNvPr id="1" name=""/>
        <p:cNvGrpSpPr/>
        <p:nvPr/>
      </p:nvGrpSpPr>
      <p:grpSpPr>
        <a:xfrm>
          <a:off x="0" y="0"/>
          <a:ext cx="0" cy="0"/>
          <a:chOff x="0" y="0"/>
          <a:chExt cx="0" cy="0"/>
        </a:xfrm>
      </p:grpSpPr>
      <p:sp>
        <p:nvSpPr>
          <p:cNvPr id="2" name="Text 0"/>
          <p:cNvSpPr/>
          <p:nvPr/>
        </p:nvSpPr>
        <p:spPr>
          <a:xfrm>
            <a:off x="822960" y="822960"/>
            <a:ext cx="7315200" cy="365760"/>
          </a:xfrm>
          <a:prstGeom prst="rect">
            <a:avLst/>
          </a:prstGeom>
          <a:noFill/>
          <a:ln/>
        </p:spPr>
        <p:txBody>
          <a:bodyPr wrap="square" lIns="0" tIns="0" rIns="0" bIns="0" rtlCol="0" anchor="ctr"/>
          <a:lstStyle/>
          <a:p>
            <a:pPr indent="0" marL="0">
              <a:buNone/>
            </a:pPr>
            <a:r>
              <a:rPr lang="en-US" sz="1300" b="1" spc="300" kern="0" dirty="0">
                <a:solidFill>
                  <a:srgbClr val="D9A441"/>
                </a:solidFill>
                <a:latin typeface="Calibri" pitchFamily="34" charset="0"/>
                <a:ea typeface="Calibri" pitchFamily="34" charset="-122"/>
                <a:cs typeface="Calibri" pitchFamily="34" charset="-120"/>
              </a:rPr>
              <a:t>EN SÍNTESIS</a:t>
            </a:r>
            <a:endParaRPr lang="en-US" sz="1300" dirty="0"/>
          </a:p>
        </p:txBody>
      </p:sp>
      <p:sp>
        <p:nvSpPr>
          <p:cNvPr id="3" name="Text 1"/>
          <p:cNvSpPr/>
          <p:nvPr/>
        </p:nvSpPr>
        <p:spPr>
          <a:xfrm>
            <a:off x="777240" y="1234440"/>
            <a:ext cx="10515600" cy="1463040"/>
          </a:xfrm>
          <a:prstGeom prst="rect">
            <a:avLst/>
          </a:prstGeom>
          <a:noFill/>
          <a:ln/>
        </p:spPr>
        <p:txBody>
          <a:bodyPr wrap="square" lIns="0" tIns="0" rIns="0" bIns="0" rtlCol="0" anchor="ctr"/>
          <a:lstStyle/>
          <a:p>
            <a:pPr indent="0" marL="0">
              <a:lnSpc>
                <a:spcPct val="110000"/>
              </a:lnSpc>
              <a:buNone/>
            </a:pPr>
            <a:r>
              <a:rPr lang="en-US" sz="3400" b="1" dirty="0">
                <a:solidFill>
                  <a:srgbClr val="FFFFFF"/>
                </a:solidFill>
                <a:latin typeface="Cambria" pitchFamily="34" charset="0"/>
                <a:ea typeface="Cambria" pitchFamily="34" charset="-122"/>
                <a:cs typeface="Cambria" pitchFamily="34" charset="-120"/>
              </a:rPr>
              <a:t>El cifrado simétrico no es un detalle</a:t>
            </a:r>
            <a:endParaRPr lang="en-US" sz="3400" dirty="0"/>
          </a:p>
          <a:p>
            <a:pPr indent="0" marL="0">
              <a:lnSpc>
                <a:spcPct val="110000"/>
              </a:lnSpc>
              <a:buNone/>
            </a:pPr>
            <a:r>
              <a:rPr lang="en-US" sz="3400" b="1" dirty="0">
                <a:solidFill>
                  <a:srgbClr val="FFFFFF"/>
                </a:solidFill>
                <a:latin typeface="Cambria" pitchFamily="34" charset="0"/>
                <a:ea typeface="Cambria" pitchFamily="34" charset="-122"/>
                <a:cs typeface="Cambria" pitchFamily="34" charset="-120"/>
              </a:rPr>
              <a:t>de implementación de SSE</a:t>
            </a:r>
            <a:endParaRPr lang="en-US" sz="3400" dirty="0"/>
          </a:p>
        </p:txBody>
      </p:sp>
      <p:sp>
        <p:nvSpPr>
          <p:cNvPr id="4" name="Text 2"/>
          <p:cNvSpPr/>
          <p:nvPr/>
        </p:nvSpPr>
        <p:spPr>
          <a:xfrm>
            <a:off x="822960" y="2697480"/>
            <a:ext cx="9601200" cy="594360"/>
          </a:xfrm>
          <a:prstGeom prst="rect">
            <a:avLst/>
          </a:prstGeom>
          <a:noFill/>
          <a:ln/>
        </p:spPr>
        <p:txBody>
          <a:bodyPr wrap="square" lIns="0" tIns="0" rIns="0" bIns="0" rtlCol="0" anchor="ctr"/>
          <a:lstStyle/>
          <a:p>
            <a:pPr indent="0" marL="0">
              <a:lnSpc>
                <a:spcPct val="125000"/>
              </a:lnSpc>
              <a:buNone/>
            </a:pPr>
            <a:r>
              <a:rPr lang="en-US" sz="1500" dirty="0">
                <a:solidFill>
                  <a:srgbClr val="C7D3F0"/>
                </a:solidFill>
                <a:latin typeface="Calibri" pitchFamily="34" charset="0"/>
                <a:ea typeface="Calibri" pitchFamily="34" charset="-122"/>
                <a:cs typeface="Calibri" pitchFamily="34" charset="-120"/>
              </a:rPr>
              <a:t>Es la razón por la que la búsqueda sobre datos cifrados es viable en la práctica — no solo un resultado teórico de un paper.</a:t>
            </a:r>
            <a:endParaRPr lang="en-US" sz="1500" dirty="0"/>
          </a:p>
        </p:txBody>
      </p:sp>
      <p:sp>
        <p:nvSpPr>
          <p:cNvPr id="5" name="Shape 3"/>
          <p:cNvSpPr/>
          <p:nvPr/>
        </p:nvSpPr>
        <p:spPr>
          <a:xfrm>
            <a:off x="822960" y="3520440"/>
            <a:ext cx="54864" cy="457200"/>
          </a:xfrm>
          <a:prstGeom prst="roundRect">
            <a:avLst/>
          </a:prstGeom>
          <a:solidFill>
            <a:srgbClr val="D9A441"/>
          </a:solidFill>
          <a:ln/>
        </p:spPr>
      </p:sp>
      <p:sp>
        <p:nvSpPr>
          <p:cNvPr id="6" name="Text 4"/>
          <p:cNvSpPr/>
          <p:nvPr/>
        </p:nvSpPr>
        <p:spPr>
          <a:xfrm>
            <a:off x="1051560" y="3447288"/>
            <a:ext cx="9875520" cy="594360"/>
          </a:xfrm>
          <a:prstGeom prst="rect">
            <a:avLst/>
          </a:prstGeom>
          <a:noFill/>
          <a:ln/>
        </p:spPr>
        <p:txBody>
          <a:bodyPr wrap="square" lIns="0" tIns="0" rIns="0" bIns="0" rtlCol="0" anchor="ctr"/>
          <a:lstStyle/>
          <a:p>
            <a:pPr indent="0" marL="0">
              <a:lnSpc>
                <a:spcPct val="115000"/>
              </a:lnSpc>
              <a:buNone/>
            </a:pPr>
            <a:r>
              <a:rPr lang="en-US" sz="1400" dirty="0">
                <a:solidFill>
                  <a:srgbClr val="FFFFFF"/>
                </a:solidFill>
                <a:latin typeface="Calibri" pitchFamily="34" charset="0"/>
                <a:ea typeface="Calibri" pitchFamily="34" charset="-122"/>
                <a:cs typeface="Calibri" pitchFamily="34" charset="-120"/>
              </a:rPr>
              <a:t>PRF y PRP dan la velocidad que el cifrado de clave pública no puede ofrecer a escala.</a:t>
            </a:r>
            <a:endParaRPr lang="en-US" sz="1400" dirty="0"/>
          </a:p>
        </p:txBody>
      </p:sp>
      <p:sp>
        <p:nvSpPr>
          <p:cNvPr id="7" name="Shape 5"/>
          <p:cNvSpPr/>
          <p:nvPr/>
        </p:nvSpPr>
        <p:spPr>
          <a:xfrm>
            <a:off x="822960" y="4142232"/>
            <a:ext cx="54864" cy="457200"/>
          </a:xfrm>
          <a:prstGeom prst="roundRect">
            <a:avLst/>
          </a:prstGeom>
          <a:solidFill>
            <a:srgbClr val="D9A441"/>
          </a:solidFill>
          <a:ln/>
        </p:spPr>
      </p:sp>
      <p:sp>
        <p:nvSpPr>
          <p:cNvPr id="8" name="Text 6"/>
          <p:cNvSpPr/>
          <p:nvPr/>
        </p:nvSpPr>
        <p:spPr>
          <a:xfrm>
            <a:off x="1051560" y="4069080"/>
            <a:ext cx="9875520" cy="594360"/>
          </a:xfrm>
          <a:prstGeom prst="rect">
            <a:avLst/>
          </a:prstGeom>
          <a:noFill/>
          <a:ln/>
        </p:spPr>
        <p:txBody>
          <a:bodyPr wrap="square" lIns="0" tIns="0" rIns="0" bIns="0" rtlCol="0" anchor="ctr"/>
          <a:lstStyle/>
          <a:p>
            <a:pPr indent="0" marL="0">
              <a:lnSpc>
                <a:spcPct val="115000"/>
              </a:lnSpc>
              <a:buNone/>
            </a:pPr>
            <a:r>
              <a:rPr lang="en-US" sz="1400" dirty="0">
                <a:solidFill>
                  <a:srgbClr val="FFFFFF"/>
                </a:solidFill>
                <a:latin typeface="Calibri" pitchFamily="34" charset="0"/>
                <a:ea typeface="Calibri" pitchFamily="34" charset="-122"/>
                <a:cs typeface="Calibri" pitchFamily="34" charset="-120"/>
              </a:rPr>
              <a:t>La estructura del índice (T + A) — no la primitiva sola — determina qué se filtra.</a:t>
            </a:r>
            <a:endParaRPr lang="en-US" sz="1400" dirty="0"/>
          </a:p>
        </p:txBody>
      </p:sp>
      <p:sp>
        <p:nvSpPr>
          <p:cNvPr id="9" name="Shape 7"/>
          <p:cNvSpPr/>
          <p:nvPr/>
        </p:nvSpPr>
        <p:spPr>
          <a:xfrm>
            <a:off x="822960" y="4764024"/>
            <a:ext cx="54864" cy="457200"/>
          </a:xfrm>
          <a:prstGeom prst="roundRect">
            <a:avLst/>
          </a:prstGeom>
          <a:solidFill>
            <a:srgbClr val="D9A441"/>
          </a:solidFill>
          <a:ln/>
        </p:spPr>
      </p:sp>
      <p:sp>
        <p:nvSpPr>
          <p:cNvPr id="10" name="Text 8"/>
          <p:cNvSpPr/>
          <p:nvPr/>
        </p:nvSpPr>
        <p:spPr>
          <a:xfrm>
            <a:off x="1051560" y="4690872"/>
            <a:ext cx="9875520" cy="594360"/>
          </a:xfrm>
          <a:prstGeom prst="rect">
            <a:avLst/>
          </a:prstGeom>
          <a:noFill/>
          <a:ln/>
        </p:spPr>
        <p:txBody>
          <a:bodyPr wrap="square" lIns="0" tIns="0" rIns="0" bIns="0" rtlCol="0" anchor="ctr"/>
          <a:lstStyle/>
          <a:p>
            <a:pPr indent="0" marL="0">
              <a:lnSpc>
                <a:spcPct val="115000"/>
              </a:lnSpc>
              <a:buNone/>
            </a:pPr>
            <a:r>
              <a:rPr lang="en-US" sz="1400" dirty="0">
                <a:solidFill>
                  <a:srgbClr val="FFFFFF"/>
                </a:solidFill>
                <a:latin typeface="Calibri" pitchFamily="34" charset="0"/>
                <a:ea typeface="Calibri" pitchFamily="34" charset="-122"/>
                <a:cs typeface="Calibri" pitchFamily="34" charset="-120"/>
              </a:rPr>
              <a:t>SSE-2 muestra que la seguridad adaptativa se logra sin abandonar el modelo simétrico.</a:t>
            </a:r>
            <a:endParaRPr lang="en-US" sz="1400" dirty="0"/>
          </a:p>
        </p:txBody>
      </p:sp>
      <p:sp>
        <p:nvSpPr>
          <p:cNvPr id="11" name="Shape 9"/>
          <p:cNvSpPr/>
          <p:nvPr/>
        </p:nvSpPr>
        <p:spPr>
          <a:xfrm>
            <a:off x="822960" y="5385816"/>
            <a:ext cx="54864" cy="457200"/>
          </a:xfrm>
          <a:prstGeom prst="roundRect">
            <a:avLst/>
          </a:prstGeom>
          <a:solidFill>
            <a:srgbClr val="D9A441"/>
          </a:solidFill>
          <a:ln/>
        </p:spPr>
      </p:sp>
      <p:sp>
        <p:nvSpPr>
          <p:cNvPr id="12" name="Text 10"/>
          <p:cNvSpPr/>
          <p:nvPr/>
        </p:nvSpPr>
        <p:spPr>
          <a:xfrm>
            <a:off x="1051560" y="5312664"/>
            <a:ext cx="9875520" cy="594360"/>
          </a:xfrm>
          <a:prstGeom prst="rect">
            <a:avLst/>
          </a:prstGeom>
          <a:noFill/>
          <a:ln/>
        </p:spPr>
        <p:txBody>
          <a:bodyPr wrap="square" lIns="0" tIns="0" rIns="0" bIns="0" rtlCol="0" anchor="ctr"/>
          <a:lstStyle/>
          <a:p>
            <a:pPr indent="0" marL="0">
              <a:lnSpc>
                <a:spcPct val="115000"/>
              </a:lnSpc>
              <a:buNone/>
            </a:pPr>
            <a:r>
              <a:rPr lang="en-US" sz="1400" dirty="0">
                <a:solidFill>
                  <a:srgbClr val="FFFFFF"/>
                </a:solidFill>
                <a:latin typeface="Calibri" pitchFamily="34" charset="0"/>
                <a:ea typeface="Calibri" pitchFamily="34" charset="-122"/>
                <a:cs typeface="Calibri" pitchFamily="34" charset="-120"/>
              </a:rPr>
              <a:t>Todo esquema real SSE elige un punto explícito en el eje eficiencia ↔ fuga controlada.</a:t>
            </a:r>
            <a:endParaRPr lang="en-US" sz="1400" dirty="0"/>
          </a:p>
        </p:txBody>
      </p:sp>
      <p:sp>
        <p:nvSpPr>
          <p:cNvPr id="13" name="Text 11"/>
          <p:cNvSpPr/>
          <p:nvPr/>
        </p:nvSpPr>
        <p:spPr>
          <a:xfrm>
            <a:off x="822960" y="6263640"/>
            <a:ext cx="10058400" cy="365760"/>
          </a:xfrm>
          <a:prstGeom prst="rect">
            <a:avLst/>
          </a:prstGeom>
          <a:noFill/>
          <a:ln/>
        </p:spPr>
        <p:txBody>
          <a:bodyPr wrap="square" lIns="0" tIns="0" rIns="0" bIns="0" rtlCol="0" anchor="ctr"/>
          <a:lstStyle/>
          <a:p>
            <a:pPr indent="0" marL="0">
              <a:buNone/>
            </a:pPr>
            <a:r>
              <a:rPr lang="en-US" sz="1050" i="1" dirty="0">
                <a:solidFill>
                  <a:srgbClr val="8D98C4"/>
                </a:solidFill>
                <a:latin typeface="Calibri" pitchFamily="34" charset="0"/>
                <a:ea typeface="Calibri" pitchFamily="34" charset="-122"/>
                <a:cs typeface="Calibri" pitchFamily="34" charset="-120"/>
              </a:rPr>
              <a:t>Curtmola · Garay · Kamara · Ostrovsky — "Searchable Symmetric Encryption: Improved Definitions and Efficient Constructions" (2006)</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2026-07-11T21:29:47Z</dcterms:created>
  <dcterms:modified xsi:type="dcterms:W3CDTF">2026-07-11T21:29:47Z</dcterms:modified>
</cp:coreProperties>
</file>