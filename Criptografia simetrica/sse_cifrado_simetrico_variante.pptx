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B711CEF9-531F-4E68-8BC0-91C9A7714159}" v="11" dt="2026-07-14T01:55:09.38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21" autoAdjust="0"/>
    <p:restoredTop sz="94610"/>
  </p:normalViewPr>
  <p:slideViewPr>
    <p:cSldViewPr snapToGrid="0" snapToObjects="1">
      <p:cViewPr varScale="1">
        <p:scale>
          <a:sx n="111" d="100"/>
          <a:sy n="111" d="100"/>
        </p:scale>
        <p:origin x="58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ernan Herrera" userId="5f310cd8fb8e5f50" providerId="LiveId" clId="{62BC83D4-BD5F-4BA6-AC28-329178406771}"/>
    <pc:docChg chg="undo custSel modSld">
      <pc:chgData name="Hernan Herrera" userId="5f310cd8fb8e5f50" providerId="LiveId" clId="{62BC83D4-BD5F-4BA6-AC28-329178406771}" dt="2026-07-14T01:50:13.042" v="9" actId="20577"/>
      <pc:docMkLst>
        <pc:docMk/>
      </pc:docMkLst>
      <pc:sldChg chg="modSp mod">
        <pc:chgData name="Hernan Herrera" userId="5f310cd8fb8e5f50" providerId="LiveId" clId="{62BC83D4-BD5F-4BA6-AC28-329178406771}" dt="2026-07-14T01:50:13.042" v="9" actId="20577"/>
        <pc:sldMkLst>
          <pc:docMk/>
          <pc:sldMk cId="0" sldId="263"/>
        </pc:sldMkLst>
        <pc:spChg chg="mod">
          <ac:chgData name="Hernan Herrera" userId="5f310cd8fb8e5f50" providerId="LiveId" clId="{62BC83D4-BD5F-4BA6-AC28-329178406771}" dt="2026-07-14T01:50:13.042" v="9" actId="20577"/>
          <ac:spMkLst>
            <pc:docMk/>
            <pc:sldMk cId="0" sldId="263"/>
            <ac:spMk id="2" creationId="{00000000-0000-0000-0000-000000000000}"/>
          </ac:spMkLst>
        </pc:spChg>
        <pc:spChg chg="mod">
          <ac:chgData name="Hernan Herrera" userId="5f310cd8fb8e5f50" providerId="LiveId" clId="{62BC83D4-BD5F-4BA6-AC28-329178406771}" dt="2026-07-14T01:49:45.909" v="5" actId="1076"/>
          <ac:spMkLst>
            <pc:docMk/>
            <pc:sldMk cId="0" sldId="263"/>
            <ac:spMk id="6" creationId="{00000000-0000-0000-0000-000000000000}"/>
          </ac:spMkLst>
        </pc:spChg>
        <pc:spChg chg="mod">
          <ac:chgData name="Hernan Herrera" userId="5f310cd8fb8e5f50" providerId="LiveId" clId="{62BC83D4-BD5F-4BA6-AC28-329178406771}" dt="2026-07-14T01:49:45.401" v="4" actId="1076"/>
          <ac:spMkLst>
            <pc:docMk/>
            <pc:sldMk cId="0" sldId="263"/>
            <ac:spMk id="7" creationId="{00000000-0000-0000-0000-000000000000}"/>
          </ac:spMkLst>
        </pc:spChg>
        <pc:spChg chg="mod">
          <ac:chgData name="Hernan Herrera" userId="5f310cd8fb8e5f50" providerId="LiveId" clId="{62BC83D4-BD5F-4BA6-AC28-329178406771}" dt="2026-07-14T01:49:44.937" v="3" actId="1076"/>
          <ac:spMkLst>
            <pc:docMk/>
            <pc:sldMk cId="0" sldId="263"/>
            <ac:spMk id="11" creationId="{00000000-0000-0000-0000-000000000000}"/>
          </ac:spMkLst>
        </pc:spChg>
      </pc:sldChg>
      <pc:sldChg chg="modSp mod">
        <pc:chgData name="Hernan Herrera" userId="5f310cd8fb8e5f50" providerId="LiveId" clId="{62BC83D4-BD5F-4BA6-AC28-329178406771}" dt="2026-07-14T01:50:06.650" v="8" actId="20577"/>
        <pc:sldMkLst>
          <pc:docMk/>
          <pc:sldMk cId="0" sldId="264"/>
        </pc:sldMkLst>
        <pc:spChg chg="mod">
          <ac:chgData name="Hernan Herrera" userId="5f310cd8fb8e5f50" providerId="LiveId" clId="{62BC83D4-BD5F-4BA6-AC28-329178406771}" dt="2026-07-14T01:50:06.650" v="8" actId="20577"/>
          <ac:spMkLst>
            <pc:docMk/>
            <pc:sldMk cId="0" sldId="264"/>
            <ac:spMk id="2"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38262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"Buenos días. El </a:t>
            </a:r>
            <a:r>
              <a:rPr lang="en-US" sz="1200" b="0" kern="1200" dirty="0" err="1">
                <a:solidFill>
                  <a:schemeClr val="tx1"/>
                </a:solidFill>
                <a:effectLst/>
                <a:latin typeface="+mn-lt"/>
                <a:ea typeface="+mn-ea"/>
                <a:cs typeface="+mn-cs"/>
              </a:rPr>
              <a:t>tema</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esta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presentación</a:t>
            </a:r>
            <a:r>
              <a:rPr lang="en-US" sz="1200" b="0" kern="1200" dirty="0">
                <a:solidFill>
                  <a:schemeClr val="tx1"/>
                </a:solidFill>
                <a:effectLst/>
                <a:latin typeface="+mn-lt"/>
                <a:ea typeface="+mn-ea"/>
                <a:cs typeface="+mn-cs"/>
              </a:rPr>
              <a:t> es el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Cifrado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Simétrico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Buscable</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conocido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literatura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como</a:t>
            </a:r>
            <a:r>
              <a:rPr lang="en-US" sz="1200" b="0" kern="1200" dirty="0">
                <a:solidFill>
                  <a:schemeClr val="tx1"/>
                </a:solidFill>
                <a:effectLst/>
                <a:latin typeface="+mn-lt"/>
                <a:ea typeface="+mn-ea"/>
                <a:cs typeface="+mn-cs"/>
              </a:rPr>
              <a:t> SSE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sus </a:t>
            </a:r>
            <a:r>
              <a:rPr lang="en-US" sz="1200" b="0" kern="1200" dirty="0" err="1">
                <a:solidFill>
                  <a:schemeClr val="tx1"/>
                </a:solidFill>
                <a:effectLst/>
                <a:latin typeface="+mn-lt"/>
                <a:ea typeface="+mn-ea"/>
                <a:cs typeface="+mn-cs"/>
              </a:rPr>
              <a:t>siglas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inglés</a:t>
            </a:r>
            <a:r>
              <a:rPr lang="en-US" sz="1200" b="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*Symmetric Searchable Encryption*</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El </a:t>
            </a:r>
            <a:r>
              <a:rPr lang="en-US" sz="1200" b="0" kern="1200" dirty="0" err="1">
                <a:solidFill>
                  <a:schemeClr val="tx1"/>
                </a:solidFill>
                <a:effectLst/>
                <a:latin typeface="+mn-lt"/>
                <a:ea typeface="+mn-ea"/>
                <a:cs typeface="+mn-cs"/>
              </a:rPr>
              <a:t>objetivo</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analizar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cuál</a:t>
            </a:r>
            <a:r>
              <a:rPr lang="en-US" sz="1200" b="0" kern="1200" dirty="0">
                <a:solidFill>
                  <a:schemeClr val="tx1"/>
                </a:solidFill>
                <a:effectLst/>
                <a:latin typeface="+mn-lt"/>
                <a:ea typeface="+mn-ea"/>
                <a:cs typeface="+mn-cs"/>
              </a:rPr>
              <a:t> es el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núcleo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criptográfico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hace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posible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un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no es de confianza </a:t>
            </a:r>
            <a:r>
              <a:rPr lang="en-US" sz="1200" b="0" kern="1200" dirty="0" err="1">
                <a:solidFill>
                  <a:schemeClr val="tx1"/>
                </a:solidFill>
                <a:effectLst/>
                <a:latin typeface="+mn-lt"/>
                <a:ea typeface="+mn-ea"/>
                <a:cs typeface="+mn-cs"/>
              </a:rPr>
              <a:t>pueda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ejecutar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búsquedas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sobre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datos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cifrados</a:t>
            </a:r>
            <a:r>
              <a:rPr lang="en-US" sz="1200" b="0" kern="1200" dirty="0">
                <a:solidFill>
                  <a:schemeClr val="tx1"/>
                </a:solidFill>
                <a:effectLst/>
                <a:latin typeface="+mn-lt"/>
                <a:ea typeface="+mn-ea"/>
                <a:cs typeface="+mn-cs"/>
              </a:rPr>
              <a:t> sin </a:t>
            </a:r>
            <a:r>
              <a:rPr lang="en-US" sz="1200" b="0" kern="1200" dirty="0" err="1">
                <a:solidFill>
                  <a:schemeClr val="tx1"/>
                </a:solidFill>
                <a:effectLst/>
                <a:latin typeface="+mn-lt"/>
                <a:ea typeface="+mn-ea"/>
                <a:cs typeface="+mn-cs"/>
              </a:rPr>
              <a:t>descifrarlos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aprender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contenido</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La </a:t>
            </a:r>
            <a:r>
              <a:rPr lang="en-US" sz="1200" b="0" kern="1200" dirty="0" err="1">
                <a:solidFill>
                  <a:schemeClr val="tx1"/>
                </a:solidFill>
                <a:effectLst/>
                <a:latin typeface="+mn-lt"/>
                <a:ea typeface="+mn-ea"/>
                <a:cs typeface="+mn-cs"/>
              </a:rPr>
              <a:t>tesis</a:t>
            </a:r>
            <a:r>
              <a:rPr lang="en-US" sz="1200" b="0" kern="1200" dirty="0">
                <a:solidFill>
                  <a:schemeClr val="tx1"/>
                </a:solidFill>
                <a:effectLst/>
                <a:latin typeface="+mn-lt"/>
                <a:ea typeface="+mn-ea"/>
                <a:cs typeface="+mn-cs"/>
              </a:rPr>
              <a:t> central del </a:t>
            </a:r>
            <a:r>
              <a:rPr lang="en-US" sz="1200" b="0" kern="1200" dirty="0" err="1">
                <a:solidFill>
                  <a:schemeClr val="tx1"/>
                </a:solidFill>
                <a:effectLst/>
                <a:latin typeface="+mn-lt"/>
                <a:ea typeface="+mn-ea"/>
                <a:cs typeface="+mn-cs"/>
              </a:rPr>
              <a:t>trabajo</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capacidad</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proviene</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criptografía</a:t>
            </a:r>
            <a:r>
              <a:rPr lang="en-US" sz="1200" b="0" kern="1200" dirty="0">
                <a:solidFill>
                  <a:schemeClr val="tx1"/>
                </a:solidFill>
                <a:effectLst/>
                <a:latin typeface="+mn-lt"/>
                <a:ea typeface="+mn-ea"/>
                <a:cs typeface="+mn-cs"/>
              </a:rPr>
              <a:t> de clave </a:t>
            </a:r>
            <a:r>
              <a:rPr lang="en-US" sz="1200" b="0" kern="1200" dirty="0" err="1">
                <a:solidFill>
                  <a:schemeClr val="tx1"/>
                </a:solidFill>
                <a:effectLst/>
                <a:latin typeface="+mn-lt"/>
                <a:ea typeface="+mn-ea"/>
                <a:cs typeface="+mn-cs"/>
              </a:rPr>
              <a:t>pública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sino</a:t>
            </a:r>
            <a:r>
              <a:rPr lang="en-US" sz="1200" b="0" kern="1200" dirty="0">
                <a:solidFill>
                  <a:schemeClr val="tx1"/>
                </a:solidFill>
                <a:effectLst/>
                <a:latin typeface="+mn-lt"/>
                <a:ea typeface="+mn-ea"/>
                <a:cs typeface="+mn-cs"/>
              </a:rPr>
              <a:t> de dos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primitivas</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simétricas</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muy</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específicas</a:t>
            </a:r>
            <a:r>
              <a:rPr lang="en-US" sz="1200" b="0" kern="1200" dirty="0">
                <a:solidFill>
                  <a:schemeClr val="tx1"/>
                </a:solidFill>
                <a:effectLst/>
                <a:latin typeface="+mn-lt"/>
                <a:ea typeface="+mn-ea"/>
                <a:cs typeface="+mn-cs"/>
              </a:rPr>
              <a:t>: las </a:t>
            </a:r>
            <a:r>
              <a:rPr lang="en-US" sz="1200" b="0" kern="1200" dirty="0" err="1">
                <a:solidFill>
                  <a:schemeClr val="tx1"/>
                </a:solidFill>
                <a:effectLst/>
                <a:latin typeface="+mn-lt"/>
                <a:ea typeface="+mn-ea"/>
                <a:cs typeface="+mn-cs"/>
              </a:rPr>
              <a:t>funciones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pseudoaleatorias</a:t>
            </a:r>
            <a:r>
              <a:rPr lang="en-US" sz="1200" b="0" kern="1200" dirty="0">
                <a:solidFill>
                  <a:schemeClr val="tx1"/>
                </a:solidFill>
                <a:effectLst/>
                <a:latin typeface="+mn-lt"/>
                <a:ea typeface="+mn-ea"/>
                <a:cs typeface="+mn-cs"/>
              </a:rPr>
              <a:t> (PRF) y las </a:t>
            </a:r>
            <a:r>
              <a:rPr lang="en-US" sz="1200" b="0" kern="1200" dirty="0" err="1">
                <a:solidFill>
                  <a:schemeClr val="tx1"/>
                </a:solidFill>
                <a:effectLst/>
                <a:latin typeface="+mn-lt"/>
                <a:ea typeface="+mn-ea"/>
                <a:cs typeface="+mn-cs"/>
              </a:rPr>
              <a:t>permutaciones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pseudoaleatorias</a:t>
            </a:r>
            <a:r>
              <a:rPr lang="en-US" sz="1200" b="0" kern="1200" dirty="0">
                <a:solidFill>
                  <a:schemeClr val="tx1"/>
                </a:solidFill>
                <a:effectLst/>
                <a:latin typeface="+mn-lt"/>
                <a:ea typeface="+mn-ea"/>
                <a:cs typeface="+mn-cs"/>
              </a:rPr>
              <a:t> (PRP),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son </a:t>
            </a:r>
            <a:r>
              <a:rPr lang="en-US" sz="1200" b="0" kern="1200" dirty="0" err="1">
                <a:solidFill>
                  <a:schemeClr val="tx1"/>
                </a:solidFill>
                <a:effectLst/>
                <a:latin typeface="+mn-lt"/>
                <a:ea typeface="+mn-ea"/>
                <a:cs typeface="+mn-cs"/>
              </a:rPr>
              <a:t>órdenes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magnitud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más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rápidas</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Nos </a:t>
            </a:r>
            <a:r>
              <a:rPr lang="en-US" sz="1200" b="0" kern="1200" dirty="0" err="1">
                <a:solidFill>
                  <a:schemeClr val="tx1"/>
                </a:solidFill>
                <a:effectLst/>
                <a:latin typeface="+mn-lt"/>
                <a:ea typeface="+mn-ea"/>
                <a:cs typeface="+mn-cs"/>
              </a:rPr>
              <a:t>basamos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el paper </a:t>
            </a:r>
            <a:r>
              <a:rPr lang="en-US" sz="1200" b="0" kern="1200" dirty="0" err="1">
                <a:solidFill>
                  <a:schemeClr val="tx1"/>
                </a:solidFill>
                <a:effectLst/>
                <a:latin typeface="+mn-lt"/>
                <a:ea typeface="+mn-ea"/>
                <a:cs typeface="+mn-cs"/>
              </a:rPr>
              <a:t>fundacional</a:t>
            </a:r>
            <a:r>
              <a:rPr lang="en-US" sz="1200" b="0" kern="1200" dirty="0">
                <a:solidFill>
                  <a:schemeClr val="tx1"/>
                </a:solidFill>
                <a:effectLst/>
                <a:latin typeface="+mn-lt"/>
                <a:ea typeface="+mn-ea"/>
                <a:cs typeface="+mn-cs"/>
              </a:rPr>
              <a:t> de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Curtmola</a:t>
            </a:r>
            <a:r>
              <a:rPr lang="en-US" sz="1200" b="1" kern="1200" dirty="0">
                <a:solidFill>
                  <a:schemeClr val="tx1"/>
                </a:solidFill>
                <a:effectLst/>
                <a:latin typeface="+mn-lt"/>
                <a:ea typeface="+mn-ea"/>
                <a:cs typeface="+mn-cs"/>
              </a:rPr>
              <a:t>, Garay, Kamara y Ostrovsky**</a:t>
            </a:r>
            <a:r>
              <a:rPr lang="en-US" sz="1200" b="0" kern="1200" dirty="0">
                <a:solidFill>
                  <a:schemeClr val="tx1"/>
                </a:solidFill>
                <a:effectLst/>
                <a:latin typeface="+mn-lt"/>
                <a:ea typeface="+mn-ea"/>
                <a:cs typeface="+mn-cs"/>
              </a:rPr>
              <a:t> del </a:t>
            </a:r>
            <a:r>
              <a:rPr lang="en-US" sz="1200" b="0" kern="1200" dirty="0" err="1">
                <a:solidFill>
                  <a:schemeClr val="tx1"/>
                </a:solidFill>
                <a:effectLst/>
                <a:latin typeface="+mn-lt"/>
                <a:ea typeface="+mn-ea"/>
                <a:cs typeface="+mn-cs"/>
              </a:rPr>
              <a:t>año</a:t>
            </a:r>
            <a:r>
              <a:rPr lang="en-US" sz="1200" b="0" kern="1200" dirty="0">
                <a:solidFill>
                  <a:schemeClr val="tx1"/>
                </a:solidFill>
                <a:effectLst/>
                <a:latin typeface="+mn-lt"/>
                <a:ea typeface="+mn-ea"/>
                <a:cs typeface="+mn-cs"/>
              </a:rPr>
              <a:t> 2006,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propone las </a:t>
            </a:r>
            <a:r>
              <a:rPr lang="en-US" sz="1200" b="0" kern="1200" dirty="0" err="1">
                <a:solidFill>
                  <a:schemeClr val="tx1"/>
                </a:solidFill>
                <a:effectLst/>
                <a:latin typeface="+mn-lt"/>
                <a:ea typeface="+mn-ea"/>
                <a:cs typeface="+mn-cs"/>
              </a:rPr>
              <a:t>construcciones</a:t>
            </a:r>
            <a:r>
              <a:rPr lang="en-US" sz="1200" b="0" kern="1200" dirty="0">
                <a:solidFill>
                  <a:schemeClr val="tx1"/>
                </a:solidFill>
                <a:effectLst/>
                <a:latin typeface="+mn-lt"/>
                <a:ea typeface="+mn-ea"/>
                <a:cs typeface="+mn-cs"/>
              </a:rPr>
              <a:t> SSE-1 y SSE-2 con las </a:t>
            </a:r>
            <a:r>
              <a:rPr lang="en-US" sz="1200" b="0" kern="1200" dirty="0" err="1">
                <a:solidFill>
                  <a:schemeClr val="tx1"/>
                </a:solidFill>
                <a:effectLst/>
                <a:latin typeface="+mn-lt"/>
                <a:ea typeface="+mn-ea"/>
                <a:cs typeface="+mn-cs"/>
              </a:rPr>
              <a:t>primeras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pruebas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formales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del </a:t>
            </a:r>
            <a:r>
              <a:rPr lang="en-US" sz="1200" b="0" kern="1200" dirty="0" err="1">
                <a:solidFill>
                  <a:schemeClr val="tx1"/>
                </a:solidFill>
                <a:effectLst/>
                <a:latin typeface="+mn-lt"/>
                <a:ea typeface="+mn-ea"/>
                <a:cs typeface="+mn-cs"/>
              </a:rPr>
              <a:t>área</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"El </a:t>
            </a:r>
            <a:r>
              <a:rPr lang="en-US" sz="1200" b="0" kern="1200" dirty="0" err="1">
                <a:solidFill>
                  <a:schemeClr val="tx1"/>
                </a:solidFill>
                <a:effectLst/>
                <a:latin typeface="+mn-lt"/>
                <a:ea typeface="+mn-ea"/>
                <a:cs typeface="+mn-cs"/>
              </a:rPr>
              <a:t>escenario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partida</a:t>
            </a:r>
            <a:r>
              <a:rPr lang="en-US" sz="1200" b="0" kern="1200" dirty="0">
                <a:solidFill>
                  <a:schemeClr val="tx1"/>
                </a:solidFill>
                <a:effectLst/>
                <a:latin typeface="+mn-lt"/>
                <a:ea typeface="+mn-ea"/>
                <a:cs typeface="+mn-cs"/>
              </a:rPr>
              <a:t> es el </a:t>
            </a:r>
            <a:r>
              <a:rPr lang="en-US" sz="1200" b="0" kern="1200" dirty="0" err="1">
                <a:solidFill>
                  <a:schemeClr val="tx1"/>
                </a:solidFill>
                <a:effectLst/>
                <a:latin typeface="+mn-lt"/>
                <a:ea typeface="+mn-ea"/>
                <a:cs typeface="+mn-cs"/>
              </a:rPr>
              <a:t>siguiente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tenemos</a:t>
            </a:r>
            <a:r>
              <a:rPr lang="en-US" sz="1200" b="0" kern="1200" dirty="0">
                <a:solidFill>
                  <a:schemeClr val="tx1"/>
                </a:solidFill>
                <a:effectLst/>
                <a:latin typeface="+mn-lt"/>
                <a:ea typeface="+mn-ea"/>
                <a:cs typeface="+mn-cs"/>
              </a:rPr>
              <a:t> un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cliente</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posee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colección</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sensibles</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clave </a:t>
            </a:r>
            <a:r>
              <a:rPr lang="en-US" sz="1200" b="0" kern="1200" dirty="0" err="1">
                <a:solidFill>
                  <a:schemeClr val="tx1"/>
                </a:solidFill>
                <a:effectLst/>
                <a:latin typeface="+mn-lt"/>
                <a:ea typeface="+mn-ea"/>
                <a:cs typeface="+mn-cs"/>
              </a:rPr>
              <a:t>simétrica</a:t>
            </a:r>
            <a:r>
              <a:rPr lang="en-US" sz="1200" b="0" kern="1200" dirty="0">
                <a:solidFill>
                  <a:schemeClr val="tx1"/>
                </a:solidFill>
                <a:effectLst/>
                <a:latin typeface="+mn-lt"/>
                <a:ea typeface="+mn-ea"/>
                <a:cs typeface="+mn-cs"/>
              </a:rPr>
              <a:t> secreta K. Este </a:t>
            </a:r>
            <a:r>
              <a:rPr lang="en-US" sz="1200" b="0" kern="1200" dirty="0" err="1">
                <a:solidFill>
                  <a:schemeClr val="tx1"/>
                </a:solidFill>
                <a:effectLst/>
                <a:latin typeface="+mn-lt"/>
                <a:ea typeface="+mn-ea"/>
                <a:cs typeface="+mn-cs"/>
              </a:rPr>
              <a:t>cliente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necesita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delegar</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almacenamiento</a:t>
            </a:r>
            <a:r>
              <a:rPr lang="en-US" sz="1200" b="0" kern="1200" dirty="0">
                <a:solidFill>
                  <a:schemeClr val="tx1"/>
                </a:solidFill>
                <a:effectLst/>
                <a:latin typeface="+mn-lt"/>
                <a:ea typeface="+mn-ea"/>
                <a:cs typeface="+mn-cs"/>
              </a:rPr>
              <a:t> a un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servidor</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externo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bajo un </a:t>
            </a:r>
            <a:r>
              <a:rPr lang="en-US" sz="1200" b="0" kern="1200" dirty="0" err="1">
                <a:solidFill>
                  <a:schemeClr val="tx1"/>
                </a:solidFill>
                <a:effectLst/>
                <a:latin typeface="+mn-lt"/>
                <a:ea typeface="+mn-ea"/>
                <a:cs typeface="+mn-cs"/>
              </a:rPr>
              <a:t>modelo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amenazas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realista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ciberdefensa</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consideramos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confiable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a:t>
            </a:r>
            <a:r>
              <a:rPr lang="en-US" sz="1200" b="0" kern="1200" dirty="0" err="1">
                <a:solidFill>
                  <a:schemeClr val="tx1"/>
                </a:solidFill>
                <a:effectLst/>
                <a:latin typeface="+mn-lt"/>
                <a:ea typeface="+mn-ea"/>
                <a:cs typeface="+mn-cs"/>
              </a:rPr>
              <a:t>Ahora</a:t>
            </a:r>
            <a:r>
              <a:rPr lang="en-US" sz="1200" b="0" kern="1200" dirty="0">
                <a:solidFill>
                  <a:schemeClr val="tx1"/>
                </a:solidFill>
                <a:effectLst/>
                <a:latin typeface="+mn-lt"/>
                <a:ea typeface="+mn-ea"/>
                <a:cs typeface="+mn-cs"/>
              </a:rPr>
              <a:t> bien, </a:t>
            </a:r>
            <a:r>
              <a:rPr lang="en-US" sz="1200" b="0" kern="1200" dirty="0" err="1">
                <a:solidFill>
                  <a:schemeClr val="tx1"/>
                </a:solidFill>
                <a:effectLst/>
                <a:latin typeface="+mn-lt"/>
                <a:ea typeface="+mn-ea"/>
                <a:cs typeface="+mn-cs"/>
              </a:rPr>
              <a:t>delegar</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almacenamiento</a:t>
            </a:r>
            <a:r>
              <a:rPr lang="en-US" sz="1200" b="0" kern="1200" dirty="0">
                <a:solidFill>
                  <a:schemeClr val="tx1"/>
                </a:solidFill>
                <a:effectLst/>
                <a:latin typeface="+mn-lt"/>
                <a:ea typeface="+mn-ea"/>
                <a:cs typeface="+mn-cs"/>
              </a:rPr>
              <a:t> es trivial </a:t>
            </a:r>
            <a:r>
              <a:rPr lang="en-US" sz="1200" b="0" kern="1200" dirty="0" err="1">
                <a:solidFill>
                  <a:schemeClr val="tx1"/>
                </a:solidFill>
                <a:effectLst/>
                <a:latin typeface="+mn-lt"/>
                <a:ea typeface="+mn-ea"/>
                <a:cs typeface="+mn-cs"/>
              </a:rPr>
              <a:t>si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sólo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ciframos</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subimos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archivos</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verdadero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desafío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aparece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cuando</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cliente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necesita</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buscar</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Cómo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recupero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contienen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palabra clave </a:t>
            </a:r>
            <a:r>
              <a:rPr lang="en-US" sz="1200" b="0" kern="1200" dirty="0" err="1">
                <a:solidFill>
                  <a:schemeClr val="tx1"/>
                </a:solidFill>
                <a:effectLst/>
                <a:latin typeface="+mn-lt"/>
                <a:ea typeface="+mn-ea"/>
                <a:cs typeface="+mn-cs"/>
              </a:rPr>
              <a:t>específica</a:t>
            </a:r>
            <a:r>
              <a:rPr lang="en-US" sz="1200" b="0" kern="1200" dirty="0">
                <a:solidFill>
                  <a:schemeClr val="tx1"/>
                </a:solidFill>
                <a:effectLst/>
                <a:latin typeface="+mn-lt"/>
                <a:ea typeface="+mn-ea"/>
                <a:cs typeface="+mn-cs"/>
              </a:rPr>
              <a:t> sin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vea</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contenido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claro y sin </a:t>
            </a:r>
            <a:r>
              <a:rPr lang="en-US" sz="1200" b="0" kern="1200" dirty="0" err="1">
                <a:solidFill>
                  <a:schemeClr val="tx1"/>
                </a:solidFill>
                <a:effectLst/>
                <a:latin typeface="+mn-lt"/>
                <a:ea typeface="+mn-ea"/>
                <a:cs typeface="+mn-cs"/>
              </a:rPr>
              <a:t>tener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descargarme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todo</a:t>
            </a:r>
            <a:r>
              <a:rPr lang="en-US" sz="1200" b="0" kern="1200" dirty="0">
                <a:solidFill>
                  <a:schemeClr val="tx1"/>
                </a:solidFill>
                <a:effectLst/>
                <a:latin typeface="+mn-lt"/>
                <a:ea typeface="+mn-ea"/>
                <a:cs typeface="+mn-cs"/>
              </a:rPr>
              <a:t> el dataset para </a:t>
            </a:r>
            <a:r>
              <a:rPr lang="en-US" sz="1200" b="0" kern="1200" dirty="0" err="1">
                <a:solidFill>
                  <a:schemeClr val="tx1"/>
                </a:solidFill>
                <a:effectLst/>
                <a:latin typeface="+mn-lt"/>
                <a:ea typeface="+mn-ea"/>
                <a:cs typeface="+mn-cs"/>
              </a:rPr>
              <a:t>filtrar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localmente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a:t>
            </a:r>
            <a:r>
              <a:rPr lang="en-US" sz="1200" b="0" kern="1200" dirty="0" err="1">
                <a:solidFill>
                  <a:schemeClr val="tx1"/>
                </a:solidFill>
                <a:effectLst/>
                <a:latin typeface="+mn-lt"/>
                <a:ea typeface="+mn-ea"/>
                <a:cs typeface="+mn-cs"/>
              </a:rPr>
              <a:t>Acá</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donde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entra</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concepto</a:t>
            </a:r>
            <a:r>
              <a:rPr lang="en-US" sz="1200" b="0" kern="1200" dirty="0">
                <a:solidFill>
                  <a:schemeClr val="tx1"/>
                </a:solidFill>
                <a:effectLst/>
                <a:latin typeface="+mn-lt"/>
                <a:ea typeface="+mn-ea"/>
                <a:cs typeface="+mn-cs"/>
              </a:rPr>
              <a:t> de </a:t>
            </a:r>
            <a:r>
              <a:rPr lang="en-US" sz="1200" b="1" kern="1200" dirty="0">
                <a:solidFill>
                  <a:schemeClr val="tx1"/>
                </a:solidFill>
                <a:effectLst/>
                <a:latin typeface="+mn-lt"/>
                <a:ea typeface="+mn-ea"/>
                <a:cs typeface="+mn-cs"/>
              </a:rPr>
              <a:t>**trapdoor**</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cliente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computa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localmente</a:t>
            </a:r>
            <a:r>
              <a:rPr lang="en-US" sz="1200" b="0" kern="1200" dirty="0">
                <a:solidFill>
                  <a:schemeClr val="tx1"/>
                </a:solidFill>
                <a:effectLst/>
                <a:latin typeface="+mn-lt"/>
                <a:ea typeface="+mn-ea"/>
                <a:cs typeface="+mn-cs"/>
              </a:rPr>
              <a:t> un token </a:t>
            </a:r>
            <a:r>
              <a:rPr lang="en-US" sz="1200" b="0" kern="1200" dirty="0" err="1">
                <a:solidFill>
                  <a:schemeClr val="tx1"/>
                </a:solidFill>
                <a:effectLst/>
                <a:latin typeface="+mn-lt"/>
                <a:ea typeface="+mn-ea"/>
                <a:cs typeface="+mn-cs"/>
              </a:rPr>
              <a:t>criptográfico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derivado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su</a:t>
            </a:r>
            <a:r>
              <a:rPr lang="en-US" sz="1200" b="0" kern="1200" dirty="0">
                <a:solidFill>
                  <a:schemeClr val="tx1"/>
                </a:solidFill>
                <a:effectLst/>
                <a:latin typeface="+mn-lt"/>
                <a:ea typeface="+mn-ea"/>
                <a:cs typeface="+mn-cs"/>
              </a:rPr>
              <a:t> clave K y de la palabra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quiere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buscar</a:t>
            </a:r>
            <a:r>
              <a:rPr lang="en-US" sz="1200" b="0" kern="1200" dirty="0">
                <a:solidFill>
                  <a:schemeClr val="tx1"/>
                </a:solidFill>
                <a:effectLst/>
                <a:latin typeface="+mn-lt"/>
                <a:ea typeface="+mn-ea"/>
                <a:cs typeface="+mn-cs"/>
              </a:rPr>
              <a:t>. Le </a:t>
            </a:r>
            <a:r>
              <a:rPr lang="en-US" sz="1200" b="0" kern="1200" dirty="0" err="1">
                <a:solidFill>
                  <a:schemeClr val="tx1"/>
                </a:solidFill>
                <a:effectLst/>
                <a:latin typeface="+mn-lt"/>
                <a:ea typeface="+mn-ea"/>
                <a:cs typeface="+mn-cs"/>
              </a:rPr>
              <a:t>envía</a:t>
            </a:r>
            <a:r>
              <a:rPr lang="en-US" sz="1200" b="0" kern="1200" dirty="0">
                <a:solidFill>
                  <a:schemeClr val="tx1"/>
                </a:solidFill>
                <a:effectLst/>
                <a:latin typeface="+mn-lt"/>
                <a:ea typeface="+mn-ea"/>
                <a:cs typeface="+mn-cs"/>
              </a:rPr>
              <a:t> ese valor al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lo </a:t>
            </a:r>
            <a:r>
              <a:rPr lang="en-US" sz="1200" b="0" kern="1200" dirty="0" err="1">
                <a:solidFill>
                  <a:schemeClr val="tx1"/>
                </a:solidFill>
                <a:effectLst/>
                <a:latin typeface="+mn-lt"/>
                <a:ea typeface="+mn-ea"/>
                <a:cs typeface="+mn-cs"/>
              </a:rPr>
              <a:t>usa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como</a:t>
            </a:r>
            <a:r>
              <a:rPr lang="en-US" sz="1200" b="0" kern="1200" dirty="0">
                <a:solidFill>
                  <a:schemeClr val="tx1"/>
                </a:solidFill>
                <a:effectLst/>
                <a:latin typeface="+mn-lt"/>
                <a:ea typeface="+mn-ea"/>
                <a:cs typeface="+mn-cs"/>
              </a:rPr>
              <a:t> clave de </a:t>
            </a:r>
            <a:r>
              <a:rPr lang="en-US" sz="1200" b="0" kern="1200" dirty="0" err="1">
                <a:solidFill>
                  <a:schemeClr val="tx1"/>
                </a:solidFill>
                <a:effectLst/>
                <a:latin typeface="+mn-lt"/>
                <a:ea typeface="+mn-ea"/>
                <a:cs typeface="+mn-cs"/>
              </a:rPr>
              <a:t>búsqueda</a:t>
            </a:r>
            <a:r>
              <a:rPr lang="en-US" sz="1200" b="0" kern="1200" dirty="0">
                <a:solidFill>
                  <a:schemeClr val="tx1"/>
                </a:solidFill>
                <a:effectLst/>
                <a:latin typeface="+mn-lt"/>
                <a:ea typeface="+mn-ea"/>
                <a:cs typeface="+mn-cs"/>
              </a:rPr>
              <a:t> contra el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encuentra</a:t>
            </a:r>
            <a:r>
              <a:rPr lang="en-US" sz="1200" b="0" kern="1200" dirty="0">
                <a:solidFill>
                  <a:schemeClr val="tx1"/>
                </a:solidFill>
                <a:effectLst/>
                <a:latin typeface="+mn-lt"/>
                <a:ea typeface="+mn-ea"/>
                <a:cs typeface="+mn-cs"/>
              </a:rPr>
              <a:t> las </a:t>
            </a:r>
            <a:r>
              <a:rPr lang="en-US" sz="1200" b="0" kern="1200" dirty="0" err="1">
                <a:solidFill>
                  <a:schemeClr val="tx1"/>
                </a:solidFill>
                <a:effectLst/>
                <a:latin typeface="+mn-lt"/>
                <a:ea typeface="+mn-ea"/>
                <a:cs typeface="+mn-cs"/>
              </a:rPr>
              <a:t>coincidencias</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devuelve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identificadores</a:t>
            </a:r>
            <a:r>
              <a:rPr lang="en-US" sz="1200" b="0" kern="1200" dirty="0">
                <a:solidFill>
                  <a:schemeClr val="tx1"/>
                </a:solidFill>
                <a:effectLst/>
                <a:latin typeface="+mn-lt"/>
                <a:ea typeface="+mn-ea"/>
                <a:cs typeface="+mn-cs"/>
              </a:rPr>
              <a:t>. Pero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ningún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momento</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aprende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cuál</a:t>
            </a:r>
            <a:r>
              <a:rPr lang="en-US" sz="1200" b="0" kern="1200" dirty="0">
                <a:solidFill>
                  <a:schemeClr val="tx1"/>
                </a:solidFill>
                <a:effectLst/>
                <a:latin typeface="+mn-lt"/>
                <a:ea typeface="+mn-ea"/>
                <a:cs typeface="+mn-cs"/>
              </a:rPr>
              <a:t> era la palabra original </a:t>
            </a:r>
            <a:r>
              <a:rPr lang="en-US" sz="1200" b="0" kern="1200" dirty="0" err="1">
                <a:solidFill>
                  <a:schemeClr val="tx1"/>
                </a:solidFill>
                <a:effectLst/>
                <a:latin typeface="+mn-lt"/>
                <a:ea typeface="+mn-ea"/>
                <a:cs typeface="+mn-cs"/>
              </a:rPr>
              <a:t>ni</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descifrar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El </a:t>
            </a:r>
            <a:r>
              <a:rPr lang="en-US" sz="1200" b="0" kern="1200" dirty="0" err="1">
                <a:solidFill>
                  <a:schemeClr val="tx1"/>
                </a:solidFill>
                <a:effectLst/>
                <a:latin typeface="+mn-lt"/>
                <a:ea typeface="+mn-ea"/>
                <a:cs typeface="+mn-cs"/>
              </a:rPr>
              <a:t>objetivo</a:t>
            </a:r>
            <a:r>
              <a:rPr lang="en-US" sz="1200" b="0" kern="1200" dirty="0">
                <a:solidFill>
                  <a:schemeClr val="tx1"/>
                </a:solidFill>
                <a:effectLst/>
                <a:latin typeface="+mn-lt"/>
                <a:ea typeface="+mn-ea"/>
                <a:cs typeface="+mn-cs"/>
              </a:rPr>
              <a:t> de SSE es </a:t>
            </a:r>
            <a:r>
              <a:rPr lang="en-US" sz="1200" b="0" kern="1200" dirty="0" err="1">
                <a:solidFill>
                  <a:schemeClr val="tx1"/>
                </a:solidFill>
                <a:effectLst/>
                <a:latin typeface="+mn-lt"/>
                <a:ea typeface="+mn-ea"/>
                <a:cs typeface="+mn-cs"/>
              </a:rPr>
              <a:t>lograr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dualidad</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confidencialidad</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absoluta</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los</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datos</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más</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capacidad</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operativa</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búsqueda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sin </a:t>
            </a:r>
            <a:r>
              <a:rPr lang="en-US" sz="1200" b="0" kern="1200" dirty="0" err="1">
                <a:solidFill>
                  <a:schemeClr val="tx1"/>
                </a:solidFill>
                <a:effectLst/>
                <a:latin typeface="+mn-lt"/>
                <a:ea typeface="+mn-ea"/>
                <a:cs typeface="+mn-cs"/>
              </a:rPr>
              <a:t>recurrir</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criptografía</a:t>
            </a:r>
            <a:r>
              <a:rPr lang="en-US" sz="1200" b="0" kern="1200" dirty="0">
                <a:solidFill>
                  <a:schemeClr val="tx1"/>
                </a:solidFill>
                <a:effectLst/>
                <a:latin typeface="+mn-lt"/>
                <a:ea typeface="+mn-ea"/>
                <a:cs typeface="+mn-cs"/>
              </a:rPr>
              <a:t> de clave </a:t>
            </a:r>
            <a:r>
              <a:rPr lang="en-US" sz="1200" b="0" kern="1200" dirty="0" err="1">
                <a:solidFill>
                  <a:schemeClr val="tx1"/>
                </a:solidFill>
                <a:effectLst/>
                <a:latin typeface="+mn-lt"/>
                <a:ea typeface="+mn-ea"/>
                <a:cs typeface="+mn-cs"/>
              </a:rPr>
              <a:t>pública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sería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demasiado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costosa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computacionalmente</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"Antes de </a:t>
            </a:r>
            <a:r>
              <a:rPr lang="en-US" sz="1200" b="0" kern="1200" dirty="0" err="1">
                <a:solidFill>
                  <a:schemeClr val="tx1"/>
                </a:solidFill>
                <a:effectLst/>
                <a:latin typeface="+mn-lt"/>
                <a:ea typeface="+mn-ea"/>
                <a:cs typeface="+mn-cs"/>
              </a:rPr>
              <a:t>explicar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cómo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funciona</a:t>
            </a:r>
            <a:r>
              <a:rPr lang="en-US" sz="1200" b="0" kern="1200" dirty="0">
                <a:solidFill>
                  <a:schemeClr val="tx1"/>
                </a:solidFill>
                <a:effectLst/>
                <a:latin typeface="+mn-lt"/>
                <a:ea typeface="+mn-ea"/>
                <a:cs typeface="+mn-cs"/>
              </a:rPr>
              <a:t> SSE, </a:t>
            </a:r>
            <a:r>
              <a:rPr lang="en-US" sz="1200" b="0" kern="1200" dirty="0" err="1">
                <a:solidFill>
                  <a:schemeClr val="tx1"/>
                </a:solidFill>
                <a:effectLst/>
                <a:latin typeface="+mn-lt"/>
                <a:ea typeface="+mn-ea"/>
                <a:cs typeface="+mn-cs"/>
              </a:rPr>
              <a:t>necesitamos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entender</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por</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qué</a:t>
            </a:r>
            <a:r>
              <a:rPr lang="en-US" sz="1200" b="1" kern="1200" dirty="0">
                <a:solidFill>
                  <a:schemeClr val="tx1"/>
                </a:solidFill>
                <a:effectLst/>
                <a:latin typeface="+mn-lt"/>
                <a:ea typeface="+mn-ea"/>
                <a:cs typeface="+mn-cs"/>
              </a:rPr>
              <a:t> las </a:t>
            </a:r>
            <a:r>
              <a:rPr lang="en-US" sz="1200" b="1" kern="1200" dirty="0" err="1">
                <a:solidFill>
                  <a:schemeClr val="tx1"/>
                </a:solidFill>
                <a:effectLst/>
                <a:latin typeface="+mn-lt"/>
                <a:ea typeface="+mn-ea"/>
                <a:cs typeface="+mn-cs"/>
              </a:rPr>
              <a:t>soluciones</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obvias</a:t>
            </a:r>
            <a:r>
              <a:rPr lang="en-US" sz="1200" b="1" kern="1200" dirty="0">
                <a:solidFill>
                  <a:schemeClr val="tx1"/>
                </a:solidFill>
                <a:effectLst/>
                <a:latin typeface="+mn-lt"/>
                <a:ea typeface="+mn-ea"/>
                <a:cs typeface="+mn-cs"/>
              </a:rPr>
              <a:t> no </a:t>
            </a:r>
            <a:r>
              <a:rPr lang="en-US" sz="1200" b="1" kern="1200" dirty="0" err="1">
                <a:solidFill>
                  <a:schemeClr val="tx1"/>
                </a:solidFill>
                <a:effectLst/>
                <a:latin typeface="+mn-lt"/>
                <a:ea typeface="+mn-ea"/>
                <a:cs typeface="+mn-cs"/>
              </a:rPr>
              <a:t>funcionan</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Si </a:t>
            </a:r>
            <a:r>
              <a:rPr lang="en-US" sz="1200" b="0" kern="1200" dirty="0" err="1">
                <a:solidFill>
                  <a:schemeClr val="tx1"/>
                </a:solidFill>
                <a:effectLst/>
                <a:latin typeface="+mn-lt"/>
                <a:ea typeface="+mn-ea"/>
                <a:cs typeface="+mn-cs"/>
              </a:rPr>
              <a:t>usamos</a:t>
            </a:r>
            <a:r>
              <a:rPr lang="en-US" sz="1200" b="0" kern="1200" dirty="0">
                <a:solidFill>
                  <a:schemeClr val="tx1"/>
                </a:solidFill>
                <a:effectLst/>
                <a:latin typeface="+mn-lt"/>
                <a:ea typeface="+mn-ea"/>
                <a:cs typeface="+mn-cs"/>
              </a:rPr>
              <a:t> un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simétrico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estándar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como</a:t>
            </a:r>
            <a:r>
              <a:rPr lang="en-US" sz="1200" b="0" kern="1200" dirty="0">
                <a:solidFill>
                  <a:schemeClr val="tx1"/>
                </a:solidFill>
                <a:effectLst/>
                <a:latin typeface="+mn-lt"/>
                <a:ea typeface="+mn-ea"/>
                <a:cs typeface="+mn-cs"/>
              </a:rPr>
              <a:t> AES-GCM, </a:t>
            </a:r>
            <a:r>
              <a:rPr lang="en-US" sz="1200" b="0" kern="1200" dirty="0" err="1">
                <a:solidFill>
                  <a:schemeClr val="tx1"/>
                </a:solidFill>
                <a:effectLst/>
                <a:latin typeface="+mn-lt"/>
                <a:ea typeface="+mn-ea"/>
                <a:cs typeface="+mn-cs"/>
              </a:rPr>
              <a:t>obtenemos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semántica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sentido</a:t>
            </a:r>
            <a:r>
              <a:rPr lang="en-US" sz="1200" b="0" kern="1200" dirty="0">
                <a:solidFill>
                  <a:schemeClr val="tx1"/>
                </a:solidFill>
                <a:effectLst/>
                <a:latin typeface="+mn-lt"/>
                <a:ea typeface="+mn-ea"/>
                <a:cs typeface="+mn-cs"/>
              </a:rPr>
              <a:t> formal de </a:t>
            </a:r>
            <a:r>
              <a:rPr lang="en-US" sz="1200" b="1" kern="1200" dirty="0">
                <a:solidFill>
                  <a:schemeClr val="tx1"/>
                </a:solidFill>
                <a:effectLst/>
                <a:latin typeface="+mn-lt"/>
                <a:ea typeface="+mn-ea"/>
                <a:cs typeface="+mn-cs"/>
              </a:rPr>
              <a:t>**IND-CPA**</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mismo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texto</a:t>
            </a:r>
            <a:r>
              <a:rPr lang="en-US" sz="1200" b="0" kern="1200" dirty="0">
                <a:solidFill>
                  <a:schemeClr val="tx1"/>
                </a:solidFill>
                <a:effectLst/>
                <a:latin typeface="+mn-lt"/>
                <a:ea typeface="+mn-ea"/>
                <a:cs typeface="+mn-cs"/>
              </a:rPr>
              <a:t> plano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dos </a:t>
            </a:r>
            <a:r>
              <a:rPr lang="en-US" sz="1200" b="0" kern="1200" dirty="0" err="1">
                <a:solidFill>
                  <a:schemeClr val="tx1"/>
                </a:solidFill>
                <a:effectLst/>
                <a:latin typeface="+mn-lt"/>
                <a:ea typeface="+mn-ea"/>
                <a:cs typeface="+mn-cs"/>
              </a:rPr>
              <a:t>veces</a:t>
            </a:r>
            <a:r>
              <a:rPr lang="en-US" sz="1200" b="0" kern="1200" dirty="0">
                <a:solidFill>
                  <a:schemeClr val="tx1"/>
                </a:solidFill>
                <a:effectLst/>
                <a:latin typeface="+mn-lt"/>
                <a:ea typeface="+mn-ea"/>
                <a:cs typeface="+mn-cs"/>
              </a:rPr>
              <a:t> produce dos </a:t>
            </a:r>
            <a:r>
              <a:rPr lang="en-US" sz="1200" b="0" kern="1200" dirty="0" err="1">
                <a:solidFill>
                  <a:schemeClr val="tx1"/>
                </a:solidFill>
                <a:effectLst/>
                <a:latin typeface="+mn-lt"/>
                <a:ea typeface="+mn-ea"/>
                <a:cs typeface="+mn-cs"/>
              </a:rPr>
              <a:t>textos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completamente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distintos</a:t>
            </a:r>
            <a:r>
              <a:rPr lang="en-US" sz="1200" b="0" kern="1200" dirty="0">
                <a:solidFill>
                  <a:schemeClr val="tx1"/>
                </a:solidFill>
                <a:effectLst/>
                <a:latin typeface="+mn-lt"/>
                <a:ea typeface="+mn-ea"/>
                <a:cs typeface="+mn-cs"/>
              </a:rPr>
              <a:t> gracias al vector de </a:t>
            </a:r>
            <a:r>
              <a:rPr lang="en-US" sz="1200" b="0" kern="1200" dirty="0" err="1">
                <a:solidFill>
                  <a:schemeClr val="tx1"/>
                </a:solidFill>
                <a:effectLst/>
                <a:latin typeface="+mn-lt"/>
                <a:ea typeface="+mn-ea"/>
                <a:cs typeface="+mn-cs"/>
              </a:rPr>
              <a:t>inicialización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aleatorio</a:t>
            </a:r>
            <a:r>
              <a:rPr lang="en-US" sz="1200" b="0" kern="1200" dirty="0">
                <a:solidFill>
                  <a:schemeClr val="tx1"/>
                </a:solidFill>
                <a:effectLst/>
                <a:latin typeface="+mn-lt"/>
                <a:ea typeface="+mn-ea"/>
                <a:cs typeface="+mn-cs"/>
              </a:rPr>
              <a:t>. Esto es </a:t>
            </a:r>
            <a:r>
              <a:rPr lang="en-US" sz="1200" b="0" kern="1200" dirty="0" err="1">
                <a:solidFill>
                  <a:schemeClr val="tx1"/>
                </a:solidFill>
                <a:effectLst/>
                <a:latin typeface="+mn-lt"/>
                <a:ea typeface="+mn-ea"/>
                <a:cs typeface="+mn-cs"/>
              </a:rPr>
              <a:t>excelente</a:t>
            </a:r>
            <a:r>
              <a:rPr lang="en-US" sz="1200" b="0" kern="1200" dirty="0">
                <a:solidFill>
                  <a:schemeClr val="tx1"/>
                </a:solidFill>
                <a:effectLst/>
                <a:latin typeface="+mn-lt"/>
                <a:ea typeface="+mn-ea"/>
                <a:cs typeface="+mn-cs"/>
              </a:rPr>
              <a:t> para la </a:t>
            </a:r>
            <a:r>
              <a:rPr lang="en-US" sz="1200" b="0" kern="1200" dirty="0" err="1">
                <a:solidFill>
                  <a:schemeClr val="tx1"/>
                </a:solidFill>
                <a:effectLst/>
                <a:latin typeface="+mn-lt"/>
                <a:ea typeface="+mn-ea"/>
                <a:cs typeface="+mn-cs"/>
              </a:rPr>
              <a:t>confidencialidad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pero</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destruye</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toda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posibilidad</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búsqueda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desde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porque</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comparar</a:t>
            </a:r>
            <a:r>
              <a:rPr lang="en-US" sz="1200" b="0" kern="1200" dirty="0">
                <a:solidFill>
                  <a:schemeClr val="tx1"/>
                </a:solidFill>
                <a:effectLst/>
                <a:latin typeface="+mn-lt"/>
                <a:ea typeface="+mn-ea"/>
                <a:cs typeface="+mn-cs"/>
              </a:rPr>
              <a:t> nada.</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a:t>
            </a:r>
            <a:r>
              <a:rPr lang="en-US" sz="1200" b="0" kern="1200" dirty="0" err="1">
                <a:solidFill>
                  <a:schemeClr val="tx1"/>
                </a:solidFill>
                <a:effectLst/>
                <a:latin typeface="+mn-lt"/>
                <a:ea typeface="+mn-ea"/>
                <a:cs typeface="+mn-cs"/>
              </a:rPr>
              <a:t>Qué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alternativas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tenemos</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primera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sería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descifrar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para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pueda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indexar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Obviamente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destruye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confidencialidad</a:t>
            </a:r>
            <a:r>
              <a:rPr lang="en-US" sz="1200" b="0" kern="1200" dirty="0">
                <a:solidFill>
                  <a:schemeClr val="tx1"/>
                </a:solidFill>
                <a:effectLst/>
                <a:latin typeface="+mn-lt"/>
                <a:ea typeface="+mn-ea"/>
                <a:cs typeface="+mn-cs"/>
              </a:rPr>
              <a:t> y es </a:t>
            </a:r>
            <a:r>
              <a:rPr lang="en-US" sz="1200" b="0" kern="1200" dirty="0" err="1">
                <a:solidFill>
                  <a:schemeClr val="tx1"/>
                </a:solidFill>
                <a:effectLst/>
                <a:latin typeface="+mn-lt"/>
                <a:ea typeface="+mn-ea"/>
                <a:cs typeface="+mn-cs"/>
              </a:rPr>
              <a:t>inaceptable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segunda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sería</a:t>
            </a:r>
            <a:r>
              <a:rPr lang="en-US" sz="1200" b="0" kern="1200" dirty="0">
                <a:solidFill>
                  <a:schemeClr val="tx1"/>
                </a:solidFill>
                <a:effectLst/>
                <a:latin typeface="+mn-lt"/>
                <a:ea typeface="+mn-ea"/>
                <a:cs typeface="+mn-cs"/>
              </a:rPr>
              <a:t> usar un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cifrado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determinista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donde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mismo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texto</a:t>
            </a:r>
            <a:r>
              <a:rPr lang="en-US" sz="1200" b="0" kern="1200" dirty="0">
                <a:solidFill>
                  <a:schemeClr val="tx1"/>
                </a:solidFill>
                <a:effectLst/>
                <a:latin typeface="+mn-lt"/>
                <a:ea typeface="+mn-ea"/>
                <a:cs typeface="+mn-cs"/>
              </a:rPr>
              <a:t> plano </a:t>
            </a:r>
            <a:r>
              <a:rPr lang="en-US" sz="1200" b="0" kern="1200" dirty="0" err="1">
                <a:solidFill>
                  <a:schemeClr val="tx1"/>
                </a:solidFill>
                <a:effectLst/>
                <a:latin typeface="+mn-lt"/>
                <a:ea typeface="+mn-ea"/>
                <a:cs typeface="+mn-cs"/>
              </a:rPr>
              <a:t>siempre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produzca</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mismo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texto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Esto </a:t>
            </a:r>
            <a:r>
              <a:rPr lang="en-US" sz="1200" b="0" kern="1200" dirty="0" err="1">
                <a:solidFill>
                  <a:schemeClr val="tx1"/>
                </a:solidFill>
                <a:effectLst/>
                <a:latin typeface="+mn-lt"/>
                <a:ea typeface="+mn-ea"/>
                <a:cs typeface="+mn-cs"/>
              </a:rPr>
              <a:t>permitiría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buscar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igualdad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pero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expone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patrones</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frecuencia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un </a:t>
            </a:r>
            <a:r>
              <a:rPr lang="en-US" sz="1200" b="0" kern="1200" dirty="0" err="1">
                <a:solidFill>
                  <a:schemeClr val="tx1"/>
                </a:solidFill>
                <a:effectLst/>
                <a:latin typeface="+mn-lt"/>
                <a:ea typeface="+mn-ea"/>
                <a:cs typeface="+mn-cs"/>
              </a:rPr>
              <a:t>atacante</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distribución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conocida</a:t>
            </a:r>
            <a:r>
              <a:rPr lang="en-US" sz="1200" b="0" kern="1200" dirty="0">
                <a:solidFill>
                  <a:schemeClr val="tx1"/>
                </a:solidFill>
                <a:effectLst/>
                <a:latin typeface="+mn-lt"/>
                <a:ea typeface="+mn-ea"/>
                <a:cs typeface="+mn-cs"/>
              </a:rPr>
              <a:t> de palabras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reconstruir</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vocabulario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análisis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estadístico</a:t>
            </a:r>
            <a:r>
              <a:rPr lang="en-US" sz="1200" b="0" kern="1200" dirty="0">
                <a:solidFill>
                  <a:schemeClr val="tx1"/>
                </a:solidFill>
                <a:effectLst/>
                <a:latin typeface="+mn-lt"/>
                <a:ea typeface="+mn-ea"/>
                <a:cs typeface="+mn-cs"/>
              </a:rPr>
              <a:t> elemental. La </a:t>
            </a:r>
            <a:r>
              <a:rPr lang="en-US" sz="1200" b="0" kern="1200" dirty="0" err="1">
                <a:solidFill>
                  <a:schemeClr val="tx1"/>
                </a:solidFill>
                <a:effectLst/>
                <a:latin typeface="+mn-lt"/>
                <a:ea typeface="+mn-ea"/>
                <a:cs typeface="+mn-cs"/>
              </a:rPr>
              <a:t>tercera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opción</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cliente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descargue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todo</a:t>
            </a:r>
            <a:r>
              <a:rPr lang="en-US" sz="1200" b="0" kern="1200" dirty="0">
                <a:solidFill>
                  <a:schemeClr val="tx1"/>
                </a:solidFill>
                <a:effectLst/>
                <a:latin typeface="+mn-lt"/>
                <a:ea typeface="+mn-ea"/>
                <a:cs typeface="+mn-cs"/>
              </a:rPr>
              <a:t> el dataset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filtre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localmente</a:t>
            </a:r>
            <a:r>
              <a:rPr lang="en-US" sz="1200" b="0" kern="1200" dirty="0">
                <a:solidFill>
                  <a:schemeClr val="tx1"/>
                </a:solidFill>
                <a:effectLst/>
                <a:latin typeface="+mn-lt"/>
                <a:ea typeface="+mn-ea"/>
                <a:cs typeface="+mn-cs"/>
              </a:rPr>
              <a:t>. Esto </a:t>
            </a:r>
            <a:r>
              <a:rPr lang="en-US" sz="1200" b="0" kern="1200" dirty="0" err="1">
                <a:solidFill>
                  <a:schemeClr val="tx1"/>
                </a:solidFill>
                <a:effectLst/>
                <a:latin typeface="+mn-lt"/>
                <a:ea typeface="+mn-ea"/>
                <a:cs typeface="+mn-cs"/>
              </a:rPr>
              <a:t>preserva</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pero</a:t>
            </a:r>
            <a:r>
              <a:rPr lang="en-US" sz="1200" b="0" kern="1200" dirty="0">
                <a:solidFill>
                  <a:schemeClr val="tx1"/>
                </a:solidFill>
                <a:effectLst/>
                <a:latin typeface="+mn-lt"/>
                <a:ea typeface="+mn-ea"/>
                <a:cs typeface="+mn-cs"/>
              </a:rPr>
              <a:t> es </a:t>
            </a:r>
            <a:r>
              <a:rPr lang="en-US" sz="1200" b="1" kern="1200" dirty="0">
                <a:solidFill>
                  <a:schemeClr val="tx1"/>
                </a:solidFill>
                <a:effectLst/>
                <a:latin typeface="+mn-lt"/>
                <a:ea typeface="+mn-ea"/>
                <a:cs typeface="+mn-cs"/>
              </a:rPr>
              <a:t>**lineal </a:t>
            </a:r>
            <a:r>
              <a:rPr lang="en-US" sz="1200" b="1" kern="1200" dirty="0" err="1">
                <a:solidFill>
                  <a:schemeClr val="tx1"/>
                </a:solidFill>
                <a:effectLst/>
                <a:latin typeface="+mn-lt"/>
                <a:ea typeface="+mn-ea"/>
                <a:cs typeface="+mn-cs"/>
              </a:rPr>
              <a:t>en</a:t>
            </a:r>
            <a:r>
              <a:rPr lang="en-US" sz="1200" b="1" kern="1200" dirty="0">
                <a:solidFill>
                  <a:schemeClr val="tx1"/>
                </a:solidFill>
                <a:effectLst/>
                <a:latin typeface="+mn-lt"/>
                <a:ea typeface="+mn-ea"/>
                <a:cs typeface="+mn-cs"/>
              </a:rPr>
              <a:t> el </a:t>
            </a:r>
            <a:r>
              <a:rPr lang="en-US" sz="1200" b="1" kern="1200" dirty="0" err="1">
                <a:solidFill>
                  <a:schemeClr val="tx1"/>
                </a:solidFill>
                <a:effectLst/>
                <a:latin typeface="+mn-lt"/>
                <a:ea typeface="+mn-ea"/>
                <a:cs typeface="+mn-cs"/>
              </a:rPr>
              <a:t>tamaño</a:t>
            </a:r>
            <a:r>
              <a:rPr lang="en-US" sz="1200" b="1" kern="1200" dirty="0">
                <a:solidFill>
                  <a:schemeClr val="tx1"/>
                </a:solidFill>
                <a:effectLst/>
                <a:latin typeface="+mn-lt"/>
                <a:ea typeface="+mn-ea"/>
                <a:cs typeface="+mn-cs"/>
              </a:rPr>
              <a:t> del dataset**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completamente</a:t>
            </a:r>
            <a:r>
              <a:rPr lang="en-US" sz="1200" b="0" kern="1200" dirty="0">
                <a:solidFill>
                  <a:schemeClr val="tx1"/>
                </a:solidFill>
                <a:effectLst/>
                <a:latin typeface="+mn-lt"/>
                <a:ea typeface="+mn-ea"/>
                <a:cs typeface="+mn-cs"/>
              </a:rPr>
              <a:t> inviable a </a:t>
            </a:r>
            <a:r>
              <a:rPr lang="en-US" sz="1200" b="0" kern="1200" dirty="0" err="1">
                <a:solidFill>
                  <a:schemeClr val="tx1"/>
                </a:solidFill>
                <a:effectLst/>
                <a:latin typeface="+mn-lt"/>
                <a:ea typeface="+mn-ea"/>
                <a:cs typeface="+mn-cs"/>
              </a:rPr>
              <a:t>escala</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La </a:t>
            </a:r>
            <a:r>
              <a:rPr lang="en-US" sz="1200" b="0" kern="1200" dirty="0" err="1">
                <a:solidFill>
                  <a:schemeClr val="tx1"/>
                </a:solidFill>
                <a:effectLst/>
                <a:latin typeface="+mn-lt"/>
                <a:ea typeface="+mn-ea"/>
                <a:cs typeface="+mn-cs"/>
              </a:rPr>
              <a:t>conclusión</a:t>
            </a:r>
            <a:r>
              <a:rPr lang="en-US" sz="1200" b="0" kern="1200" dirty="0">
                <a:solidFill>
                  <a:schemeClr val="tx1"/>
                </a:solidFill>
                <a:effectLst/>
                <a:latin typeface="+mn-lt"/>
                <a:ea typeface="+mn-ea"/>
                <a:cs typeface="+mn-cs"/>
              </a:rPr>
              <a:t> clave es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solución</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**no es </a:t>
            </a:r>
            <a:r>
              <a:rPr lang="en-US" sz="1200" b="1" kern="1200" dirty="0" err="1">
                <a:solidFill>
                  <a:schemeClr val="tx1"/>
                </a:solidFill>
                <a:effectLst/>
                <a:latin typeface="+mn-lt"/>
                <a:ea typeface="+mn-ea"/>
                <a:cs typeface="+mn-cs"/>
              </a:rPr>
              <a:t>abandonar</a:t>
            </a:r>
            <a:r>
              <a:rPr lang="en-US" sz="1200" b="1" kern="1200" dirty="0">
                <a:solidFill>
                  <a:schemeClr val="tx1"/>
                </a:solidFill>
                <a:effectLst/>
                <a:latin typeface="+mn-lt"/>
                <a:ea typeface="+mn-ea"/>
                <a:cs typeface="+mn-cs"/>
              </a:rPr>
              <a:t> el </a:t>
            </a:r>
            <a:r>
              <a:rPr lang="en-US" sz="1200" b="1" kern="1200" dirty="0" err="1">
                <a:solidFill>
                  <a:schemeClr val="tx1"/>
                </a:solidFill>
                <a:effectLst/>
                <a:latin typeface="+mn-lt"/>
                <a:ea typeface="+mn-ea"/>
                <a:cs typeface="+mn-cs"/>
              </a:rPr>
              <a:t>cifrado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simétrico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sino</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reestructurarlo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separar</a:t>
            </a:r>
            <a:r>
              <a:rPr lang="en-US" sz="1200" b="0" kern="1200" dirty="0">
                <a:solidFill>
                  <a:schemeClr val="tx1"/>
                </a:solidFill>
                <a:effectLst/>
                <a:latin typeface="+mn-lt"/>
                <a:ea typeface="+mn-ea"/>
                <a:cs typeface="+mn-cs"/>
              </a:rPr>
              <a:t> un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búsqueda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del </a:t>
            </a:r>
            <a:r>
              <a:rPr lang="en-US" sz="1200" b="0" kern="1200" dirty="0" err="1">
                <a:solidFill>
                  <a:schemeClr val="tx1"/>
                </a:solidFill>
                <a:effectLst/>
                <a:latin typeface="+mn-lt"/>
                <a:ea typeface="+mn-ea"/>
                <a:cs typeface="+mn-cs"/>
              </a:rPr>
              <a:t>contenido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y usar </a:t>
            </a:r>
            <a:r>
              <a:rPr lang="en-US" sz="1200" b="0" kern="1200" dirty="0" err="1">
                <a:solidFill>
                  <a:schemeClr val="tx1"/>
                </a:solidFill>
                <a:effectLst/>
                <a:latin typeface="+mn-lt"/>
                <a:ea typeface="+mn-ea"/>
                <a:cs typeface="+mn-cs"/>
              </a:rPr>
              <a:t>primitivas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simétricas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específicas</a:t>
            </a:r>
            <a:r>
              <a:rPr lang="en-US" sz="1200" b="0" kern="1200" dirty="0">
                <a:solidFill>
                  <a:schemeClr val="tx1"/>
                </a:solidFill>
                <a:effectLst/>
                <a:latin typeface="+mn-lt"/>
                <a:ea typeface="+mn-ea"/>
                <a:cs typeface="+mn-cs"/>
              </a:rPr>
              <a:t> — PRF y PRP — para </a:t>
            </a:r>
            <a:r>
              <a:rPr lang="en-US" sz="1200" b="0" kern="1200" dirty="0" err="1">
                <a:solidFill>
                  <a:schemeClr val="tx1"/>
                </a:solidFill>
                <a:effectLst/>
                <a:latin typeface="+mn-lt"/>
                <a:ea typeface="+mn-ea"/>
                <a:cs typeface="+mn-cs"/>
              </a:rPr>
              <a:t>generar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accesos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controlados</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acotados</a:t>
            </a:r>
            <a:r>
              <a:rPr lang="en-US" sz="1200" b="0" kern="1200" dirty="0">
                <a:solidFill>
                  <a:schemeClr val="tx1"/>
                </a:solidFill>
                <a:effectLst/>
                <a:latin typeface="+mn-lt"/>
                <a:ea typeface="+mn-ea"/>
                <a:cs typeface="+mn-cs"/>
              </a:rPr>
              <a:t>. Esto es </a:t>
            </a:r>
            <a:r>
              <a:rPr lang="en-US" sz="1200" b="0" kern="1200" dirty="0" err="1">
                <a:solidFill>
                  <a:schemeClr val="tx1"/>
                </a:solidFill>
                <a:effectLst/>
                <a:latin typeface="+mn-lt"/>
                <a:ea typeface="+mn-ea"/>
                <a:cs typeface="+mn-cs"/>
              </a:rPr>
              <a:t>exactamente</a:t>
            </a:r>
            <a:r>
              <a:rPr lang="en-US" sz="1200" b="0" kern="1200" dirty="0">
                <a:solidFill>
                  <a:schemeClr val="tx1"/>
                </a:solidFill>
                <a:effectLst/>
                <a:latin typeface="+mn-lt"/>
                <a:ea typeface="+mn-ea"/>
                <a:cs typeface="+mn-cs"/>
              </a:rPr>
              <a:t> lo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construye</a:t>
            </a:r>
            <a:r>
              <a:rPr lang="en-US" sz="1200" b="0" kern="1200" dirty="0">
                <a:solidFill>
                  <a:schemeClr val="tx1"/>
                </a:solidFill>
                <a:effectLst/>
                <a:latin typeface="+mn-lt"/>
                <a:ea typeface="+mn-ea"/>
                <a:cs typeface="+mn-cs"/>
              </a:rPr>
              <a:t> SSE."</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"Todo </a:t>
            </a:r>
            <a:r>
              <a:rPr lang="en-US" sz="1200" b="0" kern="1200" dirty="0" err="1">
                <a:solidFill>
                  <a:schemeClr val="tx1"/>
                </a:solidFill>
                <a:effectLst/>
                <a:latin typeface="+mn-lt"/>
                <a:ea typeface="+mn-ea"/>
                <a:cs typeface="+mn-cs"/>
              </a:rPr>
              <a:t>esquema</a:t>
            </a:r>
            <a:r>
              <a:rPr lang="en-US" sz="1200" b="0" kern="1200" dirty="0">
                <a:solidFill>
                  <a:schemeClr val="tx1"/>
                </a:solidFill>
                <a:effectLst/>
                <a:latin typeface="+mn-lt"/>
                <a:ea typeface="+mn-ea"/>
                <a:cs typeface="+mn-cs"/>
              </a:rPr>
              <a:t> de SSE se </a:t>
            </a:r>
            <a:r>
              <a:rPr lang="en-US" sz="1200" b="0" kern="1200" dirty="0" err="1">
                <a:solidFill>
                  <a:schemeClr val="tx1"/>
                </a:solidFill>
                <a:effectLst/>
                <a:latin typeface="+mn-lt"/>
                <a:ea typeface="+mn-ea"/>
                <a:cs typeface="+mn-cs"/>
              </a:rPr>
              <a:t>construye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sobre</a:t>
            </a:r>
            <a:r>
              <a:rPr lang="en-US" sz="1200" b="0" kern="1200" dirty="0">
                <a:solidFill>
                  <a:schemeClr val="tx1"/>
                </a:solidFill>
                <a:effectLst/>
                <a:latin typeface="+mn-lt"/>
                <a:ea typeface="+mn-ea"/>
                <a:cs typeface="+mn-cs"/>
              </a:rPr>
              <a:t> dos </a:t>
            </a:r>
            <a:r>
              <a:rPr lang="en-US" sz="1200" b="0" kern="1200" dirty="0" err="1">
                <a:solidFill>
                  <a:schemeClr val="tx1"/>
                </a:solidFill>
                <a:effectLst/>
                <a:latin typeface="+mn-lt"/>
                <a:ea typeface="+mn-ea"/>
                <a:cs typeface="+mn-cs"/>
              </a:rPr>
              <a:t>primitivas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simétricas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fundamentales</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La </a:t>
            </a:r>
            <a:r>
              <a:rPr lang="en-US" sz="1200" b="0" kern="1200" dirty="0" err="1">
                <a:solidFill>
                  <a:schemeClr val="tx1"/>
                </a:solidFill>
                <a:effectLst/>
                <a:latin typeface="+mn-lt"/>
                <a:ea typeface="+mn-ea"/>
                <a:cs typeface="+mn-cs"/>
              </a:rPr>
              <a:t>primera</a:t>
            </a:r>
            <a:r>
              <a:rPr lang="en-US" sz="1200" b="0" kern="1200" dirty="0">
                <a:solidFill>
                  <a:schemeClr val="tx1"/>
                </a:solidFill>
                <a:effectLst/>
                <a:latin typeface="+mn-lt"/>
                <a:ea typeface="+mn-ea"/>
                <a:cs typeface="+mn-cs"/>
              </a:rPr>
              <a:t> es la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Función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Pseudoaleatoria</a:t>
            </a:r>
            <a:r>
              <a:rPr lang="en-US" sz="1200" b="1" kern="1200" dirty="0">
                <a:solidFill>
                  <a:schemeClr val="tx1"/>
                </a:solidFill>
                <a:effectLst/>
                <a:latin typeface="+mn-lt"/>
                <a:ea typeface="+mn-ea"/>
                <a:cs typeface="+mn-cs"/>
              </a:rPr>
              <a:t> (PRF)**</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Formalmente</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función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toma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clave secreta de λ bits y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entrada de m bits, y produce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salida de n bits. La </a:t>
            </a:r>
            <a:r>
              <a:rPr lang="en-US" sz="1200" b="0" kern="1200" dirty="0" err="1">
                <a:solidFill>
                  <a:schemeClr val="tx1"/>
                </a:solidFill>
                <a:effectLst/>
                <a:latin typeface="+mn-lt"/>
                <a:ea typeface="+mn-ea"/>
                <a:cs typeface="+mn-cs"/>
              </a:rPr>
              <a:t>propiedad</a:t>
            </a:r>
            <a:r>
              <a:rPr lang="en-US" sz="1200" b="0" kern="1200" dirty="0">
                <a:solidFill>
                  <a:schemeClr val="tx1"/>
                </a:solidFill>
                <a:effectLst/>
                <a:latin typeface="+mn-lt"/>
                <a:ea typeface="+mn-ea"/>
                <a:cs typeface="+mn-cs"/>
              </a:rPr>
              <a:t> fundamental es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para </a:t>
            </a:r>
            <a:r>
              <a:rPr lang="en-US" sz="1200" b="0" kern="1200" dirty="0" err="1">
                <a:solidFill>
                  <a:schemeClr val="tx1"/>
                </a:solidFill>
                <a:effectLst/>
                <a:latin typeface="+mn-lt"/>
                <a:ea typeface="+mn-ea"/>
                <a:cs typeface="+mn-cs"/>
              </a:rPr>
              <a:t>cualquier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adversario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computacionalmente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acotado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posea</a:t>
            </a:r>
            <a:r>
              <a:rPr lang="en-US" sz="1200" b="0" kern="1200" dirty="0">
                <a:solidFill>
                  <a:schemeClr val="tx1"/>
                </a:solidFill>
                <a:effectLst/>
                <a:latin typeface="+mn-lt"/>
                <a:ea typeface="+mn-ea"/>
                <a:cs typeface="+mn-cs"/>
              </a:rPr>
              <a:t> la clave K, la salida es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indistinguible</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una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cadena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aleatoria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En la </a:t>
            </a:r>
            <a:r>
              <a:rPr lang="en-US" sz="1200" b="0" kern="1200" dirty="0" err="1">
                <a:solidFill>
                  <a:schemeClr val="tx1"/>
                </a:solidFill>
                <a:effectLst/>
                <a:latin typeface="+mn-lt"/>
                <a:ea typeface="+mn-ea"/>
                <a:cs typeface="+mn-cs"/>
              </a:rPr>
              <a:t>práctica</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instanciamos</a:t>
            </a:r>
            <a:r>
              <a:rPr lang="en-US" sz="1200" b="0" kern="1200" dirty="0">
                <a:solidFill>
                  <a:schemeClr val="tx1"/>
                </a:solidFill>
                <a:effectLst/>
                <a:latin typeface="+mn-lt"/>
                <a:ea typeface="+mn-ea"/>
                <a:cs typeface="+mn-cs"/>
              </a:rPr>
              <a:t> con </a:t>
            </a:r>
            <a:r>
              <a:rPr lang="en-US" sz="1200" b="1" kern="1200" dirty="0">
                <a:solidFill>
                  <a:schemeClr val="tx1"/>
                </a:solidFill>
                <a:effectLst/>
                <a:latin typeface="+mn-lt"/>
                <a:ea typeface="+mn-ea"/>
                <a:cs typeface="+mn-cs"/>
              </a:rPr>
              <a:t>**HMAC-SHA256**</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Dentro</a:t>
            </a:r>
            <a:r>
              <a:rPr lang="en-US" sz="1200" b="0" kern="1200" dirty="0">
                <a:solidFill>
                  <a:schemeClr val="tx1"/>
                </a:solidFill>
                <a:effectLst/>
                <a:latin typeface="+mn-lt"/>
                <a:ea typeface="+mn-ea"/>
                <a:cs typeface="+mn-cs"/>
              </a:rPr>
              <a:t> de SSE, la PRF </a:t>
            </a:r>
            <a:r>
              <a:rPr lang="en-US" sz="1200" b="0" kern="1200" dirty="0" err="1">
                <a:solidFill>
                  <a:schemeClr val="tx1"/>
                </a:solidFill>
                <a:effectLst/>
                <a:latin typeface="+mn-lt"/>
                <a:ea typeface="+mn-ea"/>
                <a:cs typeface="+mn-cs"/>
              </a:rPr>
              <a:t>cumple</a:t>
            </a:r>
            <a:r>
              <a:rPr lang="en-US" sz="1200" b="0" kern="1200" dirty="0">
                <a:solidFill>
                  <a:schemeClr val="tx1"/>
                </a:solidFill>
                <a:effectLst/>
                <a:latin typeface="+mn-lt"/>
                <a:ea typeface="+mn-ea"/>
                <a:cs typeface="+mn-cs"/>
              </a:rPr>
              <a:t> dos roles: primero, genera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**trapdoors**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búsqueda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derivando</a:t>
            </a:r>
            <a:r>
              <a:rPr lang="en-US" sz="1200" b="0" kern="1200" dirty="0">
                <a:solidFill>
                  <a:schemeClr val="tx1"/>
                </a:solidFill>
                <a:effectLst/>
                <a:latin typeface="+mn-lt"/>
                <a:ea typeface="+mn-ea"/>
                <a:cs typeface="+mn-cs"/>
              </a:rPr>
              <a:t> un valor </a:t>
            </a:r>
            <a:r>
              <a:rPr lang="en-US" sz="1200" b="0" kern="1200" dirty="0" err="1">
                <a:solidFill>
                  <a:schemeClr val="tx1"/>
                </a:solidFill>
                <a:effectLst/>
                <a:latin typeface="+mn-lt"/>
                <a:ea typeface="+mn-ea"/>
                <a:cs typeface="+mn-cs"/>
              </a:rPr>
              <a:t>pseudoaleatorio</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partir</a:t>
            </a:r>
            <a:r>
              <a:rPr lang="en-US" sz="1200" b="0" kern="1200" dirty="0">
                <a:solidFill>
                  <a:schemeClr val="tx1"/>
                </a:solidFill>
                <a:effectLst/>
                <a:latin typeface="+mn-lt"/>
                <a:ea typeface="+mn-ea"/>
                <a:cs typeface="+mn-cs"/>
              </a:rPr>
              <a:t> de K y la palabra </a:t>
            </a:r>
            <a:r>
              <a:rPr lang="en-US" sz="1200" b="0" kern="1200" dirty="0" err="1">
                <a:solidFill>
                  <a:schemeClr val="tx1"/>
                </a:solidFill>
                <a:effectLst/>
                <a:latin typeface="+mn-lt"/>
                <a:ea typeface="+mn-ea"/>
                <a:cs typeface="+mn-cs"/>
              </a:rPr>
              <a:t>buscada</a:t>
            </a:r>
            <a:r>
              <a:rPr lang="en-US" sz="1200" b="0" kern="1200" dirty="0">
                <a:solidFill>
                  <a:schemeClr val="tx1"/>
                </a:solidFill>
                <a:effectLst/>
                <a:latin typeface="+mn-lt"/>
                <a:ea typeface="+mn-ea"/>
                <a:cs typeface="+mn-cs"/>
              </a:rPr>
              <a:t> w; </a:t>
            </a:r>
            <a:r>
              <a:rPr lang="en-US" sz="1200" b="0" kern="1200" dirty="0" err="1">
                <a:solidFill>
                  <a:schemeClr val="tx1"/>
                </a:solidFill>
                <a:effectLst/>
                <a:latin typeface="+mn-lt"/>
                <a:ea typeface="+mn-ea"/>
                <a:cs typeface="+mn-cs"/>
              </a:rPr>
              <a:t>segundo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deriva</a:t>
            </a:r>
            <a:r>
              <a:rPr lang="en-US" sz="1200" b="0" kern="1200" dirty="0">
                <a:solidFill>
                  <a:schemeClr val="tx1"/>
                </a:solidFill>
                <a:effectLst/>
                <a:latin typeface="+mn-lt"/>
                <a:ea typeface="+mn-ea"/>
                <a:cs typeface="+mn-cs"/>
              </a:rPr>
              <a:t> las </a:t>
            </a:r>
            <a:r>
              <a:rPr lang="en-US" sz="1200" b="1" kern="1200" dirty="0">
                <a:solidFill>
                  <a:schemeClr val="tx1"/>
                </a:solidFill>
                <a:effectLst/>
                <a:latin typeface="+mn-lt"/>
                <a:ea typeface="+mn-ea"/>
                <a:cs typeface="+mn-cs"/>
              </a:rPr>
              <a:t>**claves </a:t>
            </a:r>
            <a:r>
              <a:rPr lang="en-US" sz="1200" b="1" kern="1200" dirty="0" err="1">
                <a:solidFill>
                  <a:schemeClr val="tx1"/>
                </a:solidFill>
                <a:effectLst/>
                <a:latin typeface="+mn-lt"/>
                <a:ea typeface="+mn-ea"/>
                <a:cs typeface="+mn-cs"/>
              </a:rPr>
              <a:t>individuales</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por</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nodo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del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invertido</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La </a:t>
            </a:r>
            <a:r>
              <a:rPr lang="en-US" sz="1200" b="0" kern="1200" dirty="0" err="1">
                <a:solidFill>
                  <a:schemeClr val="tx1"/>
                </a:solidFill>
                <a:effectLst/>
                <a:latin typeface="+mn-lt"/>
                <a:ea typeface="+mn-ea"/>
                <a:cs typeface="+mn-cs"/>
              </a:rPr>
              <a:t>segunda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primitiva</a:t>
            </a:r>
            <a:r>
              <a:rPr lang="en-US" sz="1200" b="0" kern="1200" dirty="0">
                <a:solidFill>
                  <a:schemeClr val="tx1"/>
                </a:solidFill>
                <a:effectLst/>
                <a:latin typeface="+mn-lt"/>
                <a:ea typeface="+mn-ea"/>
                <a:cs typeface="+mn-cs"/>
              </a:rPr>
              <a:t> es la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Permutación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Pseudoaleatoria</a:t>
            </a:r>
            <a:r>
              <a:rPr lang="en-US" sz="1200" b="1" kern="1200" dirty="0">
                <a:solidFill>
                  <a:schemeClr val="tx1"/>
                </a:solidFill>
                <a:effectLst/>
                <a:latin typeface="+mn-lt"/>
                <a:ea typeface="+mn-ea"/>
                <a:cs typeface="+mn-cs"/>
              </a:rPr>
              <a:t> (PRP)**</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diferencia</a:t>
            </a:r>
            <a:r>
              <a:rPr lang="en-US" sz="1200" b="0" kern="1200" dirty="0">
                <a:solidFill>
                  <a:schemeClr val="tx1"/>
                </a:solidFill>
                <a:effectLst/>
                <a:latin typeface="+mn-lt"/>
                <a:ea typeface="+mn-ea"/>
                <a:cs typeface="+mn-cs"/>
              </a:rPr>
              <a:t> de la PRF, la PRP es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biyectiva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tiene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inversa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eficiente</a:t>
            </a:r>
            <a:r>
              <a:rPr lang="en-US" sz="1200" b="0" kern="1200" dirty="0">
                <a:solidFill>
                  <a:schemeClr val="tx1"/>
                </a:solidFill>
                <a:effectLst/>
                <a:latin typeface="+mn-lt"/>
                <a:ea typeface="+mn-ea"/>
                <a:cs typeface="+mn-cs"/>
              </a:rPr>
              <a:t>. En la </a:t>
            </a:r>
            <a:r>
              <a:rPr lang="en-US" sz="1200" b="0" kern="1200" dirty="0" err="1">
                <a:solidFill>
                  <a:schemeClr val="tx1"/>
                </a:solidFill>
                <a:effectLst/>
                <a:latin typeface="+mn-lt"/>
                <a:ea typeface="+mn-ea"/>
                <a:cs typeface="+mn-cs"/>
              </a:rPr>
              <a:t>práctica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esto</a:t>
            </a:r>
            <a:r>
              <a:rPr lang="en-US" sz="1200" b="0" kern="1200" dirty="0">
                <a:solidFill>
                  <a:schemeClr val="tx1"/>
                </a:solidFill>
                <a:effectLst/>
                <a:latin typeface="+mn-lt"/>
                <a:ea typeface="+mn-ea"/>
                <a:cs typeface="+mn-cs"/>
              </a:rPr>
              <a:t> es un </a:t>
            </a:r>
            <a:r>
              <a:rPr lang="en-US" sz="1200" b="0" kern="1200" dirty="0" err="1">
                <a:solidFill>
                  <a:schemeClr val="tx1"/>
                </a:solidFill>
                <a:effectLst/>
                <a:latin typeface="+mn-lt"/>
                <a:ea typeface="+mn-ea"/>
                <a:cs typeface="+mn-cs"/>
              </a:rPr>
              <a:t>cifrador</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bloque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como</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**AES**</a:t>
            </a:r>
            <a:r>
              <a:rPr lang="en-US" sz="1200" b="0" kern="1200" dirty="0">
                <a:solidFill>
                  <a:schemeClr val="tx1"/>
                </a:solidFill>
                <a:effectLst/>
                <a:latin typeface="+mn-lt"/>
                <a:ea typeface="+mn-ea"/>
                <a:cs typeface="+mn-cs"/>
              </a:rPr>
              <a:t>. Su </a:t>
            </a:r>
            <a:r>
              <a:rPr lang="en-US" sz="1200" b="0" kern="1200" dirty="0" err="1">
                <a:solidFill>
                  <a:schemeClr val="tx1"/>
                </a:solidFill>
                <a:effectLst/>
                <a:latin typeface="+mn-lt"/>
                <a:ea typeface="+mn-ea"/>
                <a:cs typeface="+mn-cs"/>
              </a:rPr>
              <a:t>rol</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SSE es </a:t>
            </a:r>
            <a:r>
              <a:rPr lang="en-US" sz="1200" b="0" kern="1200" dirty="0" err="1">
                <a:solidFill>
                  <a:schemeClr val="tx1"/>
                </a:solidFill>
                <a:effectLst/>
                <a:latin typeface="+mn-lt"/>
                <a:ea typeface="+mn-ea"/>
                <a:cs typeface="+mn-cs"/>
              </a:rPr>
              <a:t>cifrar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cada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nodo</a:t>
            </a:r>
            <a:r>
              <a:rPr lang="en-US" sz="1200" b="0" kern="1200" dirty="0">
                <a:solidFill>
                  <a:schemeClr val="tx1"/>
                </a:solidFill>
                <a:effectLst/>
                <a:latin typeface="+mn-lt"/>
                <a:ea typeface="+mn-ea"/>
                <a:cs typeface="+mn-cs"/>
              </a:rPr>
              <a:t> del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manera</a:t>
            </a:r>
            <a:r>
              <a:rPr lang="en-US" sz="1200" b="0" kern="1200" dirty="0">
                <a:solidFill>
                  <a:schemeClr val="tx1"/>
                </a:solidFill>
                <a:effectLst/>
                <a:latin typeface="+mn-lt"/>
                <a:ea typeface="+mn-ea"/>
                <a:cs typeface="+mn-cs"/>
              </a:rPr>
              <a:t> individual, de forma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sin la clave el </a:t>
            </a:r>
            <a:r>
              <a:rPr lang="en-US" sz="1200" b="0" kern="1200" dirty="0" err="1">
                <a:solidFill>
                  <a:schemeClr val="tx1"/>
                </a:solidFill>
                <a:effectLst/>
                <a:latin typeface="+mn-lt"/>
                <a:ea typeface="+mn-ea"/>
                <a:cs typeface="+mn-cs"/>
              </a:rPr>
              <a:t>contenido</a:t>
            </a:r>
            <a:r>
              <a:rPr lang="en-US" sz="1200" b="0" kern="1200" dirty="0">
                <a:solidFill>
                  <a:schemeClr val="tx1"/>
                </a:solidFill>
                <a:effectLst/>
                <a:latin typeface="+mn-lt"/>
                <a:ea typeface="+mn-ea"/>
                <a:cs typeface="+mn-cs"/>
              </a:rPr>
              <a:t> sea </a:t>
            </a:r>
            <a:r>
              <a:rPr lang="en-US" sz="1200" b="0" kern="1200" dirty="0" err="1">
                <a:solidFill>
                  <a:schemeClr val="tx1"/>
                </a:solidFill>
                <a:effectLst/>
                <a:latin typeface="+mn-lt"/>
                <a:ea typeface="+mn-ea"/>
                <a:cs typeface="+mn-cs"/>
              </a:rPr>
              <a:t>indistinguible</a:t>
            </a:r>
            <a:r>
              <a:rPr lang="en-US" sz="1200" b="0" kern="1200" dirty="0">
                <a:solidFill>
                  <a:schemeClr val="tx1"/>
                </a:solidFill>
                <a:effectLst/>
                <a:latin typeface="+mn-lt"/>
                <a:ea typeface="+mn-ea"/>
                <a:cs typeface="+mn-cs"/>
              </a:rPr>
              <a:t> de bytes </a:t>
            </a:r>
            <a:r>
              <a:rPr lang="en-US" sz="1200" b="0" kern="1200" dirty="0" err="1">
                <a:solidFill>
                  <a:schemeClr val="tx1"/>
                </a:solidFill>
                <a:effectLst/>
                <a:latin typeface="+mn-lt"/>
                <a:ea typeface="+mn-ea"/>
                <a:cs typeface="+mn-cs"/>
              </a:rPr>
              <a:t>aleatorios</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El punto crucial es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ambas </a:t>
            </a:r>
            <a:r>
              <a:rPr lang="en-US" sz="1200" b="0" kern="1200" dirty="0" err="1">
                <a:solidFill>
                  <a:schemeClr val="tx1"/>
                </a:solidFill>
                <a:effectLst/>
                <a:latin typeface="+mn-lt"/>
                <a:ea typeface="+mn-ea"/>
                <a:cs typeface="+mn-cs"/>
              </a:rPr>
              <a:t>primitivas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operan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nanosegundos</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órdenes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magnitud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más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rápido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cualquier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operación</a:t>
            </a:r>
            <a:r>
              <a:rPr lang="en-US" sz="1200" b="0" kern="1200" dirty="0">
                <a:solidFill>
                  <a:schemeClr val="tx1"/>
                </a:solidFill>
                <a:effectLst/>
                <a:latin typeface="+mn-lt"/>
                <a:ea typeface="+mn-ea"/>
                <a:cs typeface="+mn-cs"/>
              </a:rPr>
              <a:t> de clave </a:t>
            </a:r>
            <a:r>
              <a:rPr lang="en-US" sz="1200" b="0" kern="1200" dirty="0" err="1">
                <a:solidFill>
                  <a:schemeClr val="tx1"/>
                </a:solidFill>
                <a:effectLst/>
                <a:latin typeface="+mn-lt"/>
                <a:ea typeface="+mn-ea"/>
                <a:cs typeface="+mn-cs"/>
              </a:rPr>
              <a:t>pública</a:t>
            </a:r>
            <a:r>
              <a:rPr lang="en-US" sz="1200" b="0" kern="1200" dirty="0">
                <a:solidFill>
                  <a:schemeClr val="tx1"/>
                </a:solidFill>
                <a:effectLst/>
                <a:latin typeface="+mn-lt"/>
                <a:ea typeface="+mn-ea"/>
                <a:cs typeface="+mn-cs"/>
              </a:rPr>
              <a:t>. Esta es la </a:t>
            </a:r>
            <a:r>
              <a:rPr lang="en-US" sz="1200" b="0" kern="1200" dirty="0" err="1">
                <a:solidFill>
                  <a:schemeClr val="tx1"/>
                </a:solidFill>
                <a:effectLst/>
                <a:latin typeface="+mn-lt"/>
                <a:ea typeface="+mn-ea"/>
                <a:cs typeface="+mn-cs"/>
              </a:rPr>
              <a:t>razón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cual</a:t>
            </a:r>
            <a:r>
              <a:rPr lang="en-US" sz="1200" b="0" kern="1200" dirty="0">
                <a:solidFill>
                  <a:schemeClr val="tx1"/>
                </a:solidFill>
                <a:effectLst/>
                <a:latin typeface="+mn-lt"/>
                <a:ea typeface="+mn-ea"/>
                <a:cs typeface="+mn-cs"/>
              </a:rPr>
              <a:t> SSE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escalar</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colecciones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millones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"El </a:t>
            </a:r>
            <a:r>
              <a:rPr lang="en-US" sz="1200" b="0" kern="1200" dirty="0" err="1">
                <a:solidFill>
                  <a:schemeClr val="tx1"/>
                </a:solidFill>
                <a:effectLst/>
                <a:latin typeface="+mn-lt"/>
                <a:ea typeface="+mn-ea"/>
                <a:cs typeface="+mn-cs"/>
              </a:rPr>
              <a:t>avance</a:t>
            </a:r>
            <a:r>
              <a:rPr lang="en-US" sz="1200" b="0" kern="1200" dirty="0">
                <a:solidFill>
                  <a:schemeClr val="tx1"/>
                </a:solidFill>
                <a:effectLst/>
                <a:latin typeface="+mn-lt"/>
                <a:ea typeface="+mn-ea"/>
                <a:cs typeface="+mn-cs"/>
              </a:rPr>
              <a:t> conceptual clave de SSE es no </a:t>
            </a:r>
            <a:r>
              <a:rPr lang="en-US" sz="1200" b="0" kern="1200" dirty="0" err="1">
                <a:solidFill>
                  <a:schemeClr val="tx1"/>
                </a:solidFill>
                <a:effectLst/>
                <a:latin typeface="+mn-lt"/>
                <a:ea typeface="+mn-ea"/>
                <a:cs typeface="+mn-cs"/>
              </a:rPr>
              <a:t>intentar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buscar</a:t>
            </a:r>
            <a:r>
              <a:rPr lang="en-US" sz="1200" b="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a:t>
            </a:r>
            <a:r>
              <a:rPr lang="en-US" sz="1200" b="0" i="1" kern="1200" dirty="0" err="1">
                <a:solidFill>
                  <a:schemeClr val="tx1"/>
                </a:solidFill>
                <a:effectLst/>
                <a:latin typeface="+mn-lt"/>
                <a:ea typeface="+mn-ea"/>
                <a:cs typeface="+mn-cs"/>
              </a:rPr>
              <a:t>dentro</a:t>
            </a:r>
            <a:r>
              <a:rPr lang="en-US" sz="1200" b="0" i="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sino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construir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estructura</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índice</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separada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un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invertido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permite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localizar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sin </a:t>
            </a:r>
            <a:r>
              <a:rPr lang="en-US" sz="1200" b="0" kern="1200" dirty="0" err="1">
                <a:solidFill>
                  <a:schemeClr val="tx1"/>
                </a:solidFill>
                <a:effectLst/>
                <a:latin typeface="+mn-lt"/>
                <a:ea typeface="+mn-ea"/>
                <a:cs typeface="+mn-cs"/>
              </a:rPr>
              <a:t>tocar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contenido</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En un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invertido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clásico</a:t>
            </a:r>
            <a:r>
              <a:rPr lang="en-US" sz="1200" b="0" kern="1200" dirty="0">
                <a:solidFill>
                  <a:schemeClr val="tx1"/>
                </a:solidFill>
                <a:effectLst/>
                <a:latin typeface="+mn-lt"/>
                <a:ea typeface="+mn-ea"/>
                <a:cs typeface="+mn-cs"/>
              </a:rPr>
              <a:t>, para </a:t>
            </a:r>
            <a:r>
              <a:rPr lang="en-US" sz="1200" b="0" kern="1200" dirty="0" err="1">
                <a:solidFill>
                  <a:schemeClr val="tx1"/>
                </a:solidFill>
                <a:effectLst/>
                <a:latin typeface="+mn-lt"/>
                <a:ea typeface="+mn-ea"/>
                <a:cs typeface="+mn-cs"/>
              </a:rPr>
              <a:t>cada</a:t>
            </a:r>
            <a:r>
              <a:rPr lang="en-US" sz="1200" b="0" kern="1200" dirty="0">
                <a:solidFill>
                  <a:schemeClr val="tx1"/>
                </a:solidFill>
                <a:effectLst/>
                <a:latin typeface="+mn-lt"/>
                <a:ea typeface="+mn-ea"/>
                <a:cs typeface="+mn-cs"/>
              </a:rPr>
              <a:t> palabra del </a:t>
            </a:r>
            <a:r>
              <a:rPr lang="en-US" sz="1200" b="0" kern="1200" dirty="0" err="1">
                <a:solidFill>
                  <a:schemeClr val="tx1"/>
                </a:solidFill>
                <a:effectLst/>
                <a:latin typeface="+mn-lt"/>
                <a:ea typeface="+mn-ea"/>
                <a:cs typeface="+mn-cs"/>
              </a:rPr>
              <a:t>vocabulario</a:t>
            </a:r>
            <a:r>
              <a:rPr lang="en-US" sz="1200" b="0" kern="1200" dirty="0">
                <a:solidFill>
                  <a:schemeClr val="tx1"/>
                </a:solidFill>
                <a:effectLst/>
                <a:latin typeface="+mn-lt"/>
                <a:ea typeface="+mn-ea"/>
                <a:cs typeface="+mn-cs"/>
              </a:rPr>
              <a:t> se </a:t>
            </a:r>
            <a:r>
              <a:rPr lang="en-US" sz="1200" b="0" kern="1200" dirty="0" err="1">
                <a:solidFill>
                  <a:schemeClr val="tx1"/>
                </a:solidFill>
                <a:effectLst/>
                <a:latin typeface="+mn-lt"/>
                <a:ea typeface="+mn-ea"/>
                <a:cs typeface="+mn-cs"/>
              </a:rPr>
              <a:t>mantiene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lista</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contienen</a:t>
            </a:r>
            <a:r>
              <a:rPr lang="en-US" sz="1200" b="0" kern="1200" dirty="0">
                <a:solidFill>
                  <a:schemeClr val="tx1"/>
                </a:solidFill>
                <a:effectLst/>
                <a:latin typeface="+mn-lt"/>
                <a:ea typeface="+mn-ea"/>
                <a:cs typeface="+mn-cs"/>
              </a:rPr>
              <a:t>. SSE </a:t>
            </a:r>
            <a:r>
              <a:rPr lang="en-US" sz="1200" b="0" kern="1200" dirty="0" err="1">
                <a:solidFill>
                  <a:schemeClr val="tx1"/>
                </a:solidFill>
                <a:effectLst/>
                <a:latin typeface="+mn-lt"/>
                <a:ea typeface="+mn-ea"/>
                <a:cs typeface="+mn-cs"/>
              </a:rPr>
              <a:t>cifra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estructura</a:t>
            </a:r>
            <a:r>
              <a:rPr lang="en-US" sz="1200" b="0" kern="1200" dirty="0">
                <a:solidFill>
                  <a:schemeClr val="tx1"/>
                </a:solidFill>
                <a:effectLst/>
                <a:latin typeface="+mn-lt"/>
                <a:ea typeface="+mn-ea"/>
                <a:cs typeface="+mn-cs"/>
              </a:rPr>
              <a:t> completa </a:t>
            </a:r>
            <a:r>
              <a:rPr lang="en-US" sz="1200" b="0" kern="1200" dirty="0" err="1">
                <a:solidFill>
                  <a:schemeClr val="tx1"/>
                </a:solidFill>
                <a:effectLst/>
                <a:latin typeface="+mn-lt"/>
                <a:ea typeface="+mn-ea"/>
                <a:cs typeface="+mn-cs"/>
              </a:rPr>
              <a:t>usando</a:t>
            </a:r>
            <a:r>
              <a:rPr lang="en-US" sz="1200" b="0" kern="1200" dirty="0">
                <a:solidFill>
                  <a:schemeClr val="tx1"/>
                </a:solidFill>
                <a:effectLst/>
                <a:latin typeface="+mn-lt"/>
                <a:ea typeface="+mn-ea"/>
                <a:cs typeface="+mn-cs"/>
              </a:rPr>
              <a:t> las </a:t>
            </a:r>
            <a:r>
              <a:rPr lang="en-US" sz="1200" b="0" kern="1200" dirty="0" err="1">
                <a:solidFill>
                  <a:schemeClr val="tx1"/>
                </a:solidFill>
                <a:effectLst/>
                <a:latin typeface="+mn-lt"/>
                <a:ea typeface="+mn-ea"/>
                <a:cs typeface="+mn-cs"/>
              </a:rPr>
              <a:t>primitivas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acabamos</a:t>
            </a:r>
            <a:r>
              <a:rPr lang="en-US" sz="1200" b="0" kern="1200" dirty="0">
                <a:solidFill>
                  <a:schemeClr val="tx1"/>
                </a:solidFill>
                <a:effectLst/>
                <a:latin typeface="+mn-lt"/>
                <a:ea typeface="+mn-ea"/>
                <a:cs typeface="+mn-cs"/>
              </a:rPr>
              <a:t> de ver.</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La </a:t>
            </a:r>
            <a:r>
              <a:rPr lang="en-US" sz="1200" b="0" kern="1200" dirty="0" err="1">
                <a:solidFill>
                  <a:schemeClr val="tx1"/>
                </a:solidFill>
                <a:effectLst/>
                <a:latin typeface="+mn-lt"/>
                <a:ea typeface="+mn-ea"/>
                <a:cs typeface="+mn-cs"/>
              </a:rPr>
              <a:t>estructura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tiene</a:t>
            </a:r>
            <a:r>
              <a:rPr lang="en-US" sz="1200" b="0" kern="1200" dirty="0">
                <a:solidFill>
                  <a:schemeClr val="tx1"/>
                </a:solidFill>
                <a:effectLst/>
                <a:latin typeface="+mn-lt"/>
                <a:ea typeface="+mn-ea"/>
                <a:cs typeface="+mn-cs"/>
              </a:rPr>
              <a:t> dos </a:t>
            </a:r>
            <a:r>
              <a:rPr lang="en-US" sz="1200" b="0" kern="1200" dirty="0" err="1">
                <a:solidFill>
                  <a:schemeClr val="tx1"/>
                </a:solidFill>
                <a:effectLst/>
                <a:latin typeface="+mn-lt"/>
                <a:ea typeface="+mn-ea"/>
                <a:cs typeface="+mn-cs"/>
              </a:rPr>
              <a:t>componentes</a:t>
            </a:r>
            <a:r>
              <a:rPr lang="en-US" sz="1200" b="0" kern="1200" dirty="0">
                <a:solidFill>
                  <a:schemeClr val="tx1"/>
                </a:solidFill>
                <a:effectLst/>
                <a:latin typeface="+mn-lt"/>
                <a:ea typeface="+mn-ea"/>
                <a:cs typeface="+mn-cs"/>
              </a:rPr>
              <a:t>. Primero,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Tabla</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búsqueda</a:t>
            </a:r>
            <a:r>
              <a:rPr lang="en-US" sz="1200" b="1" kern="1200" dirty="0">
                <a:solidFill>
                  <a:schemeClr val="tx1"/>
                </a:solidFill>
                <a:effectLst/>
                <a:latin typeface="+mn-lt"/>
                <a:ea typeface="+mn-ea"/>
                <a:cs typeface="+mn-cs"/>
              </a:rPr>
              <a:t> T**</a:t>
            </a:r>
            <a:r>
              <a:rPr lang="en-US" sz="1200" b="0" kern="1200" dirty="0">
                <a:solidFill>
                  <a:schemeClr val="tx1"/>
                </a:solidFill>
                <a:effectLst/>
                <a:latin typeface="+mn-lt"/>
                <a:ea typeface="+mn-ea"/>
                <a:cs typeface="+mn-cs"/>
              </a:rPr>
              <a:t>: para </a:t>
            </a:r>
            <a:r>
              <a:rPr lang="en-US" sz="1200" b="0" kern="1200" dirty="0" err="1">
                <a:solidFill>
                  <a:schemeClr val="tx1"/>
                </a:solidFill>
                <a:effectLst/>
                <a:latin typeface="+mn-lt"/>
                <a:ea typeface="+mn-ea"/>
                <a:cs typeface="+mn-cs"/>
              </a:rPr>
              <a:t>cada</a:t>
            </a:r>
            <a:r>
              <a:rPr lang="en-US" sz="1200" b="0" kern="1200" dirty="0">
                <a:solidFill>
                  <a:schemeClr val="tx1"/>
                </a:solidFill>
                <a:effectLst/>
                <a:latin typeface="+mn-lt"/>
                <a:ea typeface="+mn-ea"/>
                <a:cs typeface="+mn-cs"/>
              </a:rPr>
              <a:t> palabra w del </a:t>
            </a:r>
            <a:r>
              <a:rPr lang="en-US" sz="1200" b="0" kern="1200" dirty="0" err="1">
                <a:solidFill>
                  <a:schemeClr val="tx1"/>
                </a:solidFill>
                <a:effectLst/>
                <a:latin typeface="+mn-lt"/>
                <a:ea typeface="+mn-ea"/>
                <a:cs typeface="+mn-cs"/>
              </a:rPr>
              <a:t>vocabulario</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cliente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computa</a:t>
            </a:r>
            <a:r>
              <a:rPr lang="en-US" sz="1200" b="0" kern="1200" dirty="0">
                <a:solidFill>
                  <a:schemeClr val="tx1"/>
                </a:solidFill>
                <a:effectLst/>
                <a:latin typeface="+mn-lt"/>
                <a:ea typeface="+mn-ea"/>
                <a:cs typeface="+mn-cs"/>
              </a:rPr>
              <a:t> el trapdoor F(K, w) </a:t>
            </a:r>
            <a:r>
              <a:rPr lang="en-US" sz="1200" b="0" kern="1200" dirty="0" err="1">
                <a:solidFill>
                  <a:schemeClr val="tx1"/>
                </a:solidFill>
                <a:effectLst/>
                <a:latin typeface="+mn-lt"/>
                <a:ea typeface="+mn-ea"/>
                <a:cs typeface="+mn-cs"/>
              </a:rPr>
              <a:t>usando</a:t>
            </a:r>
            <a:r>
              <a:rPr lang="en-US" sz="1200" b="0" kern="1200" dirty="0">
                <a:solidFill>
                  <a:schemeClr val="tx1"/>
                </a:solidFill>
                <a:effectLst/>
                <a:latin typeface="+mn-lt"/>
                <a:ea typeface="+mn-ea"/>
                <a:cs typeface="+mn-cs"/>
              </a:rPr>
              <a:t> la PRF y lo </a:t>
            </a:r>
            <a:r>
              <a:rPr lang="en-US" sz="1200" b="0" kern="1200" dirty="0" err="1">
                <a:solidFill>
                  <a:schemeClr val="tx1"/>
                </a:solidFill>
                <a:effectLst/>
                <a:latin typeface="+mn-lt"/>
                <a:ea typeface="+mn-ea"/>
                <a:cs typeface="+mn-cs"/>
              </a:rPr>
              <a:t>usa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como</a:t>
            </a:r>
            <a:r>
              <a:rPr lang="en-US" sz="1200" b="0" kern="1200" dirty="0">
                <a:solidFill>
                  <a:schemeClr val="tx1"/>
                </a:solidFill>
                <a:effectLst/>
                <a:latin typeface="+mn-lt"/>
                <a:ea typeface="+mn-ea"/>
                <a:cs typeface="+mn-cs"/>
              </a:rPr>
              <a:t> clave de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T. La entrada </a:t>
            </a:r>
            <a:r>
              <a:rPr lang="en-US" sz="1200" b="0" kern="1200" dirty="0" err="1">
                <a:solidFill>
                  <a:schemeClr val="tx1"/>
                </a:solidFill>
                <a:effectLst/>
                <a:latin typeface="+mn-lt"/>
                <a:ea typeface="+mn-ea"/>
                <a:cs typeface="+mn-cs"/>
              </a:rPr>
              <a:t>correspondiente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contiene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cifrada</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dirección</a:t>
            </a:r>
            <a:r>
              <a:rPr lang="en-US" sz="1200" b="0" kern="1200" dirty="0">
                <a:solidFill>
                  <a:schemeClr val="tx1"/>
                </a:solidFill>
                <a:effectLst/>
                <a:latin typeface="+mn-lt"/>
                <a:ea typeface="+mn-ea"/>
                <a:cs typeface="+mn-cs"/>
              </a:rPr>
              <a:t> del primer </a:t>
            </a:r>
            <a:r>
              <a:rPr lang="en-US" sz="1200" b="0" kern="1200" dirty="0" err="1">
                <a:solidFill>
                  <a:schemeClr val="tx1"/>
                </a:solidFill>
                <a:effectLst/>
                <a:latin typeface="+mn-lt"/>
                <a:ea typeface="+mn-ea"/>
                <a:cs typeface="+mn-cs"/>
              </a:rPr>
              <a:t>nodo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lista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enlazada</a:t>
            </a:r>
            <a:r>
              <a:rPr lang="en-US" sz="1200" b="0" kern="1200" dirty="0">
                <a:solidFill>
                  <a:schemeClr val="tx1"/>
                </a:solidFill>
                <a:effectLst/>
                <a:latin typeface="+mn-lt"/>
                <a:ea typeface="+mn-ea"/>
                <a:cs typeface="+mn-cs"/>
              </a:rPr>
              <a:t> y la clave para </a:t>
            </a:r>
            <a:r>
              <a:rPr lang="en-US" sz="1200" b="0" kern="1200" dirty="0" err="1">
                <a:solidFill>
                  <a:schemeClr val="tx1"/>
                </a:solidFill>
                <a:effectLst/>
                <a:latin typeface="+mn-lt"/>
                <a:ea typeface="+mn-ea"/>
                <a:cs typeface="+mn-cs"/>
              </a:rPr>
              <a:t>descifrar</a:t>
            </a:r>
            <a:r>
              <a:rPr lang="en-US" sz="1200" b="0" kern="1200" dirty="0">
                <a:solidFill>
                  <a:schemeClr val="tx1"/>
                </a:solidFill>
                <a:effectLst/>
                <a:latin typeface="+mn-lt"/>
                <a:ea typeface="+mn-ea"/>
                <a:cs typeface="+mn-cs"/>
              </a:rPr>
              <a:t> ese primer </a:t>
            </a:r>
            <a:r>
              <a:rPr lang="en-US" sz="1200" b="0" kern="1200" dirty="0" err="1">
                <a:solidFill>
                  <a:schemeClr val="tx1"/>
                </a:solidFill>
                <a:effectLst/>
                <a:latin typeface="+mn-lt"/>
                <a:ea typeface="+mn-ea"/>
                <a:cs typeface="+mn-cs"/>
              </a:rPr>
              <a:t>nodo</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Segundo, un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Arreglo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enlazado</a:t>
            </a:r>
            <a:r>
              <a:rPr lang="en-US" sz="1200" b="1" kern="1200" dirty="0">
                <a:solidFill>
                  <a:schemeClr val="tx1"/>
                </a:solidFill>
                <a:effectLst/>
                <a:latin typeface="+mn-lt"/>
                <a:ea typeface="+mn-ea"/>
                <a:cs typeface="+mn-cs"/>
              </a:rPr>
              <a:t> 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nodos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están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dispersos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pseudoaleatoriamente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la memoria del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Cada </a:t>
            </a:r>
            <a:r>
              <a:rPr lang="en-US" sz="1200" b="0" kern="1200" dirty="0" err="1">
                <a:solidFill>
                  <a:schemeClr val="tx1"/>
                </a:solidFill>
                <a:effectLst/>
                <a:latin typeface="+mn-lt"/>
                <a:ea typeface="+mn-ea"/>
                <a:cs typeface="+mn-cs"/>
              </a:rPr>
              <a:t>nodo</a:t>
            </a:r>
            <a:r>
              <a:rPr lang="en-US" sz="1200" b="0" kern="1200" dirty="0">
                <a:solidFill>
                  <a:schemeClr val="tx1"/>
                </a:solidFill>
                <a:effectLst/>
                <a:latin typeface="+mn-lt"/>
                <a:ea typeface="+mn-ea"/>
                <a:cs typeface="+mn-cs"/>
              </a:rPr>
              <a:t>, al ser </a:t>
            </a:r>
            <a:r>
              <a:rPr lang="en-US" sz="1200" b="0" kern="1200" dirty="0" err="1">
                <a:solidFill>
                  <a:schemeClr val="tx1"/>
                </a:solidFill>
                <a:effectLst/>
                <a:latin typeface="+mn-lt"/>
                <a:ea typeface="+mn-ea"/>
                <a:cs typeface="+mn-cs"/>
              </a:rPr>
              <a:t>descifrado</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su</a:t>
            </a:r>
            <a:r>
              <a:rPr lang="en-US" sz="1200" b="0" kern="1200" dirty="0">
                <a:solidFill>
                  <a:schemeClr val="tx1"/>
                </a:solidFill>
                <a:effectLst/>
                <a:latin typeface="+mn-lt"/>
                <a:ea typeface="+mn-ea"/>
                <a:cs typeface="+mn-cs"/>
              </a:rPr>
              <a:t> clave </a:t>
            </a:r>
            <a:r>
              <a:rPr lang="en-US" sz="1200" b="0" kern="1200" dirty="0" err="1">
                <a:solidFill>
                  <a:schemeClr val="tx1"/>
                </a:solidFill>
                <a:effectLst/>
                <a:latin typeface="+mn-lt"/>
                <a:ea typeface="+mn-ea"/>
                <a:cs typeface="+mn-cs"/>
              </a:rPr>
              <a:t>específica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derivada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PRF, </a:t>
            </a:r>
            <a:r>
              <a:rPr lang="en-US" sz="1200" b="0" kern="1200" dirty="0" err="1">
                <a:solidFill>
                  <a:schemeClr val="tx1"/>
                </a:solidFill>
                <a:effectLst/>
                <a:latin typeface="+mn-lt"/>
                <a:ea typeface="+mn-ea"/>
                <a:cs typeface="+mn-cs"/>
              </a:rPr>
              <a:t>revela</a:t>
            </a:r>
            <a:r>
              <a:rPr lang="en-US" sz="1200" b="0" kern="1200" dirty="0">
                <a:solidFill>
                  <a:schemeClr val="tx1"/>
                </a:solidFill>
                <a:effectLst/>
                <a:latin typeface="+mn-lt"/>
                <a:ea typeface="+mn-ea"/>
                <a:cs typeface="+mn-cs"/>
              </a:rPr>
              <a:t> dos </a:t>
            </a:r>
            <a:r>
              <a:rPr lang="en-US" sz="1200" b="0" kern="1200" dirty="0" err="1">
                <a:solidFill>
                  <a:schemeClr val="tx1"/>
                </a:solidFill>
                <a:effectLst/>
                <a:latin typeface="+mn-lt"/>
                <a:ea typeface="+mn-ea"/>
                <a:cs typeface="+mn-cs"/>
              </a:rPr>
              <a:t>cosas</a:t>
            </a:r>
            <a:r>
              <a:rPr lang="en-US" sz="1200" b="0" kern="1200" dirty="0">
                <a:solidFill>
                  <a:schemeClr val="tx1"/>
                </a:solidFill>
                <a:effectLst/>
                <a:latin typeface="+mn-lt"/>
                <a:ea typeface="+mn-ea"/>
                <a:cs typeface="+mn-cs"/>
              </a:rPr>
              <a:t>: el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identificador</a:t>
            </a:r>
            <a:r>
              <a:rPr lang="en-US" sz="1200" b="1" kern="1200" dirty="0">
                <a:solidFill>
                  <a:schemeClr val="tx1"/>
                </a:solidFill>
                <a:effectLst/>
                <a:latin typeface="+mn-lt"/>
                <a:ea typeface="+mn-ea"/>
                <a:cs typeface="+mn-cs"/>
              </a:rPr>
              <a:t> del </a:t>
            </a:r>
            <a:r>
              <a:rPr lang="en-US" sz="1200" b="1" kern="1200" dirty="0" err="1">
                <a:solidFill>
                  <a:schemeClr val="tx1"/>
                </a:solidFill>
                <a:effectLst/>
                <a:latin typeface="+mn-lt"/>
                <a:ea typeface="+mn-ea"/>
                <a:cs typeface="+mn-cs"/>
              </a:rPr>
              <a:t>documento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contiene</a:t>
            </a:r>
            <a:r>
              <a:rPr lang="en-US" sz="1200" b="0" kern="1200" dirty="0">
                <a:solidFill>
                  <a:schemeClr val="tx1"/>
                </a:solidFill>
                <a:effectLst/>
                <a:latin typeface="+mn-lt"/>
                <a:ea typeface="+mn-ea"/>
                <a:cs typeface="+mn-cs"/>
              </a:rPr>
              <a:t> la palabra, y la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dirección</a:t>
            </a:r>
            <a:r>
              <a:rPr lang="en-US" sz="1200" b="1" kern="1200" dirty="0">
                <a:solidFill>
                  <a:schemeClr val="tx1"/>
                </a:solidFill>
                <a:effectLst/>
                <a:latin typeface="+mn-lt"/>
                <a:ea typeface="+mn-ea"/>
                <a:cs typeface="+mn-cs"/>
              </a:rPr>
              <a:t> y clave del </a:t>
            </a:r>
            <a:r>
              <a:rPr lang="en-US" sz="1200" b="1" kern="1200" dirty="0" err="1">
                <a:solidFill>
                  <a:schemeClr val="tx1"/>
                </a:solidFill>
                <a:effectLst/>
                <a:latin typeface="+mn-lt"/>
                <a:ea typeface="+mn-ea"/>
                <a:cs typeface="+mn-cs"/>
              </a:rPr>
              <a:t>siguiente</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nodo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de la </a:t>
            </a:r>
            <a:r>
              <a:rPr lang="en-US" sz="1200" b="0" kern="1200" dirty="0" err="1">
                <a:solidFill>
                  <a:schemeClr val="tx1"/>
                </a:solidFill>
                <a:effectLst/>
                <a:latin typeface="+mn-lt"/>
                <a:ea typeface="+mn-ea"/>
                <a:cs typeface="+mn-cs"/>
              </a:rPr>
              <a:t>lista</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esta</a:t>
            </a:r>
            <a:r>
              <a:rPr lang="en-US" sz="1200" b="0" kern="1200" dirty="0">
                <a:solidFill>
                  <a:schemeClr val="tx1"/>
                </a:solidFill>
                <a:effectLst/>
                <a:latin typeface="+mn-lt"/>
                <a:ea typeface="+mn-ea"/>
                <a:cs typeface="+mn-cs"/>
              </a:rPr>
              <a:t> forma,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recorrer</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cadena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nodo</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nodo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pero</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**no </a:t>
            </a:r>
            <a:r>
              <a:rPr lang="en-US" sz="1200" b="1" kern="1200" dirty="0" err="1">
                <a:solidFill>
                  <a:schemeClr val="tx1"/>
                </a:solidFill>
                <a:effectLst/>
                <a:latin typeface="+mn-lt"/>
                <a:ea typeface="+mn-ea"/>
                <a:cs typeface="+mn-cs"/>
              </a:rPr>
              <a:t>puede</a:t>
            </a:r>
            <a:r>
              <a:rPr lang="en-US" sz="1200" b="1" kern="1200" dirty="0">
                <a:solidFill>
                  <a:schemeClr val="tx1"/>
                </a:solidFill>
                <a:effectLst/>
                <a:latin typeface="+mn-lt"/>
                <a:ea typeface="+mn-ea"/>
                <a:cs typeface="+mn-cs"/>
              </a:rPr>
              <a:t> saber de </a:t>
            </a:r>
            <a:r>
              <a:rPr lang="en-US" sz="1200" b="1" kern="1200" dirty="0" err="1">
                <a:solidFill>
                  <a:schemeClr val="tx1"/>
                </a:solidFill>
                <a:effectLst/>
                <a:latin typeface="+mn-lt"/>
                <a:ea typeface="+mn-ea"/>
                <a:cs typeface="+mn-cs"/>
              </a:rPr>
              <a:t>antemano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cuántos</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nodos</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tiene</a:t>
            </a:r>
            <a:r>
              <a:rPr lang="en-US" sz="1200" b="1" kern="1200" dirty="0">
                <a:solidFill>
                  <a:schemeClr val="tx1"/>
                </a:solidFill>
                <a:effectLst/>
                <a:latin typeface="+mn-lt"/>
                <a:ea typeface="+mn-ea"/>
                <a:cs typeface="+mn-cs"/>
              </a:rPr>
              <a:t> la </a:t>
            </a:r>
            <a:r>
              <a:rPr lang="en-US" sz="1200" b="1" kern="1200" dirty="0" err="1">
                <a:solidFill>
                  <a:schemeClr val="tx1"/>
                </a:solidFill>
                <a:effectLst/>
                <a:latin typeface="+mn-lt"/>
                <a:ea typeface="+mn-ea"/>
                <a:cs typeface="+mn-cs"/>
              </a:rPr>
              <a:t>lista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porque</a:t>
            </a:r>
            <a:r>
              <a:rPr lang="en-US" sz="1200" b="0" kern="1200" dirty="0">
                <a:solidFill>
                  <a:schemeClr val="tx1"/>
                </a:solidFill>
                <a:effectLst/>
                <a:latin typeface="+mn-lt"/>
                <a:ea typeface="+mn-ea"/>
                <a:cs typeface="+mn-cs"/>
              </a:rPr>
              <a:t> las </a:t>
            </a:r>
            <a:r>
              <a:rPr lang="en-US" sz="1200" b="0" kern="1200" dirty="0" err="1">
                <a:solidFill>
                  <a:schemeClr val="tx1"/>
                </a:solidFill>
                <a:effectLst/>
                <a:latin typeface="+mn-lt"/>
                <a:ea typeface="+mn-ea"/>
                <a:cs typeface="+mn-cs"/>
              </a:rPr>
              <a:t>direcciones</a:t>
            </a:r>
            <a:r>
              <a:rPr lang="en-US" sz="1200" b="0" kern="1200" dirty="0">
                <a:solidFill>
                  <a:schemeClr val="tx1"/>
                </a:solidFill>
                <a:effectLst/>
                <a:latin typeface="+mn-lt"/>
                <a:ea typeface="+mn-ea"/>
                <a:cs typeface="+mn-cs"/>
              </a:rPr>
              <a:t> son </a:t>
            </a:r>
            <a:r>
              <a:rPr lang="en-US" sz="1200" b="0" kern="1200" dirty="0" err="1">
                <a:solidFill>
                  <a:schemeClr val="tx1"/>
                </a:solidFill>
                <a:effectLst/>
                <a:latin typeface="+mn-lt"/>
                <a:ea typeface="+mn-ea"/>
                <a:cs typeface="+mn-cs"/>
              </a:rPr>
              <a:t>pseudoaleatorias</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cada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nodo</a:t>
            </a:r>
            <a:r>
              <a:rPr lang="en-US" sz="1200" b="0" kern="1200" dirty="0">
                <a:solidFill>
                  <a:schemeClr val="tx1"/>
                </a:solidFill>
                <a:effectLst/>
                <a:latin typeface="+mn-lt"/>
                <a:ea typeface="+mn-ea"/>
                <a:cs typeface="+mn-cs"/>
              </a:rPr>
              <a:t> se </a:t>
            </a:r>
            <a:r>
              <a:rPr lang="en-US" sz="1200" b="0" kern="1200" dirty="0" err="1">
                <a:solidFill>
                  <a:schemeClr val="tx1"/>
                </a:solidFill>
                <a:effectLst/>
                <a:latin typeface="+mn-lt"/>
                <a:ea typeface="+mn-ea"/>
                <a:cs typeface="+mn-cs"/>
              </a:rPr>
              <a:t>cifra</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clave </a:t>
            </a:r>
            <a:r>
              <a:rPr lang="en-US" sz="1200" b="0" kern="1200" dirty="0" err="1">
                <a:solidFill>
                  <a:schemeClr val="tx1"/>
                </a:solidFill>
                <a:effectLst/>
                <a:latin typeface="+mn-lt"/>
                <a:ea typeface="+mn-ea"/>
                <a:cs typeface="+mn-cs"/>
              </a:rPr>
              <a:t>distinta</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"La </a:t>
            </a:r>
            <a:r>
              <a:rPr lang="en-US" sz="1200" b="0" kern="1200" dirty="0" err="1">
                <a:solidFill>
                  <a:schemeClr val="tx1"/>
                </a:solidFill>
                <a:effectLst/>
                <a:latin typeface="+mn-lt"/>
                <a:ea typeface="+mn-ea"/>
                <a:cs typeface="+mn-cs"/>
              </a:rPr>
              <a:t>construcción</a:t>
            </a:r>
            <a:r>
              <a:rPr lang="en-US" sz="1200" b="0" kern="1200" dirty="0">
                <a:solidFill>
                  <a:schemeClr val="tx1"/>
                </a:solidFill>
                <a:effectLst/>
                <a:latin typeface="+mn-lt"/>
                <a:ea typeface="+mn-ea"/>
                <a:cs typeface="+mn-cs"/>
              </a:rPr>
              <a:t> SSE-1 de </a:t>
            </a:r>
            <a:r>
              <a:rPr lang="en-US" sz="1200" b="0" kern="1200" dirty="0" err="1">
                <a:solidFill>
                  <a:schemeClr val="tx1"/>
                </a:solidFill>
                <a:effectLst/>
                <a:latin typeface="+mn-lt"/>
                <a:ea typeface="+mn-ea"/>
                <a:cs typeface="+mn-cs"/>
              </a:rPr>
              <a:t>Curtmola</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colaboradores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fue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primera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lograr</a:t>
            </a:r>
            <a:r>
              <a:rPr lang="en-US" sz="1200" b="0" kern="1200" dirty="0">
                <a:solidFill>
                  <a:schemeClr val="tx1"/>
                </a:solidFill>
                <a:effectLst/>
                <a:latin typeface="+mn-lt"/>
                <a:ea typeface="+mn-ea"/>
                <a:cs typeface="+mn-cs"/>
              </a:rPr>
              <a:t> dos </a:t>
            </a:r>
            <a:r>
              <a:rPr lang="en-US" sz="1200" b="0" kern="1200" dirty="0" err="1">
                <a:solidFill>
                  <a:schemeClr val="tx1"/>
                </a:solidFill>
                <a:effectLst/>
                <a:latin typeface="+mn-lt"/>
                <a:ea typeface="+mn-ea"/>
                <a:cs typeface="+mn-cs"/>
              </a:rPr>
              <a:t>hitos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simultáneos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prueba</a:t>
            </a:r>
            <a:r>
              <a:rPr lang="en-US" sz="1200" b="1" kern="1200" dirty="0">
                <a:solidFill>
                  <a:schemeClr val="tx1"/>
                </a:solidFill>
                <a:effectLst/>
                <a:latin typeface="+mn-lt"/>
                <a:ea typeface="+mn-ea"/>
                <a:cs typeface="+mn-cs"/>
              </a:rPr>
              <a:t> formal de </a:t>
            </a:r>
            <a:r>
              <a:rPr lang="en-US" sz="1200" b="1" kern="1200" dirty="0" err="1">
                <a:solidFill>
                  <a:schemeClr val="tx1"/>
                </a:solidFill>
                <a:effectLst/>
                <a:latin typeface="+mn-lt"/>
                <a:ea typeface="+mn-ea"/>
                <a:cs typeface="+mn-cs"/>
              </a:rPr>
              <a:t>seguridad</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complejidad</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búsqueda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sublineal</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El </a:t>
            </a:r>
            <a:r>
              <a:rPr lang="en-US" sz="1200" b="0" kern="1200" dirty="0" err="1">
                <a:solidFill>
                  <a:schemeClr val="tx1"/>
                </a:solidFill>
                <a:effectLst/>
                <a:latin typeface="+mn-lt"/>
                <a:ea typeface="+mn-ea"/>
                <a:cs typeface="+mn-cs"/>
              </a:rPr>
              <a:t>protocolo</a:t>
            </a:r>
            <a:r>
              <a:rPr lang="en-US" sz="1200" b="0" kern="1200" dirty="0">
                <a:solidFill>
                  <a:schemeClr val="tx1"/>
                </a:solidFill>
                <a:effectLst/>
                <a:latin typeface="+mn-lt"/>
                <a:ea typeface="+mn-ea"/>
                <a:cs typeface="+mn-cs"/>
              </a:rPr>
              <a:t> se define </a:t>
            </a:r>
            <a:r>
              <a:rPr lang="en-US" sz="1200" b="0" kern="1200" dirty="0" err="1">
                <a:solidFill>
                  <a:schemeClr val="tx1"/>
                </a:solidFill>
                <a:effectLst/>
                <a:latin typeface="+mn-lt"/>
                <a:ea typeface="+mn-ea"/>
                <a:cs typeface="+mn-cs"/>
              </a:rPr>
              <a:t>mediante</a:t>
            </a:r>
            <a:r>
              <a:rPr lang="en-US" sz="1200" b="0" kern="1200" dirty="0">
                <a:solidFill>
                  <a:schemeClr val="tx1"/>
                </a:solidFill>
                <a:effectLst/>
                <a:latin typeface="+mn-lt"/>
                <a:ea typeface="+mn-ea"/>
                <a:cs typeface="+mn-cs"/>
              </a:rPr>
              <a:t> cuatro </a:t>
            </a:r>
            <a:r>
              <a:rPr lang="en-US" sz="1200" b="0" kern="1200" dirty="0" err="1">
                <a:solidFill>
                  <a:schemeClr val="tx1"/>
                </a:solidFill>
                <a:effectLst/>
                <a:latin typeface="+mn-lt"/>
                <a:ea typeface="+mn-ea"/>
                <a:cs typeface="+mn-cs"/>
              </a:rPr>
              <a:t>algoritmos</a:t>
            </a:r>
            <a:r>
              <a:rPr lang="en-US" sz="1200" b="0" kern="1200" dirty="0">
                <a:solidFill>
                  <a:schemeClr val="tx1"/>
                </a:solidFill>
                <a:effectLst/>
                <a:latin typeface="+mn-lt"/>
                <a:ea typeface="+mn-ea"/>
                <a:cs typeface="+mn-cs"/>
              </a:rPr>
              <a:t>. Primero, </a:t>
            </a:r>
            <a:r>
              <a:rPr lang="en-US" sz="1200" b="1" kern="1200" dirty="0">
                <a:solidFill>
                  <a:schemeClr val="tx1"/>
                </a:solidFill>
                <a:effectLst/>
                <a:latin typeface="+mn-lt"/>
                <a:ea typeface="+mn-ea"/>
                <a:cs typeface="+mn-cs"/>
              </a:rPr>
              <a:t>**Setup**</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cliente</a:t>
            </a:r>
            <a:r>
              <a:rPr lang="en-US" sz="1200" b="0" kern="1200" dirty="0">
                <a:solidFill>
                  <a:schemeClr val="tx1"/>
                </a:solidFill>
                <a:effectLst/>
                <a:latin typeface="+mn-lt"/>
                <a:ea typeface="+mn-ea"/>
                <a:cs typeface="+mn-cs"/>
              </a:rPr>
              <a:t> genera las claves </a:t>
            </a:r>
            <a:r>
              <a:rPr lang="en-US" sz="1200" b="0" kern="1200" dirty="0" err="1">
                <a:solidFill>
                  <a:schemeClr val="tx1"/>
                </a:solidFill>
                <a:effectLst/>
                <a:latin typeface="+mn-lt"/>
                <a:ea typeface="+mn-ea"/>
                <a:cs typeface="+mn-cs"/>
              </a:rPr>
              <a:t>maestras</a:t>
            </a:r>
            <a:r>
              <a:rPr lang="en-US" sz="1200" b="0" kern="1200" dirty="0">
                <a:solidFill>
                  <a:schemeClr val="tx1"/>
                </a:solidFill>
                <a:effectLst/>
                <a:latin typeface="+mn-lt"/>
                <a:ea typeface="+mn-ea"/>
                <a:cs typeface="+mn-cs"/>
              </a:rPr>
              <a:t> para las PRF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usará</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todo</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sistema</a:t>
            </a:r>
            <a:r>
              <a:rPr lang="en-US" sz="1200" b="0" kern="1200" dirty="0">
                <a:solidFill>
                  <a:schemeClr val="tx1"/>
                </a:solidFill>
                <a:effectLst/>
                <a:latin typeface="+mn-lt"/>
                <a:ea typeface="+mn-ea"/>
                <a:cs typeface="+mn-cs"/>
              </a:rPr>
              <a:t>. Segundo, </a:t>
            </a:r>
            <a:r>
              <a:rPr lang="en-US" sz="1200" b="1" kern="1200" dirty="0">
                <a:solidFill>
                  <a:schemeClr val="tx1"/>
                </a:solidFill>
                <a:effectLst/>
                <a:latin typeface="+mn-lt"/>
                <a:ea typeface="+mn-ea"/>
                <a:cs typeface="+mn-cs"/>
              </a:rPr>
              <a:t>**Encrypt**</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esas</a:t>
            </a:r>
            <a:r>
              <a:rPr lang="en-US" sz="1200" b="0" kern="1200" dirty="0">
                <a:solidFill>
                  <a:schemeClr val="tx1"/>
                </a:solidFill>
                <a:effectLst/>
                <a:latin typeface="+mn-lt"/>
                <a:ea typeface="+mn-ea"/>
                <a:cs typeface="+mn-cs"/>
              </a:rPr>
              <a:t> claves, el </a:t>
            </a:r>
            <a:r>
              <a:rPr lang="en-US" sz="1200" b="0" kern="1200" dirty="0" err="1">
                <a:solidFill>
                  <a:schemeClr val="tx1"/>
                </a:solidFill>
                <a:effectLst/>
                <a:latin typeface="+mn-lt"/>
                <a:ea typeface="+mn-ea"/>
                <a:cs typeface="+mn-cs"/>
              </a:rPr>
              <a:t>cliente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construye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tabla</a:t>
            </a:r>
            <a:r>
              <a:rPr lang="en-US" sz="1200" b="0" kern="1200" dirty="0">
                <a:solidFill>
                  <a:schemeClr val="tx1"/>
                </a:solidFill>
                <a:effectLst/>
                <a:latin typeface="+mn-lt"/>
                <a:ea typeface="+mn-ea"/>
                <a:cs typeface="+mn-cs"/>
              </a:rPr>
              <a:t> T y el </a:t>
            </a:r>
            <a:r>
              <a:rPr lang="en-US" sz="1200" b="0" kern="1200" dirty="0" err="1">
                <a:solidFill>
                  <a:schemeClr val="tx1"/>
                </a:solidFill>
                <a:effectLst/>
                <a:latin typeface="+mn-lt"/>
                <a:ea typeface="+mn-ea"/>
                <a:cs typeface="+mn-cs"/>
              </a:rPr>
              <a:t>arreglo</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partir</a:t>
            </a:r>
            <a:r>
              <a:rPr lang="en-US" sz="1200" b="0" kern="1200" dirty="0">
                <a:solidFill>
                  <a:schemeClr val="tx1"/>
                </a:solidFill>
                <a:effectLst/>
                <a:latin typeface="+mn-lt"/>
                <a:ea typeface="+mn-ea"/>
                <a:cs typeface="+mn-cs"/>
              </a:rPr>
              <a:t> de sus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claro. Cada </a:t>
            </a:r>
            <a:r>
              <a:rPr lang="en-US" sz="1200" b="0" kern="1200" dirty="0" err="1">
                <a:solidFill>
                  <a:schemeClr val="tx1"/>
                </a:solidFill>
                <a:effectLst/>
                <a:latin typeface="+mn-lt"/>
                <a:ea typeface="+mn-ea"/>
                <a:cs typeface="+mn-cs"/>
              </a:rPr>
              <a:t>nodo</a:t>
            </a:r>
            <a:r>
              <a:rPr lang="en-US" sz="1200" b="0" kern="1200" dirty="0">
                <a:solidFill>
                  <a:schemeClr val="tx1"/>
                </a:solidFill>
                <a:effectLst/>
                <a:latin typeface="+mn-lt"/>
                <a:ea typeface="+mn-ea"/>
                <a:cs typeface="+mn-cs"/>
              </a:rPr>
              <a:t> de A se </a:t>
            </a:r>
            <a:r>
              <a:rPr lang="en-US" sz="1200" b="0" kern="1200" dirty="0" err="1">
                <a:solidFill>
                  <a:schemeClr val="tx1"/>
                </a:solidFill>
                <a:effectLst/>
                <a:latin typeface="+mn-lt"/>
                <a:ea typeface="+mn-ea"/>
                <a:cs typeface="+mn-cs"/>
              </a:rPr>
              <a:t>cifra</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clave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-palabra </a:t>
            </a:r>
            <a:r>
              <a:rPr lang="en-US" sz="1200" b="0" kern="1200" dirty="0" err="1">
                <a:solidFill>
                  <a:schemeClr val="tx1"/>
                </a:solidFill>
                <a:effectLst/>
                <a:latin typeface="+mn-lt"/>
                <a:ea typeface="+mn-ea"/>
                <a:cs typeface="+mn-cs"/>
              </a:rPr>
              <a:t>derivada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PRF, y </a:t>
            </a:r>
            <a:r>
              <a:rPr lang="en-US" sz="1200" b="0" kern="1200" dirty="0" err="1">
                <a:solidFill>
                  <a:schemeClr val="tx1"/>
                </a:solidFill>
                <a:effectLst/>
                <a:latin typeface="+mn-lt"/>
                <a:ea typeface="+mn-ea"/>
                <a:cs typeface="+mn-cs"/>
              </a:rPr>
              <a:t>cada</a:t>
            </a:r>
            <a:r>
              <a:rPr lang="en-US" sz="1200" b="0" kern="1200" dirty="0">
                <a:solidFill>
                  <a:schemeClr val="tx1"/>
                </a:solidFill>
                <a:effectLst/>
                <a:latin typeface="+mn-lt"/>
                <a:ea typeface="+mn-ea"/>
                <a:cs typeface="+mn-cs"/>
              </a:rPr>
              <a:t> entrada de T se </a:t>
            </a:r>
            <a:r>
              <a:rPr lang="en-US" sz="1200" b="0" kern="1200" dirty="0" err="1">
                <a:solidFill>
                  <a:schemeClr val="tx1"/>
                </a:solidFill>
                <a:effectLst/>
                <a:latin typeface="+mn-lt"/>
                <a:ea typeface="+mn-ea"/>
                <a:cs typeface="+mn-cs"/>
              </a:rPr>
              <a:t>cifra</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clave </a:t>
            </a:r>
            <a:r>
              <a:rPr lang="en-US" sz="1200" b="0" kern="1200" dirty="0" err="1">
                <a:solidFill>
                  <a:schemeClr val="tx1"/>
                </a:solidFill>
                <a:effectLst/>
                <a:latin typeface="+mn-lt"/>
                <a:ea typeface="+mn-ea"/>
                <a:cs typeface="+mn-cs"/>
              </a:rPr>
              <a:t>derivada</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PRF </a:t>
            </a:r>
            <a:r>
              <a:rPr lang="en-US" sz="1200" b="0" kern="1200" dirty="0" err="1">
                <a:solidFill>
                  <a:schemeClr val="tx1"/>
                </a:solidFill>
                <a:effectLst/>
                <a:latin typeface="+mn-lt"/>
                <a:ea typeface="+mn-ea"/>
                <a:cs typeface="+mn-cs"/>
              </a:rPr>
              <a:t>independiente</a:t>
            </a:r>
            <a:r>
              <a:rPr lang="en-US" sz="1200" b="0" kern="1200" dirty="0">
                <a:solidFill>
                  <a:schemeClr val="tx1"/>
                </a:solidFill>
                <a:effectLst/>
                <a:latin typeface="+mn-lt"/>
                <a:ea typeface="+mn-ea"/>
                <a:cs typeface="+mn-cs"/>
              </a:rPr>
              <a:t>. Una </a:t>
            </a:r>
            <a:r>
              <a:rPr lang="en-US" sz="1200" b="0" kern="1200" dirty="0" err="1">
                <a:solidFill>
                  <a:schemeClr val="tx1"/>
                </a:solidFill>
                <a:effectLst/>
                <a:latin typeface="+mn-lt"/>
                <a:ea typeface="+mn-ea"/>
                <a:cs typeface="+mn-cs"/>
              </a:rPr>
              <a:t>vez</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construido</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cliente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sube</a:t>
            </a:r>
            <a:r>
              <a:rPr lang="en-US" sz="1200" b="0" kern="1200" dirty="0">
                <a:solidFill>
                  <a:schemeClr val="tx1"/>
                </a:solidFill>
                <a:effectLst/>
                <a:latin typeface="+mn-lt"/>
                <a:ea typeface="+mn-ea"/>
                <a:cs typeface="+mn-cs"/>
              </a:rPr>
              <a:t> T, A y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cifrados</a:t>
            </a:r>
            <a:r>
              <a:rPr lang="en-US" sz="1200" b="0" kern="1200" dirty="0">
                <a:solidFill>
                  <a:schemeClr val="tx1"/>
                </a:solidFill>
                <a:effectLst/>
                <a:latin typeface="+mn-lt"/>
                <a:ea typeface="+mn-ea"/>
                <a:cs typeface="+mn-cs"/>
              </a:rPr>
              <a:t> al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destruye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textos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planos</a:t>
            </a:r>
            <a:r>
              <a:rPr lang="en-US" sz="1200" b="0" kern="1200" dirty="0">
                <a:solidFill>
                  <a:schemeClr val="tx1"/>
                </a:solidFill>
                <a:effectLst/>
                <a:latin typeface="+mn-lt"/>
                <a:ea typeface="+mn-ea"/>
                <a:cs typeface="+mn-cs"/>
              </a:rPr>
              <a:t> locales.</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Cuando el </a:t>
            </a:r>
            <a:r>
              <a:rPr lang="en-US" sz="1200" b="0" kern="1200" dirty="0" err="1">
                <a:solidFill>
                  <a:schemeClr val="tx1"/>
                </a:solidFill>
                <a:effectLst/>
                <a:latin typeface="+mn-lt"/>
                <a:ea typeface="+mn-ea"/>
                <a:cs typeface="+mn-cs"/>
              </a:rPr>
              <a:t>cliente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necesita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buscar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ejecuta</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algoritmo</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**Trapdoor**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calcula</a:t>
            </a:r>
            <a:r>
              <a:rPr lang="en-US" sz="1200" b="0" kern="1200" dirty="0">
                <a:solidFill>
                  <a:schemeClr val="tx1"/>
                </a:solidFill>
                <a:effectLst/>
                <a:latin typeface="+mn-lt"/>
                <a:ea typeface="+mn-ea"/>
                <a:cs typeface="+mn-cs"/>
              </a:rPr>
              <a:t> F(K, w) para la palabra w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quiere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buscar</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envía</a:t>
            </a:r>
            <a:r>
              <a:rPr lang="en-US" sz="1200" b="0" kern="1200" dirty="0">
                <a:solidFill>
                  <a:schemeClr val="tx1"/>
                </a:solidFill>
                <a:effectLst/>
                <a:latin typeface="+mn-lt"/>
                <a:ea typeface="+mn-ea"/>
                <a:cs typeface="+mn-cs"/>
              </a:rPr>
              <a:t> ese valor </a:t>
            </a:r>
            <a:r>
              <a:rPr lang="en-US" sz="1200" b="0" kern="1200" dirty="0" err="1">
                <a:solidFill>
                  <a:schemeClr val="tx1"/>
                </a:solidFill>
                <a:effectLst/>
                <a:latin typeface="+mn-lt"/>
                <a:ea typeface="+mn-ea"/>
                <a:cs typeface="+mn-cs"/>
              </a:rPr>
              <a:t>pseudoaleatorio</a:t>
            </a:r>
            <a:r>
              <a:rPr lang="en-US" sz="1200" b="0" kern="1200" dirty="0">
                <a:solidFill>
                  <a:schemeClr val="tx1"/>
                </a:solidFill>
                <a:effectLst/>
                <a:latin typeface="+mn-lt"/>
                <a:ea typeface="+mn-ea"/>
                <a:cs typeface="+mn-cs"/>
              </a:rPr>
              <a:t> al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ejecuta</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**Search**</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usa</a:t>
            </a:r>
            <a:r>
              <a:rPr lang="en-US" sz="1200" b="0" kern="1200" dirty="0">
                <a:solidFill>
                  <a:schemeClr val="tx1"/>
                </a:solidFill>
                <a:effectLst/>
                <a:latin typeface="+mn-lt"/>
                <a:ea typeface="+mn-ea"/>
                <a:cs typeface="+mn-cs"/>
              </a:rPr>
              <a:t> el trapdoor para </a:t>
            </a:r>
            <a:r>
              <a:rPr lang="en-US" sz="1200" b="0" kern="1200" dirty="0" err="1">
                <a:solidFill>
                  <a:schemeClr val="tx1"/>
                </a:solidFill>
                <a:effectLst/>
                <a:latin typeface="+mn-lt"/>
                <a:ea typeface="+mn-ea"/>
                <a:cs typeface="+mn-cs"/>
              </a:rPr>
              <a:t>ubicar</a:t>
            </a:r>
            <a:r>
              <a:rPr lang="en-US" sz="1200" b="0" kern="1200" dirty="0">
                <a:solidFill>
                  <a:schemeClr val="tx1"/>
                </a:solidFill>
                <a:effectLst/>
                <a:latin typeface="+mn-lt"/>
                <a:ea typeface="+mn-ea"/>
                <a:cs typeface="+mn-cs"/>
              </a:rPr>
              <a:t> la entrada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T, </a:t>
            </a:r>
            <a:r>
              <a:rPr lang="en-US" sz="1200" b="0" kern="1200" dirty="0" err="1">
                <a:solidFill>
                  <a:schemeClr val="tx1"/>
                </a:solidFill>
                <a:effectLst/>
                <a:latin typeface="+mn-lt"/>
                <a:ea typeface="+mn-ea"/>
                <a:cs typeface="+mn-cs"/>
              </a:rPr>
              <a:t>descifra</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puntero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inicial</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recorre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lista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enlazada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devolviendo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identificadores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coincidentes</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complejidad</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esta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búsqueda</a:t>
            </a:r>
            <a:r>
              <a:rPr lang="en-US" sz="1200" b="0" kern="1200" dirty="0">
                <a:solidFill>
                  <a:schemeClr val="tx1"/>
                </a:solidFill>
                <a:effectLst/>
                <a:latin typeface="+mn-lt"/>
                <a:ea typeface="+mn-ea"/>
                <a:cs typeface="+mn-cs"/>
              </a:rPr>
              <a:t> es </a:t>
            </a:r>
            <a:r>
              <a:rPr lang="en-US" sz="1200" b="1" kern="1200" dirty="0">
                <a:solidFill>
                  <a:schemeClr val="tx1"/>
                </a:solidFill>
                <a:effectLst/>
                <a:latin typeface="+mn-lt"/>
                <a:ea typeface="+mn-ea"/>
                <a:cs typeface="+mn-cs"/>
              </a:rPr>
              <a:t>**O(t)**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proporcional</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únicamente</a:t>
            </a:r>
            <a:r>
              <a:rPr lang="en-US" sz="1200" b="0" kern="1200" dirty="0">
                <a:solidFill>
                  <a:schemeClr val="tx1"/>
                </a:solidFill>
                <a:effectLst/>
                <a:latin typeface="+mn-lt"/>
                <a:ea typeface="+mn-ea"/>
                <a:cs typeface="+mn-cs"/>
              </a:rPr>
              <a:t> al </a:t>
            </a:r>
            <a:r>
              <a:rPr lang="en-US" sz="1200" b="0" kern="1200" dirty="0" err="1">
                <a:solidFill>
                  <a:schemeClr val="tx1"/>
                </a:solidFill>
                <a:effectLst/>
                <a:latin typeface="+mn-lt"/>
                <a:ea typeface="+mn-ea"/>
                <a:cs typeface="+mn-cs"/>
              </a:rPr>
              <a:t>número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coincidencias</a:t>
            </a:r>
            <a:r>
              <a:rPr lang="en-US" sz="1200" b="0" kern="1200" dirty="0">
                <a:solidFill>
                  <a:schemeClr val="tx1"/>
                </a:solidFill>
                <a:effectLst/>
                <a:latin typeface="+mn-lt"/>
                <a:ea typeface="+mn-ea"/>
                <a:cs typeface="+mn-cs"/>
              </a:rPr>
              <a:t>, no al </a:t>
            </a:r>
            <a:r>
              <a:rPr lang="en-US" sz="1200" b="0" kern="1200" dirty="0" err="1">
                <a:solidFill>
                  <a:schemeClr val="tx1"/>
                </a:solidFill>
                <a:effectLst/>
                <a:latin typeface="+mn-lt"/>
                <a:ea typeface="+mn-ea"/>
                <a:cs typeface="+mn-cs"/>
              </a:rPr>
              <a:t>tamaño</a:t>
            </a:r>
            <a:r>
              <a:rPr lang="en-US" sz="1200" b="0" kern="1200" dirty="0">
                <a:solidFill>
                  <a:schemeClr val="tx1"/>
                </a:solidFill>
                <a:effectLst/>
                <a:latin typeface="+mn-lt"/>
                <a:ea typeface="+mn-ea"/>
                <a:cs typeface="+mn-cs"/>
              </a:rPr>
              <a:t> total del dataset.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El </a:t>
            </a:r>
            <a:r>
              <a:rPr lang="en-US" sz="1200" b="0" kern="1200" dirty="0" err="1">
                <a:solidFill>
                  <a:schemeClr val="tx1"/>
                </a:solidFill>
                <a:effectLst/>
                <a:latin typeface="+mn-lt"/>
                <a:ea typeface="+mn-ea"/>
                <a:cs typeface="+mn-cs"/>
              </a:rPr>
              <a:t>modelo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de SSE-1 se </a:t>
            </a:r>
            <a:r>
              <a:rPr lang="en-US" sz="1200" b="0" kern="1200" dirty="0" err="1">
                <a:solidFill>
                  <a:schemeClr val="tx1"/>
                </a:solidFill>
                <a:effectLst/>
                <a:latin typeface="+mn-lt"/>
                <a:ea typeface="+mn-ea"/>
                <a:cs typeface="+mn-cs"/>
              </a:rPr>
              <a:t>denomina</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**CKA1**</a:t>
            </a:r>
            <a:r>
              <a:rPr lang="en-US" sz="1200" b="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*Chosen-Keyword Attack 1*</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donde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adversario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debe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fijar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todas</a:t>
            </a:r>
            <a:r>
              <a:rPr lang="en-US" sz="1200" b="0" kern="1200" dirty="0">
                <a:solidFill>
                  <a:schemeClr val="tx1"/>
                </a:solidFill>
                <a:effectLst/>
                <a:latin typeface="+mn-lt"/>
                <a:ea typeface="+mn-ea"/>
                <a:cs typeface="+mn-cs"/>
              </a:rPr>
              <a:t> sus </a:t>
            </a:r>
            <a:r>
              <a:rPr lang="en-US" sz="1200" b="0" kern="1200" dirty="0" err="1">
                <a:solidFill>
                  <a:schemeClr val="tx1"/>
                </a:solidFill>
                <a:effectLst/>
                <a:latin typeface="+mn-lt"/>
                <a:ea typeface="+mn-ea"/>
                <a:cs typeface="+mn-cs"/>
              </a:rPr>
              <a:t>consultas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adelantado sin </a:t>
            </a:r>
            <a:r>
              <a:rPr lang="en-US" sz="1200" b="0" kern="1200" dirty="0" err="1">
                <a:solidFill>
                  <a:schemeClr val="tx1"/>
                </a:solidFill>
                <a:effectLst/>
                <a:latin typeface="+mn-lt"/>
                <a:ea typeface="+mn-ea"/>
                <a:cs typeface="+mn-cs"/>
              </a:rPr>
              <a:t>ver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resultados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previos</a:t>
            </a:r>
            <a:r>
              <a:rPr lang="en-US" sz="1200" b="0" kern="1200" dirty="0">
                <a:solidFill>
                  <a:schemeClr val="tx1"/>
                </a:solidFill>
                <a:effectLst/>
                <a:latin typeface="+mn-lt"/>
                <a:ea typeface="+mn-ea"/>
                <a:cs typeface="+mn-cs"/>
              </a:rPr>
              <a:t>. Es un </a:t>
            </a:r>
            <a:r>
              <a:rPr lang="en-US" sz="1200" b="0" kern="1200" dirty="0" err="1">
                <a:solidFill>
                  <a:schemeClr val="tx1"/>
                </a:solidFill>
                <a:effectLst/>
                <a:latin typeface="+mn-lt"/>
                <a:ea typeface="+mn-ea"/>
                <a:cs typeface="+mn-cs"/>
              </a:rPr>
              <a:t>modelo</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adaptativo</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"SSE-1 es </a:t>
            </a:r>
            <a:r>
              <a:rPr lang="en-US" sz="1200" b="0" kern="1200" dirty="0" err="1">
                <a:solidFill>
                  <a:schemeClr val="tx1"/>
                </a:solidFill>
                <a:effectLst/>
                <a:latin typeface="+mn-lt"/>
                <a:ea typeface="+mn-ea"/>
                <a:cs typeface="+mn-cs"/>
              </a:rPr>
              <a:t>seguro</a:t>
            </a:r>
            <a:r>
              <a:rPr lang="en-US" sz="1200" b="0" kern="1200" dirty="0">
                <a:solidFill>
                  <a:schemeClr val="tx1"/>
                </a:solidFill>
                <a:effectLst/>
                <a:latin typeface="+mn-lt"/>
                <a:ea typeface="+mn-ea"/>
                <a:cs typeface="+mn-cs"/>
              </a:rPr>
              <a:t> bajo un </a:t>
            </a:r>
            <a:r>
              <a:rPr lang="en-US" sz="1200" b="0" kern="1200" dirty="0" err="1">
                <a:solidFill>
                  <a:schemeClr val="tx1"/>
                </a:solidFill>
                <a:effectLst/>
                <a:latin typeface="+mn-lt"/>
                <a:ea typeface="+mn-ea"/>
                <a:cs typeface="+mn-cs"/>
              </a:rPr>
              <a:t>modelo</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adaptativo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pero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tiene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limitación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práctica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importante</a:t>
            </a:r>
            <a:r>
              <a:rPr lang="en-US" sz="1200" b="0" kern="1200" dirty="0">
                <a:solidFill>
                  <a:schemeClr val="tx1"/>
                </a:solidFill>
                <a:effectLst/>
                <a:latin typeface="+mn-lt"/>
                <a:ea typeface="+mn-ea"/>
                <a:cs typeface="+mn-cs"/>
              </a:rPr>
              <a:t>. En el </a:t>
            </a:r>
            <a:r>
              <a:rPr lang="en-US" sz="1200" b="0" kern="1200" dirty="0" err="1">
                <a:solidFill>
                  <a:schemeClr val="tx1"/>
                </a:solidFill>
                <a:effectLst/>
                <a:latin typeface="+mn-lt"/>
                <a:ea typeface="+mn-ea"/>
                <a:cs typeface="+mn-cs"/>
              </a:rPr>
              <a:t>mundo</a:t>
            </a:r>
            <a:r>
              <a:rPr lang="en-US" sz="1200" b="0" kern="1200" dirty="0">
                <a:solidFill>
                  <a:schemeClr val="tx1"/>
                </a:solidFill>
                <a:effectLst/>
                <a:latin typeface="+mn-lt"/>
                <a:ea typeface="+mn-ea"/>
                <a:cs typeface="+mn-cs"/>
              </a:rPr>
              <a:t> real, un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almacenamiento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nube</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observa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cada</a:t>
            </a:r>
            <a:r>
              <a:rPr lang="en-US" sz="1200" b="1" kern="1200" dirty="0">
                <a:solidFill>
                  <a:schemeClr val="tx1"/>
                </a:solidFill>
                <a:effectLst/>
                <a:latin typeface="+mn-lt"/>
                <a:ea typeface="+mn-ea"/>
                <a:cs typeface="+mn-cs"/>
              </a:rPr>
              <a:t> consulta y sus </a:t>
            </a:r>
            <a:r>
              <a:rPr lang="en-US" sz="1200" b="1" kern="1200" dirty="0" err="1">
                <a:solidFill>
                  <a:schemeClr val="tx1"/>
                </a:solidFill>
                <a:effectLst/>
                <a:latin typeface="+mn-lt"/>
                <a:ea typeface="+mn-ea"/>
                <a:cs typeface="+mn-cs"/>
              </a:rPr>
              <a:t>resultados</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antes de </a:t>
            </a:r>
            <a:r>
              <a:rPr lang="en-US" sz="1200" b="0" kern="1200" dirty="0" err="1">
                <a:solidFill>
                  <a:schemeClr val="tx1"/>
                </a:solidFill>
                <a:effectLst/>
                <a:latin typeface="+mn-lt"/>
                <a:ea typeface="+mn-ea"/>
                <a:cs typeface="+mn-cs"/>
              </a:rPr>
              <a:t>ver</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siguiente</a:t>
            </a:r>
            <a:r>
              <a:rPr lang="en-US" sz="1200" b="0" kern="1200" dirty="0">
                <a:solidFill>
                  <a:schemeClr val="tx1"/>
                </a:solidFill>
                <a:effectLst/>
                <a:latin typeface="+mn-lt"/>
                <a:ea typeface="+mn-ea"/>
                <a:cs typeface="+mn-cs"/>
              </a:rPr>
              <a:t>. Es un </a:t>
            </a:r>
            <a:r>
              <a:rPr lang="en-US" sz="1200" b="0" kern="1200" dirty="0" err="1">
                <a:solidFill>
                  <a:schemeClr val="tx1"/>
                </a:solidFill>
                <a:effectLst/>
                <a:latin typeface="+mn-lt"/>
                <a:ea typeface="+mn-ea"/>
                <a:cs typeface="+mn-cs"/>
              </a:rPr>
              <a:t>adversario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adaptativo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naturaleza</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SSE-2 </a:t>
            </a:r>
            <a:r>
              <a:rPr lang="en-US" sz="1200" b="0" kern="1200" dirty="0" err="1">
                <a:solidFill>
                  <a:schemeClr val="tx1"/>
                </a:solidFill>
                <a:effectLst/>
                <a:latin typeface="+mn-lt"/>
                <a:ea typeface="+mn-ea"/>
                <a:cs typeface="+mn-cs"/>
              </a:rPr>
              <a:t>cierra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brecha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elevando</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modelo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a </a:t>
            </a:r>
            <a:r>
              <a:rPr lang="en-US" sz="1200" b="1" kern="1200" dirty="0">
                <a:solidFill>
                  <a:schemeClr val="tx1"/>
                </a:solidFill>
                <a:effectLst/>
                <a:latin typeface="+mn-lt"/>
                <a:ea typeface="+mn-ea"/>
                <a:cs typeface="+mn-cs"/>
              </a:rPr>
              <a:t>**CKA2**</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donde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adversario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elegir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cada</a:t>
            </a:r>
            <a:r>
              <a:rPr lang="en-US" sz="1200" b="0" kern="1200" dirty="0">
                <a:solidFill>
                  <a:schemeClr val="tx1"/>
                </a:solidFill>
                <a:effectLst/>
                <a:latin typeface="+mn-lt"/>
                <a:ea typeface="+mn-ea"/>
                <a:cs typeface="+mn-cs"/>
              </a:rPr>
              <a:t> consulta </a:t>
            </a:r>
            <a:r>
              <a:rPr lang="en-US" sz="1200" b="0" kern="1200" dirty="0" err="1">
                <a:solidFill>
                  <a:schemeClr val="tx1"/>
                </a:solidFill>
                <a:effectLst/>
                <a:latin typeface="+mn-lt"/>
                <a:ea typeface="+mn-ea"/>
                <a:cs typeface="+mn-cs"/>
              </a:rPr>
              <a:t>después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observar</a:t>
            </a:r>
            <a:r>
              <a:rPr lang="en-US" sz="1200" b="0" kern="1200" dirty="0">
                <a:solidFill>
                  <a:schemeClr val="tx1"/>
                </a:solidFill>
                <a:effectLst/>
                <a:latin typeface="+mn-lt"/>
                <a:ea typeface="+mn-ea"/>
                <a:cs typeface="+mn-cs"/>
              </a:rPr>
              <a:t> las </a:t>
            </a:r>
            <a:r>
              <a:rPr lang="en-US" sz="1200" b="0" kern="1200" dirty="0" err="1">
                <a:solidFill>
                  <a:schemeClr val="tx1"/>
                </a:solidFill>
                <a:effectLst/>
                <a:latin typeface="+mn-lt"/>
                <a:ea typeface="+mn-ea"/>
                <a:cs typeface="+mn-cs"/>
              </a:rPr>
              <a:t>respuestas</a:t>
            </a:r>
            <a:r>
              <a:rPr lang="en-US" sz="1200" b="0" kern="1200" dirty="0">
                <a:solidFill>
                  <a:schemeClr val="tx1"/>
                </a:solidFill>
                <a:effectLst/>
                <a:latin typeface="+mn-lt"/>
                <a:ea typeface="+mn-ea"/>
                <a:cs typeface="+mn-cs"/>
              </a:rPr>
              <a:t> de las </a:t>
            </a:r>
            <a:r>
              <a:rPr lang="en-US" sz="1200" b="0" kern="1200" dirty="0" err="1">
                <a:solidFill>
                  <a:schemeClr val="tx1"/>
                </a:solidFill>
                <a:effectLst/>
                <a:latin typeface="+mn-lt"/>
                <a:ea typeface="+mn-ea"/>
                <a:cs typeface="+mn-cs"/>
              </a:rPr>
              <a:t>anteriores</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mejora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técnica</a:t>
            </a:r>
            <a:r>
              <a:rPr lang="en-US" sz="1200" b="0" kern="1200" dirty="0">
                <a:solidFill>
                  <a:schemeClr val="tx1"/>
                </a:solidFill>
                <a:effectLst/>
                <a:latin typeface="+mn-lt"/>
                <a:ea typeface="+mn-ea"/>
                <a:cs typeface="+mn-cs"/>
              </a:rPr>
              <a:t> clave es el </a:t>
            </a:r>
            <a:r>
              <a:rPr lang="en-US" sz="1200" b="0" kern="1200" dirty="0" err="1">
                <a:solidFill>
                  <a:schemeClr val="tx1"/>
                </a:solidFill>
                <a:effectLst/>
                <a:latin typeface="+mn-lt"/>
                <a:ea typeface="+mn-ea"/>
                <a:cs typeface="+mn-cs"/>
              </a:rPr>
              <a:t>uso</a:t>
            </a:r>
            <a:r>
              <a:rPr lang="en-US" sz="1200" b="0" kern="1200" dirty="0">
                <a:solidFill>
                  <a:schemeClr val="tx1"/>
                </a:solidFill>
                <a:effectLst/>
                <a:latin typeface="+mn-lt"/>
                <a:ea typeface="+mn-ea"/>
                <a:cs typeface="+mn-cs"/>
              </a:rPr>
              <a:t> de </a:t>
            </a:r>
            <a:r>
              <a:rPr lang="en-US" sz="1200" b="1" kern="1200" dirty="0">
                <a:solidFill>
                  <a:schemeClr val="tx1"/>
                </a:solidFill>
                <a:effectLst/>
                <a:latin typeface="+mn-lt"/>
                <a:ea typeface="+mn-ea"/>
                <a:cs typeface="+mn-cs"/>
              </a:rPr>
              <a:t>**dos PRF </a:t>
            </a:r>
            <a:r>
              <a:rPr lang="en-US" sz="1200" b="1" kern="1200" dirty="0" err="1">
                <a:solidFill>
                  <a:schemeClr val="tx1"/>
                </a:solidFill>
                <a:effectLst/>
                <a:latin typeface="+mn-lt"/>
                <a:ea typeface="+mn-ea"/>
                <a:cs typeface="+mn-cs"/>
              </a:rPr>
              <a:t>completamente</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independientes</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se </a:t>
            </a:r>
            <a:r>
              <a:rPr lang="en-US" sz="1200" b="0" kern="1200" dirty="0" err="1">
                <a:solidFill>
                  <a:schemeClr val="tx1"/>
                </a:solidFill>
                <a:effectLst/>
                <a:latin typeface="+mn-lt"/>
                <a:ea typeface="+mn-ea"/>
                <a:cs typeface="+mn-cs"/>
              </a:rPr>
              <a:t>dedica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exclusivamente</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derivar</a:t>
            </a:r>
            <a:r>
              <a:rPr lang="en-US" sz="1200" b="0" kern="1200" dirty="0">
                <a:solidFill>
                  <a:schemeClr val="tx1"/>
                </a:solidFill>
                <a:effectLst/>
                <a:latin typeface="+mn-lt"/>
                <a:ea typeface="+mn-ea"/>
                <a:cs typeface="+mn-cs"/>
              </a:rPr>
              <a:t> las claves de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nodos</a:t>
            </a:r>
            <a:r>
              <a:rPr lang="en-US" sz="1200" b="0" kern="1200" dirty="0">
                <a:solidFill>
                  <a:schemeClr val="tx1"/>
                </a:solidFill>
                <a:effectLst/>
                <a:latin typeface="+mn-lt"/>
                <a:ea typeface="+mn-ea"/>
                <a:cs typeface="+mn-cs"/>
              </a:rPr>
              <a:t> del </a:t>
            </a:r>
            <a:r>
              <a:rPr lang="en-US" sz="1200" b="0" kern="1200" dirty="0" err="1">
                <a:solidFill>
                  <a:schemeClr val="tx1"/>
                </a:solidFill>
                <a:effectLst/>
                <a:latin typeface="+mn-lt"/>
                <a:ea typeface="+mn-ea"/>
                <a:cs typeface="+mn-cs"/>
              </a:rPr>
              <a:t>arreglo</a:t>
            </a:r>
            <a:r>
              <a:rPr lang="en-US" sz="1200" b="0" kern="1200" dirty="0">
                <a:solidFill>
                  <a:schemeClr val="tx1"/>
                </a:solidFill>
                <a:effectLst/>
                <a:latin typeface="+mn-lt"/>
                <a:ea typeface="+mn-ea"/>
                <a:cs typeface="+mn-cs"/>
              </a:rPr>
              <a:t> A, y la </a:t>
            </a:r>
            <a:r>
              <a:rPr lang="en-US" sz="1200" b="0" kern="1200" dirty="0" err="1">
                <a:solidFill>
                  <a:schemeClr val="tx1"/>
                </a:solidFill>
                <a:effectLst/>
                <a:latin typeface="+mn-lt"/>
                <a:ea typeface="+mn-ea"/>
                <a:cs typeface="+mn-cs"/>
              </a:rPr>
              <a:t>otra</a:t>
            </a:r>
            <a:r>
              <a:rPr lang="en-US" sz="1200" b="0" kern="1200" dirty="0">
                <a:solidFill>
                  <a:schemeClr val="tx1"/>
                </a:solidFill>
                <a:effectLst/>
                <a:latin typeface="+mn-lt"/>
                <a:ea typeface="+mn-ea"/>
                <a:cs typeface="+mn-cs"/>
              </a:rPr>
              <a:t> se </a:t>
            </a:r>
            <a:r>
              <a:rPr lang="en-US" sz="1200" b="0" kern="1200" dirty="0" err="1">
                <a:solidFill>
                  <a:schemeClr val="tx1"/>
                </a:solidFill>
                <a:effectLst/>
                <a:latin typeface="+mn-lt"/>
                <a:ea typeface="+mn-ea"/>
                <a:cs typeface="+mn-cs"/>
              </a:rPr>
              <a:t>usa</a:t>
            </a:r>
            <a:r>
              <a:rPr lang="en-US" sz="1200" b="0" kern="1200" dirty="0">
                <a:solidFill>
                  <a:schemeClr val="tx1"/>
                </a:solidFill>
                <a:effectLst/>
                <a:latin typeface="+mn-lt"/>
                <a:ea typeface="+mn-ea"/>
                <a:cs typeface="+mn-cs"/>
              </a:rPr>
              <a:t> para </a:t>
            </a:r>
            <a:r>
              <a:rPr lang="en-US" sz="1200" b="0" kern="1200" dirty="0" err="1">
                <a:solidFill>
                  <a:schemeClr val="tx1"/>
                </a:solidFill>
                <a:effectLst/>
                <a:latin typeface="+mn-lt"/>
                <a:ea typeface="+mn-ea"/>
                <a:cs typeface="+mn-cs"/>
              </a:rPr>
              <a:t>derivar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trapdoors y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identificadores</a:t>
            </a:r>
            <a:r>
              <a:rPr lang="en-US" sz="1200" b="0" kern="1200" dirty="0">
                <a:solidFill>
                  <a:schemeClr val="tx1"/>
                </a:solidFill>
                <a:effectLst/>
                <a:latin typeface="+mn-lt"/>
                <a:ea typeface="+mn-ea"/>
                <a:cs typeface="+mn-cs"/>
              </a:rPr>
              <a:t> de la </a:t>
            </a:r>
            <a:r>
              <a:rPr lang="en-US" sz="1200" b="0" kern="1200" dirty="0" err="1">
                <a:solidFill>
                  <a:schemeClr val="tx1"/>
                </a:solidFill>
                <a:effectLst/>
                <a:latin typeface="+mn-lt"/>
                <a:ea typeface="+mn-ea"/>
                <a:cs typeface="+mn-cs"/>
              </a:rPr>
              <a:t>tabla</a:t>
            </a:r>
            <a:r>
              <a:rPr lang="en-US" sz="1200" b="0" kern="1200" dirty="0">
                <a:solidFill>
                  <a:schemeClr val="tx1"/>
                </a:solidFill>
                <a:effectLst/>
                <a:latin typeface="+mn-lt"/>
                <a:ea typeface="+mn-ea"/>
                <a:cs typeface="+mn-cs"/>
              </a:rPr>
              <a:t> T. Esta </a:t>
            </a:r>
            <a:r>
              <a:rPr lang="en-US" sz="1200" b="0" kern="1200" dirty="0" err="1">
                <a:solidFill>
                  <a:schemeClr val="tx1"/>
                </a:solidFill>
                <a:effectLst/>
                <a:latin typeface="+mn-lt"/>
                <a:ea typeface="+mn-ea"/>
                <a:cs typeface="+mn-cs"/>
              </a:rPr>
              <a:t>separación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evita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información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gana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consulta le </a:t>
            </a:r>
            <a:r>
              <a:rPr lang="en-US" sz="1200" b="0" kern="1200" dirty="0" err="1">
                <a:solidFill>
                  <a:schemeClr val="tx1"/>
                </a:solidFill>
                <a:effectLst/>
                <a:latin typeface="+mn-lt"/>
                <a:ea typeface="+mn-ea"/>
                <a:cs typeface="+mn-cs"/>
              </a:rPr>
              <a:t>permita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correlacionarla</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consultas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futuras</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Esto no es un </a:t>
            </a:r>
            <a:r>
              <a:rPr lang="en-US" sz="1200" b="0" kern="1200" dirty="0" err="1">
                <a:solidFill>
                  <a:schemeClr val="tx1"/>
                </a:solidFill>
                <a:effectLst/>
                <a:latin typeface="+mn-lt"/>
                <a:ea typeface="+mn-ea"/>
                <a:cs typeface="+mn-cs"/>
              </a:rPr>
              <a:t>matiz</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académico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menor</a:t>
            </a:r>
            <a:r>
              <a:rPr lang="en-US" sz="1200" b="0" kern="1200" dirty="0">
                <a:solidFill>
                  <a:schemeClr val="tx1"/>
                </a:solidFill>
                <a:effectLst/>
                <a:latin typeface="+mn-lt"/>
                <a:ea typeface="+mn-ea"/>
                <a:cs typeface="+mn-cs"/>
              </a:rPr>
              <a:t>: define </a:t>
            </a:r>
            <a:r>
              <a:rPr lang="en-US" sz="1200" b="0" kern="1200" dirty="0" err="1">
                <a:solidFill>
                  <a:schemeClr val="tx1"/>
                </a:solidFill>
                <a:effectLst/>
                <a:latin typeface="+mn-lt"/>
                <a:ea typeface="+mn-ea"/>
                <a:cs typeface="+mn-cs"/>
              </a:rPr>
              <a:t>si</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esquema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resiste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un </a:t>
            </a:r>
            <a:r>
              <a:rPr lang="en-US" sz="1200" b="0" kern="1200" dirty="0" err="1">
                <a:solidFill>
                  <a:schemeClr val="tx1"/>
                </a:solidFill>
                <a:effectLst/>
                <a:latin typeface="+mn-lt"/>
                <a:ea typeface="+mn-ea"/>
                <a:cs typeface="+mn-cs"/>
              </a:rPr>
              <a:t>entorno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producción</a:t>
            </a:r>
            <a:r>
              <a:rPr lang="en-US" sz="1200" b="0" kern="1200" dirty="0">
                <a:solidFill>
                  <a:schemeClr val="tx1"/>
                </a:solidFill>
                <a:effectLst/>
                <a:latin typeface="+mn-lt"/>
                <a:ea typeface="+mn-ea"/>
                <a:cs typeface="+mn-cs"/>
              </a:rPr>
              <a:t> real </a:t>
            </a:r>
            <a:r>
              <a:rPr lang="en-US" sz="1200" b="0" kern="1200" dirty="0" err="1">
                <a:solidFill>
                  <a:schemeClr val="tx1"/>
                </a:solidFill>
                <a:effectLst/>
                <a:latin typeface="+mn-lt"/>
                <a:ea typeface="+mn-ea"/>
                <a:cs typeface="+mn-cs"/>
              </a:rPr>
              <a:t>donde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acumula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observaciones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tráfico</a:t>
            </a:r>
            <a:r>
              <a:rPr lang="en-US" sz="1200" b="0" kern="1200" dirty="0">
                <a:solidFill>
                  <a:schemeClr val="tx1"/>
                </a:solidFill>
                <a:effectLst/>
                <a:latin typeface="+mn-lt"/>
                <a:ea typeface="+mn-ea"/>
                <a:cs typeface="+mn-cs"/>
              </a:rPr>
              <a:t>. Bajo CKA2, la </a:t>
            </a:r>
            <a:r>
              <a:rPr lang="en-US" sz="1200" b="0" kern="1200" dirty="0" err="1">
                <a:solidFill>
                  <a:schemeClr val="tx1"/>
                </a:solidFill>
                <a:effectLst/>
                <a:latin typeface="+mn-lt"/>
                <a:ea typeface="+mn-ea"/>
                <a:cs typeface="+mn-cs"/>
              </a:rPr>
              <a:t>fuga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formalmente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acotada</a:t>
            </a:r>
            <a:r>
              <a:rPr lang="en-US" sz="1200" b="0" kern="1200" dirty="0">
                <a:solidFill>
                  <a:schemeClr val="tx1"/>
                </a:solidFill>
                <a:effectLst/>
                <a:latin typeface="+mn-lt"/>
                <a:ea typeface="+mn-ea"/>
                <a:cs typeface="+mn-cs"/>
              </a:rPr>
              <a:t> al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patrón</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acceso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y al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patrón</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búsqueda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 nada </a:t>
            </a:r>
            <a:r>
              <a:rPr lang="en-US" sz="1200" b="0" kern="1200" dirty="0" err="1">
                <a:solidFill>
                  <a:schemeClr val="tx1"/>
                </a:solidFill>
                <a:effectLst/>
                <a:latin typeface="+mn-lt"/>
                <a:ea typeface="+mn-ea"/>
                <a:cs typeface="+mn-cs"/>
              </a:rPr>
              <a:t>más</a:t>
            </a:r>
            <a:r>
              <a:rPr lang="en-US" sz="1200" b="0" kern="1200" dirty="0">
                <a:solidFill>
                  <a:schemeClr val="tx1"/>
                </a:solidFill>
                <a:effectLst/>
                <a:latin typeface="+mn-lt"/>
                <a:ea typeface="+mn-ea"/>
                <a:cs typeface="+mn-cs"/>
              </a:rPr>
              <a:t>, consulta </a:t>
            </a:r>
            <a:r>
              <a:rPr lang="en-US" sz="1200" b="0" kern="1200" dirty="0" err="1">
                <a:solidFill>
                  <a:schemeClr val="tx1"/>
                </a:solidFill>
                <a:effectLst/>
                <a:latin typeface="+mn-lt"/>
                <a:ea typeface="+mn-ea"/>
                <a:cs typeface="+mn-cs"/>
              </a:rPr>
              <a:t>tras</a:t>
            </a:r>
            <a:r>
              <a:rPr lang="en-US" sz="1200" b="0" kern="1200" dirty="0">
                <a:solidFill>
                  <a:schemeClr val="tx1"/>
                </a:solidFill>
                <a:effectLst/>
                <a:latin typeface="+mn-lt"/>
                <a:ea typeface="+mn-ea"/>
                <a:cs typeface="+mn-cs"/>
              </a:rPr>
              <a:t> consulta, sin </a:t>
            </a:r>
            <a:r>
              <a:rPr lang="en-US" sz="1200" b="0" kern="1200" dirty="0" err="1">
                <a:solidFill>
                  <a:schemeClr val="tx1"/>
                </a:solidFill>
                <a:effectLst/>
                <a:latin typeface="+mn-lt"/>
                <a:ea typeface="+mn-ea"/>
                <a:cs typeface="+mn-cs"/>
              </a:rPr>
              <a:t>acumulación</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"Un punto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debemos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abordar</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honestidad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académica</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ningún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esquema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práctico</a:t>
            </a:r>
            <a:r>
              <a:rPr lang="en-US" sz="1200" b="1" kern="1200" dirty="0">
                <a:solidFill>
                  <a:schemeClr val="tx1"/>
                </a:solidFill>
                <a:effectLst/>
                <a:latin typeface="+mn-lt"/>
                <a:ea typeface="+mn-ea"/>
                <a:cs typeface="+mn-cs"/>
              </a:rPr>
              <a:t> de SSE </a:t>
            </a:r>
            <a:r>
              <a:rPr lang="en-US" sz="1200" b="1" kern="1200" dirty="0" err="1">
                <a:solidFill>
                  <a:schemeClr val="tx1"/>
                </a:solidFill>
                <a:effectLst/>
                <a:latin typeface="+mn-lt"/>
                <a:ea typeface="+mn-ea"/>
                <a:cs typeface="+mn-cs"/>
              </a:rPr>
              <a:t>tiene</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fuga</a:t>
            </a:r>
            <a:r>
              <a:rPr lang="en-US" sz="1200" b="1" kern="1200" dirty="0">
                <a:solidFill>
                  <a:schemeClr val="tx1"/>
                </a:solidFill>
                <a:effectLst/>
                <a:latin typeface="+mn-lt"/>
                <a:ea typeface="+mn-ea"/>
                <a:cs typeface="+mn-cs"/>
              </a:rPr>
              <a:t> cero**</a:t>
            </a:r>
            <a:r>
              <a:rPr lang="en-US" sz="1200" b="0" kern="1200" dirty="0">
                <a:solidFill>
                  <a:schemeClr val="tx1"/>
                </a:solidFill>
                <a:effectLst/>
                <a:latin typeface="+mn-lt"/>
                <a:ea typeface="+mn-ea"/>
                <a:cs typeface="+mn-cs"/>
              </a:rPr>
              <a:t>. Esta no es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debilidad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sino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decisión</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diseño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explícita</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fuga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controlada</a:t>
            </a:r>
            <a:r>
              <a:rPr lang="en-US" sz="1200" b="0" kern="1200" dirty="0">
                <a:solidFill>
                  <a:schemeClr val="tx1"/>
                </a:solidFill>
                <a:effectLst/>
                <a:latin typeface="+mn-lt"/>
                <a:ea typeface="+mn-ea"/>
                <a:cs typeface="+mn-cs"/>
              </a:rPr>
              <a:t> es el </a:t>
            </a:r>
            <a:r>
              <a:rPr lang="en-US" sz="1200" b="0" kern="1200" dirty="0" err="1">
                <a:solidFill>
                  <a:schemeClr val="tx1"/>
                </a:solidFill>
                <a:effectLst/>
                <a:latin typeface="+mn-lt"/>
                <a:ea typeface="+mn-ea"/>
                <a:cs typeface="+mn-cs"/>
              </a:rPr>
              <a:t>precio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pagamos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eficiencia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sublineal</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La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formal de SSE </a:t>
            </a:r>
            <a:r>
              <a:rPr lang="en-US" sz="1200" b="0" kern="1200" dirty="0" err="1">
                <a:solidFill>
                  <a:schemeClr val="tx1"/>
                </a:solidFill>
                <a:effectLst/>
                <a:latin typeface="+mn-lt"/>
                <a:ea typeface="+mn-ea"/>
                <a:cs typeface="+mn-cs"/>
              </a:rPr>
              <a:t>consiste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demostrar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esquema</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**no filtra nada </a:t>
            </a:r>
            <a:r>
              <a:rPr lang="en-US" sz="1200" b="1" kern="1200" dirty="0" err="1">
                <a:solidFill>
                  <a:schemeClr val="tx1"/>
                </a:solidFill>
                <a:effectLst/>
                <a:latin typeface="+mn-lt"/>
                <a:ea typeface="+mn-ea"/>
                <a:cs typeface="+mn-cs"/>
              </a:rPr>
              <a:t>más</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allá</a:t>
            </a:r>
            <a:r>
              <a:rPr lang="en-US" sz="1200" b="1" kern="1200" dirty="0">
                <a:solidFill>
                  <a:schemeClr val="tx1"/>
                </a:solidFill>
                <a:effectLst/>
                <a:latin typeface="+mn-lt"/>
                <a:ea typeface="+mn-ea"/>
                <a:cs typeface="+mn-cs"/>
              </a:rPr>
              <a:t> de un </a:t>
            </a:r>
            <a:r>
              <a:rPr lang="en-US" sz="1200" b="1" kern="1200" dirty="0" err="1">
                <a:solidFill>
                  <a:schemeClr val="tx1"/>
                </a:solidFill>
                <a:effectLst/>
                <a:latin typeface="+mn-lt"/>
                <a:ea typeface="+mn-ea"/>
                <a:cs typeface="+mn-cs"/>
              </a:rPr>
              <a:t>perfil</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fuga</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declarado</a:t>
            </a:r>
            <a:r>
              <a:rPr lang="en-US" sz="1200" b="1" kern="1200" dirty="0">
                <a:solidFill>
                  <a:schemeClr val="tx1"/>
                </a:solidFill>
                <a:effectLst/>
                <a:latin typeface="+mn-lt"/>
                <a:ea typeface="+mn-ea"/>
                <a:cs typeface="+mn-cs"/>
              </a:rPr>
              <a:t> y </a:t>
            </a:r>
            <a:r>
              <a:rPr lang="en-US" sz="1200" b="1" kern="1200" dirty="0" err="1">
                <a:solidFill>
                  <a:schemeClr val="tx1"/>
                </a:solidFill>
                <a:effectLst/>
                <a:latin typeface="+mn-lt"/>
                <a:ea typeface="+mn-ea"/>
                <a:cs typeface="+mn-cs"/>
              </a:rPr>
              <a:t>acotado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Este </a:t>
            </a:r>
            <a:r>
              <a:rPr lang="en-US" sz="1200" b="0" kern="1200" dirty="0" err="1">
                <a:solidFill>
                  <a:schemeClr val="tx1"/>
                </a:solidFill>
                <a:effectLst/>
                <a:latin typeface="+mn-lt"/>
                <a:ea typeface="+mn-ea"/>
                <a:cs typeface="+mn-cs"/>
              </a:rPr>
              <a:t>perfil</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incluye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componentes</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Primero, el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patrón</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acceso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observa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identificadores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coinciden</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cada</a:t>
            </a:r>
            <a:r>
              <a:rPr lang="en-US" sz="1200" b="0" kern="1200" dirty="0">
                <a:solidFill>
                  <a:schemeClr val="tx1"/>
                </a:solidFill>
                <a:effectLst/>
                <a:latin typeface="+mn-lt"/>
                <a:ea typeface="+mn-ea"/>
                <a:cs typeface="+mn-cs"/>
              </a:rPr>
              <a:t> consulta, </a:t>
            </a:r>
            <a:r>
              <a:rPr lang="en-US" sz="1200" b="0" kern="1200" dirty="0" err="1">
                <a:solidFill>
                  <a:schemeClr val="tx1"/>
                </a:solidFill>
                <a:effectLst/>
                <a:latin typeface="+mn-lt"/>
                <a:ea typeface="+mn-ea"/>
                <a:cs typeface="+mn-cs"/>
              </a:rPr>
              <a:t>aunque</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leer </a:t>
            </a:r>
            <a:r>
              <a:rPr lang="en-US" sz="1200" b="0" kern="1200" dirty="0" err="1">
                <a:solidFill>
                  <a:schemeClr val="tx1"/>
                </a:solidFill>
                <a:effectLst/>
                <a:latin typeface="+mn-lt"/>
                <a:ea typeface="+mn-ea"/>
                <a:cs typeface="+mn-cs"/>
              </a:rPr>
              <a:t>su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contenido</a:t>
            </a:r>
            <a:r>
              <a:rPr lang="en-US" sz="1200" b="0" kern="1200" dirty="0">
                <a:solidFill>
                  <a:schemeClr val="tx1"/>
                </a:solidFill>
                <a:effectLst/>
                <a:latin typeface="+mn-lt"/>
                <a:ea typeface="+mn-ea"/>
                <a:cs typeface="+mn-cs"/>
              </a:rPr>
              <a:t>. Segundo, el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patrón</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búsqueda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trapdoors son </a:t>
            </a:r>
            <a:r>
              <a:rPr lang="en-US" sz="1200" b="0" kern="1200" dirty="0" err="1">
                <a:solidFill>
                  <a:schemeClr val="tx1"/>
                </a:solidFill>
                <a:effectLst/>
                <a:latin typeface="+mn-lt"/>
                <a:ea typeface="+mn-ea"/>
                <a:cs typeface="+mn-cs"/>
              </a:rPr>
              <a:t>deterministas</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detectar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a:t>
            </a:r>
            <a:r>
              <a:rPr lang="en-US" sz="1200" b="0" kern="1200" dirty="0">
                <a:solidFill>
                  <a:schemeClr val="tx1"/>
                </a:solidFill>
                <a:effectLst/>
                <a:latin typeface="+mn-lt"/>
                <a:ea typeface="+mn-ea"/>
                <a:cs typeface="+mn-cs"/>
              </a:rPr>
              <a:t> dos </a:t>
            </a:r>
            <a:r>
              <a:rPr lang="en-US" sz="1200" b="0" kern="1200" dirty="0" err="1">
                <a:solidFill>
                  <a:schemeClr val="tx1"/>
                </a:solidFill>
                <a:effectLst/>
                <a:latin typeface="+mn-lt"/>
                <a:ea typeface="+mn-ea"/>
                <a:cs typeface="+mn-cs"/>
              </a:rPr>
              <a:t>consultas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corresponden</a:t>
            </a:r>
            <a:r>
              <a:rPr lang="en-US" sz="1200" b="0" kern="1200" dirty="0">
                <a:solidFill>
                  <a:schemeClr val="tx1"/>
                </a:solidFill>
                <a:effectLst/>
                <a:latin typeface="+mn-lt"/>
                <a:ea typeface="+mn-ea"/>
                <a:cs typeface="+mn-cs"/>
              </a:rPr>
              <a:t> a la </a:t>
            </a:r>
            <a:r>
              <a:rPr lang="en-US" sz="1200" b="0" kern="1200" dirty="0" err="1">
                <a:solidFill>
                  <a:schemeClr val="tx1"/>
                </a:solidFill>
                <a:effectLst/>
                <a:latin typeface="+mn-lt"/>
                <a:ea typeface="+mn-ea"/>
                <a:cs typeface="+mn-cs"/>
              </a:rPr>
              <a:t>misma</a:t>
            </a:r>
            <a:r>
              <a:rPr lang="en-US" sz="1200" b="0" kern="1200" dirty="0">
                <a:solidFill>
                  <a:schemeClr val="tx1"/>
                </a:solidFill>
                <a:effectLst/>
                <a:latin typeface="+mn-lt"/>
                <a:ea typeface="+mn-ea"/>
                <a:cs typeface="+mn-cs"/>
              </a:rPr>
              <a:t> palabra clave, </a:t>
            </a:r>
            <a:r>
              <a:rPr lang="en-US" sz="1200" b="0" kern="1200" dirty="0" err="1">
                <a:solidFill>
                  <a:schemeClr val="tx1"/>
                </a:solidFill>
                <a:effectLst/>
                <a:latin typeface="+mn-lt"/>
                <a:ea typeface="+mn-ea"/>
                <a:cs typeface="+mn-cs"/>
              </a:rPr>
              <a:t>aunque</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saber </a:t>
            </a:r>
            <a:r>
              <a:rPr lang="en-US" sz="1200" b="0" kern="1200" dirty="0" err="1">
                <a:solidFill>
                  <a:schemeClr val="tx1"/>
                </a:solidFill>
                <a:effectLst/>
                <a:latin typeface="+mn-lt"/>
                <a:ea typeface="+mn-ea"/>
                <a:cs typeface="+mn-cs"/>
              </a:rPr>
              <a:t>cuál</a:t>
            </a:r>
            <a:r>
              <a:rPr lang="en-US" sz="1200" b="0" kern="1200" dirty="0">
                <a:solidFill>
                  <a:schemeClr val="tx1"/>
                </a:solidFill>
                <a:effectLst/>
                <a:latin typeface="+mn-lt"/>
                <a:ea typeface="+mn-ea"/>
                <a:cs typeface="+mn-cs"/>
              </a:rPr>
              <a:t>. Tercero, el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tamaño</a:t>
            </a:r>
            <a:r>
              <a:rPr lang="en-US" sz="1200" b="1" kern="1200" dirty="0">
                <a:solidFill>
                  <a:schemeClr val="tx1"/>
                </a:solidFill>
                <a:effectLst/>
                <a:latin typeface="+mn-lt"/>
                <a:ea typeface="+mn-ea"/>
                <a:cs typeface="+mn-cs"/>
              </a:rPr>
              <a:t> de la </a:t>
            </a:r>
            <a:r>
              <a:rPr lang="en-US" sz="1200" b="1" kern="1200" dirty="0" err="1">
                <a:solidFill>
                  <a:schemeClr val="tx1"/>
                </a:solidFill>
                <a:effectLst/>
                <a:latin typeface="+mn-lt"/>
                <a:ea typeface="+mn-ea"/>
                <a:cs typeface="+mn-cs"/>
              </a:rPr>
              <a:t>colección</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cantidad</a:t>
            </a:r>
            <a:r>
              <a:rPr lang="en-US" sz="1200" b="0" kern="1200" dirty="0">
                <a:solidFill>
                  <a:schemeClr val="tx1"/>
                </a:solidFill>
                <a:effectLst/>
                <a:latin typeface="+mn-lt"/>
                <a:ea typeface="+mn-ea"/>
                <a:cs typeface="+mn-cs"/>
              </a:rPr>
              <a:t> total de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y la </a:t>
            </a:r>
            <a:r>
              <a:rPr lang="en-US" sz="1200" b="0" kern="1200" dirty="0" err="1">
                <a:solidFill>
                  <a:schemeClr val="tx1"/>
                </a:solidFill>
                <a:effectLst/>
                <a:latin typeface="+mn-lt"/>
                <a:ea typeface="+mn-ea"/>
                <a:cs typeface="+mn-cs"/>
              </a:rPr>
              <a:t>longitud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aproximada</a:t>
            </a:r>
            <a:r>
              <a:rPr lang="en-US" sz="1200" b="0" kern="1200" dirty="0">
                <a:solidFill>
                  <a:schemeClr val="tx1"/>
                </a:solidFill>
                <a:effectLst/>
                <a:latin typeface="+mn-lt"/>
                <a:ea typeface="+mn-ea"/>
                <a:cs typeface="+mn-cs"/>
              </a:rPr>
              <a:t> del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Lo fundamental es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**fuera de </a:t>
            </a:r>
            <a:r>
              <a:rPr lang="en-US" sz="1200" b="1" kern="1200" dirty="0" err="1">
                <a:solidFill>
                  <a:schemeClr val="tx1"/>
                </a:solidFill>
                <a:effectLst/>
                <a:latin typeface="+mn-lt"/>
                <a:ea typeface="+mn-ea"/>
                <a:cs typeface="+mn-cs"/>
              </a:rPr>
              <a:t>este</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perfil</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todo</a:t>
            </a:r>
            <a:r>
              <a:rPr lang="en-US" sz="1200" b="0" kern="1200" dirty="0">
                <a:solidFill>
                  <a:schemeClr val="tx1"/>
                </a:solidFill>
                <a:effectLst/>
                <a:latin typeface="+mn-lt"/>
                <a:ea typeface="+mn-ea"/>
                <a:cs typeface="+mn-cs"/>
              </a:rPr>
              <a:t> lo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observa</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trapdoors, las claves </a:t>
            </a:r>
            <a:r>
              <a:rPr lang="en-US" sz="1200" b="0" kern="1200" dirty="0" err="1">
                <a:solidFill>
                  <a:schemeClr val="tx1"/>
                </a:solidFill>
                <a:effectLst/>
                <a:latin typeface="+mn-lt"/>
                <a:ea typeface="+mn-ea"/>
                <a:cs typeface="+mn-cs"/>
              </a:rPr>
              <a:t>derivadas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nodos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cifrados</a:t>
            </a:r>
            <a:r>
              <a:rPr lang="en-US" sz="1200" b="0" kern="1200" dirty="0">
                <a:solidFill>
                  <a:schemeClr val="tx1"/>
                </a:solidFill>
                <a:effectLst/>
                <a:latin typeface="+mn-lt"/>
                <a:ea typeface="+mn-ea"/>
                <a:cs typeface="+mn-cs"/>
              </a:rPr>
              <a:t> — es </a:t>
            </a:r>
            <a:r>
              <a:rPr lang="en-US" sz="1200" b="0" kern="1200" dirty="0" err="1">
                <a:solidFill>
                  <a:schemeClr val="tx1"/>
                </a:solidFill>
                <a:effectLst/>
                <a:latin typeface="+mn-lt"/>
                <a:ea typeface="+mn-ea"/>
                <a:cs typeface="+mn-cs"/>
              </a:rPr>
              <a:t>indistinguible</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valores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aleatorios</a:t>
            </a:r>
            <a:r>
              <a:rPr lang="en-US" sz="1200" b="0" kern="1200" dirty="0">
                <a:solidFill>
                  <a:schemeClr val="tx1"/>
                </a:solidFill>
                <a:effectLst/>
                <a:latin typeface="+mn-lt"/>
                <a:ea typeface="+mn-ea"/>
                <a:cs typeface="+mn-cs"/>
              </a:rPr>
              <a:t> para </a:t>
            </a:r>
            <a:r>
              <a:rPr lang="en-US" sz="1200" b="0" kern="1200" dirty="0" err="1">
                <a:solidFill>
                  <a:schemeClr val="tx1"/>
                </a:solidFill>
                <a:effectLst/>
                <a:latin typeface="+mn-lt"/>
                <a:ea typeface="+mn-ea"/>
                <a:cs typeface="+mn-cs"/>
              </a:rPr>
              <a:t>cualquier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adversario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computacionalmente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acotado</a:t>
            </a:r>
            <a:r>
              <a:rPr lang="en-US" sz="1200" b="0" kern="1200" dirty="0">
                <a:solidFill>
                  <a:schemeClr val="tx1"/>
                </a:solidFill>
                <a:effectLst/>
                <a:latin typeface="+mn-lt"/>
                <a:ea typeface="+mn-ea"/>
                <a:cs typeface="+mn-cs"/>
              </a:rPr>
              <a:t>. Esta </a:t>
            </a:r>
            <a:r>
              <a:rPr lang="en-US" sz="1200" b="0" kern="1200" dirty="0" err="1">
                <a:solidFill>
                  <a:schemeClr val="tx1"/>
                </a:solidFill>
                <a:effectLst/>
                <a:latin typeface="+mn-lt"/>
                <a:ea typeface="+mn-ea"/>
                <a:cs typeface="+mn-cs"/>
              </a:rPr>
              <a:t>garantía</a:t>
            </a:r>
            <a:r>
              <a:rPr lang="en-US" sz="1200" b="0" kern="1200" dirty="0">
                <a:solidFill>
                  <a:schemeClr val="tx1"/>
                </a:solidFill>
                <a:effectLst/>
                <a:latin typeface="+mn-lt"/>
                <a:ea typeface="+mn-ea"/>
                <a:cs typeface="+mn-cs"/>
              </a:rPr>
              <a:t> formal es lo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separa</a:t>
            </a:r>
            <a:r>
              <a:rPr lang="en-US" sz="1200" b="0" kern="1200" dirty="0">
                <a:solidFill>
                  <a:schemeClr val="tx1"/>
                </a:solidFill>
                <a:effectLst/>
                <a:latin typeface="+mn-lt"/>
                <a:ea typeface="+mn-ea"/>
                <a:cs typeface="+mn-cs"/>
              </a:rPr>
              <a:t> un </a:t>
            </a:r>
            <a:r>
              <a:rPr lang="en-US" sz="1200" b="0" kern="1200" dirty="0" err="1">
                <a:solidFill>
                  <a:schemeClr val="tx1"/>
                </a:solidFill>
                <a:effectLst/>
                <a:latin typeface="+mn-lt"/>
                <a:ea typeface="+mn-ea"/>
                <a:cs typeface="+mn-cs"/>
              </a:rPr>
              <a:t>esquema</a:t>
            </a:r>
            <a:r>
              <a:rPr lang="en-US" sz="1200" b="0" kern="1200" dirty="0">
                <a:solidFill>
                  <a:schemeClr val="tx1"/>
                </a:solidFill>
                <a:effectLst/>
                <a:latin typeface="+mn-lt"/>
                <a:ea typeface="+mn-ea"/>
                <a:cs typeface="+mn-cs"/>
              </a:rPr>
              <a:t> de SSE con </a:t>
            </a:r>
            <a:r>
              <a:rPr lang="en-US" sz="1200" b="0" kern="1200" dirty="0" err="1">
                <a:solidFill>
                  <a:schemeClr val="tx1"/>
                </a:solidFill>
                <a:effectLst/>
                <a:latin typeface="+mn-lt"/>
                <a:ea typeface="+mn-ea"/>
                <a:cs typeface="+mn-cs"/>
              </a:rPr>
              <a:t>prueba</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afirmación</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vacía</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"Para </a:t>
            </a:r>
            <a:r>
              <a:rPr lang="en-US" sz="1200" b="0" kern="1200" dirty="0" err="1">
                <a:solidFill>
                  <a:schemeClr val="tx1"/>
                </a:solidFill>
                <a:effectLst/>
                <a:latin typeface="+mn-lt"/>
                <a:ea typeface="+mn-ea"/>
                <a:cs typeface="+mn-cs"/>
              </a:rPr>
              <a:t>entender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qué</a:t>
            </a:r>
            <a:r>
              <a:rPr lang="en-US" sz="1200" b="0" kern="1200" dirty="0">
                <a:solidFill>
                  <a:schemeClr val="tx1"/>
                </a:solidFill>
                <a:effectLst/>
                <a:latin typeface="+mn-lt"/>
                <a:ea typeface="+mn-ea"/>
                <a:cs typeface="+mn-cs"/>
              </a:rPr>
              <a:t> SSE </a:t>
            </a:r>
            <a:r>
              <a:rPr lang="en-US" sz="1200" b="0" kern="1200" dirty="0" err="1">
                <a:solidFill>
                  <a:schemeClr val="tx1"/>
                </a:solidFill>
                <a:effectLst/>
                <a:latin typeface="+mn-lt"/>
                <a:ea typeface="+mn-ea"/>
                <a:cs typeface="+mn-cs"/>
              </a:rPr>
              <a:t>utiliza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exclusivamente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criptografía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simétrica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necesitamos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compararlo</a:t>
            </a:r>
            <a:r>
              <a:rPr lang="en-US" sz="1200" b="0" kern="1200" dirty="0">
                <a:solidFill>
                  <a:schemeClr val="tx1"/>
                </a:solidFill>
                <a:effectLst/>
                <a:latin typeface="+mn-lt"/>
                <a:ea typeface="+mn-ea"/>
                <a:cs typeface="+mn-cs"/>
              </a:rPr>
              <a:t> con la </a:t>
            </a:r>
            <a:r>
              <a:rPr lang="en-US" sz="1200" b="0" kern="1200" dirty="0" err="1">
                <a:solidFill>
                  <a:schemeClr val="tx1"/>
                </a:solidFill>
                <a:effectLst/>
                <a:latin typeface="+mn-lt"/>
                <a:ea typeface="+mn-ea"/>
                <a:cs typeface="+mn-cs"/>
              </a:rPr>
              <a:t>alternativa</a:t>
            </a:r>
            <a:r>
              <a:rPr lang="en-US" sz="1200" b="0" kern="1200" dirty="0">
                <a:solidFill>
                  <a:schemeClr val="tx1"/>
                </a:solidFill>
                <a:effectLst/>
                <a:latin typeface="+mn-lt"/>
                <a:ea typeface="+mn-ea"/>
                <a:cs typeface="+mn-cs"/>
              </a:rPr>
              <a:t> de clave </a:t>
            </a:r>
            <a:r>
              <a:rPr lang="en-US" sz="1200" b="0" kern="1200" dirty="0" err="1">
                <a:solidFill>
                  <a:schemeClr val="tx1"/>
                </a:solidFill>
                <a:effectLst/>
                <a:latin typeface="+mn-lt"/>
                <a:ea typeface="+mn-ea"/>
                <a:cs typeface="+mn-cs"/>
              </a:rPr>
              <a:t>pública</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**PEKS**</a:t>
            </a:r>
            <a:r>
              <a:rPr lang="en-US" sz="1200" b="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*Public-Key Encryption with Keyword Search*</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PEKS </a:t>
            </a:r>
            <a:r>
              <a:rPr lang="en-US" sz="1200" b="0" kern="1200" dirty="0" err="1">
                <a:solidFill>
                  <a:schemeClr val="tx1"/>
                </a:solidFill>
                <a:effectLst/>
                <a:latin typeface="+mn-lt"/>
                <a:ea typeface="+mn-ea"/>
                <a:cs typeface="+mn-cs"/>
              </a:rPr>
              <a:t>utiliza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emparejamientos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bilineales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sobre</a:t>
            </a:r>
            <a:r>
              <a:rPr lang="en-US" sz="1200" b="0" kern="1200" dirty="0">
                <a:solidFill>
                  <a:schemeClr val="tx1"/>
                </a:solidFill>
                <a:effectLst/>
                <a:latin typeface="+mn-lt"/>
                <a:ea typeface="+mn-ea"/>
                <a:cs typeface="+mn-cs"/>
              </a:rPr>
              <a:t> curvas </a:t>
            </a:r>
            <a:r>
              <a:rPr lang="en-US" sz="1200" b="0" kern="1200" dirty="0" err="1">
                <a:solidFill>
                  <a:schemeClr val="tx1"/>
                </a:solidFill>
                <a:effectLst/>
                <a:latin typeface="+mn-lt"/>
                <a:ea typeface="+mn-ea"/>
                <a:cs typeface="+mn-cs"/>
              </a:rPr>
              <a:t>elípticas</a:t>
            </a:r>
            <a:r>
              <a:rPr lang="en-US" sz="1200" b="0" kern="1200" dirty="0">
                <a:solidFill>
                  <a:schemeClr val="tx1"/>
                </a:solidFill>
                <a:effectLst/>
                <a:latin typeface="+mn-lt"/>
                <a:ea typeface="+mn-ea"/>
                <a:cs typeface="+mn-cs"/>
              </a:rPr>
              <a:t> o </a:t>
            </a:r>
            <a:r>
              <a:rPr lang="en-US" sz="1200" b="0" kern="1200" dirty="0" err="1">
                <a:solidFill>
                  <a:schemeClr val="tx1"/>
                </a:solidFill>
                <a:effectLst/>
                <a:latin typeface="+mn-lt"/>
                <a:ea typeface="+mn-ea"/>
                <a:cs typeface="+mn-cs"/>
              </a:rPr>
              <a:t>esquemas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tipo</a:t>
            </a:r>
            <a:r>
              <a:rPr lang="en-US" sz="1200" b="0" kern="1200" dirty="0">
                <a:solidFill>
                  <a:schemeClr val="tx1"/>
                </a:solidFill>
                <a:effectLst/>
                <a:latin typeface="+mn-lt"/>
                <a:ea typeface="+mn-ea"/>
                <a:cs typeface="+mn-cs"/>
              </a:rPr>
              <a:t> RSA. </a:t>
            </a:r>
            <a:r>
              <a:rPr lang="en-US" sz="1200" b="0" kern="1200" dirty="0" err="1">
                <a:solidFill>
                  <a:schemeClr val="tx1"/>
                </a:solidFill>
                <a:effectLst/>
                <a:latin typeface="+mn-lt"/>
                <a:ea typeface="+mn-ea"/>
                <a:cs typeface="+mn-cs"/>
              </a:rPr>
              <a:t>Permite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cualquiera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usando</a:t>
            </a:r>
            <a:r>
              <a:rPr lang="en-US" sz="1200" b="0" kern="1200" dirty="0">
                <a:solidFill>
                  <a:schemeClr val="tx1"/>
                </a:solidFill>
                <a:effectLst/>
                <a:latin typeface="+mn-lt"/>
                <a:ea typeface="+mn-ea"/>
                <a:cs typeface="+mn-cs"/>
              </a:rPr>
              <a:t> la clave </a:t>
            </a:r>
            <a:r>
              <a:rPr lang="en-US" sz="1200" b="0" kern="1200" dirty="0" err="1">
                <a:solidFill>
                  <a:schemeClr val="tx1"/>
                </a:solidFill>
                <a:effectLst/>
                <a:latin typeface="+mn-lt"/>
                <a:ea typeface="+mn-ea"/>
                <a:cs typeface="+mn-cs"/>
              </a:rPr>
              <a:t>pública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pero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tiene</a:t>
            </a:r>
            <a:r>
              <a:rPr lang="en-US" sz="1200" b="0" kern="1200" dirty="0">
                <a:solidFill>
                  <a:schemeClr val="tx1"/>
                </a:solidFill>
                <a:effectLst/>
                <a:latin typeface="+mn-lt"/>
                <a:ea typeface="+mn-ea"/>
                <a:cs typeface="+mn-cs"/>
              </a:rPr>
              <a:t> un </a:t>
            </a:r>
            <a:r>
              <a:rPr lang="en-US" sz="1200" b="0" kern="1200" dirty="0" err="1">
                <a:solidFill>
                  <a:schemeClr val="tx1"/>
                </a:solidFill>
                <a:effectLst/>
                <a:latin typeface="+mn-lt"/>
                <a:ea typeface="+mn-ea"/>
                <a:cs typeface="+mn-cs"/>
              </a:rPr>
              <a:t>costo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computacional</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desproporcionado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Generar</a:t>
            </a:r>
            <a:r>
              <a:rPr lang="en-US" sz="1200" b="0" kern="1200" dirty="0">
                <a:solidFill>
                  <a:schemeClr val="tx1"/>
                </a:solidFill>
                <a:effectLst/>
                <a:latin typeface="+mn-lt"/>
                <a:ea typeface="+mn-ea"/>
                <a:cs typeface="+mn-cs"/>
              </a:rPr>
              <a:t> un trapdoor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SSE </a:t>
            </a:r>
            <a:r>
              <a:rPr lang="en-US" sz="1200" b="0" kern="1200" dirty="0" err="1">
                <a:solidFill>
                  <a:schemeClr val="tx1"/>
                </a:solidFill>
                <a:effectLst/>
                <a:latin typeface="+mn-lt"/>
                <a:ea typeface="+mn-ea"/>
                <a:cs typeface="+mn-cs"/>
              </a:rPr>
              <a:t>requiere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sola </a:t>
            </a:r>
            <a:r>
              <a:rPr lang="en-US" sz="1200" b="0" kern="1200" dirty="0" err="1">
                <a:solidFill>
                  <a:schemeClr val="tx1"/>
                </a:solidFill>
                <a:effectLst/>
                <a:latin typeface="+mn-lt"/>
                <a:ea typeface="+mn-ea"/>
                <a:cs typeface="+mn-cs"/>
              </a:rPr>
              <a:t>evaluación</a:t>
            </a:r>
            <a:r>
              <a:rPr lang="en-US" sz="1200" b="0" kern="1200" dirty="0">
                <a:solidFill>
                  <a:schemeClr val="tx1"/>
                </a:solidFill>
                <a:effectLst/>
                <a:latin typeface="+mn-lt"/>
                <a:ea typeface="+mn-ea"/>
                <a:cs typeface="+mn-cs"/>
              </a:rPr>
              <a:t> de PRF,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tarda</a:t>
            </a:r>
            <a:r>
              <a:rPr lang="en-US" sz="1200" b="0" kern="1200" dirty="0">
                <a:solidFill>
                  <a:schemeClr val="tx1"/>
                </a:solidFill>
                <a:effectLst/>
                <a:latin typeface="+mn-lt"/>
                <a:ea typeface="+mn-ea"/>
                <a:cs typeface="+mn-cs"/>
              </a:rPr>
              <a:t> del </a:t>
            </a:r>
            <a:r>
              <a:rPr lang="en-US" sz="1200" b="0" kern="1200" dirty="0" err="1">
                <a:solidFill>
                  <a:schemeClr val="tx1"/>
                </a:solidFill>
                <a:effectLst/>
                <a:latin typeface="+mn-lt"/>
                <a:ea typeface="+mn-ea"/>
                <a:cs typeface="+mn-cs"/>
              </a:rPr>
              <a:t>orden</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nanosegundos</a:t>
            </a:r>
            <a:r>
              <a:rPr lang="en-US" sz="1200" b="0" kern="1200" dirty="0">
                <a:solidFill>
                  <a:schemeClr val="tx1"/>
                </a:solidFill>
                <a:effectLst/>
                <a:latin typeface="+mn-lt"/>
                <a:ea typeface="+mn-ea"/>
                <a:cs typeface="+mn-cs"/>
              </a:rPr>
              <a:t>. En PEKS, la </a:t>
            </a:r>
            <a:r>
              <a:rPr lang="en-US" sz="1200" b="0" kern="1200" dirty="0" err="1">
                <a:solidFill>
                  <a:schemeClr val="tx1"/>
                </a:solidFill>
                <a:effectLst/>
                <a:latin typeface="+mn-lt"/>
                <a:ea typeface="+mn-ea"/>
                <a:cs typeface="+mn-cs"/>
              </a:rPr>
              <a:t>misma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operación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requiere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operación</a:t>
            </a:r>
            <a:r>
              <a:rPr lang="en-US" sz="1200" b="0" kern="1200" dirty="0">
                <a:solidFill>
                  <a:schemeClr val="tx1"/>
                </a:solidFill>
                <a:effectLst/>
                <a:latin typeface="+mn-lt"/>
                <a:ea typeface="+mn-ea"/>
                <a:cs typeface="+mn-cs"/>
              </a:rPr>
              <a:t> de clave </a:t>
            </a:r>
            <a:r>
              <a:rPr lang="en-US" sz="1200" b="0" kern="1200" dirty="0" err="1">
                <a:solidFill>
                  <a:schemeClr val="tx1"/>
                </a:solidFill>
                <a:effectLst/>
                <a:latin typeface="+mn-lt"/>
                <a:ea typeface="+mn-ea"/>
                <a:cs typeface="+mn-cs"/>
              </a:rPr>
              <a:t>pública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ser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cientos</a:t>
            </a:r>
            <a:r>
              <a:rPr lang="en-US" sz="1200" b="1" kern="1200" dirty="0">
                <a:solidFill>
                  <a:schemeClr val="tx1"/>
                </a:solidFill>
                <a:effectLst/>
                <a:latin typeface="+mn-lt"/>
                <a:ea typeface="+mn-ea"/>
                <a:cs typeface="+mn-cs"/>
              </a:rPr>
              <a:t> a miles de </a:t>
            </a:r>
            <a:r>
              <a:rPr lang="en-US" sz="1200" b="1" kern="1200" dirty="0" err="1">
                <a:solidFill>
                  <a:schemeClr val="tx1"/>
                </a:solidFill>
                <a:effectLst/>
                <a:latin typeface="+mn-lt"/>
                <a:ea typeface="+mn-ea"/>
                <a:cs typeface="+mn-cs"/>
              </a:rPr>
              <a:t>veces</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más</a:t>
            </a:r>
            <a:r>
              <a:rPr lang="en-US" sz="1200" b="1" kern="1200" dirty="0">
                <a:solidFill>
                  <a:schemeClr val="tx1"/>
                </a:solidFill>
                <a:effectLst/>
                <a:latin typeface="+mn-lt"/>
                <a:ea typeface="+mn-ea"/>
                <a:cs typeface="+mn-cs"/>
              </a:rPr>
              <a:t> lenta**</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Pero la </a:t>
            </a:r>
            <a:r>
              <a:rPr lang="en-US" sz="1200" b="0" kern="1200" dirty="0" err="1">
                <a:solidFill>
                  <a:schemeClr val="tx1"/>
                </a:solidFill>
                <a:effectLst/>
                <a:latin typeface="+mn-lt"/>
                <a:ea typeface="+mn-ea"/>
                <a:cs typeface="+mn-cs"/>
              </a:rPr>
              <a:t>diferencia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más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crítica</a:t>
            </a:r>
            <a:r>
              <a:rPr lang="en-US" sz="1200" b="0" kern="1200" dirty="0">
                <a:solidFill>
                  <a:schemeClr val="tx1"/>
                </a:solidFill>
                <a:effectLst/>
                <a:latin typeface="+mn-lt"/>
                <a:ea typeface="+mn-ea"/>
                <a:cs typeface="+mn-cs"/>
              </a:rPr>
              <a:t> es la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complejidad</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búsqueda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SSE </a:t>
            </a:r>
            <a:r>
              <a:rPr lang="en-US" sz="1200" b="0" kern="1200" dirty="0" err="1">
                <a:solidFill>
                  <a:schemeClr val="tx1"/>
                </a:solidFill>
                <a:effectLst/>
                <a:latin typeface="+mn-lt"/>
                <a:ea typeface="+mn-ea"/>
                <a:cs typeface="+mn-cs"/>
              </a:rPr>
              <a:t>logra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búsquedas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sublineales</a:t>
            </a:r>
            <a:r>
              <a:rPr lang="en-US" sz="1200" b="0" kern="1200" dirty="0">
                <a:solidFill>
                  <a:schemeClr val="tx1"/>
                </a:solidFill>
                <a:effectLst/>
                <a:latin typeface="+mn-lt"/>
                <a:ea typeface="+mn-ea"/>
                <a:cs typeface="+mn-cs"/>
              </a:rPr>
              <a:t> — </a:t>
            </a:r>
            <a:r>
              <a:rPr lang="en-US" sz="1200" b="0" kern="1200" dirty="0" err="1">
                <a:solidFill>
                  <a:schemeClr val="tx1"/>
                </a:solidFill>
                <a:effectLst/>
                <a:latin typeface="+mn-lt"/>
                <a:ea typeface="+mn-ea"/>
                <a:cs typeface="+mn-cs"/>
              </a:rPr>
              <a:t>proporcionales</a:t>
            </a:r>
            <a:r>
              <a:rPr lang="en-US" sz="1200" b="0" kern="1200" dirty="0">
                <a:solidFill>
                  <a:schemeClr val="tx1"/>
                </a:solidFill>
                <a:effectLst/>
                <a:latin typeface="+mn-lt"/>
                <a:ea typeface="+mn-ea"/>
                <a:cs typeface="+mn-cs"/>
              </a:rPr>
              <a:t> solo a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documentos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coinciden</a:t>
            </a:r>
            <a:r>
              <a:rPr lang="en-US" sz="1200" b="0" kern="1200" dirty="0">
                <a:solidFill>
                  <a:schemeClr val="tx1"/>
                </a:solidFill>
                <a:effectLst/>
                <a:latin typeface="+mn-lt"/>
                <a:ea typeface="+mn-ea"/>
                <a:cs typeface="+mn-cs"/>
              </a:rPr>
              <a:t> — gracias a la </a:t>
            </a:r>
            <a:r>
              <a:rPr lang="en-US" sz="1200" b="0" kern="1200" dirty="0" err="1">
                <a:solidFill>
                  <a:schemeClr val="tx1"/>
                </a:solidFill>
                <a:effectLst/>
                <a:latin typeface="+mn-lt"/>
                <a:ea typeface="+mn-ea"/>
                <a:cs typeface="+mn-cs"/>
              </a:rPr>
              <a:t>estructura</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invertido</a:t>
            </a:r>
            <a:r>
              <a:rPr lang="en-US" sz="1200" b="0" kern="1200" dirty="0">
                <a:solidFill>
                  <a:schemeClr val="tx1"/>
                </a:solidFill>
                <a:effectLst/>
                <a:latin typeface="+mn-lt"/>
                <a:ea typeface="+mn-ea"/>
                <a:cs typeface="+mn-cs"/>
              </a:rPr>
              <a:t> con </a:t>
            </a:r>
            <a:r>
              <a:rPr lang="en-US" sz="1200" b="0" kern="1200" dirty="0" err="1">
                <a:solidFill>
                  <a:schemeClr val="tx1"/>
                </a:solidFill>
                <a:effectLst/>
                <a:latin typeface="+mn-lt"/>
                <a:ea typeface="+mn-ea"/>
                <a:cs typeface="+mn-cs"/>
              </a:rPr>
              <a:t>listas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enlazadas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cifradas</a:t>
            </a:r>
            <a:r>
              <a:rPr lang="en-US" sz="1200" b="0" kern="1200" dirty="0">
                <a:solidFill>
                  <a:schemeClr val="tx1"/>
                </a:solidFill>
                <a:effectLst/>
                <a:latin typeface="+mn-lt"/>
                <a:ea typeface="+mn-ea"/>
                <a:cs typeface="+mn-cs"/>
              </a:rPr>
              <a:t>. PEKS </a:t>
            </a:r>
            <a:r>
              <a:rPr lang="en-US" sz="1200" b="0" kern="1200" dirty="0" err="1">
                <a:solidFill>
                  <a:schemeClr val="tx1"/>
                </a:solidFill>
                <a:effectLst/>
                <a:latin typeface="+mn-lt"/>
                <a:ea typeface="+mn-ea"/>
                <a:cs typeface="+mn-cs"/>
              </a:rPr>
              <a:t>típicamente</a:t>
            </a:r>
            <a:r>
              <a:rPr lang="en-US" sz="1200" b="0" kern="1200" dirty="0">
                <a:solidFill>
                  <a:schemeClr val="tx1"/>
                </a:solidFill>
                <a:effectLst/>
                <a:latin typeface="+mn-lt"/>
                <a:ea typeface="+mn-ea"/>
                <a:cs typeface="+mn-cs"/>
              </a:rPr>
              <a:t> opera de forma lineal, </a:t>
            </a:r>
            <a:r>
              <a:rPr lang="en-US" sz="1200" b="0" kern="1200" dirty="0" err="1">
                <a:solidFill>
                  <a:schemeClr val="tx1"/>
                </a:solidFill>
                <a:effectLst/>
                <a:latin typeface="+mn-lt"/>
                <a:ea typeface="+mn-ea"/>
                <a:cs typeface="+mn-cs"/>
              </a:rPr>
              <a:t>escaneando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todo</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En </a:t>
            </a:r>
            <a:r>
              <a:rPr lang="en-US" sz="1200" b="0" kern="1200" dirty="0" err="1">
                <a:solidFill>
                  <a:schemeClr val="tx1"/>
                </a:solidFill>
                <a:effectLst/>
                <a:latin typeface="+mn-lt"/>
                <a:ea typeface="+mn-ea"/>
                <a:cs typeface="+mn-cs"/>
              </a:rPr>
              <a:t>términos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prácticos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brecha</a:t>
            </a:r>
            <a:r>
              <a:rPr lang="en-US" sz="1200" b="0" kern="1200" dirty="0">
                <a:solidFill>
                  <a:schemeClr val="tx1"/>
                </a:solidFill>
                <a:effectLst/>
                <a:latin typeface="+mn-lt"/>
                <a:ea typeface="+mn-ea"/>
                <a:cs typeface="+mn-cs"/>
              </a:rPr>
              <a:t> es la </a:t>
            </a:r>
            <a:r>
              <a:rPr lang="en-US" sz="1200" b="0" kern="1200" dirty="0" err="1">
                <a:solidFill>
                  <a:schemeClr val="tx1"/>
                </a:solidFill>
                <a:effectLst/>
                <a:latin typeface="+mn-lt"/>
                <a:ea typeface="+mn-ea"/>
                <a:cs typeface="+mn-cs"/>
              </a:rPr>
              <a:t>diferencia</a:t>
            </a:r>
            <a:r>
              <a:rPr lang="en-US" sz="1200" b="0" kern="1200" dirty="0">
                <a:solidFill>
                  <a:schemeClr val="tx1"/>
                </a:solidFill>
                <a:effectLst/>
                <a:latin typeface="+mn-lt"/>
                <a:ea typeface="+mn-ea"/>
                <a:cs typeface="+mn-cs"/>
              </a:rPr>
              <a:t> entre un </a:t>
            </a:r>
            <a:r>
              <a:rPr lang="en-US" sz="1200" b="0" kern="1200" dirty="0" err="1">
                <a:solidFill>
                  <a:schemeClr val="tx1"/>
                </a:solidFill>
                <a:effectLst/>
                <a:latin typeface="+mn-lt"/>
                <a:ea typeface="+mn-ea"/>
                <a:cs typeface="+mn-cs"/>
              </a:rPr>
              <a:t>sistema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operar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sobre</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millones</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documentos</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en</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producción</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y uno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solo es viable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colecciones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pequeñas</a:t>
            </a:r>
            <a:r>
              <a:rPr lang="en-US" sz="1200" b="0" kern="1200" dirty="0">
                <a:solidFill>
                  <a:schemeClr val="tx1"/>
                </a:solidFill>
                <a:effectLst/>
                <a:latin typeface="+mn-lt"/>
                <a:ea typeface="+mn-ea"/>
                <a:cs typeface="+mn-cs"/>
              </a:rPr>
              <a:t> o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un paper </a:t>
            </a:r>
            <a:r>
              <a:rPr lang="en-US" sz="1200" b="0" kern="1200" dirty="0" err="1">
                <a:solidFill>
                  <a:schemeClr val="tx1"/>
                </a:solidFill>
                <a:effectLst/>
                <a:latin typeface="+mn-lt"/>
                <a:ea typeface="+mn-ea"/>
                <a:cs typeface="+mn-cs"/>
              </a:rPr>
              <a:t>académico</a:t>
            </a:r>
            <a:r>
              <a:rPr lang="en-US" sz="1200" b="0" kern="1200" dirty="0">
                <a:solidFill>
                  <a:schemeClr val="tx1"/>
                </a:solidFill>
                <a:effectLst/>
                <a:latin typeface="+mn-lt"/>
                <a:ea typeface="+mn-ea"/>
                <a:cs typeface="+mn-cs"/>
              </a:rPr>
              <a:t>."</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"Todo el </a:t>
            </a:r>
            <a:r>
              <a:rPr lang="en-US" sz="1200" b="0" kern="1200" dirty="0" err="1">
                <a:solidFill>
                  <a:schemeClr val="tx1"/>
                </a:solidFill>
                <a:effectLst/>
                <a:latin typeface="+mn-lt"/>
                <a:ea typeface="+mn-ea"/>
                <a:cs typeface="+mn-cs"/>
              </a:rPr>
              <a:t>espacio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diseño</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esquemas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búsqueda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visualizarse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sobre</a:t>
            </a:r>
            <a:r>
              <a:rPr lang="en-US" sz="1200" b="0" kern="1200" dirty="0">
                <a:solidFill>
                  <a:schemeClr val="tx1"/>
                </a:solidFill>
                <a:effectLst/>
                <a:latin typeface="+mn-lt"/>
                <a:ea typeface="+mn-ea"/>
                <a:cs typeface="+mn-cs"/>
              </a:rPr>
              <a:t> un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único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eje</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va</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máxima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máxima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eficiencia</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En un extremo </a:t>
            </a:r>
            <a:r>
              <a:rPr lang="en-US" sz="1200" b="0" kern="1200" dirty="0" err="1">
                <a:solidFill>
                  <a:schemeClr val="tx1"/>
                </a:solidFill>
                <a:effectLst/>
                <a:latin typeface="+mn-lt"/>
                <a:ea typeface="+mn-ea"/>
                <a:cs typeface="+mn-cs"/>
              </a:rPr>
              <a:t>tenemos</a:t>
            </a:r>
            <a:r>
              <a:rPr lang="en-US" sz="1200" b="0" kern="1200" dirty="0">
                <a:solidFill>
                  <a:schemeClr val="tx1"/>
                </a:solidFill>
                <a:effectLst/>
                <a:latin typeface="+mn-lt"/>
                <a:ea typeface="+mn-ea"/>
                <a:cs typeface="+mn-cs"/>
              </a:rPr>
              <a:t> </a:t>
            </a:r>
            <a:r>
              <a:rPr lang="en-US" sz="1200" b="1" kern="1200" dirty="0">
                <a:solidFill>
                  <a:schemeClr val="tx1"/>
                </a:solidFill>
                <a:effectLst/>
                <a:latin typeface="+mn-lt"/>
                <a:ea typeface="+mn-ea"/>
                <a:cs typeface="+mn-cs"/>
              </a:rPr>
              <a:t>**ORAM**</a:t>
            </a:r>
            <a:r>
              <a:rPr lang="en-US" sz="1200" b="0" kern="1200" dirty="0">
                <a:solidFill>
                  <a:schemeClr val="tx1"/>
                </a:solidFill>
                <a:effectLst/>
                <a:latin typeface="+mn-lt"/>
                <a:ea typeface="+mn-ea"/>
                <a:cs typeface="+mn-cs"/>
              </a:rPr>
              <a:t> (</a:t>
            </a:r>
            <a:r>
              <a:rPr lang="en-US" sz="1200" b="0" i="1" kern="1200" dirty="0">
                <a:solidFill>
                  <a:schemeClr val="tx1"/>
                </a:solidFill>
                <a:effectLst/>
                <a:latin typeface="+mn-lt"/>
                <a:ea typeface="+mn-ea"/>
                <a:cs typeface="+mn-cs"/>
              </a:rPr>
              <a:t>*Oblivious RAM*</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oculta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completamente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patrón</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acceso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reordenando</a:t>
            </a:r>
            <a:r>
              <a:rPr lang="en-US" sz="1200" b="0" kern="1200" dirty="0">
                <a:solidFill>
                  <a:schemeClr val="tx1"/>
                </a:solidFill>
                <a:effectLst/>
                <a:latin typeface="+mn-lt"/>
                <a:ea typeface="+mn-ea"/>
                <a:cs typeface="+mn-cs"/>
              </a:rPr>
              <a:t> y </a:t>
            </a:r>
            <a:r>
              <a:rPr lang="en-US" sz="1200" b="0" kern="1200" dirty="0" err="1">
                <a:solidFill>
                  <a:schemeClr val="tx1"/>
                </a:solidFill>
                <a:effectLst/>
                <a:latin typeface="+mn-lt"/>
                <a:ea typeface="+mn-ea"/>
                <a:cs typeface="+mn-cs"/>
              </a:rPr>
              <a:t>recifrando</a:t>
            </a:r>
            <a:r>
              <a:rPr lang="en-US" sz="1200" b="0" kern="1200" dirty="0">
                <a:solidFill>
                  <a:schemeClr val="tx1"/>
                </a:solidFill>
                <a:effectLst/>
                <a:latin typeface="+mn-lt"/>
                <a:ea typeface="+mn-ea"/>
                <a:cs typeface="+mn-cs"/>
              </a:rPr>
              <a:t> la memoria del </a:t>
            </a:r>
            <a:r>
              <a:rPr lang="en-US" sz="1200" b="0" kern="1200" dirty="0" err="1">
                <a:solidFill>
                  <a:schemeClr val="tx1"/>
                </a:solidFill>
                <a:effectLst/>
                <a:latin typeface="+mn-lt"/>
                <a:ea typeface="+mn-ea"/>
                <a:cs typeface="+mn-cs"/>
              </a:rPr>
              <a:t>servidor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tras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cada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lectura</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fuga</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prácticamente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nula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pero</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costo</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severo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cada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operación</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lectura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implica</a:t>
            </a:r>
            <a:r>
              <a:rPr lang="en-US" sz="1200" b="0" kern="1200" dirty="0">
                <a:solidFill>
                  <a:schemeClr val="tx1"/>
                </a:solidFill>
                <a:effectLst/>
                <a:latin typeface="+mn-lt"/>
                <a:ea typeface="+mn-ea"/>
                <a:cs typeface="+mn-cs"/>
              </a:rPr>
              <a:t> leer y </a:t>
            </a:r>
            <a:r>
              <a:rPr lang="en-US" sz="1200" b="0" kern="1200" dirty="0" err="1">
                <a:solidFill>
                  <a:schemeClr val="tx1"/>
                </a:solidFill>
                <a:effectLst/>
                <a:latin typeface="+mn-lt"/>
                <a:ea typeface="+mn-ea"/>
                <a:cs typeface="+mn-cs"/>
              </a:rPr>
              <a:t>reescribir</a:t>
            </a:r>
            <a:r>
              <a:rPr lang="en-US" sz="1200" b="0" kern="1200" dirty="0">
                <a:solidFill>
                  <a:schemeClr val="tx1"/>
                </a:solidFill>
                <a:effectLst/>
                <a:latin typeface="+mn-lt"/>
                <a:ea typeface="+mn-ea"/>
                <a:cs typeface="+mn-cs"/>
              </a:rPr>
              <a:t> O(log N) </a:t>
            </a:r>
            <a:r>
              <a:rPr lang="en-US" sz="1200" b="0" kern="1200" dirty="0" err="1">
                <a:solidFill>
                  <a:schemeClr val="tx1"/>
                </a:solidFill>
                <a:effectLst/>
                <a:latin typeface="+mn-lt"/>
                <a:ea typeface="+mn-ea"/>
                <a:cs typeface="+mn-cs"/>
              </a:rPr>
              <a:t>bloques</a:t>
            </a:r>
            <a:r>
              <a:rPr lang="en-US" sz="1200" b="0" kern="1200" dirty="0">
                <a:solidFill>
                  <a:schemeClr val="tx1"/>
                </a:solidFill>
                <a:effectLst/>
                <a:latin typeface="+mn-lt"/>
                <a:ea typeface="+mn-ea"/>
                <a:cs typeface="+mn-cs"/>
              </a:rPr>
              <a:t>, lo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introduce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sobrecarga</a:t>
            </a:r>
            <a:r>
              <a:rPr lang="en-US" sz="1200" b="0" kern="1200" dirty="0">
                <a:solidFill>
                  <a:schemeClr val="tx1"/>
                </a:solidFill>
                <a:effectLst/>
                <a:latin typeface="+mn-lt"/>
                <a:ea typeface="+mn-ea"/>
                <a:cs typeface="+mn-cs"/>
              </a:rPr>
              <a:t> de red </a:t>
            </a:r>
            <a:r>
              <a:rPr lang="en-US" sz="1200" b="0" kern="1200" dirty="0" err="1">
                <a:solidFill>
                  <a:schemeClr val="tx1"/>
                </a:solidFill>
                <a:effectLst/>
                <a:latin typeface="+mn-lt"/>
                <a:ea typeface="+mn-ea"/>
                <a:cs typeface="+mn-cs"/>
              </a:rPr>
              <a:t>prohibitiva</a:t>
            </a:r>
            <a:r>
              <a:rPr lang="en-US" sz="1200" b="0" kern="1200" dirty="0">
                <a:solidFill>
                  <a:schemeClr val="tx1"/>
                </a:solidFill>
                <a:effectLst/>
                <a:latin typeface="+mn-lt"/>
                <a:ea typeface="+mn-ea"/>
                <a:cs typeface="+mn-cs"/>
              </a:rPr>
              <a:t> para </a:t>
            </a:r>
            <a:r>
              <a:rPr lang="en-US" sz="1200" b="0" kern="1200" dirty="0" err="1">
                <a:solidFill>
                  <a:schemeClr val="tx1"/>
                </a:solidFill>
                <a:effectLst/>
                <a:latin typeface="+mn-lt"/>
                <a:ea typeface="+mn-ea"/>
                <a:cs typeface="+mn-cs"/>
              </a:rPr>
              <a:t>muchos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escenarios</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En el </a:t>
            </a:r>
            <a:r>
              <a:rPr lang="en-US" sz="1200" b="0" kern="1200" dirty="0" err="1">
                <a:solidFill>
                  <a:schemeClr val="tx1"/>
                </a:solidFill>
                <a:effectLst/>
                <a:latin typeface="+mn-lt"/>
                <a:ea typeface="+mn-ea"/>
                <a:cs typeface="+mn-cs"/>
              </a:rPr>
              <a:t>otro</a:t>
            </a:r>
            <a:r>
              <a:rPr lang="en-US" sz="1200" b="0" kern="1200" dirty="0">
                <a:solidFill>
                  <a:schemeClr val="tx1"/>
                </a:solidFill>
                <a:effectLst/>
                <a:latin typeface="+mn-lt"/>
                <a:ea typeface="+mn-ea"/>
                <a:cs typeface="+mn-cs"/>
              </a:rPr>
              <a:t> extremo </a:t>
            </a:r>
            <a:r>
              <a:rPr lang="en-US" sz="1200" b="0" kern="1200" dirty="0" err="1">
                <a:solidFill>
                  <a:schemeClr val="tx1"/>
                </a:solidFill>
                <a:effectLst/>
                <a:latin typeface="+mn-lt"/>
                <a:ea typeface="+mn-ea"/>
                <a:cs typeface="+mn-cs"/>
              </a:rPr>
              <a:t>tenemos</a:t>
            </a:r>
            <a:r>
              <a:rPr lang="en-US" sz="1200" b="0" kern="1200" dirty="0">
                <a:solidFill>
                  <a:schemeClr val="tx1"/>
                </a:solidFill>
                <a:effectLst/>
                <a:latin typeface="+mn-lt"/>
                <a:ea typeface="+mn-ea"/>
                <a:cs typeface="+mn-cs"/>
              </a:rPr>
              <a:t> el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cifrado</a:t>
            </a:r>
            <a:r>
              <a:rPr lang="en-US" sz="1200" b="1" kern="1200" dirty="0">
                <a:solidFill>
                  <a:schemeClr val="tx1"/>
                </a:solidFill>
                <a:effectLst/>
                <a:latin typeface="+mn-lt"/>
                <a:ea typeface="+mn-ea"/>
                <a:cs typeface="+mn-cs"/>
              </a:rPr>
              <a:t> </a:t>
            </a:r>
            <a:r>
              <a:rPr lang="en-US" sz="1200" b="1" kern="1200" dirty="0" err="1">
                <a:solidFill>
                  <a:schemeClr val="tx1"/>
                </a:solidFill>
                <a:effectLst/>
                <a:latin typeface="+mn-lt"/>
                <a:ea typeface="+mn-ea"/>
                <a:cs typeface="+mn-cs"/>
              </a:rPr>
              <a:t>determinista</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extremadamente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eficiente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pero</a:t>
            </a:r>
            <a:r>
              <a:rPr lang="en-US" sz="1200" b="0" kern="1200" dirty="0">
                <a:solidFill>
                  <a:schemeClr val="tx1"/>
                </a:solidFill>
                <a:effectLst/>
                <a:latin typeface="+mn-lt"/>
                <a:ea typeface="+mn-ea"/>
                <a:cs typeface="+mn-cs"/>
              </a:rPr>
              <a:t> filtra </a:t>
            </a:r>
            <a:r>
              <a:rPr lang="en-US" sz="1200" b="0" kern="1200" dirty="0" err="1">
                <a:solidFill>
                  <a:schemeClr val="tx1"/>
                </a:solidFill>
                <a:effectLst/>
                <a:latin typeface="+mn-lt"/>
                <a:ea typeface="+mn-ea"/>
                <a:cs typeface="+mn-cs"/>
              </a:rPr>
              <a:t>toda</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distribución</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frecuencias</a:t>
            </a:r>
            <a:r>
              <a:rPr lang="en-US" sz="1200" b="0" kern="1200" dirty="0">
                <a:solidFill>
                  <a:schemeClr val="tx1"/>
                </a:solidFill>
                <a:effectLst/>
                <a:latin typeface="+mn-lt"/>
                <a:ea typeface="+mn-ea"/>
                <a:cs typeface="+mn-cs"/>
              </a:rPr>
              <a:t> de las palabras, </a:t>
            </a:r>
            <a:r>
              <a:rPr lang="en-US" sz="1200" b="0" kern="1200" dirty="0" err="1">
                <a:solidFill>
                  <a:schemeClr val="tx1"/>
                </a:solidFill>
                <a:effectLst/>
                <a:latin typeface="+mn-lt"/>
                <a:ea typeface="+mn-ea"/>
                <a:cs typeface="+mn-cs"/>
              </a:rPr>
              <a:t>destruyendo</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semántica</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SSE-1 y SSE-2 se </a:t>
            </a:r>
            <a:r>
              <a:rPr lang="en-US" sz="1200" b="0" kern="1200" dirty="0" err="1">
                <a:solidFill>
                  <a:schemeClr val="tx1"/>
                </a:solidFill>
                <a:effectLst/>
                <a:latin typeface="+mn-lt"/>
                <a:ea typeface="+mn-ea"/>
                <a:cs typeface="+mn-cs"/>
              </a:rPr>
              <a:t>ubican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un </a:t>
            </a:r>
            <a:r>
              <a:rPr lang="en-US" sz="1200" b="1" kern="1200" dirty="0">
                <a:solidFill>
                  <a:schemeClr val="tx1"/>
                </a:solidFill>
                <a:effectLst/>
                <a:latin typeface="+mn-lt"/>
                <a:ea typeface="+mn-ea"/>
                <a:cs typeface="+mn-cs"/>
              </a:rPr>
              <a:t>**punto medio </a:t>
            </a:r>
            <a:r>
              <a:rPr lang="en-US" sz="1200" b="1" kern="1200" dirty="0" err="1">
                <a:solidFill>
                  <a:schemeClr val="tx1"/>
                </a:solidFill>
                <a:effectLst/>
                <a:latin typeface="+mn-lt"/>
                <a:ea typeface="+mn-ea"/>
                <a:cs typeface="+mn-cs"/>
              </a:rPr>
              <a:t>diseñado</a:t>
            </a:r>
            <a:r>
              <a:rPr lang="en-US" sz="1200" b="1" kern="1200" dirty="0">
                <a:solidFill>
                  <a:schemeClr val="tx1"/>
                </a:solidFill>
                <a:effectLst/>
                <a:latin typeface="+mn-lt"/>
                <a:ea typeface="+mn-ea"/>
                <a:cs typeface="+mn-cs"/>
              </a:rPr>
              <a:t> con </a:t>
            </a:r>
            <a:r>
              <a:rPr lang="en-US" sz="1200" b="1" kern="1200" dirty="0" err="1">
                <a:solidFill>
                  <a:schemeClr val="tx1"/>
                </a:solidFill>
                <a:effectLst/>
                <a:latin typeface="+mn-lt"/>
                <a:ea typeface="+mn-ea"/>
                <a:cs typeface="+mn-cs"/>
              </a:rPr>
              <a:t>precisión</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Las </a:t>
            </a:r>
            <a:r>
              <a:rPr lang="en-US" sz="1200" b="0" kern="1200" dirty="0" err="1">
                <a:solidFill>
                  <a:schemeClr val="tx1"/>
                </a:solidFill>
                <a:effectLst/>
                <a:latin typeface="+mn-lt"/>
                <a:ea typeface="+mn-ea"/>
                <a:cs typeface="+mn-cs"/>
              </a:rPr>
              <a:t>primitivas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simétricas</a:t>
            </a:r>
            <a:r>
              <a:rPr lang="en-US" sz="1200" b="0" kern="1200" dirty="0">
                <a:solidFill>
                  <a:schemeClr val="tx1"/>
                </a:solidFill>
                <a:effectLst/>
                <a:latin typeface="+mn-lt"/>
                <a:ea typeface="+mn-ea"/>
                <a:cs typeface="+mn-cs"/>
              </a:rPr>
              <a:t> PRF y PRP </a:t>
            </a:r>
            <a:r>
              <a:rPr lang="en-US" sz="1200" b="0" kern="1200" dirty="0" err="1">
                <a:solidFill>
                  <a:schemeClr val="tx1"/>
                </a:solidFill>
                <a:effectLst/>
                <a:latin typeface="+mn-lt"/>
                <a:ea typeface="+mn-ea"/>
                <a:cs typeface="+mn-cs"/>
              </a:rPr>
              <a:t>proveen</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velocidad</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estructura</a:t>
            </a:r>
            <a:r>
              <a:rPr lang="en-US" sz="1200" b="0" kern="1200" dirty="0">
                <a:solidFill>
                  <a:schemeClr val="tx1"/>
                </a:solidFill>
                <a:effectLst/>
                <a:latin typeface="+mn-lt"/>
                <a:ea typeface="+mn-ea"/>
                <a:cs typeface="+mn-cs"/>
              </a:rPr>
              <a:t> del </a:t>
            </a:r>
            <a:r>
              <a:rPr lang="en-US" sz="1200" b="0" kern="1200" dirty="0" err="1">
                <a:solidFill>
                  <a:schemeClr val="tx1"/>
                </a:solidFill>
                <a:effectLst/>
                <a:latin typeface="+mn-lt"/>
                <a:ea typeface="+mn-ea"/>
                <a:cs typeface="+mn-cs"/>
              </a:rPr>
              <a:t>índice</a:t>
            </a:r>
            <a:r>
              <a:rPr lang="en-US" sz="1200" b="0" kern="1200" dirty="0">
                <a:solidFill>
                  <a:schemeClr val="tx1"/>
                </a:solidFill>
                <a:effectLst/>
                <a:latin typeface="+mn-lt"/>
                <a:ea typeface="+mn-ea"/>
                <a:cs typeface="+mn-cs"/>
              </a:rPr>
              <a:t> — la </a:t>
            </a:r>
            <a:r>
              <a:rPr lang="en-US" sz="1200" b="0" kern="1200" dirty="0" err="1">
                <a:solidFill>
                  <a:schemeClr val="tx1"/>
                </a:solidFill>
                <a:effectLst/>
                <a:latin typeface="+mn-lt"/>
                <a:ea typeface="+mn-ea"/>
                <a:cs typeface="+mn-cs"/>
              </a:rPr>
              <a:t>tabla</a:t>
            </a:r>
            <a:r>
              <a:rPr lang="en-US" sz="1200" b="0" kern="1200" dirty="0">
                <a:solidFill>
                  <a:schemeClr val="tx1"/>
                </a:solidFill>
                <a:effectLst/>
                <a:latin typeface="+mn-lt"/>
                <a:ea typeface="+mn-ea"/>
                <a:cs typeface="+mn-cs"/>
              </a:rPr>
              <a:t> T y el </a:t>
            </a:r>
            <a:r>
              <a:rPr lang="en-US" sz="1200" b="0" kern="1200" dirty="0" err="1">
                <a:solidFill>
                  <a:schemeClr val="tx1"/>
                </a:solidFill>
                <a:effectLst/>
                <a:latin typeface="+mn-lt"/>
                <a:ea typeface="+mn-ea"/>
                <a:cs typeface="+mn-cs"/>
              </a:rPr>
              <a:t>arreglo</a:t>
            </a:r>
            <a:r>
              <a:rPr lang="en-US" sz="1200" b="0" kern="1200" dirty="0">
                <a:solidFill>
                  <a:schemeClr val="tx1"/>
                </a:solidFill>
                <a:effectLst/>
                <a:latin typeface="+mn-lt"/>
                <a:ea typeface="+mn-ea"/>
                <a:cs typeface="+mn-cs"/>
              </a:rPr>
              <a:t> A — es la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determina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exactamente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información</a:t>
            </a:r>
            <a:r>
              <a:rPr lang="en-US" sz="1200" b="0" kern="1200" dirty="0">
                <a:solidFill>
                  <a:schemeClr val="tx1"/>
                </a:solidFill>
                <a:effectLst/>
                <a:latin typeface="+mn-lt"/>
                <a:ea typeface="+mn-ea"/>
                <a:cs typeface="+mn-cs"/>
              </a:rPr>
              <a:t> se filtra y </a:t>
            </a:r>
            <a:r>
              <a:rPr lang="en-US" sz="1200" b="0" kern="1200" dirty="0" err="1">
                <a:solidFill>
                  <a:schemeClr val="tx1"/>
                </a:solidFill>
                <a:effectLst/>
                <a:latin typeface="+mn-lt"/>
                <a:ea typeface="+mn-ea"/>
                <a:cs typeface="+mn-cs"/>
              </a:rPr>
              <a:t>qué</a:t>
            </a:r>
            <a:r>
              <a:rPr lang="en-US" sz="1200" b="0" kern="1200" dirty="0">
                <a:solidFill>
                  <a:schemeClr val="tx1"/>
                </a:solidFill>
                <a:effectLst/>
                <a:latin typeface="+mn-lt"/>
                <a:ea typeface="+mn-ea"/>
                <a:cs typeface="+mn-cs"/>
              </a:rPr>
              <a:t> se </a:t>
            </a:r>
            <a:r>
              <a:rPr lang="en-US" sz="1200" b="0" kern="1200" dirty="0" err="1">
                <a:solidFill>
                  <a:schemeClr val="tx1"/>
                </a:solidFill>
                <a:effectLst/>
                <a:latin typeface="+mn-lt"/>
                <a:ea typeface="+mn-ea"/>
                <a:cs typeface="+mn-cs"/>
              </a:rPr>
              <a:t>oculta</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innovación</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está</a:t>
            </a:r>
            <a:r>
              <a:rPr lang="en-US" sz="1200" b="0" kern="1200" dirty="0">
                <a:solidFill>
                  <a:schemeClr val="tx1"/>
                </a:solidFill>
                <a:effectLst/>
                <a:latin typeface="+mn-lt"/>
                <a:ea typeface="+mn-ea"/>
                <a:cs typeface="+mn-cs"/>
              </a:rPr>
              <a:t> solo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criptografía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sino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el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diseño</a:t>
            </a:r>
            <a:r>
              <a:rPr lang="en-US" sz="1200" b="1" kern="1200" dirty="0">
                <a:solidFill>
                  <a:schemeClr val="tx1"/>
                </a:solidFill>
                <a:effectLst/>
                <a:latin typeface="+mn-lt"/>
                <a:ea typeface="+mn-ea"/>
                <a:cs typeface="+mn-cs"/>
              </a:rPr>
              <a:t> de la </a:t>
            </a:r>
            <a:r>
              <a:rPr lang="en-US" sz="1200" b="1" kern="1200" dirty="0" err="1">
                <a:solidFill>
                  <a:schemeClr val="tx1"/>
                </a:solidFill>
                <a:effectLst/>
                <a:latin typeface="+mn-lt"/>
                <a:ea typeface="+mn-ea"/>
                <a:cs typeface="+mn-cs"/>
              </a:rPr>
              <a:t>estructura</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datos</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acompaña</a:t>
            </a:r>
            <a:r>
              <a:rPr lang="en-US" sz="1200" b="0" kern="1200" dirty="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kern="1200" dirty="0">
                <a:solidFill>
                  <a:schemeClr val="tx1"/>
                </a:solidFill>
                <a:effectLst/>
                <a:latin typeface="+mn-lt"/>
                <a:ea typeface="+mn-ea"/>
                <a:cs typeface="+mn-cs"/>
              </a:rPr>
              <a:t>&gt; "Para </a:t>
            </a:r>
            <a:r>
              <a:rPr lang="en-US" sz="1200" b="0" kern="1200" dirty="0" err="1">
                <a:solidFill>
                  <a:schemeClr val="tx1"/>
                </a:solidFill>
                <a:effectLst/>
                <a:latin typeface="+mn-lt"/>
                <a:ea typeface="+mn-ea"/>
                <a:cs typeface="+mn-cs"/>
              </a:rPr>
              <a:t>cerrar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quiero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sintetizar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cuatro </a:t>
            </a:r>
            <a:r>
              <a:rPr lang="en-US" sz="1200" b="0" kern="1200" dirty="0" err="1">
                <a:solidFill>
                  <a:schemeClr val="tx1"/>
                </a:solidFill>
                <a:effectLst/>
                <a:latin typeface="+mn-lt"/>
                <a:ea typeface="+mn-ea"/>
                <a:cs typeface="+mn-cs"/>
              </a:rPr>
              <a:t>mensajes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principales</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esta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presentación</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a:t>
            </a:r>
            <a:r>
              <a:rPr lang="en-US" sz="1200" b="1" kern="1200" dirty="0">
                <a:solidFill>
                  <a:schemeClr val="tx1"/>
                </a:solidFill>
                <a:effectLst/>
                <a:latin typeface="+mn-lt"/>
                <a:ea typeface="+mn-ea"/>
                <a:cs typeface="+mn-cs"/>
              </a:rPr>
              <a:t>**Primero**</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simétrico</a:t>
            </a:r>
            <a:r>
              <a:rPr lang="en-US" sz="1200" b="0" kern="1200" dirty="0">
                <a:solidFill>
                  <a:schemeClr val="tx1"/>
                </a:solidFill>
                <a:effectLst/>
                <a:latin typeface="+mn-lt"/>
                <a:ea typeface="+mn-ea"/>
                <a:cs typeface="+mn-cs"/>
              </a:rPr>
              <a:t> no es un </a:t>
            </a:r>
            <a:r>
              <a:rPr lang="en-US" sz="1200" b="0" kern="1200" dirty="0" err="1">
                <a:solidFill>
                  <a:schemeClr val="tx1"/>
                </a:solidFill>
                <a:effectLst/>
                <a:latin typeface="+mn-lt"/>
                <a:ea typeface="+mn-ea"/>
                <a:cs typeface="+mn-cs"/>
              </a:rPr>
              <a:t>detalle</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implementación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menor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dentro</a:t>
            </a:r>
            <a:r>
              <a:rPr lang="en-US" sz="1200" b="0" kern="1200" dirty="0">
                <a:solidFill>
                  <a:schemeClr val="tx1"/>
                </a:solidFill>
                <a:effectLst/>
                <a:latin typeface="+mn-lt"/>
                <a:ea typeface="+mn-ea"/>
                <a:cs typeface="+mn-cs"/>
              </a:rPr>
              <a:t> de SSE. Es </a:t>
            </a:r>
            <a:r>
              <a:rPr lang="en-US" sz="1200" b="0" kern="1200" dirty="0" err="1">
                <a:solidFill>
                  <a:schemeClr val="tx1"/>
                </a:solidFill>
                <a:effectLst/>
                <a:latin typeface="+mn-lt"/>
                <a:ea typeface="+mn-ea"/>
                <a:cs typeface="+mn-cs"/>
              </a:rPr>
              <a:t>literalmente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razón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búsqueda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sobre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datos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cifrados</a:t>
            </a:r>
            <a:r>
              <a:rPr lang="en-US" sz="1200" b="0" kern="1200" dirty="0">
                <a:solidFill>
                  <a:schemeClr val="tx1"/>
                </a:solidFill>
                <a:effectLst/>
                <a:latin typeface="+mn-lt"/>
                <a:ea typeface="+mn-ea"/>
                <a:cs typeface="+mn-cs"/>
              </a:rPr>
              <a:t> es viable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práctica</a:t>
            </a:r>
            <a:r>
              <a:rPr lang="en-US" sz="1200" b="0" kern="1200" dirty="0">
                <a:solidFill>
                  <a:schemeClr val="tx1"/>
                </a:solidFill>
                <a:effectLst/>
                <a:latin typeface="+mn-lt"/>
                <a:ea typeface="+mn-ea"/>
                <a:cs typeface="+mn-cs"/>
              </a:rPr>
              <a:t> y no solo un </a:t>
            </a:r>
            <a:r>
              <a:rPr lang="en-US" sz="1200" b="0" kern="1200" dirty="0" err="1">
                <a:solidFill>
                  <a:schemeClr val="tx1"/>
                </a:solidFill>
                <a:effectLst/>
                <a:latin typeface="+mn-lt"/>
                <a:ea typeface="+mn-ea"/>
                <a:cs typeface="+mn-cs"/>
              </a:rPr>
              <a:t>resultado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teórico</a:t>
            </a:r>
            <a:r>
              <a:rPr lang="en-US" sz="1200" b="0" kern="1200" dirty="0">
                <a:solidFill>
                  <a:schemeClr val="tx1"/>
                </a:solidFill>
                <a:effectLst/>
                <a:latin typeface="+mn-lt"/>
                <a:ea typeface="+mn-ea"/>
                <a:cs typeface="+mn-cs"/>
              </a:rPr>
              <a:t>. Las </a:t>
            </a:r>
            <a:r>
              <a:rPr lang="en-US" sz="1200" b="0" kern="1200" dirty="0" err="1">
                <a:solidFill>
                  <a:schemeClr val="tx1"/>
                </a:solidFill>
                <a:effectLst/>
                <a:latin typeface="+mn-lt"/>
                <a:ea typeface="+mn-ea"/>
                <a:cs typeface="+mn-cs"/>
              </a:rPr>
              <a:t>funciones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pseudoaleatorias</a:t>
            </a:r>
            <a:r>
              <a:rPr lang="en-US" sz="1200" b="0" kern="1200" dirty="0">
                <a:solidFill>
                  <a:schemeClr val="tx1"/>
                </a:solidFill>
                <a:effectLst/>
                <a:latin typeface="+mn-lt"/>
                <a:ea typeface="+mn-ea"/>
                <a:cs typeface="+mn-cs"/>
              </a:rPr>
              <a:t> y las </a:t>
            </a:r>
            <a:r>
              <a:rPr lang="en-US" sz="1200" b="0" kern="1200" dirty="0" err="1">
                <a:solidFill>
                  <a:schemeClr val="tx1"/>
                </a:solidFill>
                <a:effectLst/>
                <a:latin typeface="+mn-lt"/>
                <a:ea typeface="+mn-ea"/>
                <a:cs typeface="+mn-cs"/>
              </a:rPr>
              <a:t>permutaciones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pseudoaleatorias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proveen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velocidad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el </a:t>
            </a:r>
            <a:r>
              <a:rPr lang="en-US" sz="1200" b="0" kern="1200" dirty="0" err="1">
                <a:solidFill>
                  <a:schemeClr val="tx1"/>
                </a:solidFill>
                <a:effectLst/>
                <a:latin typeface="+mn-lt"/>
                <a:ea typeface="+mn-ea"/>
                <a:cs typeface="+mn-cs"/>
              </a:rPr>
              <a:t>cifrado</a:t>
            </a:r>
            <a:r>
              <a:rPr lang="en-US" sz="1200" b="0" kern="1200" dirty="0">
                <a:solidFill>
                  <a:schemeClr val="tx1"/>
                </a:solidFill>
                <a:effectLst/>
                <a:latin typeface="+mn-lt"/>
                <a:ea typeface="+mn-ea"/>
                <a:cs typeface="+mn-cs"/>
              </a:rPr>
              <a:t> de clave </a:t>
            </a:r>
            <a:r>
              <a:rPr lang="en-US" sz="1200" b="0" kern="1200" dirty="0" err="1">
                <a:solidFill>
                  <a:schemeClr val="tx1"/>
                </a:solidFill>
                <a:effectLst/>
                <a:latin typeface="+mn-lt"/>
                <a:ea typeface="+mn-ea"/>
                <a:cs typeface="+mn-cs"/>
              </a:rPr>
              <a:t>pública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simplemente</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puede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ofrecer</a:t>
            </a:r>
            <a:r>
              <a:rPr lang="en-US" sz="1200" b="0" kern="1200" dirty="0">
                <a:solidFill>
                  <a:schemeClr val="tx1"/>
                </a:solidFill>
                <a:effectLst/>
                <a:latin typeface="+mn-lt"/>
                <a:ea typeface="+mn-ea"/>
                <a:cs typeface="+mn-cs"/>
              </a:rPr>
              <a:t> a </a:t>
            </a:r>
            <a:r>
              <a:rPr lang="en-US" sz="1200" b="0" kern="1200" dirty="0" err="1">
                <a:solidFill>
                  <a:schemeClr val="tx1"/>
                </a:solidFill>
                <a:effectLst/>
                <a:latin typeface="+mn-lt"/>
                <a:ea typeface="+mn-ea"/>
                <a:cs typeface="+mn-cs"/>
              </a:rPr>
              <a:t>escala</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a:t>
            </a:r>
            <a:r>
              <a:rPr lang="en-US" sz="1200" b="1" kern="1200" dirty="0">
                <a:solidFill>
                  <a:schemeClr val="tx1"/>
                </a:solidFill>
                <a:effectLst/>
                <a:latin typeface="+mn-lt"/>
                <a:ea typeface="+mn-ea"/>
                <a:cs typeface="+mn-cs"/>
              </a:rPr>
              <a:t>**Segundo**</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de SSE no la da </a:t>
            </a:r>
            <a:r>
              <a:rPr lang="en-US" sz="1200" b="0" kern="1200" dirty="0" err="1">
                <a:solidFill>
                  <a:schemeClr val="tx1"/>
                </a:solidFill>
                <a:effectLst/>
                <a:latin typeface="+mn-lt"/>
                <a:ea typeface="+mn-ea"/>
                <a:cs typeface="+mn-cs"/>
              </a:rPr>
              <a:t>únicamente</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primitiva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criptográfica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sino</a:t>
            </a:r>
            <a:r>
              <a:rPr lang="en-US" sz="1200" b="0" kern="1200" dirty="0">
                <a:solidFill>
                  <a:schemeClr val="tx1"/>
                </a:solidFill>
                <a:effectLst/>
                <a:latin typeface="+mn-lt"/>
                <a:ea typeface="+mn-ea"/>
                <a:cs typeface="+mn-cs"/>
              </a:rPr>
              <a:t> el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diseño</a:t>
            </a:r>
            <a:r>
              <a:rPr lang="en-US" sz="1200" b="1" kern="1200" dirty="0">
                <a:solidFill>
                  <a:schemeClr val="tx1"/>
                </a:solidFill>
                <a:effectLst/>
                <a:latin typeface="+mn-lt"/>
                <a:ea typeface="+mn-ea"/>
                <a:cs typeface="+mn-cs"/>
              </a:rPr>
              <a:t> de la </a:t>
            </a:r>
            <a:r>
              <a:rPr lang="en-US" sz="1200" b="1" kern="1200" dirty="0" err="1">
                <a:solidFill>
                  <a:schemeClr val="tx1"/>
                </a:solidFill>
                <a:effectLst/>
                <a:latin typeface="+mn-lt"/>
                <a:ea typeface="+mn-ea"/>
                <a:cs typeface="+mn-cs"/>
              </a:rPr>
              <a:t>estructura</a:t>
            </a:r>
            <a:r>
              <a:rPr lang="en-US" sz="1200" b="1" kern="1200" dirty="0">
                <a:solidFill>
                  <a:schemeClr val="tx1"/>
                </a:solidFill>
                <a:effectLst/>
                <a:latin typeface="+mn-lt"/>
                <a:ea typeface="+mn-ea"/>
                <a:cs typeface="+mn-cs"/>
              </a:rPr>
              <a:t> de </a:t>
            </a:r>
            <a:r>
              <a:rPr lang="en-US" sz="1200" b="1" kern="1200" dirty="0" err="1">
                <a:solidFill>
                  <a:schemeClr val="tx1"/>
                </a:solidFill>
                <a:effectLst/>
                <a:latin typeface="+mn-lt"/>
                <a:ea typeface="+mn-ea"/>
                <a:cs typeface="+mn-cs"/>
              </a:rPr>
              <a:t>datos</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La </a:t>
            </a:r>
            <a:r>
              <a:rPr lang="en-US" sz="1200" b="0" kern="1200" dirty="0" err="1">
                <a:solidFill>
                  <a:schemeClr val="tx1"/>
                </a:solidFill>
                <a:effectLst/>
                <a:latin typeface="+mn-lt"/>
                <a:ea typeface="+mn-ea"/>
                <a:cs typeface="+mn-cs"/>
              </a:rPr>
              <a:t>tabla</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búsqueda</a:t>
            </a:r>
            <a:r>
              <a:rPr lang="en-US" sz="1200" b="0" kern="1200" dirty="0">
                <a:solidFill>
                  <a:schemeClr val="tx1"/>
                </a:solidFill>
                <a:effectLst/>
                <a:latin typeface="+mn-lt"/>
                <a:ea typeface="+mn-ea"/>
                <a:cs typeface="+mn-cs"/>
              </a:rPr>
              <a:t> T y el </a:t>
            </a:r>
            <a:r>
              <a:rPr lang="en-US" sz="1200" b="0" kern="1200" dirty="0" err="1">
                <a:solidFill>
                  <a:schemeClr val="tx1"/>
                </a:solidFill>
                <a:effectLst/>
                <a:latin typeface="+mn-lt"/>
                <a:ea typeface="+mn-ea"/>
                <a:cs typeface="+mn-cs"/>
              </a:rPr>
              <a:t>arreglo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enlazado</a:t>
            </a:r>
            <a:r>
              <a:rPr lang="en-US" sz="1200" b="0" kern="1200" dirty="0">
                <a:solidFill>
                  <a:schemeClr val="tx1"/>
                </a:solidFill>
                <a:effectLst/>
                <a:latin typeface="+mn-lt"/>
                <a:ea typeface="+mn-ea"/>
                <a:cs typeface="+mn-cs"/>
              </a:rPr>
              <a:t> A son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determinan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exactamente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qué</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información</a:t>
            </a:r>
            <a:r>
              <a:rPr lang="en-US" sz="1200" b="0" kern="1200" dirty="0">
                <a:solidFill>
                  <a:schemeClr val="tx1"/>
                </a:solidFill>
                <a:effectLst/>
                <a:latin typeface="+mn-lt"/>
                <a:ea typeface="+mn-ea"/>
                <a:cs typeface="+mn-cs"/>
              </a:rPr>
              <a:t> se filtra y </a:t>
            </a:r>
            <a:r>
              <a:rPr lang="en-US" sz="1200" b="0" kern="1200" dirty="0" err="1">
                <a:solidFill>
                  <a:schemeClr val="tx1"/>
                </a:solidFill>
                <a:effectLst/>
                <a:latin typeface="+mn-lt"/>
                <a:ea typeface="+mn-ea"/>
                <a:cs typeface="+mn-cs"/>
              </a:rPr>
              <a:t>cuánto</a:t>
            </a:r>
            <a:r>
              <a:rPr lang="en-US" sz="1200" b="0" kern="1200" dirty="0">
                <a:solidFill>
                  <a:schemeClr val="tx1"/>
                </a:solidFill>
                <a:effectLst/>
                <a:latin typeface="+mn-lt"/>
                <a:ea typeface="+mn-ea"/>
                <a:cs typeface="+mn-cs"/>
              </a:rPr>
              <a:t> se </a:t>
            </a:r>
            <a:r>
              <a:rPr lang="en-US" sz="1200" b="0" kern="1200" dirty="0" err="1">
                <a:solidFill>
                  <a:schemeClr val="tx1"/>
                </a:solidFill>
                <a:effectLst/>
                <a:latin typeface="+mn-lt"/>
                <a:ea typeface="+mn-ea"/>
                <a:cs typeface="+mn-cs"/>
              </a:rPr>
              <a:t>acota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fuga</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a:t>
            </a:r>
            <a:r>
              <a:rPr lang="en-US" sz="1200" b="1" kern="1200" dirty="0">
                <a:solidFill>
                  <a:schemeClr val="tx1"/>
                </a:solidFill>
                <a:effectLst/>
                <a:latin typeface="+mn-lt"/>
                <a:ea typeface="+mn-ea"/>
                <a:cs typeface="+mn-cs"/>
              </a:rPr>
              <a:t>**Tercero**</a:t>
            </a:r>
            <a:r>
              <a:rPr lang="en-US" sz="1200" b="0" kern="1200" dirty="0">
                <a:solidFill>
                  <a:schemeClr val="tx1"/>
                </a:solidFill>
                <a:effectLst/>
                <a:latin typeface="+mn-lt"/>
                <a:ea typeface="+mn-ea"/>
                <a:cs typeface="+mn-cs"/>
              </a:rPr>
              <a:t>, SSE-2 </a:t>
            </a:r>
            <a:r>
              <a:rPr lang="en-US" sz="1200" b="0" kern="1200" dirty="0" err="1">
                <a:solidFill>
                  <a:schemeClr val="tx1"/>
                </a:solidFill>
                <a:effectLst/>
                <a:latin typeface="+mn-lt"/>
                <a:ea typeface="+mn-ea"/>
                <a:cs typeface="+mn-cs"/>
              </a:rPr>
              <a:t>demuestra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es </a:t>
            </a:r>
            <a:r>
              <a:rPr lang="en-US" sz="1200" b="0" kern="1200" dirty="0" err="1">
                <a:solidFill>
                  <a:schemeClr val="tx1"/>
                </a:solidFill>
                <a:effectLst/>
                <a:latin typeface="+mn-lt"/>
                <a:ea typeface="+mn-ea"/>
                <a:cs typeface="+mn-cs"/>
              </a:rPr>
              <a:t>posible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alcanzar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adaptativa</a:t>
            </a:r>
            <a:r>
              <a:rPr lang="en-US" sz="1200" b="0" kern="1200" dirty="0">
                <a:solidFill>
                  <a:schemeClr val="tx1"/>
                </a:solidFill>
                <a:effectLst/>
                <a:latin typeface="+mn-lt"/>
                <a:ea typeface="+mn-ea"/>
                <a:cs typeface="+mn-cs"/>
              </a:rPr>
              <a:t> — el </a:t>
            </a:r>
            <a:r>
              <a:rPr lang="en-US" sz="1200" b="0" kern="1200" dirty="0" err="1">
                <a:solidFill>
                  <a:schemeClr val="tx1"/>
                </a:solidFill>
                <a:effectLst/>
                <a:latin typeface="+mn-lt"/>
                <a:ea typeface="+mn-ea"/>
                <a:cs typeface="+mn-cs"/>
              </a:rPr>
              <a:t>modelo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refleja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cómo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operan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los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servidores</a:t>
            </a:r>
            <a:r>
              <a:rPr lang="en-US" sz="1200" b="0" kern="1200" dirty="0">
                <a:solidFill>
                  <a:schemeClr val="tx1"/>
                </a:solidFill>
                <a:effectLst/>
                <a:latin typeface="+mn-lt"/>
                <a:ea typeface="+mn-ea"/>
                <a:cs typeface="+mn-cs"/>
              </a:rPr>
              <a:t> reales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producción</a:t>
            </a:r>
            <a:r>
              <a:rPr lang="en-US" sz="1200" b="0" kern="1200" dirty="0">
                <a:solidFill>
                  <a:schemeClr val="tx1"/>
                </a:solidFill>
                <a:effectLst/>
                <a:latin typeface="+mn-lt"/>
                <a:ea typeface="+mn-ea"/>
                <a:cs typeface="+mn-cs"/>
              </a:rPr>
              <a:t> — sin </a:t>
            </a:r>
            <a:r>
              <a:rPr lang="en-US" sz="1200" b="0" kern="1200" dirty="0" err="1">
                <a:solidFill>
                  <a:schemeClr val="tx1"/>
                </a:solidFill>
                <a:effectLst/>
                <a:latin typeface="+mn-lt"/>
                <a:ea typeface="+mn-ea"/>
                <a:cs typeface="+mn-cs"/>
              </a:rPr>
              <a:t>abandonar</a:t>
            </a:r>
            <a:r>
              <a:rPr lang="en-US" sz="1200" b="0" kern="1200" dirty="0">
                <a:solidFill>
                  <a:schemeClr val="tx1"/>
                </a:solidFill>
                <a:effectLst/>
                <a:latin typeface="+mn-lt"/>
                <a:ea typeface="+mn-ea"/>
                <a:cs typeface="+mn-cs"/>
              </a:rPr>
              <a:t> las </a:t>
            </a:r>
            <a:r>
              <a:rPr lang="en-US" sz="1200" b="0" kern="1200" dirty="0" err="1">
                <a:solidFill>
                  <a:schemeClr val="tx1"/>
                </a:solidFill>
                <a:effectLst/>
                <a:latin typeface="+mn-lt"/>
                <a:ea typeface="+mn-ea"/>
                <a:cs typeface="+mn-cs"/>
              </a:rPr>
              <a:t>primitivas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simétricas</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Y </a:t>
            </a:r>
            <a:r>
              <a:rPr lang="en-US" sz="1200" b="1" kern="1200" dirty="0">
                <a:solidFill>
                  <a:schemeClr val="tx1"/>
                </a:solidFill>
                <a:effectLst/>
                <a:latin typeface="+mn-lt"/>
                <a:ea typeface="+mn-ea"/>
                <a:cs typeface="+mn-cs"/>
              </a:rPr>
              <a:t>**</a:t>
            </a:r>
            <a:r>
              <a:rPr lang="en-US" sz="1200" b="1" kern="1200" dirty="0" err="1">
                <a:solidFill>
                  <a:schemeClr val="tx1"/>
                </a:solidFill>
                <a:effectLst/>
                <a:latin typeface="+mn-lt"/>
                <a:ea typeface="+mn-ea"/>
                <a:cs typeface="+mn-cs"/>
              </a:rPr>
              <a:t>cuarto</a:t>
            </a:r>
            <a:r>
              <a:rPr lang="en-US" sz="1200" b="1" kern="1200" dirty="0">
                <a:solidFill>
                  <a:schemeClr val="tx1"/>
                </a:solidFill>
                <a:effectLst/>
                <a:latin typeface="+mn-lt"/>
                <a:ea typeface="+mn-ea"/>
                <a:cs typeface="+mn-cs"/>
              </a:rPr>
              <a:t>**</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todo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esquema</a:t>
            </a:r>
            <a:r>
              <a:rPr lang="en-US" sz="1200" b="0" kern="1200" dirty="0">
                <a:solidFill>
                  <a:schemeClr val="tx1"/>
                </a:solidFill>
                <a:effectLst/>
                <a:latin typeface="+mn-lt"/>
                <a:ea typeface="+mn-ea"/>
                <a:cs typeface="+mn-cs"/>
              </a:rPr>
              <a:t> real de SSE es </a:t>
            </a:r>
            <a:r>
              <a:rPr lang="en-US" sz="1200" b="0" kern="1200" dirty="0" err="1">
                <a:solidFill>
                  <a:schemeClr val="tx1"/>
                </a:solidFill>
                <a:effectLst/>
                <a:latin typeface="+mn-lt"/>
                <a:ea typeface="+mn-ea"/>
                <a:cs typeface="+mn-cs"/>
              </a:rPr>
              <a:t>una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decisión</a:t>
            </a:r>
            <a:r>
              <a:rPr lang="en-US" sz="1200" b="0" kern="1200" dirty="0">
                <a:solidFill>
                  <a:schemeClr val="tx1"/>
                </a:solidFill>
                <a:effectLst/>
                <a:latin typeface="+mn-lt"/>
                <a:ea typeface="+mn-ea"/>
                <a:cs typeface="+mn-cs"/>
              </a:rPr>
              <a:t> de </a:t>
            </a:r>
            <a:r>
              <a:rPr lang="en-US" sz="1200" b="0" kern="1200" dirty="0" err="1">
                <a:solidFill>
                  <a:schemeClr val="tx1"/>
                </a:solidFill>
                <a:effectLst/>
                <a:latin typeface="+mn-lt"/>
                <a:ea typeface="+mn-ea"/>
                <a:cs typeface="+mn-cs"/>
              </a:rPr>
              <a:t>diseño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explícita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sobre</a:t>
            </a:r>
            <a:r>
              <a:rPr lang="en-US" sz="1200" b="0" kern="1200" dirty="0">
                <a:solidFill>
                  <a:schemeClr val="tx1"/>
                </a:solidFill>
                <a:effectLst/>
                <a:latin typeface="+mn-lt"/>
                <a:ea typeface="+mn-ea"/>
                <a:cs typeface="+mn-cs"/>
              </a:rPr>
              <a:t> un </a:t>
            </a:r>
            <a:r>
              <a:rPr lang="en-US" sz="1200" b="0" kern="1200" dirty="0" err="1">
                <a:solidFill>
                  <a:schemeClr val="tx1"/>
                </a:solidFill>
                <a:effectLst/>
                <a:latin typeface="+mn-lt"/>
                <a:ea typeface="+mn-ea"/>
                <a:cs typeface="+mn-cs"/>
              </a:rPr>
              <a:t>eje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va</a:t>
            </a:r>
            <a:r>
              <a:rPr lang="en-US" sz="1200" b="0" kern="1200" dirty="0">
                <a:solidFill>
                  <a:schemeClr val="tx1"/>
                </a:solidFill>
                <a:effectLst/>
                <a:latin typeface="+mn-lt"/>
                <a:ea typeface="+mn-ea"/>
                <a:cs typeface="+mn-cs"/>
              </a:rPr>
              <a:t> de la </a:t>
            </a:r>
            <a:r>
              <a:rPr lang="en-US" sz="1200" b="0" kern="1200" dirty="0" err="1">
                <a:solidFill>
                  <a:schemeClr val="tx1"/>
                </a:solidFill>
                <a:effectLst/>
                <a:latin typeface="+mn-lt"/>
                <a:ea typeface="+mn-ea"/>
                <a:cs typeface="+mn-cs"/>
              </a:rPr>
              <a:t>máxima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seguridad</a:t>
            </a:r>
            <a:r>
              <a:rPr lang="en-US" sz="1200" b="0" kern="1200" dirty="0">
                <a:solidFill>
                  <a:schemeClr val="tx1"/>
                </a:solidFill>
                <a:effectLst/>
                <a:latin typeface="+mn-lt"/>
                <a:ea typeface="+mn-ea"/>
                <a:cs typeface="+mn-cs"/>
              </a:rPr>
              <a:t> a la </a:t>
            </a:r>
            <a:r>
              <a:rPr lang="en-US" sz="1200" b="0" kern="1200" dirty="0" err="1">
                <a:solidFill>
                  <a:schemeClr val="tx1"/>
                </a:solidFill>
                <a:effectLst/>
                <a:latin typeface="+mn-lt"/>
                <a:ea typeface="+mn-ea"/>
                <a:cs typeface="+mn-cs"/>
              </a:rPr>
              <a:t>máxima</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eficiencia</a:t>
            </a:r>
            <a:r>
              <a:rPr lang="en-US" sz="1200" b="0" kern="1200" dirty="0">
                <a:solidFill>
                  <a:schemeClr val="tx1"/>
                </a:solidFill>
                <a:effectLst/>
                <a:latin typeface="+mn-lt"/>
                <a:ea typeface="+mn-ea"/>
                <a:cs typeface="+mn-cs"/>
              </a:rPr>
              <a:t>. No </a:t>
            </a:r>
            <a:r>
              <a:rPr lang="en-US" sz="1200" b="0" kern="1200" dirty="0" err="1">
                <a:solidFill>
                  <a:schemeClr val="tx1"/>
                </a:solidFill>
                <a:effectLst/>
                <a:latin typeface="+mn-lt"/>
                <a:ea typeface="+mn-ea"/>
                <a:cs typeface="+mn-cs"/>
              </a:rPr>
              <a:t>existen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soluciones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gratuitas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siempre</a:t>
            </a:r>
            <a:r>
              <a:rPr lang="en-US" sz="1200" b="0" kern="1200" dirty="0">
                <a:solidFill>
                  <a:schemeClr val="tx1"/>
                </a:solidFill>
                <a:effectLst/>
                <a:latin typeface="+mn-lt"/>
                <a:ea typeface="+mn-ea"/>
                <a:cs typeface="+mn-cs"/>
              </a:rPr>
              <a:t> se </a:t>
            </a:r>
            <a:r>
              <a:rPr lang="en-US" sz="1200" b="0" kern="1200" dirty="0" err="1">
                <a:solidFill>
                  <a:schemeClr val="tx1"/>
                </a:solidFill>
                <a:effectLst/>
                <a:latin typeface="+mn-lt"/>
                <a:ea typeface="+mn-ea"/>
                <a:cs typeface="+mn-cs"/>
              </a:rPr>
              <a:t>elige</a:t>
            </a:r>
            <a:r>
              <a:rPr lang="en-US" sz="1200" b="0" kern="1200" dirty="0">
                <a:solidFill>
                  <a:schemeClr val="tx1"/>
                </a:solidFill>
                <a:effectLst/>
                <a:latin typeface="+mn-lt"/>
                <a:ea typeface="+mn-ea"/>
                <a:cs typeface="+mn-cs"/>
              </a:rPr>
              <a:t> un punto </a:t>
            </a:r>
            <a:r>
              <a:rPr lang="en-US" sz="1200" b="0" kern="1200" dirty="0" err="1">
                <a:solidFill>
                  <a:schemeClr val="tx1"/>
                </a:solidFill>
                <a:effectLst/>
                <a:latin typeface="+mn-lt"/>
                <a:ea typeface="+mn-ea"/>
                <a:cs typeface="+mn-cs"/>
              </a:rPr>
              <a:t>concreto</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ese </a:t>
            </a:r>
            <a:r>
              <a:rPr lang="en-US" sz="1200" b="0" kern="1200" dirty="0" err="1">
                <a:solidFill>
                  <a:schemeClr val="tx1"/>
                </a:solidFill>
                <a:effectLst/>
                <a:latin typeface="+mn-lt"/>
                <a:ea typeface="+mn-ea"/>
                <a:cs typeface="+mn-cs"/>
              </a:rPr>
              <a:t>espectro</a:t>
            </a:r>
            <a:r>
              <a:rPr lang="en-US" sz="1200" b="0" kern="1200" dirty="0">
                <a:solidFill>
                  <a:schemeClr val="tx1"/>
                </a:solidFill>
                <a:effectLst/>
                <a:latin typeface="+mn-lt"/>
                <a:ea typeface="+mn-ea"/>
                <a:cs typeface="+mn-cs"/>
              </a:rPr>
              <a:t>, y el rigor formal </a:t>
            </a:r>
            <a:r>
              <a:rPr lang="en-US" sz="1200" b="0" kern="1200" dirty="0" err="1">
                <a:solidFill>
                  <a:schemeClr val="tx1"/>
                </a:solidFill>
                <a:effectLst/>
                <a:latin typeface="+mn-lt"/>
                <a:ea typeface="+mn-ea"/>
                <a:cs typeface="+mn-cs"/>
              </a:rPr>
              <a:t>consiste</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en</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demostrar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que</a:t>
            </a:r>
            <a:r>
              <a:rPr lang="en-US" sz="1200" b="0" kern="1200" dirty="0">
                <a:solidFill>
                  <a:schemeClr val="tx1"/>
                </a:solidFill>
                <a:effectLst/>
                <a:latin typeface="+mn-lt"/>
                <a:ea typeface="+mn-ea"/>
                <a:cs typeface="+mn-cs"/>
              </a:rPr>
              <a:t> no se filtra nada </a:t>
            </a:r>
            <a:r>
              <a:rPr lang="en-US" sz="1200" b="0" kern="1200" dirty="0" err="1">
                <a:solidFill>
                  <a:schemeClr val="tx1"/>
                </a:solidFill>
                <a:effectLst/>
                <a:latin typeface="+mn-lt"/>
                <a:ea typeface="+mn-ea"/>
                <a:cs typeface="+mn-cs"/>
              </a:rPr>
              <a:t>más</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allá</a:t>
            </a:r>
            <a:r>
              <a:rPr lang="en-US" sz="1200" b="0" kern="1200" dirty="0">
                <a:solidFill>
                  <a:schemeClr val="tx1"/>
                </a:solidFill>
                <a:effectLst/>
                <a:latin typeface="+mn-lt"/>
                <a:ea typeface="+mn-ea"/>
                <a:cs typeface="+mn-cs"/>
              </a:rPr>
              <a:t> de lo </a:t>
            </a:r>
            <a:r>
              <a:rPr lang="en-US" sz="1200" b="0" kern="1200" dirty="0" err="1">
                <a:solidFill>
                  <a:schemeClr val="tx1"/>
                </a:solidFill>
                <a:effectLst/>
                <a:latin typeface="+mn-lt"/>
                <a:ea typeface="+mn-ea"/>
                <a:cs typeface="+mn-cs"/>
              </a:rPr>
              <a:t>declarado</a:t>
            </a:r>
            <a:r>
              <a:rPr lang="en-US" sz="1200" b="0" kern="1200" dirty="0">
                <a:solidFill>
                  <a:schemeClr val="tx1"/>
                </a:solidFill>
                <a:effectLst/>
                <a:latin typeface="+mn-lt"/>
                <a:ea typeface="+mn-ea"/>
                <a:cs typeface="+mn-cs"/>
              </a:rPr>
              <a:t>.</a:t>
            </a:r>
          </a:p>
          <a:p>
            <a:r>
              <a:rPr lang="en-US" sz="1200" b="0" kern="1200" dirty="0">
                <a:solidFill>
                  <a:schemeClr val="tx1"/>
                </a:solidFill>
                <a:effectLst/>
                <a:latin typeface="+mn-lt"/>
                <a:ea typeface="+mn-ea"/>
                <a:cs typeface="+mn-cs"/>
              </a:rPr>
              <a:t>&gt;</a:t>
            </a:r>
          </a:p>
          <a:p>
            <a:r>
              <a:rPr lang="en-US" sz="1200" b="0" kern="1200" dirty="0">
                <a:solidFill>
                  <a:schemeClr val="tx1"/>
                </a:solidFill>
                <a:effectLst/>
                <a:latin typeface="+mn-lt"/>
                <a:ea typeface="+mn-ea"/>
                <a:cs typeface="+mn-cs"/>
              </a:rPr>
              <a:t>&gt; </a:t>
            </a:r>
            <a:r>
              <a:rPr lang="en-US" sz="1200" b="0" kern="1200" dirty="0" err="1">
                <a:solidFill>
                  <a:schemeClr val="tx1"/>
                </a:solidFill>
                <a:effectLst/>
                <a:latin typeface="+mn-lt"/>
                <a:ea typeface="+mn-ea"/>
                <a:cs typeface="+mn-cs"/>
              </a:rPr>
              <a:t>Muchas</a:t>
            </a:r>
            <a:r>
              <a:rPr lang="en-US" sz="1200" b="0" kern="1200" dirty="0">
                <a:solidFill>
                  <a:schemeClr val="tx1"/>
                </a:solidFill>
                <a:effectLst/>
                <a:latin typeface="+mn-lt"/>
                <a:ea typeface="+mn-ea"/>
                <a:cs typeface="+mn-cs"/>
              </a:rPr>
              <a:t> gracias </a:t>
            </a:r>
            <a:r>
              <a:rPr lang="en-US" sz="1200" b="0" kern="1200" dirty="0" err="1">
                <a:solidFill>
                  <a:schemeClr val="tx1"/>
                </a:solidFill>
                <a:effectLst/>
                <a:latin typeface="+mn-lt"/>
                <a:ea typeface="+mn-ea"/>
                <a:cs typeface="+mn-cs"/>
              </a:rPr>
              <a:t>por</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su</a:t>
            </a:r>
            <a:r>
              <a:rPr lang="en-US" sz="1200" b="0" kern="1200" dirty="0">
                <a:solidFill>
                  <a:schemeClr val="tx1"/>
                </a:solidFill>
                <a:effectLst/>
                <a:latin typeface="+mn-lt"/>
                <a:ea typeface="+mn-ea"/>
                <a:cs typeface="+mn-cs"/>
              </a:rPr>
              <a:t> </a:t>
            </a:r>
            <a:r>
              <a:rPr lang="en-US" sz="1200" b="0" kern="1200" dirty="0" err="1">
                <a:solidFill>
                  <a:schemeClr val="tx1"/>
                </a:solidFill>
                <a:effectLst/>
                <a:latin typeface="+mn-lt"/>
                <a:ea typeface="+mn-ea"/>
                <a:cs typeface="+mn-cs"/>
              </a:rPr>
              <a:t>atención</a:t>
            </a:r>
            <a:r>
              <a:rPr lang="en-US" sz="1200" b="0" kern="1200" dirty="0">
                <a:solidFill>
                  <a:schemeClr val="tx1"/>
                </a:solidFill>
                <a:effectLst/>
                <a:latin typeface="+mn-lt"/>
                <a:ea typeface="+mn-ea"/>
                <a:cs typeface="+mn-cs"/>
              </a:rPr>
              <a:t>. Quedo a </a:t>
            </a:r>
            <a:r>
              <a:rPr lang="en-US" sz="1200" b="0" kern="1200" dirty="0" err="1">
                <a:solidFill>
                  <a:schemeClr val="tx1"/>
                </a:solidFill>
                <a:effectLst/>
                <a:latin typeface="+mn-lt"/>
                <a:ea typeface="+mn-ea"/>
                <a:cs typeface="+mn-cs"/>
              </a:rPr>
              <a:t>disposición</a:t>
            </a:r>
            <a:r>
              <a:rPr lang="en-US" sz="1200" b="0" kern="1200" dirty="0">
                <a:solidFill>
                  <a:schemeClr val="tx1"/>
                </a:solidFill>
                <a:effectLst/>
                <a:latin typeface="+mn-lt"/>
                <a:ea typeface="+mn-ea"/>
                <a:cs typeface="+mn-cs"/>
              </a:rPr>
              <a:t> para sus </a:t>
            </a:r>
            <a:r>
              <a:rPr lang="en-US" sz="1200" b="0" kern="1200" dirty="0" err="1">
                <a:solidFill>
                  <a:schemeClr val="tx1"/>
                </a:solidFill>
                <a:effectLst/>
                <a:latin typeface="+mn-lt"/>
                <a:ea typeface="+mn-ea"/>
                <a:cs typeface="+mn-cs"/>
              </a:rPr>
              <a:t>preguntas</a:t>
            </a:r>
            <a:r>
              <a:rPr lang="en-US" sz="1200" b="0" kern="1200">
                <a:solidFill>
                  <a:schemeClr val="tx1"/>
                </a:solidFill>
                <a:effectLst/>
                <a:latin typeface="+mn-lt"/>
                <a:ea typeface="+mn-ea"/>
                <a:cs typeface="+mn-cs"/>
              </a:rPr>
              <a:t>."</a:t>
            </a:r>
          </a:p>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B1F3B"/>
        </a:solidFill>
        <a:effectLst/>
      </p:bgPr>
    </p:bg>
    <p:spTree>
      <p:nvGrpSpPr>
        <p:cNvPr id="1" name=""/>
        <p:cNvGrpSpPr/>
        <p:nvPr/>
      </p:nvGrpSpPr>
      <p:grpSpPr>
        <a:xfrm>
          <a:off x="0" y="0"/>
          <a:ext cx="0" cy="0"/>
          <a:chOff x="0" y="0"/>
          <a:chExt cx="0" cy="0"/>
        </a:xfrm>
      </p:grpSpPr>
      <p:sp>
        <p:nvSpPr>
          <p:cNvPr id="2" name="Shape 0"/>
          <p:cNvSpPr/>
          <p:nvPr/>
        </p:nvSpPr>
        <p:spPr>
          <a:xfrm>
            <a:off x="9784080" y="548640"/>
            <a:ext cx="73152" cy="73152"/>
          </a:xfrm>
          <a:prstGeom prst="ellipse">
            <a:avLst/>
          </a:prstGeom>
          <a:solidFill>
            <a:srgbClr val="D9A441">
              <a:alpha val="60000"/>
            </a:srgbClr>
          </a:solidFill>
          <a:ln/>
        </p:spPr>
        <p:txBody>
          <a:bodyPr/>
          <a:lstStyle/>
          <a:p>
            <a:endParaRPr lang="en-US"/>
          </a:p>
        </p:txBody>
      </p:sp>
      <p:sp>
        <p:nvSpPr>
          <p:cNvPr id="3" name="Shape 1"/>
          <p:cNvSpPr/>
          <p:nvPr/>
        </p:nvSpPr>
        <p:spPr>
          <a:xfrm>
            <a:off x="10287000" y="548640"/>
            <a:ext cx="73152" cy="73152"/>
          </a:xfrm>
          <a:prstGeom prst="ellipse">
            <a:avLst/>
          </a:prstGeom>
          <a:solidFill>
            <a:srgbClr val="D9A441">
              <a:alpha val="60000"/>
            </a:srgbClr>
          </a:solidFill>
          <a:ln/>
        </p:spPr>
        <p:txBody>
          <a:bodyPr/>
          <a:lstStyle/>
          <a:p>
            <a:endParaRPr lang="en-US"/>
          </a:p>
        </p:txBody>
      </p:sp>
      <p:sp>
        <p:nvSpPr>
          <p:cNvPr id="4" name="Shape 2"/>
          <p:cNvSpPr/>
          <p:nvPr/>
        </p:nvSpPr>
        <p:spPr>
          <a:xfrm>
            <a:off x="10789920" y="548640"/>
            <a:ext cx="73152" cy="73152"/>
          </a:xfrm>
          <a:prstGeom prst="ellipse">
            <a:avLst/>
          </a:prstGeom>
          <a:solidFill>
            <a:srgbClr val="D9A441">
              <a:alpha val="60000"/>
            </a:srgbClr>
          </a:solidFill>
          <a:ln/>
        </p:spPr>
        <p:txBody>
          <a:bodyPr/>
          <a:lstStyle/>
          <a:p>
            <a:endParaRPr lang="en-US"/>
          </a:p>
        </p:txBody>
      </p:sp>
      <p:sp>
        <p:nvSpPr>
          <p:cNvPr id="5" name="Shape 3"/>
          <p:cNvSpPr/>
          <p:nvPr/>
        </p:nvSpPr>
        <p:spPr>
          <a:xfrm>
            <a:off x="9784080" y="1051560"/>
            <a:ext cx="73152" cy="73152"/>
          </a:xfrm>
          <a:prstGeom prst="ellipse">
            <a:avLst/>
          </a:prstGeom>
          <a:solidFill>
            <a:srgbClr val="D9A441">
              <a:alpha val="60000"/>
            </a:srgbClr>
          </a:solidFill>
          <a:ln/>
        </p:spPr>
        <p:txBody>
          <a:bodyPr/>
          <a:lstStyle/>
          <a:p>
            <a:endParaRPr lang="en-US"/>
          </a:p>
        </p:txBody>
      </p:sp>
      <p:sp>
        <p:nvSpPr>
          <p:cNvPr id="6" name="Shape 4"/>
          <p:cNvSpPr/>
          <p:nvPr/>
        </p:nvSpPr>
        <p:spPr>
          <a:xfrm>
            <a:off x="10287000" y="1051560"/>
            <a:ext cx="73152" cy="73152"/>
          </a:xfrm>
          <a:prstGeom prst="ellipse">
            <a:avLst/>
          </a:prstGeom>
          <a:solidFill>
            <a:srgbClr val="D9A441">
              <a:alpha val="60000"/>
            </a:srgbClr>
          </a:solidFill>
          <a:ln/>
        </p:spPr>
        <p:txBody>
          <a:bodyPr/>
          <a:lstStyle/>
          <a:p>
            <a:endParaRPr lang="en-US"/>
          </a:p>
        </p:txBody>
      </p:sp>
      <p:sp>
        <p:nvSpPr>
          <p:cNvPr id="7" name="Shape 5"/>
          <p:cNvSpPr/>
          <p:nvPr/>
        </p:nvSpPr>
        <p:spPr>
          <a:xfrm>
            <a:off x="10789920" y="1051560"/>
            <a:ext cx="73152" cy="73152"/>
          </a:xfrm>
          <a:prstGeom prst="ellipse">
            <a:avLst/>
          </a:prstGeom>
          <a:solidFill>
            <a:srgbClr val="D9A441">
              <a:alpha val="60000"/>
            </a:srgbClr>
          </a:solidFill>
          <a:ln/>
        </p:spPr>
        <p:txBody>
          <a:bodyPr/>
          <a:lstStyle/>
          <a:p>
            <a:endParaRPr lang="en-US"/>
          </a:p>
        </p:txBody>
      </p:sp>
      <p:sp>
        <p:nvSpPr>
          <p:cNvPr id="8" name="Text 6"/>
          <p:cNvSpPr/>
          <p:nvPr/>
        </p:nvSpPr>
        <p:spPr>
          <a:xfrm>
            <a:off x="822960" y="1417320"/>
            <a:ext cx="9144000" cy="365760"/>
          </a:xfrm>
          <a:prstGeom prst="rect">
            <a:avLst/>
          </a:prstGeom>
          <a:noFill/>
          <a:ln/>
        </p:spPr>
        <p:txBody>
          <a:bodyPr wrap="square" lIns="0" tIns="0" rIns="0" bIns="0" rtlCol="0" anchor="ctr"/>
          <a:lstStyle/>
          <a:p>
            <a:pPr marL="0" indent="0">
              <a:buNone/>
            </a:pPr>
            <a:r>
              <a:rPr lang="en-US" sz="1300" b="1" kern="0" spc="300" dirty="0">
                <a:solidFill>
                  <a:srgbClr val="D9A441"/>
                </a:solidFill>
                <a:latin typeface="Calibri" pitchFamily="34" charset="0"/>
                <a:ea typeface="Calibri" pitchFamily="34" charset="-122"/>
                <a:cs typeface="Calibri" pitchFamily="34" charset="-120"/>
              </a:rPr>
              <a:t>CRIPTOGRAFÍA APLICADA · SSE</a:t>
            </a:r>
            <a:endParaRPr lang="en-US" sz="1300" dirty="0"/>
          </a:p>
        </p:txBody>
      </p:sp>
      <p:sp>
        <p:nvSpPr>
          <p:cNvPr id="9" name="Text 7"/>
          <p:cNvSpPr/>
          <p:nvPr/>
        </p:nvSpPr>
        <p:spPr>
          <a:xfrm>
            <a:off x="777240" y="1828800"/>
            <a:ext cx="10515600" cy="118872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Cifrado Simétrico en SSE</a:t>
            </a:r>
            <a:endParaRPr lang="en-US" sz="4800" dirty="0"/>
          </a:p>
        </p:txBody>
      </p:sp>
      <p:sp>
        <p:nvSpPr>
          <p:cNvPr id="10" name="Text 8"/>
          <p:cNvSpPr/>
          <p:nvPr/>
        </p:nvSpPr>
        <p:spPr>
          <a:xfrm>
            <a:off x="822960" y="2971800"/>
            <a:ext cx="9601200" cy="1005840"/>
          </a:xfrm>
          <a:prstGeom prst="rect">
            <a:avLst/>
          </a:prstGeom>
          <a:noFill/>
          <a:ln/>
        </p:spPr>
        <p:txBody>
          <a:bodyPr wrap="square" lIns="0" tIns="0" rIns="0" bIns="0" rtlCol="0" anchor="ctr"/>
          <a:lstStyle/>
          <a:p>
            <a:pPr marL="0" indent="0">
              <a:lnSpc>
                <a:spcPct val="125000"/>
              </a:lnSpc>
              <a:buNone/>
            </a:pPr>
            <a:r>
              <a:rPr lang="en-US" sz="1800" dirty="0">
                <a:solidFill>
                  <a:srgbClr val="C7D3F0"/>
                </a:solidFill>
                <a:latin typeface="Calibri" pitchFamily="34" charset="0"/>
                <a:ea typeface="Calibri" pitchFamily="34" charset="-122"/>
                <a:cs typeface="Calibri" pitchFamily="34" charset="-120"/>
              </a:rPr>
              <a:t>El núcleo criptográfico que hace posible la búsqueda</a:t>
            </a:r>
            <a:endParaRPr lang="en-US" sz="1800" dirty="0"/>
          </a:p>
          <a:p>
            <a:pPr marL="0" indent="0">
              <a:lnSpc>
                <a:spcPct val="125000"/>
              </a:lnSpc>
              <a:buNone/>
            </a:pPr>
            <a:r>
              <a:rPr lang="en-US" sz="1800" dirty="0">
                <a:solidFill>
                  <a:srgbClr val="C7D3F0"/>
                </a:solidFill>
                <a:latin typeface="Calibri" pitchFamily="34" charset="0"/>
                <a:ea typeface="Calibri" pitchFamily="34" charset="-122"/>
                <a:cs typeface="Calibri" pitchFamily="34" charset="-120"/>
              </a:rPr>
              <a:t>sobre datos cifrados</a:t>
            </a:r>
            <a:endParaRPr lang="en-US" sz="1800" dirty="0"/>
          </a:p>
        </p:txBody>
      </p:sp>
      <p:sp>
        <p:nvSpPr>
          <p:cNvPr id="11" name="Shape 9"/>
          <p:cNvSpPr/>
          <p:nvPr/>
        </p:nvSpPr>
        <p:spPr>
          <a:xfrm>
            <a:off x="822960" y="4297680"/>
            <a:ext cx="457200" cy="54864"/>
          </a:xfrm>
          <a:prstGeom prst="rect">
            <a:avLst/>
          </a:prstGeom>
          <a:solidFill>
            <a:srgbClr val="D9A441"/>
          </a:solidFill>
          <a:ln/>
        </p:spPr>
        <p:txBody>
          <a:bodyPr/>
          <a:lstStyle/>
          <a:p>
            <a:endParaRPr lang="en-US"/>
          </a:p>
        </p:txBody>
      </p:sp>
      <p:sp>
        <p:nvSpPr>
          <p:cNvPr id="12" name="Text 10"/>
          <p:cNvSpPr/>
          <p:nvPr/>
        </p:nvSpPr>
        <p:spPr>
          <a:xfrm>
            <a:off x="822960" y="4709160"/>
            <a:ext cx="51206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PRF</a:t>
            </a:r>
            <a:r>
              <a:rPr lang="en-US" sz="1400" dirty="0">
                <a:solidFill>
                  <a:srgbClr val="8D98C4"/>
                </a:solidFill>
                <a:latin typeface="Calibri" pitchFamily="34" charset="0"/>
                <a:ea typeface="Calibri" pitchFamily="34" charset="-122"/>
                <a:cs typeface="Calibri" pitchFamily="34" charset="-120"/>
              </a:rPr>
              <a:t>  ·  Función Pseudoaleatoria</a:t>
            </a:r>
            <a:endParaRPr lang="en-US" sz="1400" dirty="0"/>
          </a:p>
        </p:txBody>
      </p:sp>
      <p:sp>
        <p:nvSpPr>
          <p:cNvPr id="13" name="Text 11"/>
          <p:cNvSpPr/>
          <p:nvPr/>
        </p:nvSpPr>
        <p:spPr>
          <a:xfrm>
            <a:off x="822960" y="5120640"/>
            <a:ext cx="51206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PRP</a:t>
            </a:r>
            <a:r>
              <a:rPr lang="en-US" sz="1400" dirty="0">
                <a:solidFill>
                  <a:srgbClr val="8D98C4"/>
                </a:solidFill>
                <a:latin typeface="Calibri" pitchFamily="34" charset="0"/>
                <a:ea typeface="Calibri" pitchFamily="34" charset="-122"/>
                <a:cs typeface="Calibri" pitchFamily="34" charset="-120"/>
              </a:rPr>
              <a:t>  ·  Permutación Pseudoaleatoria</a:t>
            </a:r>
            <a:endParaRPr lang="en-US" sz="1400" dirty="0"/>
          </a:p>
        </p:txBody>
      </p:sp>
      <p:sp>
        <p:nvSpPr>
          <p:cNvPr id="14" name="Text 12"/>
          <p:cNvSpPr/>
          <p:nvPr/>
        </p:nvSpPr>
        <p:spPr>
          <a:xfrm>
            <a:off x="822960" y="5532120"/>
            <a:ext cx="603504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Curtmola, Garay, Kamara, Ostrovsky</a:t>
            </a:r>
            <a:r>
              <a:rPr lang="en-US" sz="1400" dirty="0">
                <a:solidFill>
                  <a:srgbClr val="8D98C4"/>
                </a:solidFill>
                <a:latin typeface="Calibri" pitchFamily="34" charset="0"/>
                <a:ea typeface="Calibri" pitchFamily="34" charset="-122"/>
                <a:cs typeface="Calibri" pitchFamily="34" charset="-120"/>
              </a:rPr>
              <a:t>  ·  SSE-1 / SSE-2 (2006)</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EL PROBLEMA</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Buscar sin ver: la tensión de fondo</a:t>
            </a:r>
            <a:endParaRPr lang="en-US" sz="3000" dirty="0"/>
          </a:p>
        </p:txBody>
      </p:sp>
      <p:sp>
        <p:nvSpPr>
          <p:cNvPr id="4" name="Text 2"/>
          <p:cNvSpPr/>
          <p:nvPr/>
        </p:nvSpPr>
        <p:spPr>
          <a:xfrm>
            <a:off x="548640" y="1371600"/>
            <a:ext cx="11064240" cy="822960"/>
          </a:xfrm>
          <a:prstGeom prst="rect">
            <a:avLst/>
          </a:prstGeom>
          <a:noFill/>
          <a:ln/>
        </p:spPr>
        <p:txBody>
          <a:bodyPr wrap="square" lIns="0" tIns="0" rIns="0" bIns="0" rtlCol="0" anchor="ctr"/>
          <a:lstStyle/>
          <a:p>
            <a:pPr marL="0" indent="0">
              <a:lnSpc>
                <a:spcPct val="130000"/>
              </a:lnSpc>
              <a:buNone/>
            </a:pPr>
            <a:r>
              <a:rPr lang="en-US" sz="1500" dirty="0">
                <a:solidFill>
                  <a:srgbClr val="5B6584"/>
                </a:solidFill>
                <a:latin typeface="Calibri" pitchFamily="34" charset="0"/>
                <a:ea typeface="Calibri" pitchFamily="34" charset="-122"/>
                <a:cs typeface="Calibri" pitchFamily="34" charset="-120"/>
              </a:rPr>
              <a:t>Un cliente cifra sus documentos y los delega a un servidor que no es confiable. Necesita recuperar los documentos que contienen una palabra clave — sin que el servidor aprenda el contenido, y sin descargar todo el dataset para filtrar localmente.</a:t>
            </a:r>
            <a:endParaRPr lang="en-US" sz="1500" dirty="0"/>
          </a:p>
        </p:txBody>
      </p:sp>
      <p:sp>
        <p:nvSpPr>
          <p:cNvPr id="5" name="Shape 3"/>
          <p:cNvSpPr/>
          <p:nvPr/>
        </p:nvSpPr>
        <p:spPr>
          <a:xfrm>
            <a:off x="640080" y="2560320"/>
            <a:ext cx="2377440" cy="1371600"/>
          </a:xfrm>
          <a:prstGeom prst="roundRect">
            <a:avLst>
              <a:gd name="adj" fmla="val 5333"/>
            </a:avLst>
          </a:prstGeom>
          <a:solidFill>
            <a:srgbClr val="1B1F3B"/>
          </a:solidFill>
          <a:ln/>
        </p:spPr>
        <p:txBody>
          <a:bodyPr/>
          <a:lstStyle/>
          <a:p>
            <a:endParaRPr lang="en-US"/>
          </a:p>
        </p:txBody>
      </p:sp>
      <p:sp>
        <p:nvSpPr>
          <p:cNvPr id="6" name="Text 4"/>
          <p:cNvSpPr/>
          <p:nvPr/>
        </p:nvSpPr>
        <p:spPr>
          <a:xfrm>
            <a:off x="640080" y="2697480"/>
            <a:ext cx="2377440" cy="32004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Cliente</a:t>
            </a:r>
            <a:endParaRPr lang="en-US" sz="1500" dirty="0"/>
          </a:p>
        </p:txBody>
      </p:sp>
      <p:sp>
        <p:nvSpPr>
          <p:cNvPr id="7" name="Text 5"/>
          <p:cNvSpPr/>
          <p:nvPr/>
        </p:nvSpPr>
        <p:spPr>
          <a:xfrm>
            <a:off x="777240" y="3063240"/>
            <a:ext cx="2103120" cy="777240"/>
          </a:xfrm>
          <a:prstGeom prst="rect">
            <a:avLst/>
          </a:prstGeom>
          <a:noFill/>
          <a:ln/>
        </p:spPr>
        <p:txBody>
          <a:bodyPr wrap="square" lIns="0" tIns="0" rIns="0" bIns="0" rtlCol="0" anchor="ctr"/>
          <a:lstStyle/>
          <a:p>
            <a:pPr marL="0" indent="0" algn="ctr">
              <a:lnSpc>
                <a:spcPct val="120000"/>
              </a:lnSpc>
              <a:buNone/>
            </a:pPr>
            <a:r>
              <a:rPr lang="en-US" sz="1100" dirty="0">
                <a:solidFill>
                  <a:srgbClr val="C7D3F0"/>
                </a:solidFill>
                <a:latin typeface="Calibri" pitchFamily="34" charset="0"/>
                <a:ea typeface="Calibri" pitchFamily="34" charset="-122"/>
                <a:cs typeface="Calibri" pitchFamily="34" charset="-120"/>
              </a:rPr>
              <a:t>Posee la clave simétrica</a:t>
            </a:r>
            <a:endParaRPr lang="en-US" sz="1100" dirty="0"/>
          </a:p>
          <a:p>
            <a:pPr marL="0" indent="0" algn="ctr">
              <a:lnSpc>
                <a:spcPct val="120000"/>
              </a:lnSpc>
              <a:buNone/>
            </a:pPr>
            <a:r>
              <a:rPr lang="en-US" sz="1100" dirty="0">
                <a:solidFill>
                  <a:srgbClr val="C7D3F0"/>
                </a:solidFill>
                <a:latin typeface="Calibri" pitchFamily="34" charset="0"/>
                <a:ea typeface="Calibri" pitchFamily="34" charset="-122"/>
                <a:cs typeface="Calibri" pitchFamily="34" charset="-120"/>
              </a:rPr>
              <a:t>K. Conoce el contenido</a:t>
            </a:r>
            <a:endParaRPr lang="en-US" sz="1100" dirty="0"/>
          </a:p>
          <a:p>
            <a:pPr marL="0" indent="0" algn="ctr">
              <a:lnSpc>
                <a:spcPct val="120000"/>
              </a:lnSpc>
              <a:buNone/>
            </a:pPr>
            <a:r>
              <a:rPr lang="en-US" sz="1100" dirty="0">
                <a:solidFill>
                  <a:srgbClr val="C7D3F0"/>
                </a:solidFill>
                <a:latin typeface="Calibri" pitchFamily="34" charset="0"/>
                <a:ea typeface="Calibri" pitchFamily="34" charset="-122"/>
                <a:cs typeface="Calibri" pitchFamily="34" charset="-120"/>
              </a:rPr>
              <a:t>en claro.</a:t>
            </a:r>
            <a:endParaRPr lang="en-US" sz="1100" dirty="0"/>
          </a:p>
        </p:txBody>
      </p:sp>
      <p:sp>
        <p:nvSpPr>
          <p:cNvPr id="8" name="Shape 6"/>
          <p:cNvSpPr/>
          <p:nvPr/>
        </p:nvSpPr>
        <p:spPr>
          <a:xfrm>
            <a:off x="3017520" y="3246120"/>
            <a:ext cx="1051560" cy="0"/>
          </a:xfrm>
          <a:prstGeom prst="line">
            <a:avLst/>
          </a:prstGeom>
          <a:noFill/>
          <a:ln w="19050">
            <a:solidFill>
              <a:srgbClr val="5B6584"/>
            </a:solidFill>
            <a:prstDash val="solid"/>
            <a:tailEnd type="triangle"/>
          </a:ln>
        </p:spPr>
        <p:txBody>
          <a:bodyPr/>
          <a:lstStyle/>
          <a:p>
            <a:endParaRPr lang="en-US"/>
          </a:p>
        </p:txBody>
      </p:sp>
      <p:sp>
        <p:nvSpPr>
          <p:cNvPr id="9" name="Text 7"/>
          <p:cNvSpPr/>
          <p:nvPr/>
        </p:nvSpPr>
        <p:spPr>
          <a:xfrm>
            <a:off x="3017520" y="2669444"/>
            <a:ext cx="1097280" cy="457200"/>
          </a:xfrm>
          <a:prstGeom prst="rect">
            <a:avLst/>
          </a:prstGeom>
          <a:noFill/>
          <a:ln/>
        </p:spPr>
        <p:txBody>
          <a:bodyPr wrap="square" lIns="0" tIns="0" rIns="0" bIns="0" rtlCol="0" anchor="ctr"/>
          <a:lstStyle/>
          <a:p>
            <a:pPr marL="0" indent="0" algn="ctr">
              <a:buNone/>
            </a:pPr>
            <a:r>
              <a:rPr lang="en-US" sz="950" i="1" dirty="0">
                <a:solidFill>
                  <a:srgbClr val="5B6584"/>
                </a:solidFill>
                <a:latin typeface="Calibri" pitchFamily="34" charset="0"/>
                <a:ea typeface="Calibri" pitchFamily="34" charset="-122"/>
                <a:cs typeface="Calibri" pitchFamily="34" charset="-120"/>
              </a:rPr>
              <a:t>cifra + sube</a:t>
            </a:r>
            <a:endParaRPr lang="en-US" sz="950" dirty="0"/>
          </a:p>
          <a:p>
            <a:pPr marL="0" indent="0" algn="ctr">
              <a:buNone/>
            </a:pPr>
            <a:r>
              <a:rPr lang="en-US" sz="950" i="1" dirty="0">
                <a:solidFill>
                  <a:srgbClr val="5B6584"/>
                </a:solidFill>
                <a:latin typeface="Calibri" pitchFamily="34" charset="0"/>
                <a:ea typeface="Calibri" pitchFamily="34" charset="-122"/>
                <a:cs typeface="Calibri" pitchFamily="34" charset="-120"/>
              </a:rPr>
              <a:t>índice invertido</a:t>
            </a:r>
            <a:endParaRPr lang="en-US" sz="950" dirty="0"/>
          </a:p>
        </p:txBody>
      </p:sp>
      <p:sp>
        <p:nvSpPr>
          <p:cNvPr id="10" name="Shape 8"/>
          <p:cNvSpPr/>
          <p:nvPr/>
        </p:nvSpPr>
        <p:spPr>
          <a:xfrm>
            <a:off x="4069080" y="2560320"/>
            <a:ext cx="2834640" cy="1371600"/>
          </a:xfrm>
          <a:prstGeom prst="roundRect">
            <a:avLst>
              <a:gd name="adj" fmla="val 5333"/>
            </a:avLst>
          </a:prstGeom>
          <a:solidFill>
            <a:srgbClr val="FFFFFF"/>
          </a:solidFill>
          <a:ln w="12700">
            <a:solidFill>
              <a:srgbClr val="DCE1F0"/>
            </a:solidFill>
            <a:prstDash val="solid"/>
          </a:ln>
        </p:spPr>
        <p:txBody>
          <a:bodyPr/>
          <a:lstStyle/>
          <a:p>
            <a:endParaRPr lang="en-US"/>
          </a:p>
        </p:txBody>
      </p:sp>
      <p:sp>
        <p:nvSpPr>
          <p:cNvPr id="11" name="Text 9"/>
          <p:cNvSpPr/>
          <p:nvPr/>
        </p:nvSpPr>
        <p:spPr>
          <a:xfrm>
            <a:off x="4069080" y="2697480"/>
            <a:ext cx="2834640" cy="320040"/>
          </a:xfrm>
          <a:prstGeom prst="rect">
            <a:avLst/>
          </a:prstGeom>
          <a:noFill/>
          <a:ln/>
        </p:spPr>
        <p:txBody>
          <a:bodyPr wrap="square" lIns="0" tIns="0" rIns="0" bIns="0" rtlCol="0" anchor="ctr"/>
          <a:lstStyle/>
          <a:p>
            <a:pPr marL="0" indent="0" algn="ctr">
              <a:buNone/>
            </a:pPr>
            <a:r>
              <a:rPr lang="en-US" sz="1400" b="1" dirty="0">
                <a:solidFill>
                  <a:srgbClr val="1B1F3B"/>
                </a:solidFill>
                <a:latin typeface="Cambria" pitchFamily="34" charset="0"/>
                <a:ea typeface="Cambria" pitchFamily="34" charset="-122"/>
                <a:cs typeface="Cambria" pitchFamily="34" charset="-120"/>
              </a:rPr>
              <a:t>Servidor (no confiable)</a:t>
            </a:r>
            <a:endParaRPr lang="en-US" sz="1400" dirty="0"/>
          </a:p>
        </p:txBody>
      </p:sp>
      <p:sp>
        <p:nvSpPr>
          <p:cNvPr id="12" name="Text 10"/>
          <p:cNvSpPr/>
          <p:nvPr/>
        </p:nvSpPr>
        <p:spPr>
          <a:xfrm>
            <a:off x="4206240" y="3063240"/>
            <a:ext cx="2560320" cy="777240"/>
          </a:xfrm>
          <a:prstGeom prst="rect">
            <a:avLst/>
          </a:prstGeom>
          <a:noFill/>
          <a:ln/>
        </p:spPr>
        <p:txBody>
          <a:bodyPr wrap="square" lIns="0" tIns="0" rIns="0" bIns="0" rtlCol="0" anchor="ctr"/>
          <a:lstStyle/>
          <a:p>
            <a:pPr marL="0" indent="0" algn="ctr">
              <a:lnSpc>
                <a:spcPct val="120000"/>
              </a:lnSpc>
              <a:buNone/>
            </a:pPr>
            <a:r>
              <a:rPr lang="en-US" sz="1100" dirty="0">
                <a:solidFill>
                  <a:srgbClr val="5B6584"/>
                </a:solidFill>
                <a:latin typeface="Calibri" pitchFamily="34" charset="0"/>
                <a:ea typeface="Calibri" pitchFamily="34" charset="-122"/>
                <a:cs typeface="Calibri" pitchFamily="34" charset="-120"/>
              </a:rPr>
              <a:t>Almacena documentos</a:t>
            </a:r>
            <a:endParaRPr lang="en-US" sz="1100" dirty="0"/>
          </a:p>
          <a:p>
            <a:pPr marL="0" indent="0" algn="ctr">
              <a:lnSpc>
                <a:spcPct val="120000"/>
              </a:lnSpc>
              <a:buNone/>
            </a:pPr>
            <a:r>
              <a:rPr lang="en-US" sz="1100" dirty="0">
                <a:solidFill>
                  <a:srgbClr val="5B6584"/>
                </a:solidFill>
                <a:latin typeface="Calibri" pitchFamily="34" charset="0"/>
                <a:ea typeface="Calibri" pitchFamily="34" charset="-122"/>
                <a:cs typeface="Calibri" pitchFamily="34" charset="-120"/>
              </a:rPr>
              <a:t>cifrados + índice cifrado.</a:t>
            </a:r>
            <a:endParaRPr lang="en-US" sz="1100" dirty="0"/>
          </a:p>
          <a:p>
            <a:pPr marL="0" indent="0" algn="ctr">
              <a:lnSpc>
                <a:spcPct val="120000"/>
              </a:lnSpc>
              <a:buNone/>
            </a:pPr>
            <a:r>
              <a:rPr lang="en-US" sz="1100" dirty="0">
                <a:solidFill>
                  <a:srgbClr val="5B6584"/>
                </a:solidFill>
                <a:latin typeface="Calibri" pitchFamily="34" charset="0"/>
                <a:ea typeface="Calibri" pitchFamily="34" charset="-122"/>
                <a:cs typeface="Calibri" pitchFamily="34" charset="-120"/>
              </a:rPr>
              <a:t>Nunca ve texto plano.</a:t>
            </a:r>
            <a:endParaRPr lang="en-US" sz="1100" dirty="0"/>
          </a:p>
        </p:txBody>
      </p:sp>
      <p:sp>
        <p:nvSpPr>
          <p:cNvPr id="13" name="Shape 11"/>
          <p:cNvSpPr/>
          <p:nvPr/>
        </p:nvSpPr>
        <p:spPr>
          <a:xfrm>
            <a:off x="7040880" y="2990088"/>
            <a:ext cx="1051560" cy="0"/>
          </a:xfrm>
          <a:prstGeom prst="line">
            <a:avLst/>
          </a:prstGeom>
          <a:noFill/>
          <a:ln w="19050">
            <a:solidFill>
              <a:srgbClr val="B4842E"/>
            </a:solidFill>
            <a:prstDash val="solid"/>
            <a:tailEnd type="triangle"/>
          </a:ln>
        </p:spPr>
        <p:txBody>
          <a:bodyPr/>
          <a:lstStyle/>
          <a:p>
            <a:endParaRPr lang="en-US"/>
          </a:p>
        </p:txBody>
      </p:sp>
      <p:sp>
        <p:nvSpPr>
          <p:cNvPr id="14" name="Text 12"/>
          <p:cNvSpPr/>
          <p:nvPr/>
        </p:nvSpPr>
        <p:spPr>
          <a:xfrm>
            <a:off x="7022592" y="2606040"/>
            <a:ext cx="1097280" cy="320040"/>
          </a:xfrm>
          <a:prstGeom prst="rect">
            <a:avLst/>
          </a:prstGeom>
          <a:noFill/>
          <a:ln/>
        </p:spPr>
        <p:txBody>
          <a:bodyPr wrap="square" lIns="0" tIns="0" rIns="0" bIns="0" rtlCol="0" anchor="ctr"/>
          <a:lstStyle/>
          <a:p>
            <a:pPr marL="0" indent="0" algn="ctr">
              <a:buNone/>
            </a:pPr>
            <a:r>
              <a:rPr lang="en-US" sz="950" i="1" dirty="0">
                <a:solidFill>
                  <a:srgbClr val="B4842E"/>
                </a:solidFill>
                <a:latin typeface="Calibri" pitchFamily="34" charset="0"/>
                <a:ea typeface="Calibri" pitchFamily="34" charset="-122"/>
                <a:cs typeface="Calibri" pitchFamily="34" charset="-120"/>
              </a:rPr>
              <a:t>trapdoor(w)</a:t>
            </a:r>
            <a:endParaRPr lang="en-US" sz="950" dirty="0"/>
          </a:p>
        </p:txBody>
      </p:sp>
      <p:sp>
        <p:nvSpPr>
          <p:cNvPr id="15" name="Shape 13"/>
          <p:cNvSpPr/>
          <p:nvPr/>
        </p:nvSpPr>
        <p:spPr>
          <a:xfrm>
            <a:off x="8092440" y="3502152"/>
            <a:ext cx="0" cy="0"/>
          </a:xfrm>
          <a:prstGeom prst="line">
            <a:avLst/>
          </a:prstGeom>
          <a:noFill/>
          <a:ln w="19050">
            <a:solidFill>
              <a:srgbClr val="5B6584"/>
            </a:solidFill>
            <a:prstDash val="solid"/>
            <a:tailEnd type="triangle"/>
          </a:ln>
        </p:spPr>
        <p:txBody>
          <a:bodyPr/>
          <a:lstStyle/>
          <a:p>
            <a:endParaRPr lang="en-US"/>
          </a:p>
        </p:txBody>
      </p:sp>
      <p:sp>
        <p:nvSpPr>
          <p:cNvPr id="16" name="Text 14"/>
          <p:cNvSpPr/>
          <p:nvPr/>
        </p:nvSpPr>
        <p:spPr>
          <a:xfrm>
            <a:off x="7118949" y="3185478"/>
            <a:ext cx="1097280" cy="457200"/>
          </a:xfrm>
          <a:prstGeom prst="rect">
            <a:avLst/>
          </a:prstGeom>
          <a:noFill/>
          <a:ln/>
        </p:spPr>
        <p:txBody>
          <a:bodyPr wrap="square" lIns="0" tIns="0" rIns="0" bIns="0" rtlCol="0" anchor="ctr"/>
          <a:lstStyle/>
          <a:p>
            <a:pPr marL="0" indent="0" algn="ctr">
              <a:buNone/>
            </a:pPr>
            <a:r>
              <a:rPr lang="en-US" sz="950" i="1" dirty="0">
                <a:solidFill>
                  <a:srgbClr val="5B6584"/>
                </a:solidFill>
                <a:latin typeface="Calibri" pitchFamily="34" charset="0"/>
                <a:ea typeface="Calibri" pitchFamily="34" charset="-122"/>
                <a:cs typeface="Calibri" pitchFamily="34" charset="-120"/>
              </a:rPr>
              <a:t>IDs cifrados</a:t>
            </a:r>
            <a:endParaRPr lang="en-US" sz="950" dirty="0"/>
          </a:p>
          <a:p>
            <a:pPr marL="0" indent="0" algn="ctr">
              <a:buNone/>
            </a:pPr>
            <a:r>
              <a:rPr lang="en-US" sz="950" i="1" dirty="0">
                <a:solidFill>
                  <a:srgbClr val="5B6584"/>
                </a:solidFill>
                <a:latin typeface="Calibri" pitchFamily="34" charset="0"/>
                <a:ea typeface="Calibri" pitchFamily="34" charset="-122"/>
                <a:cs typeface="Calibri" pitchFamily="34" charset="-120"/>
              </a:rPr>
              <a:t>coincidentes</a:t>
            </a:r>
            <a:endParaRPr lang="en-US" sz="950" dirty="0"/>
          </a:p>
        </p:txBody>
      </p:sp>
      <p:sp>
        <p:nvSpPr>
          <p:cNvPr id="17" name="Shape 15"/>
          <p:cNvSpPr/>
          <p:nvPr/>
        </p:nvSpPr>
        <p:spPr>
          <a:xfrm>
            <a:off x="8138160" y="2560320"/>
            <a:ext cx="2651760" cy="1371600"/>
          </a:xfrm>
          <a:prstGeom prst="roundRect">
            <a:avLst>
              <a:gd name="adj" fmla="val 5333"/>
            </a:avLst>
          </a:prstGeom>
          <a:solidFill>
            <a:srgbClr val="2E355E"/>
          </a:solidFill>
          <a:ln/>
        </p:spPr>
        <p:txBody>
          <a:bodyPr/>
          <a:lstStyle/>
          <a:p>
            <a:endParaRPr lang="en-US"/>
          </a:p>
        </p:txBody>
      </p:sp>
      <p:sp>
        <p:nvSpPr>
          <p:cNvPr id="18" name="Text 16"/>
          <p:cNvSpPr/>
          <p:nvPr/>
        </p:nvSpPr>
        <p:spPr>
          <a:xfrm>
            <a:off x="8138160" y="2697480"/>
            <a:ext cx="2651760" cy="320040"/>
          </a:xfrm>
          <a:prstGeom prst="rect">
            <a:avLst/>
          </a:prstGeom>
          <a:noFill/>
          <a:ln/>
        </p:spPr>
        <p:txBody>
          <a:bodyPr wrap="square" lIns="0" tIns="0" rIns="0" bIns="0" rtlCol="0" anchor="ctr"/>
          <a:lstStyle/>
          <a:p>
            <a:pPr marL="0" indent="0" algn="ctr">
              <a:buNone/>
            </a:pPr>
            <a:r>
              <a:rPr lang="en-US" sz="1400" b="1" dirty="0">
                <a:solidFill>
                  <a:srgbClr val="FFFFFF"/>
                </a:solidFill>
                <a:latin typeface="Cambria" pitchFamily="34" charset="0"/>
                <a:ea typeface="Cambria" pitchFamily="34" charset="-122"/>
                <a:cs typeface="Cambria" pitchFamily="34" charset="-120"/>
              </a:rPr>
              <a:t>Cliente autorizado</a:t>
            </a:r>
            <a:endParaRPr lang="en-US" sz="1400" dirty="0"/>
          </a:p>
        </p:txBody>
      </p:sp>
      <p:sp>
        <p:nvSpPr>
          <p:cNvPr id="19" name="Text 17"/>
          <p:cNvSpPr/>
          <p:nvPr/>
        </p:nvSpPr>
        <p:spPr>
          <a:xfrm>
            <a:off x="8275320" y="3063240"/>
            <a:ext cx="2377440" cy="777240"/>
          </a:xfrm>
          <a:prstGeom prst="rect">
            <a:avLst/>
          </a:prstGeom>
          <a:noFill/>
          <a:ln/>
        </p:spPr>
        <p:txBody>
          <a:bodyPr wrap="square" lIns="0" tIns="0" rIns="0" bIns="0" rtlCol="0" anchor="ctr"/>
          <a:lstStyle/>
          <a:p>
            <a:pPr marL="0" indent="0" algn="ctr">
              <a:lnSpc>
                <a:spcPct val="120000"/>
              </a:lnSpc>
              <a:buNone/>
            </a:pPr>
            <a:r>
              <a:rPr lang="en-US" sz="1100" dirty="0">
                <a:solidFill>
                  <a:srgbClr val="C7D3F0"/>
                </a:solidFill>
                <a:latin typeface="Calibri" pitchFamily="34" charset="0"/>
                <a:ea typeface="Calibri" pitchFamily="34" charset="-122"/>
                <a:cs typeface="Calibri" pitchFamily="34" charset="-120"/>
              </a:rPr>
              <a:t>Genera un trapdoor con K</a:t>
            </a:r>
            <a:endParaRPr lang="en-US" sz="1100" dirty="0"/>
          </a:p>
          <a:p>
            <a:pPr marL="0" indent="0" algn="ctr">
              <a:lnSpc>
                <a:spcPct val="120000"/>
              </a:lnSpc>
              <a:buNone/>
            </a:pPr>
            <a:r>
              <a:rPr lang="en-US" sz="1100" dirty="0">
                <a:solidFill>
                  <a:srgbClr val="C7D3F0"/>
                </a:solidFill>
                <a:latin typeface="Calibri" pitchFamily="34" charset="0"/>
                <a:ea typeface="Calibri" pitchFamily="34" charset="-122"/>
                <a:cs typeface="Calibri" pitchFamily="34" charset="-120"/>
              </a:rPr>
              <a:t>para la palabra buscada,</a:t>
            </a:r>
            <a:endParaRPr lang="en-US" sz="1100" dirty="0"/>
          </a:p>
          <a:p>
            <a:pPr marL="0" indent="0" algn="ctr">
              <a:lnSpc>
                <a:spcPct val="120000"/>
              </a:lnSpc>
              <a:buNone/>
            </a:pPr>
            <a:r>
              <a:rPr lang="en-US" sz="1100" dirty="0">
                <a:solidFill>
                  <a:srgbClr val="C7D3F0"/>
                </a:solidFill>
                <a:latin typeface="Calibri" pitchFamily="34" charset="0"/>
                <a:ea typeface="Calibri" pitchFamily="34" charset="-122"/>
                <a:cs typeface="Calibri" pitchFamily="34" charset="-120"/>
              </a:rPr>
              <a:t>sin revelarla en claro.</a:t>
            </a:r>
            <a:endParaRPr lang="en-US" sz="1100" dirty="0"/>
          </a:p>
        </p:txBody>
      </p:sp>
      <p:sp>
        <p:nvSpPr>
          <p:cNvPr id="20" name="Shape 18"/>
          <p:cNvSpPr/>
          <p:nvPr/>
        </p:nvSpPr>
        <p:spPr>
          <a:xfrm>
            <a:off x="548640" y="4572000"/>
            <a:ext cx="11064240" cy="868680"/>
          </a:xfrm>
          <a:prstGeom prst="roundRect">
            <a:avLst>
              <a:gd name="adj" fmla="val 6316"/>
            </a:avLst>
          </a:prstGeom>
          <a:solidFill>
            <a:srgbClr val="FFFFFF"/>
          </a:solidFill>
          <a:ln w="12700">
            <a:solidFill>
              <a:srgbClr val="DCE1F0"/>
            </a:solidFill>
            <a:prstDash val="solid"/>
          </a:ln>
        </p:spPr>
        <p:txBody>
          <a:bodyPr/>
          <a:lstStyle/>
          <a:p>
            <a:endParaRPr lang="en-US"/>
          </a:p>
        </p:txBody>
      </p:sp>
      <p:sp>
        <p:nvSpPr>
          <p:cNvPr id="21" name="Text 19"/>
          <p:cNvSpPr/>
          <p:nvPr/>
        </p:nvSpPr>
        <p:spPr>
          <a:xfrm>
            <a:off x="822960" y="4572000"/>
            <a:ext cx="10515600" cy="868680"/>
          </a:xfrm>
          <a:prstGeom prst="rect">
            <a:avLst/>
          </a:prstGeom>
          <a:noFill/>
          <a:ln/>
        </p:spPr>
        <p:txBody>
          <a:bodyPr wrap="square" lIns="0" tIns="0" rIns="0" bIns="0" rtlCol="0" anchor="ctr"/>
          <a:lstStyle/>
          <a:p>
            <a:pPr marL="0" indent="0">
              <a:lnSpc>
                <a:spcPct val="120000"/>
              </a:lnSpc>
              <a:buNone/>
            </a:pPr>
            <a:r>
              <a:rPr lang="en-US" sz="1350" b="1" dirty="0">
                <a:solidFill>
                  <a:srgbClr val="1B1F3B"/>
                </a:solidFill>
                <a:latin typeface="Calibri" pitchFamily="34" charset="0"/>
                <a:ea typeface="Calibri" pitchFamily="34" charset="-122"/>
                <a:cs typeface="Calibri" pitchFamily="34" charset="-120"/>
              </a:rPr>
              <a:t>El objetivo de SSE:  </a:t>
            </a:r>
            <a:r>
              <a:rPr lang="en-US" sz="1350" dirty="0">
                <a:solidFill>
                  <a:srgbClr val="5B6584"/>
                </a:solidFill>
                <a:latin typeface="Calibri" pitchFamily="34" charset="0"/>
                <a:ea typeface="Calibri" pitchFamily="34" charset="-122"/>
                <a:cs typeface="Calibri" pitchFamily="34" charset="-120"/>
              </a:rPr>
              <a:t>confidencialidad de los datos + capacidad de búsqueda, sin servidor confiable y sin cifrado de clave pública en el camino crítico.</a:t>
            </a:r>
            <a:endParaRPr lang="en-US" sz="1350" dirty="0"/>
          </a:p>
        </p:txBody>
      </p:sp>
      <p:sp>
        <p:nvSpPr>
          <p:cNvPr id="22" name="Text 20"/>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EL PUNTO DE PARTIDA</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¿Por qué no alcanza con AES estándar?</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marL="0" indent="0">
              <a:lnSpc>
                <a:spcPct val="125000"/>
              </a:lnSpc>
              <a:buNone/>
            </a:pPr>
            <a:r>
              <a:rPr lang="en-US" sz="1450" dirty="0">
                <a:solidFill>
                  <a:srgbClr val="5B6584"/>
                </a:solidFill>
                <a:latin typeface="Calibri" pitchFamily="34" charset="0"/>
                <a:ea typeface="Calibri" pitchFamily="34" charset="-122"/>
                <a:cs typeface="Calibri" pitchFamily="34" charset="-120"/>
              </a:rPr>
              <a:t>El cifrado simétrico semánticamente seguro (IND-CPA) es exactamente lo que rompe la búsqueda: dos cifrados del mismo texto son indistinguibles, así que el servidor no puede comparar nada.</a:t>
            </a:r>
            <a:endParaRPr lang="en-US" sz="1450" dirty="0"/>
          </a:p>
        </p:txBody>
      </p:sp>
      <p:sp>
        <p:nvSpPr>
          <p:cNvPr id="5" name="Shape 3"/>
          <p:cNvSpPr/>
          <p:nvPr/>
        </p:nvSpPr>
        <p:spPr>
          <a:xfrm>
            <a:off x="548640" y="2331720"/>
            <a:ext cx="3520440" cy="3246120"/>
          </a:xfrm>
          <a:prstGeom prst="roundRect">
            <a:avLst>
              <a:gd name="adj" fmla="val 2254"/>
            </a:avLst>
          </a:prstGeom>
          <a:solidFill>
            <a:srgbClr val="FFFFFF"/>
          </a:solidFill>
          <a:ln w="12700">
            <a:solidFill>
              <a:srgbClr val="DCE1F0"/>
            </a:solidFill>
            <a:prstDash val="solid"/>
          </a:ln>
        </p:spPr>
        <p:txBody>
          <a:bodyPr/>
          <a:lstStyle/>
          <a:p>
            <a:endParaRPr lang="en-US"/>
          </a:p>
        </p:txBody>
      </p:sp>
      <p:sp>
        <p:nvSpPr>
          <p:cNvPr id="6" name="Text 4"/>
          <p:cNvSpPr/>
          <p:nvPr/>
        </p:nvSpPr>
        <p:spPr>
          <a:xfrm>
            <a:off x="777240" y="2532888"/>
            <a:ext cx="3063240" cy="594360"/>
          </a:xfrm>
          <a:prstGeom prst="rect">
            <a:avLst/>
          </a:prstGeom>
          <a:noFill/>
          <a:ln/>
        </p:spPr>
        <p:txBody>
          <a:bodyPr wrap="square" lIns="0" tIns="0" rIns="0" bIns="0" rtlCol="0" anchor="ctr"/>
          <a:lstStyle/>
          <a:p>
            <a:pPr marL="0" indent="0">
              <a:lnSpc>
                <a:spcPct val="105000"/>
              </a:lnSpc>
              <a:buNone/>
            </a:pPr>
            <a:r>
              <a:rPr lang="en-US" sz="1550" b="1" dirty="0">
                <a:solidFill>
                  <a:srgbClr val="1B1F3B"/>
                </a:solidFill>
                <a:latin typeface="Cambria" pitchFamily="34" charset="0"/>
                <a:ea typeface="Cambria" pitchFamily="34" charset="-122"/>
                <a:cs typeface="Cambria" pitchFamily="34" charset="-120"/>
              </a:rPr>
              <a:t>Descifrar en el servidor</a:t>
            </a:r>
            <a:endParaRPr lang="en-US" sz="1550" dirty="0"/>
          </a:p>
        </p:txBody>
      </p:sp>
      <p:sp>
        <p:nvSpPr>
          <p:cNvPr id="7" name="Text 5"/>
          <p:cNvSpPr/>
          <p:nvPr/>
        </p:nvSpPr>
        <p:spPr>
          <a:xfrm>
            <a:off x="777240" y="3200400"/>
            <a:ext cx="3063240" cy="1691640"/>
          </a:xfrm>
          <a:prstGeom prst="rect">
            <a:avLst/>
          </a:prstGeom>
          <a:noFill/>
          <a:ln/>
        </p:spPr>
        <p:txBody>
          <a:bodyPr wrap="square" lIns="0" tIns="0" rIns="0" bIns="0" rtlCol="0" anchor="ctr"/>
          <a:lstStyle/>
          <a:p>
            <a:pPr marL="0" indent="0">
              <a:lnSpc>
                <a:spcPct val="125000"/>
              </a:lnSpc>
              <a:buNone/>
            </a:pPr>
            <a:r>
              <a:rPr lang="en-US" sz="1200" dirty="0">
                <a:solidFill>
                  <a:srgbClr val="5B6584"/>
                </a:solidFill>
                <a:latin typeface="Calibri" pitchFamily="34" charset="0"/>
                <a:ea typeface="Calibri" pitchFamily="34" charset="-122"/>
                <a:cs typeface="Calibri" pitchFamily="34" charset="-120"/>
              </a:rPr>
              <a:t>Permite indexar y buscar con libertad, pero destruye la confidencialidad: el servidor ve todo en claro.</a:t>
            </a:r>
            <a:endParaRPr lang="en-US" sz="1200" dirty="0"/>
          </a:p>
        </p:txBody>
      </p:sp>
      <p:sp>
        <p:nvSpPr>
          <p:cNvPr id="8" name="Shape 6"/>
          <p:cNvSpPr/>
          <p:nvPr/>
        </p:nvSpPr>
        <p:spPr>
          <a:xfrm>
            <a:off x="777240" y="5029200"/>
            <a:ext cx="3063240" cy="365760"/>
          </a:xfrm>
          <a:prstGeom prst="roundRect">
            <a:avLst>
              <a:gd name="adj" fmla="val 50000"/>
            </a:avLst>
          </a:prstGeom>
          <a:solidFill>
            <a:srgbClr val="F7E4E6"/>
          </a:solidFill>
          <a:ln/>
        </p:spPr>
        <p:txBody>
          <a:bodyPr/>
          <a:lstStyle/>
          <a:p>
            <a:endParaRPr lang="en-US"/>
          </a:p>
        </p:txBody>
      </p:sp>
      <p:sp>
        <p:nvSpPr>
          <p:cNvPr id="9" name="Text 7"/>
          <p:cNvSpPr/>
          <p:nvPr/>
        </p:nvSpPr>
        <p:spPr>
          <a:xfrm>
            <a:off x="777240" y="5029200"/>
            <a:ext cx="3063240" cy="365760"/>
          </a:xfrm>
          <a:prstGeom prst="rect">
            <a:avLst/>
          </a:prstGeom>
          <a:noFill/>
          <a:ln/>
        </p:spPr>
        <p:txBody>
          <a:bodyPr wrap="square" lIns="0" tIns="0" rIns="0" bIns="0" rtlCol="0" anchor="ctr"/>
          <a:lstStyle/>
          <a:p>
            <a:pPr marL="0" indent="0" algn="ctr">
              <a:buNone/>
            </a:pPr>
            <a:r>
              <a:rPr lang="en-US" sz="1100" b="1" dirty="0">
                <a:solidFill>
                  <a:srgbClr val="B23A48"/>
                </a:solidFill>
                <a:latin typeface="Calibri" pitchFamily="34" charset="0"/>
                <a:ea typeface="Calibri" pitchFamily="34" charset="-122"/>
                <a:cs typeface="Calibri" pitchFamily="34" charset="-120"/>
              </a:rPr>
              <a:t>Rompe confidencialidad</a:t>
            </a:r>
            <a:endParaRPr lang="en-US" sz="1100" dirty="0"/>
          </a:p>
        </p:txBody>
      </p:sp>
      <p:sp>
        <p:nvSpPr>
          <p:cNvPr id="10" name="Shape 8"/>
          <p:cNvSpPr/>
          <p:nvPr/>
        </p:nvSpPr>
        <p:spPr>
          <a:xfrm>
            <a:off x="4343400" y="2331720"/>
            <a:ext cx="3520440" cy="3246120"/>
          </a:xfrm>
          <a:prstGeom prst="roundRect">
            <a:avLst>
              <a:gd name="adj" fmla="val 2254"/>
            </a:avLst>
          </a:prstGeom>
          <a:solidFill>
            <a:srgbClr val="FFFFFF"/>
          </a:solidFill>
          <a:ln w="12700">
            <a:solidFill>
              <a:srgbClr val="DCE1F0"/>
            </a:solidFill>
            <a:prstDash val="solid"/>
          </a:ln>
        </p:spPr>
        <p:txBody>
          <a:bodyPr/>
          <a:lstStyle/>
          <a:p>
            <a:endParaRPr lang="en-US"/>
          </a:p>
        </p:txBody>
      </p:sp>
      <p:sp>
        <p:nvSpPr>
          <p:cNvPr id="11" name="Text 9"/>
          <p:cNvSpPr/>
          <p:nvPr/>
        </p:nvSpPr>
        <p:spPr>
          <a:xfrm>
            <a:off x="4572000" y="2532888"/>
            <a:ext cx="3063240" cy="594360"/>
          </a:xfrm>
          <a:prstGeom prst="rect">
            <a:avLst/>
          </a:prstGeom>
          <a:noFill/>
          <a:ln/>
        </p:spPr>
        <p:txBody>
          <a:bodyPr wrap="square" lIns="0" tIns="0" rIns="0" bIns="0" rtlCol="0" anchor="ctr"/>
          <a:lstStyle/>
          <a:p>
            <a:pPr marL="0" indent="0">
              <a:lnSpc>
                <a:spcPct val="105000"/>
              </a:lnSpc>
              <a:buNone/>
            </a:pPr>
            <a:r>
              <a:rPr lang="en-US" sz="1550" b="1" dirty="0">
                <a:solidFill>
                  <a:srgbClr val="1B1F3B"/>
                </a:solidFill>
                <a:latin typeface="Cambria" pitchFamily="34" charset="0"/>
                <a:ea typeface="Cambria" pitchFamily="34" charset="-122"/>
                <a:cs typeface="Cambria" pitchFamily="34" charset="-120"/>
              </a:rPr>
              <a:t>Cifrado determinista simple</a:t>
            </a:r>
            <a:endParaRPr lang="en-US" sz="1550" dirty="0"/>
          </a:p>
        </p:txBody>
      </p:sp>
      <p:sp>
        <p:nvSpPr>
          <p:cNvPr id="12" name="Text 10"/>
          <p:cNvSpPr/>
          <p:nvPr/>
        </p:nvSpPr>
        <p:spPr>
          <a:xfrm>
            <a:off x="4572000" y="3200400"/>
            <a:ext cx="3063240" cy="1691640"/>
          </a:xfrm>
          <a:prstGeom prst="rect">
            <a:avLst/>
          </a:prstGeom>
          <a:noFill/>
          <a:ln/>
        </p:spPr>
        <p:txBody>
          <a:bodyPr wrap="square" lIns="0" tIns="0" rIns="0" bIns="0" rtlCol="0" anchor="ctr"/>
          <a:lstStyle/>
          <a:p>
            <a:pPr marL="0" indent="0">
              <a:lnSpc>
                <a:spcPct val="125000"/>
              </a:lnSpc>
              <a:buNone/>
            </a:pPr>
            <a:r>
              <a:rPr lang="en-US" sz="1200" dirty="0">
                <a:solidFill>
                  <a:srgbClr val="5B6584"/>
                </a:solidFill>
                <a:latin typeface="Calibri" pitchFamily="34" charset="0"/>
                <a:ea typeface="Calibri" pitchFamily="34" charset="-122"/>
                <a:cs typeface="Calibri" pitchFamily="34" charset="-120"/>
              </a:rPr>
              <a:t>Mismo texto → mismo cifrado, así que el servidor sí puede indexar palabras. Pero expone patrones de frecuencia: análisis estadístico revela el vocabulario.</a:t>
            </a:r>
            <a:endParaRPr lang="en-US" sz="1200" dirty="0"/>
          </a:p>
        </p:txBody>
      </p:sp>
      <p:sp>
        <p:nvSpPr>
          <p:cNvPr id="13" name="Shape 11"/>
          <p:cNvSpPr/>
          <p:nvPr/>
        </p:nvSpPr>
        <p:spPr>
          <a:xfrm>
            <a:off x="4572000" y="5029200"/>
            <a:ext cx="3063240" cy="365760"/>
          </a:xfrm>
          <a:prstGeom prst="roundRect">
            <a:avLst>
              <a:gd name="adj" fmla="val 50000"/>
            </a:avLst>
          </a:prstGeom>
          <a:solidFill>
            <a:srgbClr val="F7E4E6"/>
          </a:solidFill>
          <a:ln/>
        </p:spPr>
        <p:txBody>
          <a:bodyPr/>
          <a:lstStyle/>
          <a:p>
            <a:endParaRPr lang="en-US"/>
          </a:p>
        </p:txBody>
      </p:sp>
      <p:sp>
        <p:nvSpPr>
          <p:cNvPr id="14" name="Text 12"/>
          <p:cNvSpPr/>
          <p:nvPr/>
        </p:nvSpPr>
        <p:spPr>
          <a:xfrm>
            <a:off x="4572000" y="5029200"/>
            <a:ext cx="3063240" cy="365760"/>
          </a:xfrm>
          <a:prstGeom prst="rect">
            <a:avLst/>
          </a:prstGeom>
          <a:noFill/>
          <a:ln/>
        </p:spPr>
        <p:txBody>
          <a:bodyPr wrap="square" lIns="0" tIns="0" rIns="0" bIns="0" rtlCol="0" anchor="ctr"/>
          <a:lstStyle/>
          <a:p>
            <a:pPr marL="0" indent="0" algn="ctr">
              <a:buNone/>
            </a:pPr>
            <a:r>
              <a:rPr lang="en-US" sz="1100" b="1" dirty="0">
                <a:solidFill>
                  <a:srgbClr val="B23A48"/>
                </a:solidFill>
                <a:latin typeface="Calibri" pitchFamily="34" charset="0"/>
                <a:ea typeface="Calibri" pitchFamily="34" charset="-122"/>
                <a:cs typeface="Calibri" pitchFamily="34" charset="-120"/>
              </a:rPr>
              <a:t>Fuga por frecuencia</a:t>
            </a:r>
            <a:endParaRPr lang="en-US" sz="1100" dirty="0"/>
          </a:p>
        </p:txBody>
      </p:sp>
      <p:sp>
        <p:nvSpPr>
          <p:cNvPr id="15" name="Shape 13"/>
          <p:cNvSpPr/>
          <p:nvPr/>
        </p:nvSpPr>
        <p:spPr>
          <a:xfrm>
            <a:off x="8138160" y="2331720"/>
            <a:ext cx="3520440" cy="3246120"/>
          </a:xfrm>
          <a:prstGeom prst="roundRect">
            <a:avLst>
              <a:gd name="adj" fmla="val 2254"/>
            </a:avLst>
          </a:prstGeom>
          <a:solidFill>
            <a:srgbClr val="FFFFFF"/>
          </a:solidFill>
          <a:ln w="12700">
            <a:solidFill>
              <a:srgbClr val="DCE1F0"/>
            </a:solidFill>
            <a:prstDash val="solid"/>
          </a:ln>
        </p:spPr>
        <p:txBody>
          <a:bodyPr/>
          <a:lstStyle/>
          <a:p>
            <a:endParaRPr lang="en-US"/>
          </a:p>
        </p:txBody>
      </p:sp>
      <p:sp>
        <p:nvSpPr>
          <p:cNvPr id="16" name="Text 14"/>
          <p:cNvSpPr/>
          <p:nvPr/>
        </p:nvSpPr>
        <p:spPr>
          <a:xfrm>
            <a:off x="8366760" y="2532888"/>
            <a:ext cx="3063240" cy="594360"/>
          </a:xfrm>
          <a:prstGeom prst="rect">
            <a:avLst/>
          </a:prstGeom>
          <a:noFill/>
          <a:ln/>
        </p:spPr>
        <p:txBody>
          <a:bodyPr wrap="square" lIns="0" tIns="0" rIns="0" bIns="0" rtlCol="0" anchor="ctr"/>
          <a:lstStyle/>
          <a:p>
            <a:pPr marL="0" indent="0">
              <a:lnSpc>
                <a:spcPct val="105000"/>
              </a:lnSpc>
              <a:buNone/>
            </a:pPr>
            <a:r>
              <a:rPr lang="en-US" sz="1550" b="1" dirty="0">
                <a:solidFill>
                  <a:srgbClr val="1B1F3B"/>
                </a:solidFill>
                <a:latin typeface="Cambria" pitchFamily="34" charset="0"/>
                <a:ea typeface="Cambria" pitchFamily="34" charset="-122"/>
                <a:cs typeface="Cambria" pitchFamily="34" charset="-120"/>
              </a:rPr>
              <a:t>Descargar todo y filtrar</a:t>
            </a:r>
            <a:endParaRPr lang="en-US" sz="1550" dirty="0"/>
          </a:p>
        </p:txBody>
      </p:sp>
      <p:sp>
        <p:nvSpPr>
          <p:cNvPr id="17" name="Text 15"/>
          <p:cNvSpPr/>
          <p:nvPr/>
        </p:nvSpPr>
        <p:spPr>
          <a:xfrm>
            <a:off x="8366760" y="3200400"/>
            <a:ext cx="3063240" cy="1691640"/>
          </a:xfrm>
          <a:prstGeom prst="rect">
            <a:avLst/>
          </a:prstGeom>
          <a:noFill/>
          <a:ln/>
        </p:spPr>
        <p:txBody>
          <a:bodyPr wrap="square" lIns="0" tIns="0" rIns="0" bIns="0" rtlCol="0" anchor="ctr"/>
          <a:lstStyle/>
          <a:p>
            <a:pPr marL="0" indent="0">
              <a:lnSpc>
                <a:spcPct val="125000"/>
              </a:lnSpc>
              <a:buNone/>
            </a:pPr>
            <a:r>
              <a:rPr lang="en-US" sz="1200" dirty="0">
                <a:solidFill>
                  <a:srgbClr val="5B6584"/>
                </a:solidFill>
                <a:latin typeface="Calibri" pitchFamily="34" charset="0"/>
                <a:ea typeface="Calibri" pitchFamily="34" charset="-122"/>
                <a:cs typeface="Calibri" pitchFamily="34" charset="-120"/>
              </a:rPr>
              <a:t>El cliente descifra localmente y busca. Preserva la seguridad pero es lineal en el tamaño del dataset: inviable a escala.</a:t>
            </a:r>
            <a:endParaRPr lang="en-US" sz="1200" dirty="0"/>
          </a:p>
        </p:txBody>
      </p:sp>
      <p:sp>
        <p:nvSpPr>
          <p:cNvPr id="18" name="Shape 16"/>
          <p:cNvSpPr/>
          <p:nvPr/>
        </p:nvSpPr>
        <p:spPr>
          <a:xfrm>
            <a:off x="8366760" y="5029200"/>
            <a:ext cx="3063240" cy="365760"/>
          </a:xfrm>
          <a:prstGeom prst="roundRect">
            <a:avLst>
              <a:gd name="adj" fmla="val 50000"/>
            </a:avLst>
          </a:prstGeom>
          <a:solidFill>
            <a:srgbClr val="F7E4E6"/>
          </a:solidFill>
          <a:ln/>
        </p:spPr>
        <p:txBody>
          <a:bodyPr/>
          <a:lstStyle/>
          <a:p>
            <a:endParaRPr lang="en-US"/>
          </a:p>
        </p:txBody>
      </p:sp>
      <p:sp>
        <p:nvSpPr>
          <p:cNvPr id="19" name="Text 17"/>
          <p:cNvSpPr/>
          <p:nvPr/>
        </p:nvSpPr>
        <p:spPr>
          <a:xfrm>
            <a:off x="8366760" y="5029200"/>
            <a:ext cx="3063240" cy="365760"/>
          </a:xfrm>
          <a:prstGeom prst="rect">
            <a:avLst/>
          </a:prstGeom>
          <a:noFill/>
          <a:ln/>
        </p:spPr>
        <p:txBody>
          <a:bodyPr wrap="square" lIns="0" tIns="0" rIns="0" bIns="0" rtlCol="0" anchor="ctr"/>
          <a:lstStyle/>
          <a:p>
            <a:pPr marL="0" indent="0" algn="ctr">
              <a:buNone/>
            </a:pPr>
            <a:r>
              <a:rPr lang="en-US" sz="1100" b="1" dirty="0">
                <a:solidFill>
                  <a:srgbClr val="B23A48"/>
                </a:solidFill>
                <a:latin typeface="Calibri" pitchFamily="34" charset="0"/>
                <a:ea typeface="Calibri" pitchFamily="34" charset="-122"/>
                <a:cs typeface="Calibri" pitchFamily="34" charset="-120"/>
              </a:rPr>
              <a:t>No escala</a:t>
            </a:r>
            <a:endParaRPr lang="en-US" sz="1100" dirty="0"/>
          </a:p>
        </p:txBody>
      </p:sp>
      <p:sp>
        <p:nvSpPr>
          <p:cNvPr id="20" name="Text 18"/>
          <p:cNvSpPr/>
          <p:nvPr/>
        </p:nvSpPr>
        <p:spPr>
          <a:xfrm>
            <a:off x="548640" y="5806440"/>
            <a:ext cx="11064240" cy="640080"/>
          </a:xfrm>
          <a:prstGeom prst="rect">
            <a:avLst/>
          </a:prstGeom>
          <a:noFill/>
          <a:ln/>
        </p:spPr>
        <p:txBody>
          <a:bodyPr wrap="square" lIns="0" tIns="0" rIns="0" bIns="0" rtlCol="0" anchor="ctr"/>
          <a:lstStyle/>
          <a:p>
            <a:pPr marL="0" indent="0">
              <a:lnSpc>
                <a:spcPct val="120000"/>
              </a:lnSpc>
              <a:buNone/>
            </a:pPr>
            <a:r>
              <a:rPr lang="en-US" sz="1350" dirty="0">
                <a:solidFill>
                  <a:srgbClr val="1B1F3B"/>
                </a:solidFill>
                <a:latin typeface="Calibri" pitchFamily="34" charset="0"/>
                <a:ea typeface="Calibri" pitchFamily="34" charset="-122"/>
                <a:cs typeface="Calibri" pitchFamily="34" charset="-120"/>
              </a:rPr>
              <a:t>La salida no es abandonar el cifrado simétrico — es </a:t>
            </a:r>
            <a:r>
              <a:rPr lang="en-US" sz="1350" b="1" dirty="0">
                <a:solidFill>
                  <a:srgbClr val="B4842E"/>
                </a:solidFill>
                <a:latin typeface="Calibri" pitchFamily="34" charset="0"/>
                <a:ea typeface="Calibri" pitchFamily="34" charset="-122"/>
                <a:cs typeface="Calibri" pitchFamily="34" charset="-120"/>
              </a:rPr>
              <a:t>estructurarlo distinto</a:t>
            </a:r>
            <a:r>
              <a:rPr lang="en-US" sz="1350" dirty="0">
                <a:solidFill>
                  <a:srgbClr val="1B1F3B"/>
                </a:solidFill>
                <a:latin typeface="Calibri" pitchFamily="34" charset="0"/>
                <a:ea typeface="Calibri" pitchFamily="34" charset="-122"/>
                <a:cs typeface="Calibri" pitchFamily="34" charset="-120"/>
              </a:rPr>
              <a:t>: separar el índice de búsqueda del contenido, y usar primitivas simétricas específicas (PRF, PRP) para generar accesos controlados.</a:t>
            </a:r>
            <a:endParaRPr lang="en-US" sz="1350" dirty="0"/>
          </a:p>
        </p:txBody>
      </p:sp>
      <p:sp>
        <p:nvSpPr>
          <p:cNvPr id="21" name="Text 19"/>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PRIMITIVAS BASE</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PRF y PRP: los bloques simétricos de SSE</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marL="0" indent="0">
              <a:lnSpc>
                <a:spcPct val="125000"/>
              </a:lnSpc>
              <a:buNone/>
            </a:pPr>
            <a:r>
              <a:rPr lang="en-US" sz="1400" dirty="0">
                <a:solidFill>
                  <a:srgbClr val="C7D3F0"/>
                </a:solidFill>
                <a:latin typeface="Calibri" pitchFamily="34" charset="0"/>
                <a:ea typeface="Calibri" pitchFamily="34" charset="-122"/>
                <a:cs typeface="Calibri" pitchFamily="34" charset="-120"/>
              </a:rPr>
              <a:t>Toda construcción de SSE se apoya en dos primitivas simétricas estándar. Su seguridad computacional es lo que garantiza que los trapdoors y las claves derivadas sean indistinguibles de aleatorio para el servidor.</a:t>
            </a:r>
            <a:endParaRPr lang="en-US" sz="1400" dirty="0"/>
          </a:p>
        </p:txBody>
      </p:sp>
      <p:sp>
        <p:nvSpPr>
          <p:cNvPr id="5" name="Shape 3"/>
          <p:cNvSpPr/>
          <p:nvPr/>
        </p:nvSpPr>
        <p:spPr>
          <a:xfrm>
            <a:off x="548640" y="2240280"/>
            <a:ext cx="5349240" cy="3246120"/>
          </a:xfrm>
          <a:prstGeom prst="roundRect">
            <a:avLst>
              <a:gd name="adj" fmla="val 2817"/>
            </a:avLst>
          </a:prstGeom>
          <a:solidFill>
            <a:srgbClr val="262C56"/>
          </a:solidFill>
          <a:ln/>
        </p:spPr>
        <p:txBody>
          <a:bodyPr/>
          <a:lstStyle/>
          <a:p>
            <a:endParaRPr lang="en-US"/>
          </a:p>
        </p:txBody>
      </p:sp>
      <p:sp>
        <p:nvSpPr>
          <p:cNvPr id="6" name="Shape 4"/>
          <p:cNvSpPr/>
          <p:nvPr/>
        </p:nvSpPr>
        <p:spPr>
          <a:xfrm>
            <a:off x="822960" y="2514600"/>
            <a:ext cx="1051560" cy="548640"/>
          </a:xfrm>
          <a:prstGeom prst="roundRect">
            <a:avLst>
              <a:gd name="adj" fmla="val 13333"/>
            </a:avLst>
          </a:prstGeom>
          <a:solidFill>
            <a:srgbClr val="D9A441"/>
          </a:solidFill>
          <a:ln/>
        </p:spPr>
        <p:txBody>
          <a:bodyPr/>
          <a:lstStyle/>
          <a:p>
            <a:endParaRPr lang="en-US"/>
          </a:p>
        </p:txBody>
      </p:sp>
      <p:sp>
        <p:nvSpPr>
          <p:cNvPr id="7" name="Text 5"/>
          <p:cNvSpPr/>
          <p:nvPr/>
        </p:nvSpPr>
        <p:spPr>
          <a:xfrm>
            <a:off x="822960" y="2514600"/>
            <a:ext cx="1051560" cy="548640"/>
          </a:xfrm>
          <a:prstGeom prst="rect">
            <a:avLst/>
          </a:prstGeom>
          <a:noFill/>
          <a:ln/>
        </p:spPr>
        <p:txBody>
          <a:bodyPr wrap="square" lIns="0" tIns="0" rIns="0" bIns="0" rtlCol="0" anchor="ctr"/>
          <a:lstStyle/>
          <a:p>
            <a:pPr marL="0" indent="0" algn="ctr">
              <a:buNone/>
            </a:pPr>
            <a:r>
              <a:rPr lang="en-US" sz="2000" b="1" dirty="0">
                <a:solidFill>
                  <a:srgbClr val="1B1F3B"/>
                </a:solidFill>
                <a:latin typeface="Cambria" pitchFamily="34" charset="0"/>
                <a:ea typeface="Cambria" pitchFamily="34" charset="-122"/>
                <a:cs typeface="Cambria" pitchFamily="34" charset="-120"/>
              </a:rPr>
              <a:t>PRF</a:t>
            </a:r>
            <a:endParaRPr lang="en-US" sz="2000" dirty="0"/>
          </a:p>
        </p:txBody>
      </p:sp>
      <p:sp>
        <p:nvSpPr>
          <p:cNvPr id="8" name="Text 6"/>
          <p:cNvSpPr/>
          <p:nvPr/>
        </p:nvSpPr>
        <p:spPr>
          <a:xfrm>
            <a:off x="2057400" y="2532888"/>
            <a:ext cx="3611880"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Función Pseudoaleatoria</a:t>
            </a:r>
            <a:endParaRPr lang="en-US" sz="1500" dirty="0"/>
          </a:p>
        </p:txBody>
      </p:sp>
      <p:sp>
        <p:nvSpPr>
          <p:cNvPr id="9" name="Text 7"/>
          <p:cNvSpPr/>
          <p:nvPr/>
        </p:nvSpPr>
        <p:spPr>
          <a:xfrm>
            <a:off x="822960" y="3291840"/>
            <a:ext cx="4800600" cy="457200"/>
          </a:xfrm>
          <a:prstGeom prst="rect">
            <a:avLst/>
          </a:prstGeom>
          <a:noFill/>
          <a:ln/>
        </p:spPr>
        <p:txBody>
          <a:bodyPr wrap="square" lIns="0" tIns="0" rIns="0" bIns="0" rtlCol="0" anchor="ctr"/>
          <a:lstStyle/>
          <a:p>
            <a:pPr marL="0" indent="0">
              <a:buNone/>
            </a:pPr>
            <a:r>
              <a:rPr lang="en-US" sz="1300" dirty="0">
                <a:solidFill>
                  <a:srgbClr val="D9A441"/>
                </a:solidFill>
                <a:latin typeface="Courier New" pitchFamily="34" charset="0"/>
                <a:ea typeface="Courier New" pitchFamily="34" charset="-122"/>
                <a:cs typeface="Courier New" pitchFamily="34" charset="-120"/>
              </a:rPr>
              <a:t>F : {0,1}ᵏ × {0,1}ⁿ → {0,1}ⁿ</a:t>
            </a:r>
            <a:endParaRPr lang="en-US" sz="1300" dirty="0"/>
          </a:p>
        </p:txBody>
      </p:sp>
      <p:sp>
        <p:nvSpPr>
          <p:cNvPr id="10" name="Text 8"/>
          <p:cNvSpPr/>
          <p:nvPr/>
        </p:nvSpPr>
        <p:spPr>
          <a:xfrm>
            <a:off x="822960" y="3931920"/>
            <a:ext cx="4800600" cy="274320"/>
          </a:xfrm>
          <a:prstGeom prst="rect">
            <a:avLst/>
          </a:prstGeom>
          <a:noFill/>
          <a:ln/>
        </p:spPr>
        <p:txBody>
          <a:bodyPr wrap="square" lIns="0" tIns="0" rIns="0" bIns="0" rtlCol="0" anchor="ctr"/>
          <a:lstStyle/>
          <a:p>
            <a:pPr marL="0" indent="0">
              <a:buNone/>
            </a:pPr>
            <a:r>
              <a:rPr lang="en-US" sz="1050" b="1" kern="0" spc="100" dirty="0">
                <a:solidFill>
                  <a:srgbClr val="8D98C4"/>
                </a:solidFill>
                <a:latin typeface="Calibri" pitchFamily="34" charset="0"/>
                <a:ea typeface="Calibri" pitchFamily="34" charset="-122"/>
                <a:cs typeface="Calibri" pitchFamily="34" charset="-120"/>
              </a:rPr>
              <a:t>USO EN SSE</a:t>
            </a:r>
            <a:endParaRPr lang="en-US" sz="1050" dirty="0"/>
          </a:p>
        </p:txBody>
      </p:sp>
      <p:sp>
        <p:nvSpPr>
          <p:cNvPr id="11" name="Text 9"/>
          <p:cNvSpPr/>
          <p:nvPr/>
        </p:nvSpPr>
        <p:spPr>
          <a:xfrm>
            <a:off x="822960" y="4206240"/>
            <a:ext cx="4800600" cy="594360"/>
          </a:xfrm>
          <a:prstGeom prst="rect">
            <a:avLst/>
          </a:prstGeom>
          <a:noFill/>
          <a:ln/>
        </p:spPr>
        <p:txBody>
          <a:bodyPr wrap="square" lIns="0" tIns="0" rIns="0" bIns="0" rtlCol="0" anchor="ctr"/>
          <a:lstStyle/>
          <a:p>
            <a:pPr marL="0" indent="0">
              <a:lnSpc>
                <a:spcPct val="120000"/>
              </a:lnSpc>
              <a:buNone/>
            </a:pPr>
            <a:r>
              <a:rPr lang="en-US" sz="1200" dirty="0">
                <a:solidFill>
                  <a:srgbClr val="C7D3F0"/>
                </a:solidFill>
                <a:latin typeface="Calibri" pitchFamily="34" charset="0"/>
                <a:ea typeface="Calibri" pitchFamily="34" charset="-122"/>
                <a:cs typeface="Calibri" pitchFamily="34" charset="-120"/>
              </a:rPr>
              <a:t>Deriva claves e identificadores por palabra clave a partir de una clave maestra K y el término w.</a:t>
            </a:r>
            <a:endParaRPr lang="en-US" sz="1200" dirty="0"/>
          </a:p>
        </p:txBody>
      </p:sp>
      <p:sp>
        <p:nvSpPr>
          <p:cNvPr id="12" name="Text 10"/>
          <p:cNvSpPr/>
          <p:nvPr/>
        </p:nvSpPr>
        <p:spPr>
          <a:xfrm>
            <a:off x="822960" y="4846320"/>
            <a:ext cx="4800600" cy="274320"/>
          </a:xfrm>
          <a:prstGeom prst="rect">
            <a:avLst/>
          </a:prstGeom>
          <a:noFill/>
          <a:ln/>
        </p:spPr>
        <p:txBody>
          <a:bodyPr wrap="square" lIns="0" tIns="0" rIns="0" bIns="0" rtlCol="0" anchor="ctr"/>
          <a:lstStyle/>
          <a:p>
            <a:pPr marL="0" indent="0">
              <a:buNone/>
            </a:pPr>
            <a:r>
              <a:rPr lang="en-US" sz="1050" b="1" kern="0" spc="100" dirty="0">
                <a:solidFill>
                  <a:srgbClr val="8D98C4"/>
                </a:solidFill>
                <a:latin typeface="Calibri" pitchFamily="34" charset="0"/>
                <a:ea typeface="Calibri" pitchFamily="34" charset="-122"/>
                <a:cs typeface="Calibri" pitchFamily="34" charset="-120"/>
              </a:rPr>
              <a:t>ROL ESTRUCTURAL</a:t>
            </a:r>
            <a:endParaRPr lang="en-US" sz="1050" dirty="0"/>
          </a:p>
        </p:txBody>
      </p:sp>
      <p:sp>
        <p:nvSpPr>
          <p:cNvPr id="13" name="Text 11"/>
          <p:cNvSpPr/>
          <p:nvPr/>
        </p:nvSpPr>
        <p:spPr>
          <a:xfrm>
            <a:off x="822960" y="5102352"/>
            <a:ext cx="4800600" cy="548640"/>
          </a:xfrm>
          <a:prstGeom prst="rect">
            <a:avLst/>
          </a:prstGeom>
          <a:noFill/>
          <a:ln/>
        </p:spPr>
        <p:txBody>
          <a:bodyPr wrap="square" lIns="0" tIns="0" rIns="0" bIns="0" rtlCol="0" anchor="ctr"/>
          <a:lstStyle/>
          <a:p>
            <a:pPr marL="0" indent="0">
              <a:lnSpc>
                <a:spcPct val="120000"/>
              </a:lnSpc>
              <a:buNone/>
            </a:pPr>
            <a:r>
              <a:rPr lang="en-US" sz="1200" dirty="0">
                <a:solidFill>
                  <a:srgbClr val="C7D3F0"/>
                </a:solidFill>
                <a:latin typeface="Calibri" pitchFamily="34" charset="0"/>
                <a:ea typeface="Calibri" pitchFamily="34" charset="-122"/>
                <a:cs typeface="Calibri" pitchFamily="34" charset="-120"/>
              </a:rPr>
              <a:t>Genera el trapdoor de búsqueda y las claves por-nodo del índice.</a:t>
            </a:r>
            <a:endParaRPr lang="en-US" sz="1200" dirty="0"/>
          </a:p>
        </p:txBody>
      </p:sp>
      <p:sp>
        <p:nvSpPr>
          <p:cNvPr id="14" name="Shape 12"/>
          <p:cNvSpPr/>
          <p:nvPr/>
        </p:nvSpPr>
        <p:spPr>
          <a:xfrm>
            <a:off x="6355080" y="2240280"/>
            <a:ext cx="5349240" cy="3246120"/>
          </a:xfrm>
          <a:prstGeom prst="roundRect">
            <a:avLst>
              <a:gd name="adj" fmla="val 2817"/>
            </a:avLst>
          </a:prstGeom>
          <a:solidFill>
            <a:srgbClr val="262C56"/>
          </a:solidFill>
          <a:ln/>
        </p:spPr>
        <p:txBody>
          <a:bodyPr/>
          <a:lstStyle/>
          <a:p>
            <a:endParaRPr lang="en-US"/>
          </a:p>
        </p:txBody>
      </p:sp>
      <p:sp>
        <p:nvSpPr>
          <p:cNvPr id="15" name="Shape 13"/>
          <p:cNvSpPr/>
          <p:nvPr/>
        </p:nvSpPr>
        <p:spPr>
          <a:xfrm>
            <a:off x="6629400" y="2514600"/>
            <a:ext cx="1051560" cy="548640"/>
          </a:xfrm>
          <a:prstGeom prst="roundRect">
            <a:avLst>
              <a:gd name="adj" fmla="val 13333"/>
            </a:avLst>
          </a:prstGeom>
          <a:solidFill>
            <a:srgbClr val="D9A441"/>
          </a:solidFill>
          <a:ln/>
        </p:spPr>
        <p:txBody>
          <a:bodyPr/>
          <a:lstStyle/>
          <a:p>
            <a:endParaRPr lang="en-US"/>
          </a:p>
        </p:txBody>
      </p:sp>
      <p:sp>
        <p:nvSpPr>
          <p:cNvPr id="16" name="Text 14"/>
          <p:cNvSpPr/>
          <p:nvPr/>
        </p:nvSpPr>
        <p:spPr>
          <a:xfrm>
            <a:off x="6629400" y="2514600"/>
            <a:ext cx="1051560" cy="548640"/>
          </a:xfrm>
          <a:prstGeom prst="rect">
            <a:avLst/>
          </a:prstGeom>
          <a:noFill/>
          <a:ln/>
        </p:spPr>
        <p:txBody>
          <a:bodyPr wrap="square" lIns="0" tIns="0" rIns="0" bIns="0" rtlCol="0" anchor="ctr"/>
          <a:lstStyle/>
          <a:p>
            <a:pPr marL="0" indent="0" algn="ctr">
              <a:buNone/>
            </a:pPr>
            <a:r>
              <a:rPr lang="en-US" sz="2000" b="1" dirty="0">
                <a:solidFill>
                  <a:srgbClr val="1B1F3B"/>
                </a:solidFill>
                <a:latin typeface="Cambria" pitchFamily="34" charset="0"/>
                <a:ea typeface="Cambria" pitchFamily="34" charset="-122"/>
                <a:cs typeface="Cambria" pitchFamily="34" charset="-120"/>
              </a:rPr>
              <a:t>PRP</a:t>
            </a:r>
            <a:endParaRPr lang="en-US" sz="2000" dirty="0"/>
          </a:p>
        </p:txBody>
      </p:sp>
      <p:sp>
        <p:nvSpPr>
          <p:cNvPr id="17" name="Text 15"/>
          <p:cNvSpPr/>
          <p:nvPr/>
        </p:nvSpPr>
        <p:spPr>
          <a:xfrm>
            <a:off x="7863840" y="2532888"/>
            <a:ext cx="3611880" cy="548640"/>
          </a:xfrm>
          <a:prstGeom prst="rect">
            <a:avLst/>
          </a:prstGeom>
          <a:noFill/>
          <a:ln/>
        </p:spPr>
        <p:txBody>
          <a:bodyPr wrap="square" lIns="0" tIns="0" rIns="0" bIns="0" rtlCol="0" anchor="ctr"/>
          <a:lstStyle/>
          <a:p>
            <a:pPr marL="0" indent="0">
              <a:buNone/>
            </a:pPr>
            <a:r>
              <a:rPr lang="en-US" sz="1500" b="1" dirty="0">
                <a:solidFill>
                  <a:srgbClr val="FFFFFF"/>
                </a:solidFill>
                <a:latin typeface="Cambria" pitchFamily="34" charset="0"/>
                <a:ea typeface="Cambria" pitchFamily="34" charset="-122"/>
                <a:cs typeface="Cambria" pitchFamily="34" charset="-120"/>
              </a:rPr>
              <a:t>Permutación Pseudoaleatoria</a:t>
            </a:r>
            <a:endParaRPr lang="en-US" sz="1500" dirty="0"/>
          </a:p>
        </p:txBody>
      </p:sp>
      <p:sp>
        <p:nvSpPr>
          <p:cNvPr id="18" name="Text 16"/>
          <p:cNvSpPr/>
          <p:nvPr/>
        </p:nvSpPr>
        <p:spPr>
          <a:xfrm>
            <a:off x="6629400" y="3291840"/>
            <a:ext cx="4800600" cy="457200"/>
          </a:xfrm>
          <a:prstGeom prst="rect">
            <a:avLst/>
          </a:prstGeom>
          <a:noFill/>
          <a:ln/>
        </p:spPr>
        <p:txBody>
          <a:bodyPr wrap="square" lIns="0" tIns="0" rIns="0" bIns="0" rtlCol="0" anchor="ctr"/>
          <a:lstStyle/>
          <a:p>
            <a:pPr marL="0" indent="0">
              <a:buNone/>
            </a:pPr>
            <a:r>
              <a:rPr lang="en-US" sz="1300" dirty="0">
                <a:solidFill>
                  <a:srgbClr val="D9A441"/>
                </a:solidFill>
                <a:latin typeface="Courier New" pitchFamily="34" charset="0"/>
                <a:ea typeface="Courier New" pitchFamily="34" charset="-122"/>
                <a:cs typeface="Courier New" pitchFamily="34" charset="-120"/>
              </a:rPr>
              <a:t>P : {0,1}ᵏ × {0,1}ⁿ → {0,1}ⁿ  (biyectiva)</a:t>
            </a:r>
            <a:endParaRPr lang="en-US" sz="1300" dirty="0"/>
          </a:p>
        </p:txBody>
      </p:sp>
      <p:sp>
        <p:nvSpPr>
          <p:cNvPr id="19" name="Text 17"/>
          <p:cNvSpPr/>
          <p:nvPr/>
        </p:nvSpPr>
        <p:spPr>
          <a:xfrm>
            <a:off x="6629400" y="3931920"/>
            <a:ext cx="4800600" cy="274320"/>
          </a:xfrm>
          <a:prstGeom prst="rect">
            <a:avLst/>
          </a:prstGeom>
          <a:noFill/>
          <a:ln/>
        </p:spPr>
        <p:txBody>
          <a:bodyPr wrap="square" lIns="0" tIns="0" rIns="0" bIns="0" rtlCol="0" anchor="ctr"/>
          <a:lstStyle/>
          <a:p>
            <a:pPr marL="0" indent="0">
              <a:buNone/>
            </a:pPr>
            <a:r>
              <a:rPr lang="en-US" sz="1050" b="1" kern="0" spc="100" dirty="0">
                <a:solidFill>
                  <a:srgbClr val="8D98C4"/>
                </a:solidFill>
                <a:latin typeface="Calibri" pitchFamily="34" charset="0"/>
                <a:ea typeface="Calibri" pitchFamily="34" charset="-122"/>
                <a:cs typeface="Calibri" pitchFamily="34" charset="-120"/>
              </a:rPr>
              <a:t>USO EN SSE</a:t>
            </a:r>
            <a:endParaRPr lang="en-US" sz="1050" dirty="0"/>
          </a:p>
        </p:txBody>
      </p:sp>
      <p:sp>
        <p:nvSpPr>
          <p:cNvPr id="20" name="Text 18"/>
          <p:cNvSpPr/>
          <p:nvPr/>
        </p:nvSpPr>
        <p:spPr>
          <a:xfrm>
            <a:off x="6629400" y="4206240"/>
            <a:ext cx="4800600" cy="594360"/>
          </a:xfrm>
          <a:prstGeom prst="rect">
            <a:avLst/>
          </a:prstGeom>
          <a:noFill/>
          <a:ln/>
        </p:spPr>
        <p:txBody>
          <a:bodyPr wrap="square" lIns="0" tIns="0" rIns="0" bIns="0" rtlCol="0" anchor="ctr"/>
          <a:lstStyle/>
          <a:p>
            <a:pPr marL="0" indent="0">
              <a:lnSpc>
                <a:spcPct val="120000"/>
              </a:lnSpc>
              <a:buNone/>
            </a:pPr>
            <a:r>
              <a:rPr lang="en-US" sz="1200" dirty="0">
                <a:solidFill>
                  <a:srgbClr val="C7D3F0"/>
                </a:solidFill>
                <a:latin typeface="Calibri" pitchFamily="34" charset="0"/>
                <a:ea typeface="Calibri" pitchFamily="34" charset="-122"/>
                <a:cs typeface="Calibri" pitchFamily="34" charset="-120"/>
              </a:rPr>
              <a:t>Un cifrador de bloque (p. ej. AES) modelado como permutación indistinguible de una aleatoria.</a:t>
            </a:r>
            <a:endParaRPr lang="en-US" sz="1200" dirty="0"/>
          </a:p>
        </p:txBody>
      </p:sp>
      <p:sp>
        <p:nvSpPr>
          <p:cNvPr id="21" name="Text 19"/>
          <p:cNvSpPr/>
          <p:nvPr/>
        </p:nvSpPr>
        <p:spPr>
          <a:xfrm>
            <a:off x="6629400" y="4846320"/>
            <a:ext cx="4800600" cy="274320"/>
          </a:xfrm>
          <a:prstGeom prst="rect">
            <a:avLst/>
          </a:prstGeom>
          <a:noFill/>
          <a:ln/>
        </p:spPr>
        <p:txBody>
          <a:bodyPr wrap="square" lIns="0" tIns="0" rIns="0" bIns="0" rtlCol="0" anchor="ctr"/>
          <a:lstStyle/>
          <a:p>
            <a:pPr marL="0" indent="0">
              <a:buNone/>
            </a:pPr>
            <a:r>
              <a:rPr lang="en-US" sz="1050" b="1" kern="0" spc="100" dirty="0">
                <a:solidFill>
                  <a:srgbClr val="8D98C4"/>
                </a:solidFill>
                <a:latin typeface="Calibri" pitchFamily="34" charset="0"/>
                <a:ea typeface="Calibri" pitchFamily="34" charset="-122"/>
                <a:cs typeface="Calibri" pitchFamily="34" charset="-120"/>
              </a:rPr>
              <a:t>ROL ESTRUCTURAL</a:t>
            </a:r>
            <a:endParaRPr lang="en-US" sz="1050" dirty="0"/>
          </a:p>
        </p:txBody>
      </p:sp>
      <p:sp>
        <p:nvSpPr>
          <p:cNvPr id="22" name="Text 20"/>
          <p:cNvSpPr/>
          <p:nvPr/>
        </p:nvSpPr>
        <p:spPr>
          <a:xfrm>
            <a:off x="6629400" y="5102352"/>
            <a:ext cx="4800600" cy="548640"/>
          </a:xfrm>
          <a:prstGeom prst="rect">
            <a:avLst/>
          </a:prstGeom>
          <a:noFill/>
          <a:ln/>
        </p:spPr>
        <p:txBody>
          <a:bodyPr wrap="square" lIns="0" tIns="0" rIns="0" bIns="0" rtlCol="0" anchor="ctr"/>
          <a:lstStyle/>
          <a:p>
            <a:pPr marL="0" indent="0">
              <a:lnSpc>
                <a:spcPct val="120000"/>
              </a:lnSpc>
              <a:buNone/>
            </a:pPr>
            <a:r>
              <a:rPr lang="en-US" sz="1200" dirty="0">
                <a:solidFill>
                  <a:srgbClr val="C7D3F0"/>
                </a:solidFill>
                <a:latin typeface="Calibri" pitchFamily="34" charset="0"/>
                <a:ea typeface="Calibri" pitchFamily="34" charset="-122"/>
                <a:cs typeface="Calibri" pitchFamily="34" charset="-120"/>
              </a:rPr>
              <a:t>Cifra los nodos del índice de forma que sean indistinguibles sin la clave.</a:t>
            </a:r>
            <a:endParaRPr lang="en-US" sz="1200" dirty="0"/>
          </a:p>
        </p:txBody>
      </p:sp>
      <p:sp>
        <p:nvSpPr>
          <p:cNvPr id="23" name="Text 21"/>
          <p:cNvSpPr/>
          <p:nvPr/>
        </p:nvSpPr>
        <p:spPr>
          <a:xfrm>
            <a:off x="548640" y="5760720"/>
            <a:ext cx="11064240" cy="548640"/>
          </a:xfrm>
          <a:prstGeom prst="rect">
            <a:avLst/>
          </a:prstGeom>
          <a:noFill/>
          <a:ln/>
        </p:spPr>
        <p:txBody>
          <a:bodyPr wrap="square" lIns="0" tIns="0" rIns="0" bIns="0" rtlCol="0" anchor="ctr"/>
          <a:lstStyle/>
          <a:p>
            <a:pPr marL="0" indent="0">
              <a:lnSpc>
                <a:spcPct val="120000"/>
              </a:lnSpc>
              <a:buNone/>
            </a:pPr>
            <a:r>
              <a:rPr lang="en-US" sz="1250" i="1" dirty="0">
                <a:solidFill>
                  <a:srgbClr val="8D98C4"/>
                </a:solidFill>
                <a:latin typeface="Calibri" pitchFamily="34" charset="0"/>
                <a:ea typeface="Calibri" pitchFamily="34" charset="-122"/>
                <a:cs typeface="Calibri" pitchFamily="34" charset="-120"/>
              </a:rPr>
              <a:t>Ambas son órdenes de magnitud más rápidas que operaciones de clave pública — la razón por la que SSE puede escalar a millones de documentos.</a:t>
            </a:r>
            <a:endParaRPr lang="en-US" sz="1250" dirty="0"/>
          </a:p>
        </p:txBody>
      </p:sp>
      <p:sp>
        <p:nvSpPr>
          <p:cNvPr id="24" name="Text 22"/>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8D98C4"/>
                </a:solidFill>
                <a:latin typeface="Calibri" pitchFamily="34" charset="0"/>
                <a:ea typeface="Calibri" pitchFamily="34" charset="-122"/>
                <a:cs typeface="Calibri" pitchFamily="34" charset="-120"/>
              </a:rPr>
              <a:t>04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LA IDEA CENTRAL</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El índice invertido cifrado</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marL="0" indent="0">
              <a:lnSpc>
                <a:spcPct val="125000"/>
              </a:lnSpc>
              <a:buNone/>
            </a:pPr>
            <a:r>
              <a:rPr lang="en-US" sz="1450" dirty="0">
                <a:solidFill>
                  <a:srgbClr val="5B6584"/>
                </a:solidFill>
                <a:latin typeface="Calibri" pitchFamily="34" charset="0"/>
                <a:ea typeface="Calibri" pitchFamily="34" charset="-122"/>
                <a:cs typeface="Calibri" pitchFamily="34" charset="-120"/>
              </a:rPr>
              <a:t>En vez de cifrar documentos y esperar poder inspeccionarlos, SSE construye un índice invertido — palabra clave → lista de documentos — y lo cifra como estructura completa usando PRF y PRP.</a:t>
            </a:r>
            <a:endParaRPr lang="en-US" sz="1450" dirty="0"/>
          </a:p>
        </p:txBody>
      </p:sp>
      <p:sp>
        <p:nvSpPr>
          <p:cNvPr id="5" name="Shape 3"/>
          <p:cNvSpPr/>
          <p:nvPr/>
        </p:nvSpPr>
        <p:spPr>
          <a:xfrm>
            <a:off x="548640" y="2468880"/>
            <a:ext cx="2514600" cy="1005840"/>
          </a:xfrm>
          <a:prstGeom prst="roundRect">
            <a:avLst>
              <a:gd name="adj" fmla="val 8182"/>
            </a:avLst>
          </a:prstGeom>
          <a:solidFill>
            <a:srgbClr val="2E355E"/>
          </a:solidFill>
          <a:ln/>
        </p:spPr>
        <p:txBody>
          <a:bodyPr/>
          <a:lstStyle/>
          <a:p>
            <a:endParaRPr lang="en-US"/>
          </a:p>
        </p:txBody>
      </p:sp>
      <p:sp>
        <p:nvSpPr>
          <p:cNvPr id="6" name="Text 4"/>
          <p:cNvSpPr/>
          <p:nvPr/>
        </p:nvSpPr>
        <p:spPr>
          <a:xfrm>
            <a:off x="685800" y="2606040"/>
            <a:ext cx="22402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palabra clave  w</a:t>
            </a:r>
            <a:endParaRPr lang="en-US" sz="1500" dirty="0"/>
          </a:p>
        </p:txBody>
      </p:sp>
      <p:sp>
        <p:nvSpPr>
          <p:cNvPr id="7" name="Text 5"/>
          <p:cNvSpPr/>
          <p:nvPr/>
        </p:nvSpPr>
        <p:spPr>
          <a:xfrm>
            <a:off x="685800" y="3035808"/>
            <a:ext cx="2240280" cy="384048"/>
          </a:xfrm>
          <a:prstGeom prst="rect">
            <a:avLst/>
          </a:prstGeom>
          <a:noFill/>
          <a:ln/>
        </p:spPr>
        <p:txBody>
          <a:bodyPr wrap="square" lIns="0" tIns="0" rIns="0" bIns="0" rtlCol="0" anchor="ctr"/>
          <a:lstStyle/>
          <a:p>
            <a:pPr marL="0" indent="0" algn="ctr">
              <a:lnSpc>
                <a:spcPct val="105000"/>
              </a:lnSpc>
              <a:buNone/>
            </a:pPr>
            <a:r>
              <a:rPr lang="en-US" sz="950" dirty="0">
                <a:solidFill>
                  <a:srgbClr val="C7D3F0"/>
                </a:solidFill>
                <a:latin typeface="Calibri" pitchFamily="34" charset="0"/>
                <a:ea typeface="Calibri" pitchFamily="34" charset="-122"/>
                <a:cs typeface="Calibri" pitchFamily="34" charset="-120"/>
              </a:rPr>
              <a:t>en claro, solo del lado cliente</a:t>
            </a:r>
            <a:endParaRPr lang="en-US" sz="950" dirty="0"/>
          </a:p>
        </p:txBody>
      </p:sp>
      <p:sp>
        <p:nvSpPr>
          <p:cNvPr id="8" name="Shape 6"/>
          <p:cNvSpPr/>
          <p:nvPr/>
        </p:nvSpPr>
        <p:spPr>
          <a:xfrm>
            <a:off x="3090672" y="2971800"/>
            <a:ext cx="265176" cy="0"/>
          </a:xfrm>
          <a:prstGeom prst="line">
            <a:avLst/>
          </a:prstGeom>
          <a:noFill/>
          <a:ln w="19050">
            <a:solidFill>
              <a:srgbClr val="5B6584"/>
            </a:solidFill>
            <a:prstDash val="solid"/>
            <a:tailEnd type="triangle"/>
          </a:ln>
        </p:spPr>
        <p:txBody>
          <a:bodyPr/>
          <a:lstStyle/>
          <a:p>
            <a:endParaRPr lang="en-US"/>
          </a:p>
        </p:txBody>
      </p:sp>
      <p:sp>
        <p:nvSpPr>
          <p:cNvPr id="9" name="Shape 7"/>
          <p:cNvSpPr/>
          <p:nvPr/>
        </p:nvSpPr>
        <p:spPr>
          <a:xfrm>
            <a:off x="3383280" y="2468880"/>
            <a:ext cx="2514600" cy="1005840"/>
          </a:xfrm>
          <a:prstGeom prst="roundRect">
            <a:avLst>
              <a:gd name="adj" fmla="val 8182"/>
            </a:avLst>
          </a:prstGeom>
          <a:solidFill>
            <a:srgbClr val="D9A441"/>
          </a:solidFill>
          <a:ln/>
        </p:spPr>
        <p:txBody>
          <a:bodyPr/>
          <a:lstStyle/>
          <a:p>
            <a:endParaRPr lang="en-US"/>
          </a:p>
        </p:txBody>
      </p:sp>
      <p:sp>
        <p:nvSpPr>
          <p:cNvPr id="10" name="Text 8"/>
          <p:cNvSpPr/>
          <p:nvPr/>
        </p:nvSpPr>
        <p:spPr>
          <a:xfrm>
            <a:off x="3520440" y="2606040"/>
            <a:ext cx="2240280" cy="457200"/>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F(K, w)</a:t>
            </a:r>
            <a:endParaRPr lang="en-US" sz="1500" dirty="0"/>
          </a:p>
        </p:txBody>
      </p:sp>
      <p:sp>
        <p:nvSpPr>
          <p:cNvPr id="11" name="Text 9"/>
          <p:cNvSpPr/>
          <p:nvPr/>
        </p:nvSpPr>
        <p:spPr>
          <a:xfrm>
            <a:off x="3520440" y="3035808"/>
            <a:ext cx="2240280" cy="384048"/>
          </a:xfrm>
          <a:prstGeom prst="rect">
            <a:avLst/>
          </a:prstGeom>
          <a:noFill/>
          <a:ln/>
        </p:spPr>
        <p:txBody>
          <a:bodyPr wrap="square" lIns="0" tIns="0" rIns="0" bIns="0" rtlCol="0" anchor="ctr"/>
          <a:lstStyle/>
          <a:p>
            <a:pPr marL="0" indent="0" algn="ctr">
              <a:lnSpc>
                <a:spcPct val="105000"/>
              </a:lnSpc>
              <a:buNone/>
            </a:pPr>
            <a:r>
              <a:rPr lang="en-US" sz="950" dirty="0">
                <a:solidFill>
                  <a:srgbClr val="1B1F3B"/>
                </a:solidFill>
                <a:latin typeface="Calibri" pitchFamily="34" charset="0"/>
                <a:ea typeface="Calibri" pitchFamily="34" charset="-122"/>
                <a:cs typeface="Calibri" pitchFamily="34" charset="-120"/>
              </a:rPr>
              <a:t>PRF con clave maestra K</a:t>
            </a:r>
            <a:endParaRPr lang="en-US" sz="950" dirty="0"/>
          </a:p>
        </p:txBody>
      </p:sp>
      <p:sp>
        <p:nvSpPr>
          <p:cNvPr id="12" name="Shape 10"/>
          <p:cNvSpPr/>
          <p:nvPr/>
        </p:nvSpPr>
        <p:spPr>
          <a:xfrm>
            <a:off x="5925312" y="2971800"/>
            <a:ext cx="265176" cy="0"/>
          </a:xfrm>
          <a:prstGeom prst="line">
            <a:avLst/>
          </a:prstGeom>
          <a:noFill/>
          <a:ln w="19050">
            <a:solidFill>
              <a:srgbClr val="5B6584"/>
            </a:solidFill>
            <a:prstDash val="solid"/>
            <a:tailEnd type="triangle"/>
          </a:ln>
        </p:spPr>
        <p:txBody>
          <a:bodyPr/>
          <a:lstStyle/>
          <a:p>
            <a:endParaRPr lang="en-US"/>
          </a:p>
        </p:txBody>
      </p:sp>
      <p:sp>
        <p:nvSpPr>
          <p:cNvPr id="13" name="Shape 11"/>
          <p:cNvSpPr/>
          <p:nvPr/>
        </p:nvSpPr>
        <p:spPr>
          <a:xfrm>
            <a:off x="6217920" y="2468880"/>
            <a:ext cx="2514600" cy="1005840"/>
          </a:xfrm>
          <a:prstGeom prst="roundRect">
            <a:avLst>
              <a:gd name="adj" fmla="val 8182"/>
            </a:avLst>
          </a:prstGeom>
          <a:solidFill>
            <a:srgbClr val="2E355E"/>
          </a:solidFill>
          <a:ln/>
        </p:spPr>
        <p:txBody>
          <a:bodyPr/>
          <a:lstStyle/>
          <a:p>
            <a:endParaRPr lang="en-US"/>
          </a:p>
        </p:txBody>
      </p:sp>
      <p:sp>
        <p:nvSpPr>
          <p:cNvPr id="14" name="Text 12"/>
          <p:cNvSpPr/>
          <p:nvPr/>
        </p:nvSpPr>
        <p:spPr>
          <a:xfrm>
            <a:off x="6355080" y="2606040"/>
            <a:ext cx="2240280" cy="457200"/>
          </a:xfrm>
          <a:prstGeom prst="rect">
            <a:avLst/>
          </a:prstGeom>
          <a:noFill/>
          <a:ln/>
        </p:spPr>
        <p:txBody>
          <a:bodyPr wrap="square" lIns="0" tIns="0" rIns="0" bIns="0" rtlCol="0" anchor="ctr"/>
          <a:lstStyle/>
          <a:p>
            <a:pPr marL="0" indent="0" algn="ctr">
              <a:buNone/>
            </a:pPr>
            <a:r>
              <a:rPr lang="en-US" sz="1500" b="1" dirty="0">
                <a:solidFill>
                  <a:srgbClr val="FFFFFF"/>
                </a:solidFill>
                <a:latin typeface="Cambria" pitchFamily="34" charset="0"/>
                <a:ea typeface="Cambria" pitchFamily="34" charset="-122"/>
                <a:cs typeface="Cambria" pitchFamily="34" charset="-120"/>
              </a:rPr>
              <a:t>trapdoor</a:t>
            </a:r>
            <a:endParaRPr lang="en-US" sz="1500" dirty="0"/>
          </a:p>
        </p:txBody>
      </p:sp>
      <p:sp>
        <p:nvSpPr>
          <p:cNvPr id="15" name="Text 13"/>
          <p:cNvSpPr/>
          <p:nvPr/>
        </p:nvSpPr>
        <p:spPr>
          <a:xfrm>
            <a:off x="6355080" y="3035808"/>
            <a:ext cx="2240280" cy="384048"/>
          </a:xfrm>
          <a:prstGeom prst="rect">
            <a:avLst/>
          </a:prstGeom>
          <a:noFill/>
          <a:ln/>
        </p:spPr>
        <p:txBody>
          <a:bodyPr wrap="square" lIns="0" tIns="0" rIns="0" bIns="0" rtlCol="0" anchor="ctr"/>
          <a:lstStyle/>
          <a:p>
            <a:pPr marL="0" indent="0" algn="ctr">
              <a:lnSpc>
                <a:spcPct val="105000"/>
              </a:lnSpc>
              <a:buNone/>
            </a:pPr>
            <a:r>
              <a:rPr lang="en-US" sz="950" dirty="0">
                <a:solidFill>
                  <a:srgbClr val="C7D3F0"/>
                </a:solidFill>
                <a:latin typeface="Calibri" pitchFamily="34" charset="0"/>
                <a:ea typeface="Calibri" pitchFamily="34" charset="-122"/>
                <a:cs typeface="Calibri" pitchFamily="34" charset="-120"/>
              </a:rPr>
              <a:t>valor pseudoaleatorio enviado al servidor</a:t>
            </a:r>
            <a:endParaRPr lang="en-US" sz="950" dirty="0"/>
          </a:p>
        </p:txBody>
      </p:sp>
      <p:sp>
        <p:nvSpPr>
          <p:cNvPr id="16" name="Shape 14"/>
          <p:cNvSpPr/>
          <p:nvPr/>
        </p:nvSpPr>
        <p:spPr>
          <a:xfrm>
            <a:off x="8759952" y="2971800"/>
            <a:ext cx="265176" cy="0"/>
          </a:xfrm>
          <a:prstGeom prst="line">
            <a:avLst/>
          </a:prstGeom>
          <a:noFill/>
          <a:ln w="19050">
            <a:solidFill>
              <a:srgbClr val="5B6584"/>
            </a:solidFill>
            <a:prstDash val="solid"/>
            <a:tailEnd type="triangle"/>
          </a:ln>
        </p:spPr>
        <p:txBody>
          <a:bodyPr/>
          <a:lstStyle/>
          <a:p>
            <a:endParaRPr lang="en-US"/>
          </a:p>
        </p:txBody>
      </p:sp>
      <p:sp>
        <p:nvSpPr>
          <p:cNvPr id="17" name="Shape 15"/>
          <p:cNvSpPr/>
          <p:nvPr/>
        </p:nvSpPr>
        <p:spPr>
          <a:xfrm>
            <a:off x="9052560" y="2468880"/>
            <a:ext cx="2514600" cy="1005840"/>
          </a:xfrm>
          <a:prstGeom prst="roundRect">
            <a:avLst>
              <a:gd name="adj" fmla="val 8182"/>
            </a:avLst>
          </a:prstGeom>
          <a:solidFill>
            <a:srgbClr val="FFFFFF"/>
          </a:solidFill>
          <a:ln w="12700">
            <a:solidFill>
              <a:srgbClr val="DCE1F0"/>
            </a:solidFill>
            <a:prstDash val="solid"/>
          </a:ln>
        </p:spPr>
        <p:txBody>
          <a:bodyPr/>
          <a:lstStyle/>
          <a:p>
            <a:endParaRPr lang="en-US"/>
          </a:p>
        </p:txBody>
      </p:sp>
      <p:sp>
        <p:nvSpPr>
          <p:cNvPr id="18" name="Text 16"/>
          <p:cNvSpPr/>
          <p:nvPr/>
        </p:nvSpPr>
        <p:spPr>
          <a:xfrm>
            <a:off x="9189720" y="2606040"/>
            <a:ext cx="2240280" cy="457200"/>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lookup en T</a:t>
            </a:r>
            <a:endParaRPr lang="en-US" sz="1500" dirty="0"/>
          </a:p>
        </p:txBody>
      </p:sp>
      <p:sp>
        <p:nvSpPr>
          <p:cNvPr id="19" name="Text 17"/>
          <p:cNvSpPr/>
          <p:nvPr/>
        </p:nvSpPr>
        <p:spPr>
          <a:xfrm>
            <a:off x="9189720" y="3035808"/>
            <a:ext cx="2240280" cy="384048"/>
          </a:xfrm>
          <a:prstGeom prst="rect">
            <a:avLst/>
          </a:prstGeom>
          <a:noFill/>
          <a:ln/>
        </p:spPr>
        <p:txBody>
          <a:bodyPr wrap="square" lIns="0" tIns="0" rIns="0" bIns="0" rtlCol="0" anchor="ctr"/>
          <a:lstStyle/>
          <a:p>
            <a:pPr marL="0" indent="0" algn="ctr">
              <a:lnSpc>
                <a:spcPct val="105000"/>
              </a:lnSpc>
              <a:buNone/>
            </a:pPr>
            <a:r>
              <a:rPr lang="en-US" sz="950" dirty="0">
                <a:solidFill>
                  <a:srgbClr val="5B6584"/>
                </a:solidFill>
                <a:latin typeface="Calibri" pitchFamily="34" charset="0"/>
                <a:ea typeface="Calibri" pitchFamily="34" charset="-122"/>
                <a:cs typeface="Calibri" pitchFamily="34" charset="-120"/>
              </a:rPr>
              <a:t>el servidor solo compara bytes</a:t>
            </a:r>
            <a:endParaRPr lang="en-US" sz="950" dirty="0"/>
          </a:p>
        </p:txBody>
      </p:sp>
      <p:sp>
        <p:nvSpPr>
          <p:cNvPr id="20" name="Shape 18"/>
          <p:cNvSpPr/>
          <p:nvPr/>
        </p:nvSpPr>
        <p:spPr>
          <a:xfrm>
            <a:off x="548640" y="3977640"/>
            <a:ext cx="5212080" cy="1920240"/>
          </a:xfrm>
          <a:prstGeom prst="roundRect">
            <a:avLst>
              <a:gd name="adj" fmla="val 3810"/>
            </a:avLst>
          </a:prstGeom>
          <a:solidFill>
            <a:srgbClr val="FFFFFF"/>
          </a:solidFill>
          <a:ln w="12700">
            <a:solidFill>
              <a:srgbClr val="DCE1F0"/>
            </a:solidFill>
            <a:prstDash val="solid"/>
          </a:ln>
        </p:spPr>
        <p:txBody>
          <a:bodyPr/>
          <a:lstStyle/>
          <a:p>
            <a:endParaRPr lang="en-US"/>
          </a:p>
        </p:txBody>
      </p:sp>
      <p:sp>
        <p:nvSpPr>
          <p:cNvPr id="21" name="Text 19"/>
          <p:cNvSpPr/>
          <p:nvPr/>
        </p:nvSpPr>
        <p:spPr>
          <a:xfrm>
            <a:off x="777240" y="4114800"/>
            <a:ext cx="4754880" cy="365760"/>
          </a:xfrm>
          <a:prstGeom prst="rect">
            <a:avLst/>
          </a:prstGeom>
          <a:noFill/>
          <a:ln/>
        </p:spPr>
        <p:txBody>
          <a:bodyPr wrap="square" lIns="0" tIns="0" rIns="0" bIns="0"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Tabla de búsqueda  T</a:t>
            </a:r>
            <a:endParaRPr lang="en-US" sz="1400" dirty="0"/>
          </a:p>
        </p:txBody>
      </p:sp>
      <p:sp>
        <p:nvSpPr>
          <p:cNvPr id="22" name="Text 20"/>
          <p:cNvSpPr/>
          <p:nvPr/>
        </p:nvSpPr>
        <p:spPr>
          <a:xfrm>
            <a:off x="777240" y="4526280"/>
            <a:ext cx="4754880" cy="1234440"/>
          </a:xfrm>
          <a:prstGeom prst="rect">
            <a:avLst/>
          </a:prstGeom>
          <a:noFill/>
          <a:ln/>
        </p:spPr>
        <p:txBody>
          <a:bodyPr wrap="square" lIns="0" tIns="0" rIns="0" bIns="0" rtlCol="0" anchor="ctr"/>
          <a:lstStyle/>
          <a:p>
            <a:pPr marL="0" indent="0">
              <a:lnSpc>
                <a:spcPct val="125000"/>
              </a:lnSpc>
              <a:buNone/>
            </a:pPr>
            <a:r>
              <a:rPr lang="en-US" sz="1150" dirty="0">
                <a:solidFill>
                  <a:srgbClr val="5B6584"/>
                </a:solidFill>
                <a:latin typeface="Calibri" pitchFamily="34" charset="0"/>
                <a:ea typeface="Calibri" pitchFamily="34" charset="-122"/>
                <a:cs typeface="Calibri" pitchFamily="34" charset="-120"/>
              </a:rPr>
              <a:t>Indexada por el trapdoor de cada palabra. Cada entrada está cifrada y apunta al primer nodo de la lista de documentos correspondiente en A, junto con la clave para desencadenarla.</a:t>
            </a:r>
            <a:endParaRPr lang="en-US" sz="1150" dirty="0"/>
          </a:p>
        </p:txBody>
      </p:sp>
      <p:sp>
        <p:nvSpPr>
          <p:cNvPr id="23" name="Shape 21"/>
          <p:cNvSpPr/>
          <p:nvPr/>
        </p:nvSpPr>
        <p:spPr>
          <a:xfrm>
            <a:off x="5760720" y="4937760"/>
            <a:ext cx="777240" cy="0"/>
          </a:xfrm>
          <a:prstGeom prst="line">
            <a:avLst/>
          </a:prstGeom>
          <a:noFill/>
          <a:ln w="19050">
            <a:solidFill>
              <a:srgbClr val="5B6584"/>
            </a:solidFill>
            <a:prstDash val="solid"/>
            <a:tailEnd type="triangle"/>
          </a:ln>
        </p:spPr>
        <p:txBody>
          <a:bodyPr/>
          <a:lstStyle/>
          <a:p>
            <a:endParaRPr lang="en-US"/>
          </a:p>
        </p:txBody>
      </p:sp>
      <p:sp>
        <p:nvSpPr>
          <p:cNvPr id="24" name="Shape 22"/>
          <p:cNvSpPr/>
          <p:nvPr/>
        </p:nvSpPr>
        <p:spPr>
          <a:xfrm>
            <a:off x="6537960" y="3977640"/>
            <a:ext cx="5074920" cy="1920240"/>
          </a:xfrm>
          <a:prstGeom prst="roundRect">
            <a:avLst>
              <a:gd name="adj" fmla="val 3810"/>
            </a:avLst>
          </a:prstGeom>
          <a:solidFill>
            <a:srgbClr val="FFFFFF"/>
          </a:solidFill>
          <a:ln w="12700">
            <a:solidFill>
              <a:srgbClr val="DCE1F0"/>
            </a:solidFill>
            <a:prstDash val="solid"/>
          </a:ln>
        </p:spPr>
        <p:txBody>
          <a:bodyPr/>
          <a:lstStyle/>
          <a:p>
            <a:endParaRPr lang="en-US"/>
          </a:p>
        </p:txBody>
      </p:sp>
      <p:sp>
        <p:nvSpPr>
          <p:cNvPr id="25" name="Text 23"/>
          <p:cNvSpPr/>
          <p:nvPr/>
        </p:nvSpPr>
        <p:spPr>
          <a:xfrm>
            <a:off x="6766560" y="4114800"/>
            <a:ext cx="4572000" cy="365760"/>
          </a:xfrm>
          <a:prstGeom prst="rect">
            <a:avLst/>
          </a:prstGeom>
          <a:noFill/>
          <a:ln/>
        </p:spPr>
        <p:txBody>
          <a:bodyPr wrap="square" lIns="0" tIns="0" rIns="0" bIns="0" rtlCol="0" anchor="ctr"/>
          <a:lstStyle/>
          <a:p>
            <a:pPr marL="0" indent="0">
              <a:buNone/>
            </a:pPr>
            <a:r>
              <a:rPr lang="en-US" sz="1400" b="1" dirty="0">
                <a:solidFill>
                  <a:srgbClr val="1B1F3B"/>
                </a:solidFill>
                <a:latin typeface="Cambria" pitchFamily="34" charset="0"/>
                <a:ea typeface="Cambria" pitchFamily="34" charset="-122"/>
                <a:cs typeface="Cambria" pitchFamily="34" charset="-120"/>
              </a:rPr>
              <a:t>Arreglo enlazado  A</a:t>
            </a:r>
            <a:endParaRPr lang="en-US" sz="1400" dirty="0"/>
          </a:p>
        </p:txBody>
      </p:sp>
      <p:sp>
        <p:nvSpPr>
          <p:cNvPr id="26" name="Text 24"/>
          <p:cNvSpPr/>
          <p:nvPr/>
        </p:nvSpPr>
        <p:spPr>
          <a:xfrm>
            <a:off x="6766560" y="4526280"/>
            <a:ext cx="4572000" cy="1234440"/>
          </a:xfrm>
          <a:prstGeom prst="rect">
            <a:avLst/>
          </a:prstGeom>
          <a:noFill/>
          <a:ln/>
        </p:spPr>
        <p:txBody>
          <a:bodyPr wrap="square" lIns="0" tIns="0" rIns="0" bIns="0" rtlCol="0" anchor="ctr"/>
          <a:lstStyle/>
          <a:p>
            <a:pPr marL="0" indent="0">
              <a:lnSpc>
                <a:spcPct val="125000"/>
              </a:lnSpc>
              <a:buNone/>
            </a:pPr>
            <a:r>
              <a:rPr lang="en-US" sz="1150" dirty="0">
                <a:solidFill>
                  <a:srgbClr val="5B6584"/>
                </a:solidFill>
                <a:latin typeface="Calibri" pitchFamily="34" charset="0"/>
                <a:ea typeface="Calibri" pitchFamily="34" charset="-122"/>
                <a:cs typeface="Calibri" pitchFamily="34" charset="-120"/>
              </a:rPr>
              <a:t>Nodos cifrados individualmente, cada uno con un identificador de documento y un puntero al siguiente nodo — cifrado con una clave distinta derivada por PRF, de forma que no revela la longitud de la lista de antemano.</a:t>
            </a:r>
            <a:endParaRPr lang="en-US" sz="1150" dirty="0"/>
          </a:p>
        </p:txBody>
      </p:sp>
      <p:sp>
        <p:nvSpPr>
          <p:cNvPr id="27" name="Text 25"/>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CONSTRUCCIÓN</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SSE-1 (Curtmola et al., 2006)</a:t>
            </a:r>
            <a:endParaRPr lang="en-US" sz="3000" dirty="0"/>
          </a:p>
        </p:txBody>
      </p:sp>
      <p:sp>
        <p:nvSpPr>
          <p:cNvPr id="4" name="Text 2"/>
          <p:cNvSpPr/>
          <p:nvPr/>
        </p:nvSpPr>
        <p:spPr>
          <a:xfrm>
            <a:off x="548640" y="1371600"/>
            <a:ext cx="11064240" cy="548640"/>
          </a:xfrm>
          <a:prstGeom prst="rect">
            <a:avLst/>
          </a:prstGeom>
          <a:noFill/>
          <a:ln/>
        </p:spPr>
        <p:txBody>
          <a:bodyPr wrap="square" lIns="0" tIns="0" rIns="0" bIns="0" rtlCol="0" anchor="ctr"/>
          <a:lstStyle/>
          <a:p>
            <a:pPr marL="0" indent="0">
              <a:lnSpc>
                <a:spcPct val="120000"/>
              </a:lnSpc>
              <a:buNone/>
            </a:pPr>
            <a:r>
              <a:rPr lang="en-US" sz="1400" dirty="0">
                <a:solidFill>
                  <a:srgbClr val="5B6584"/>
                </a:solidFill>
                <a:latin typeface="Calibri" pitchFamily="34" charset="0"/>
                <a:ea typeface="Calibri" pitchFamily="34" charset="-122"/>
                <a:cs typeface="Calibri" pitchFamily="34" charset="-120"/>
              </a:rPr>
              <a:t>El primer esquema con prueba formal de seguridad y complejidad de búsqueda sublineal — proporcional a los documentos que coinciden, no al tamaño del dataset.</a:t>
            </a:r>
            <a:endParaRPr lang="en-US" sz="1400" dirty="0"/>
          </a:p>
        </p:txBody>
      </p:sp>
      <p:sp>
        <p:nvSpPr>
          <p:cNvPr id="5" name="Shape 3"/>
          <p:cNvSpPr/>
          <p:nvPr/>
        </p:nvSpPr>
        <p:spPr>
          <a:xfrm>
            <a:off x="548640" y="2148840"/>
            <a:ext cx="11064240" cy="914400"/>
          </a:xfrm>
          <a:prstGeom prst="roundRect">
            <a:avLst>
              <a:gd name="adj" fmla="val 7000"/>
            </a:avLst>
          </a:prstGeom>
          <a:solidFill>
            <a:srgbClr val="FFFFFF"/>
          </a:solidFill>
          <a:ln w="12700">
            <a:solidFill>
              <a:srgbClr val="DCE1F0"/>
            </a:solidFill>
            <a:prstDash val="solid"/>
          </a:ln>
        </p:spPr>
        <p:txBody>
          <a:bodyPr/>
          <a:lstStyle/>
          <a:p>
            <a:endParaRPr lang="en-US"/>
          </a:p>
        </p:txBody>
      </p:sp>
      <p:sp>
        <p:nvSpPr>
          <p:cNvPr id="6" name="Shape 4"/>
          <p:cNvSpPr/>
          <p:nvPr/>
        </p:nvSpPr>
        <p:spPr>
          <a:xfrm>
            <a:off x="777240" y="2350008"/>
            <a:ext cx="512064" cy="512064"/>
          </a:xfrm>
          <a:prstGeom prst="ellipse">
            <a:avLst/>
          </a:prstGeom>
          <a:solidFill>
            <a:srgbClr val="1B1F3B"/>
          </a:solidFill>
          <a:ln/>
        </p:spPr>
        <p:txBody>
          <a:bodyPr/>
          <a:lstStyle/>
          <a:p>
            <a:endParaRPr lang="en-US"/>
          </a:p>
        </p:txBody>
      </p:sp>
      <p:sp>
        <p:nvSpPr>
          <p:cNvPr id="7" name="Text 5"/>
          <p:cNvSpPr/>
          <p:nvPr/>
        </p:nvSpPr>
        <p:spPr>
          <a:xfrm>
            <a:off x="777240" y="235000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1508760" y="2258568"/>
            <a:ext cx="1828800" cy="694944"/>
          </a:xfrm>
          <a:prstGeom prst="rect">
            <a:avLst/>
          </a:prstGeom>
          <a:noFill/>
          <a:ln/>
        </p:spPr>
        <p:txBody>
          <a:bodyPr wrap="square" lIns="0" tIns="0" rIns="0" bIns="0" rtlCol="0" anchor="ctr"/>
          <a:lstStyle/>
          <a:p>
            <a:pPr marL="0" indent="0">
              <a:buNone/>
            </a:pPr>
            <a:r>
              <a:rPr lang="en-US" sz="1450" b="1" dirty="0">
                <a:solidFill>
                  <a:srgbClr val="B4842E"/>
                </a:solidFill>
                <a:latin typeface="Cambria" pitchFamily="34" charset="0"/>
                <a:ea typeface="Cambria" pitchFamily="34" charset="-122"/>
                <a:cs typeface="Cambria" pitchFamily="34" charset="-120"/>
              </a:rPr>
              <a:t>Setup</a:t>
            </a:r>
            <a:endParaRPr lang="en-US" sz="1450" dirty="0"/>
          </a:p>
        </p:txBody>
      </p:sp>
      <p:sp>
        <p:nvSpPr>
          <p:cNvPr id="9" name="Text 7"/>
          <p:cNvSpPr/>
          <p:nvPr/>
        </p:nvSpPr>
        <p:spPr>
          <a:xfrm>
            <a:off x="3429000" y="2240280"/>
            <a:ext cx="8001000" cy="731520"/>
          </a:xfrm>
          <a:prstGeom prst="rect">
            <a:avLst/>
          </a:prstGeom>
          <a:noFill/>
          <a:ln/>
        </p:spPr>
        <p:txBody>
          <a:bodyPr wrap="square" lIns="0" tIns="0" rIns="0" bIns="0" rtlCol="0" anchor="ctr"/>
          <a:lstStyle/>
          <a:p>
            <a:pPr marL="0" indent="0">
              <a:lnSpc>
                <a:spcPct val="115000"/>
              </a:lnSpc>
              <a:buNone/>
            </a:pPr>
            <a:r>
              <a:rPr lang="en-US" sz="1200" dirty="0">
                <a:solidFill>
                  <a:srgbClr val="5B6584"/>
                </a:solidFill>
                <a:latin typeface="Calibri" pitchFamily="34" charset="0"/>
                <a:ea typeface="Calibri" pitchFamily="34" charset="-122"/>
                <a:cs typeface="Calibri" pitchFamily="34" charset="-120"/>
              </a:rPr>
              <a:t>El cliente genera claves maestras para las PRF y construye T y A a partir de la colección de documentos en claro.</a:t>
            </a:r>
            <a:endParaRPr lang="en-US" sz="1200" dirty="0"/>
          </a:p>
        </p:txBody>
      </p:sp>
      <p:sp>
        <p:nvSpPr>
          <p:cNvPr id="10" name="Shape 8"/>
          <p:cNvSpPr/>
          <p:nvPr/>
        </p:nvSpPr>
        <p:spPr>
          <a:xfrm>
            <a:off x="548640" y="3154680"/>
            <a:ext cx="11064240" cy="914400"/>
          </a:xfrm>
          <a:prstGeom prst="roundRect">
            <a:avLst>
              <a:gd name="adj" fmla="val 7000"/>
            </a:avLst>
          </a:prstGeom>
          <a:solidFill>
            <a:srgbClr val="FFFFFF"/>
          </a:solidFill>
          <a:ln w="12700">
            <a:solidFill>
              <a:srgbClr val="DCE1F0"/>
            </a:solidFill>
            <a:prstDash val="solid"/>
          </a:ln>
        </p:spPr>
        <p:txBody>
          <a:bodyPr/>
          <a:lstStyle/>
          <a:p>
            <a:endParaRPr lang="en-US"/>
          </a:p>
        </p:txBody>
      </p:sp>
      <p:sp>
        <p:nvSpPr>
          <p:cNvPr id="11" name="Shape 9"/>
          <p:cNvSpPr/>
          <p:nvPr/>
        </p:nvSpPr>
        <p:spPr>
          <a:xfrm>
            <a:off x="777240" y="3355848"/>
            <a:ext cx="512064" cy="512064"/>
          </a:xfrm>
          <a:prstGeom prst="ellipse">
            <a:avLst/>
          </a:prstGeom>
          <a:solidFill>
            <a:srgbClr val="1B1F3B"/>
          </a:solidFill>
          <a:ln/>
        </p:spPr>
        <p:txBody>
          <a:bodyPr/>
          <a:lstStyle/>
          <a:p>
            <a:endParaRPr lang="en-US"/>
          </a:p>
        </p:txBody>
      </p:sp>
      <p:sp>
        <p:nvSpPr>
          <p:cNvPr id="12" name="Text 10"/>
          <p:cNvSpPr/>
          <p:nvPr/>
        </p:nvSpPr>
        <p:spPr>
          <a:xfrm>
            <a:off x="777240" y="335584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1508760" y="3264408"/>
            <a:ext cx="1828800" cy="694944"/>
          </a:xfrm>
          <a:prstGeom prst="rect">
            <a:avLst/>
          </a:prstGeom>
          <a:noFill/>
          <a:ln/>
        </p:spPr>
        <p:txBody>
          <a:bodyPr wrap="square" lIns="0" tIns="0" rIns="0" bIns="0" rtlCol="0" anchor="ctr"/>
          <a:lstStyle/>
          <a:p>
            <a:pPr marL="0" indent="0">
              <a:buNone/>
            </a:pPr>
            <a:r>
              <a:rPr lang="en-US" sz="1450" b="1" dirty="0">
                <a:solidFill>
                  <a:srgbClr val="B4842E"/>
                </a:solidFill>
                <a:latin typeface="Cambria" pitchFamily="34" charset="0"/>
                <a:ea typeface="Cambria" pitchFamily="34" charset="-122"/>
                <a:cs typeface="Cambria" pitchFamily="34" charset="-120"/>
              </a:rPr>
              <a:t>Encrypt</a:t>
            </a:r>
            <a:endParaRPr lang="en-US" sz="1450" dirty="0"/>
          </a:p>
        </p:txBody>
      </p:sp>
      <p:sp>
        <p:nvSpPr>
          <p:cNvPr id="14" name="Text 12"/>
          <p:cNvSpPr/>
          <p:nvPr/>
        </p:nvSpPr>
        <p:spPr>
          <a:xfrm>
            <a:off x="3429000" y="3246120"/>
            <a:ext cx="8001000" cy="731520"/>
          </a:xfrm>
          <a:prstGeom prst="rect">
            <a:avLst/>
          </a:prstGeom>
          <a:noFill/>
          <a:ln/>
        </p:spPr>
        <p:txBody>
          <a:bodyPr wrap="square" lIns="0" tIns="0" rIns="0" bIns="0" rtlCol="0" anchor="ctr"/>
          <a:lstStyle/>
          <a:p>
            <a:pPr marL="0" indent="0">
              <a:lnSpc>
                <a:spcPct val="115000"/>
              </a:lnSpc>
              <a:buNone/>
            </a:pPr>
            <a:r>
              <a:rPr lang="en-US" sz="1200" dirty="0">
                <a:solidFill>
                  <a:srgbClr val="5B6584"/>
                </a:solidFill>
                <a:latin typeface="Calibri" pitchFamily="34" charset="0"/>
                <a:ea typeface="Calibri" pitchFamily="34" charset="-122"/>
                <a:cs typeface="Calibri" pitchFamily="34" charset="-120"/>
              </a:rPr>
              <a:t>Cada nodo de A se cifra con una clave por-palabra derivada por PRF; cada entrada de T se cifra con una clave derivada de una PRF distinta.</a:t>
            </a:r>
            <a:endParaRPr lang="en-US" sz="1200" dirty="0"/>
          </a:p>
        </p:txBody>
      </p:sp>
      <p:sp>
        <p:nvSpPr>
          <p:cNvPr id="15" name="Shape 13"/>
          <p:cNvSpPr/>
          <p:nvPr/>
        </p:nvSpPr>
        <p:spPr>
          <a:xfrm>
            <a:off x="548640" y="4160520"/>
            <a:ext cx="11064240" cy="914400"/>
          </a:xfrm>
          <a:prstGeom prst="roundRect">
            <a:avLst>
              <a:gd name="adj" fmla="val 7000"/>
            </a:avLst>
          </a:prstGeom>
          <a:solidFill>
            <a:srgbClr val="FFFFFF"/>
          </a:solidFill>
          <a:ln w="12700">
            <a:solidFill>
              <a:srgbClr val="DCE1F0"/>
            </a:solidFill>
            <a:prstDash val="solid"/>
          </a:ln>
        </p:spPr>
        <p:txBody>
          <a:bodyPr/>
          <a:lstStyle/>
          <a:p>
            <a:endParaRPr lang="en-US"/>
          </a:p>
        </p:txBody>
      </p:sp>
      <p:sp>
        <p:nvSpPr>
          <p:cNvPr id="16" name="Shape 14"/>
          <p:cNvSpPr/>
          <p:nvPr/>
        </p:nvSpPr>
        <p:spPr>
          <a:xfrm>
            <a:off x="777240" y="4361688"/>
            <a:ext cx="512064" cy="512064"/>
          </a:xfrm>
          <a:prstGeom prst="ellipse">
            <a:avLst/>
          </a:prstGeom>
          <a:solidFill>
            <a:srgbClr val="1B1F3B"/>
          </a:solidFill>
          <a:ln/>
        </p:spPr>
        <p:txBody>
          <a:bodyPr/>
          <a:lstStyle/>
          <a:p>
            <a:endParaRPr lang="en-US"/>
          </a:p>
        </p:txBody>
      </p:sp>
      <p:sp>
        <p:nvSpPr>
          <p:cNvPr id="17" name="Text 15"/>
          <p:cNvSpPr/>
          <p:nvPr/>
        </p:nvSpPr>
        <p:spPr>
          <a:xfrm>
            <a:off x="777240" y="436168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1508760" y="4270248"/>
            <a:ext cx="1828800" cy="694944"/>
          </a:xfrm>
          <a:prstGeom prst="rect">
            <a:avLst/>
          </a:prstGeom>
          <a:noFill/>
          <a:ln/>
        </p:spPr>
        <p:txBody>
          <a:bodyPr wrap="square" lIns="0" tIns="0" rIns="0" bIns="0" rtlCol="0" anchor="ctr"/>
          <a:lstStyle/>
          <a:p>
            <a:pPr marL="0" indent="0">
              <a:buNone/>
            </a:pPr>
            <a:r>
              <a:rPr lang="en-US" sz="1450" b="1" dirty="0">
                <a:solidFill>
                  <a:srgbClr val="B4842E"/>
                </a:solidFill>
                <a:latin typeface="Cambria" pitchFamily="34" charset="0"/>
                <a:ea typeface="Cambria" pitchFamily="34" charset="-122"/>
                <a:cs typeface="Cambria" pitchFamily="34" charset="-120"/>
              </a:rPr>
              <a:t>Trapdoor</a:t>
            </a:r>
            <a:endParaRPr lang="en-US" sz="1450" dirty="0"/>
          </a:p>
        </p:txBody>
      </p:sp>
      <p:sp>
        <p:nvSpPr>
          <p:cNvPr id="19" name="Text 17"/>
          <p:cNvSpPr/>
          <p:nvPr/>
        </p:nvSpPr>
        <p:spPr>
          <a:xfrm>
            <a:off x="3429000" y="4251960"/>
            <a:ext cx="8001000" cy="731520"/>
          </a:xfrm>
          <a:prstGeom prst="rect">
            <a:avLst/>
          </a:prstGeom>
          <a:noFill/>
          <a:ln/>
        </p:spPr>
        <p:txBody>
          <a:bodyPr wrap="square" lIns="0" tIns="0" rIns="0" bIns="0" rtlCol="0" anchor="ctr"/>
          <a:lstStyle/>
          <a:p>
            <a:pPr marL="0" indent="0">
              <a:lnSpc>
                <a:spcPct val="115000"/>
              </a:lnSpc>
              <a:buNone/>
            </a:pPr>
            <a:r>
              <a:rPr lang="en-US" sz="1200" dirty="0">
                <a:solidFill>
                  <a:srgbClr val="5B6584"/>
                </a:solidFill>
                <a:latin typeface="Calibri" pitchFamily="34" charset="0"/>
                <a:ea typeface="Calibri" pitchFamily="34" charset="-122"/>
                <a:cs typeface="Calibri" pitchFamily="34" charset="-120"/>
              </a:rPr>
              <a:t>Para buscar w, el cliente calcula F(K, w) y lo envía — un valor pseudoaleatorio que no revela w.</a:t>
            </a:r>
            <a:endParaRPr lang="en-US" sz="1200" dirty="0"/>
          </a:p>
        </p:txBody>
      </p:sp>
      <p:sp>
        <p:nvSpPr>
          <p:cNvPr id="20" name="Shape 18"/>
          <p:cNvSpPr/>
          <p:nvPr/>
        </p:nvSpPr>
        <p:spPr>
          <a:xfrm>
            <a:off x="548640" y="5166360"/>
            <a:ext cx="11064240" cy="914400"/>
          </a:xfrm>
          <a:prstGeom prst="roundRect">
            <a:avLst>
              <a:gd name="adj" fmla="val 7000"/>
            </a:avLst>
          </a:prstGeom>
          <a:solidFill>
            <a:srgbClr val="FFFFFF"/>
          </a:solidFill>
          <a:ln w="12700">
            <a:solidFill>
              <a:srgbClr val="DCE1F0"/>
            </a:solidFill>
            <a:prstDash val="solid"/>
          </a:ln>
        </p:spPr>
        <p:txBody>
          <a:bodyPr/>
          <a:lstStyle/>
          <a:p>
            <a:endParaRPr lang="en-US"/>
          </a:p>
        </p:txBody>
      </p:sp>
      <p:sp>
        <p:nvSpPr>
          <p:cNvPr id="21" name="Shape 19"/>
          <p:cNvSpPr/>
          <p:nvPr/>
        </p:nvSpPr>
        <p:spPr>
          <a:xfrm>
            <a:off x="777240" y="5367528"/>
            <a:ext cx="512064" cy="512064"/>
          </a:xfrm>
          <a:prstGeom prst="ellipse">
            <a:avLst/>
          </a:prstGeom>
          <a:solidFill>
            <a:srgbClr val="1B1F3B"/>
          </a:solidFill>
          <a:ln/>
        </p:spPr>
        <p:txBody>
          <a:bodyPr/>
          <a:lstStyle/>
          <a:p>
            <a:endParaRPr lang="en-US"/>
          </a:p>
        </p:txBody>
      </p:sp>
      <p:sp>
        <p:nvSpPr>
          <p:cNvPr id="22" name="Text 20"/>
          <p:cNvSpPr/>
          <p:nvPr/>
        </p:nvSpPr>
        <p:spPr>
          <a:xfrm>
            <a:off x="777240" y="5367528"/>
            <a:ext cx="512064" cy="512064"/>
          </a:xfrm>
          <a:prstGeom prst="rect">
            <a:avLst/>
          </a:prstGeom>
          <a:noFill/>
          <a:ln/>
        </p:spPr>
        <p:txBody>
          <a:bodyPr wrap="square" lIns="0" tIns="0" rIns="0" bIns="0" rtlCol="0" anchor="ctr"/>
          <a:lstStyle/>
          <a:p>
            <a:pPr marL="0" indent="0" algn="ctr">
              <a:buNone/>
            </a:pPr>
            <a:r>
              <a:rPr lang="en-US" sz="1600" b="1" dirty="0">
                <a:solidFill>
                  <a:srgbClr val="FFFFFF"/>
                </a:solidFill>
                <a:latin typeface="Cambria" pitchFamily="34" charset="0"/>
                <a:ea typeface="Cambria" pitchFamily="34" charset="-122"/>
                <a:cs typeface="Cambria" pitchFamily="34" charset="-120"/>
              </a:rPr>
              <a:t>4</a:t>
            </a:r>
            <a:endParaRPr lang="en-US" sz="1600" dirty="0"/>
          </a:p>
        </p:txBody>
      </p:sp>
      <p:sp>
        <p:nvSpPr>
          <p:cNvPr id="23" name="Text 21"/>
          <p:cNvSpPr/>
          <p:nvPr/>
        </p:nvSpPr>
        <p:spPr>
          <a:xfrm>
            <a:off x="1508760" y="5276088"/>
            <a:ext cx="1828800" cy="694944"/>
          </a:xfrm>
          <a:prstGeom prst="rect">
            <a:avLst/>
          </a:prstGeom>
          <a:noFill/>
          <a:ln/>
        </p:spPr>
        <p:txBody>
          <a:bodyPr wrap="square" lIns="0" tIns="0" rIns="0" bIns="0" rtlCol="0" anchor="ctr"/>
          <a:lstStyle/>
          <a:p>
            <a:pPr marL="0" indent="0">
              <a:buNone/>
            </a:pPr>
            <a:r>
              <a:rPr lang="en-US" sz="1450" b="1" dirty="0">
                <a:solidFill>
                  <a:srgbClr val="B4842E"/>
                </a:solidFill>
                <a:latin typeface="Cambria" pitchFamily="34" charset="0"/>
                <a:ea typeface="Cambria" pitchFamily="34" charset="-122"/>
                <a:cs typeface="Cambria" pitchFamily="34" charset="-120"/>
              </a:rPr>
              <a:t>Search</a:t>
            </a:r>
            <a:endParaRPr lang="en-US" sz="1450" dirty="0"/>
          </a:p>
        </p:txBody>
      </p:sp>
      <p:sp>
        <p:nvSpPr>
          <p:cNvPr id="24" name="Text 22"/>
          <p:cNvSpPr/>
          <p:nvPr/>
        </p:nvSpPr>
        <p:spPr>
          <a:xfrm>
            <a:off x="3429000" y="5257800"/>
            <a:ext cx="8001000" cy="731520"/>
          </a:xfrm>
          <a:prstGeom prst="rect">
            <a:avLst/>
          </a:prstGeom>
          <a:noFill/>
          <a:ln/>
        </p:spPr>
        <p:txBody>
          <a:bodyPr wrap="square" lIns="0" tIns="0" rIns="0" bIns="0" rtlCol="0" anchor="ctr"/>
          <a:lstStyle/>
          <a:p>
            <a:pPr marL="0" indent="0">
              <a:lnSpc>
                <a:spcPct val="115000"/>
              </a:lnSpc>
              <a:buNone/>
            </a:pPr>
            <a:r>
              <a:rPr lang="en-US" sz="1200" dirty="0">
                <a:solidFill>
                  <a:srgbClr val="5B6584"/>
                </a:solidFill>
                <a:latin typeface="Calibri" pitchFamily="34" charset="0"/>
                <a:ea typeface="Calibri" pitchFamily="34" charset="-122"/>
                <a:cs typeface="Calibri" pitchFamily="34" charset="-120"/>
              </a:rPr>
              <a:t>El servidor usa el trapdoor para ubicar la entrada en T, desencadena el puntero inicial y recorre A devolviendo solo los IDs cifrados de esa lista.</a:t>
            </a:r>
            <a:endParaRPr lang="en-US" sz="1200" dirty="0"/>
          </a:p>
        </p:txBody>
      </p:sp>
      <p:sp>
        <p:nvSpPr>
          <p:cNvPr id="25" name="Text 23"/>
          <p:cNvSpPr/>
          <p:nvPr/>
        </p:nvSpPr>
        <p:spPr>
          <a:xfrm>
            <a:off x="548640" y="6080760"/>
            <a:ext cx="11064240" cy="457200"/>
          </a:xfrm>
          <a:prstGeom prst="rect">
            <a:avLst/>
          </a:prstGeom>
          <a:noFill/>
          <a:ln/>
        </p:spPr>
        <p:txBody>
          <a:bodyPr wrap="square" lIns="0" tIns="0" rIns="0" bIns="0" rtlCol="0" anchor="ctr"/>
          <a:lstStyle/>
          <a:p>
            <a:pPr marL="0" indent="0">
              <a:lnSpc>
                <a:spcPct val="115000"/>
              </a:lnSpc>
              <a:buNone/>
            </a:pPr>
            <a:r>
              <a:rPr lang="en-US" sz="1250" b="1" dirty="0">
                <a:solidFill>
                  <a:srgbClr val="1B1F3B"/>
                </a:solidFill>
                <a:latin typeface="Calibri" pitchFamily="34" charset="0"/>
                <a:ea typeface="Calibri" pitchFamily="34" charset="-122"/>
                <a:cs typeface="Calibri" pitchFamily="34" charset="-120"/>
              </a:rPr>
              <a:t>Modelo de seguridad: </a:t>
            </a:r>
            <a:r>
              <a:rPr lang="en-US" sz="1250" dirty="0">
                <a:solidFill>
                  <a:srgbClr val="5B6584"/>
                </a:solidFill>
                <a:latin typeface="Calibri" pitchFamily="34" charset="0"/>
                <a:ea typeface="Calibri" pitchFamily="34" charset="-122"/>
                <a:cs typeface="Calibri" pitchFamily="34" charset="-120"/>
              </a:rPr>
              <a:t>CKA1 — seguro contra un adversario que elige sus consultas </a:t>
            </a:r>
            <a:r>
              <a:rPr lang="en-US" sz="1250" i="1" dirty="0">
                <a:solidFill>
                  <a:srgbClr val="5B6584"/>
                </a:solidFill>
                <a:latin typeface="Calibri" pitchFamily="34" charset="0"/>
                <a:ea typeface="Calibri" pitchFamily="34" charset="-122"/>
                <a:cs typeface="Calibri" pitchFamily="34" charset="-120"/>
              </a:rPr>
              <a:t>sin</a:t>
            </a:r>
            <a:r>
              <a:rPr lang="en-US" sz="1250" dirty="0">
                <a:solidFill>
                  <a:srgbClr val="5B6584"/>
                </a:solidFill>
                <a:latin typeface="Calibri" pitchFamily="34" charset="0"/>
                <a:ea typeface="Calibri" pitchFamily="34" charset="-122"/>
                <a:cs typeface="Calibri" pitchFamily="34" charset="-120"/>
              </a:rPr>
              <a:t> ver resultados previos (no adaptativo).</a:t>
            </a:r>
            <a:endParaRPr lang="en-US" sz="1250" dirty="0"/>
          </a:p>
        </p:txBody>
      </p:sp>
      <p:sp>
        <p:nvSpPr>
          <p:cNvPr id="26" name="Text 24"/>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ENDURECIENDO EL MODELO</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SSE-2: seguridad adaptativa</a:t>
            </a:r>
            <a:endParaRPr lang="en-US" sz="3000" dirty="0"/>
          </a:p>
        </p:txBody>
      </p:sp>
      <p:sp>
        <p:nvSpPr>
          <p:cNvPr id="4" name="Text 2"/>
          <p:cNvSpPr/>
          <p:nvPr/>
        </p:nvSpPr>
        <p:spPr>
          <a:xfrm>
            <a:off x="548640" y="1371600"/>
            <a:ext cx="11064240" cy="777240"/>
          </a:xfrm>
          <a:prstGeom prst="rect">
            <a:avLst/>
          </a:prstGeom>
          <a:noFill/>
          <a:ln/>
        </p:spPr>
        <p:txBody>
          <a:bodyPr wrap="square" lIns="0" tIns="0" rIns="0" bIns="0" rtlCol="0" anchor="ctr"/>
          <a:lstStyle/>
          <a:p>
            <a:pPr marL="0" indent="0">
              <a:lnSpc>
                <a:spcPct val="125000"/>
              </a:lnSpc>
              <a:buNone/>
            </a:pPr>
            <a:r>
              <a:rPr lang="en-US" sz="1400" dirty="0">
                <a:solidFill>
                  <a:srgbClr val="C7D3F0"/>
                </a:solidFill>
                <a:latin typeface="Calibri" pitchFamily="34" charset="0"/>
                <a:ea typeface="Calibri" pitchFamily="34" charset="-122"/>
                <a:cs typeface="Calibri" pitchFamily="34" charset="-120"/>
              </a:rPr>
              <a:t>SSE-1 no protege si el atacante elige la siguiente consulta en función de las respuestas anteriores. SSE-2 cierra esa brecha con dos PRF independientes y una construcción del índice que evita que la fuga se acumule entre consultas.</a:t>
            </a:r>
            <a:endParaRPr lang="en-US" sz="1400" dirty="0"/>
          </a:p>
        </p:txBody>
      </p:sp>
      <p:sp>
        <p:nvSpPr>
          <p:cNvPr id="5" name="Shape 3"/>
          <p:cNvSpPr/>
          <p:nvPr/>
        </p:nvSpPr>
        <p:spPr>
          <a:xfrm>
            <a:off x="548640" y="2423160"/>
            <a:ext cx="5349240" cy="2926080"/>
          </a:xfrm>
          <a:prstGeom prst="roundRect">
            <a:avLst>
              <a:gd name="adj" fmla="val 3125"/>
            </a:avLst>
          </a:prstGeom>
          <a:solidFill>
            <a:srgbClr val="262C56"/>
          </a:solidFill>
          <a:ln/>
        </p:spPr>
        <p:txBody>
          <a:bodyPr/>
          <a:lstStyle/>
          <a:p>
            <a:endParaRPr lang="en-US"/>
          </a:p>
        </p:txBody>
      </p:sp>
      <p:sp>
        <p:nvSpPr>
          <p:cNvPr id="6" name="Shape 4"/>
          <p:cNvSpPr/>
          <p:nvPr/>
        </p:nvSpPr>
        <p:spPr>
          <a:xfrm>
            <a:off x="822960" y="2679192"/>
            <a:ext cx="1371600" cy="502920"/>
          </a:xfrm>
          <a:prstGeom prst="roundRect">
            <a:avLst>
              <a:gd name="adj" fmla="val 10909"/>
            </a:avLst>
          </a:prstGeom>
          <a:solidFill>
            <a:srgbClr val="D9A441"/>
          </a:solidFill>
          <a:ln/>
        </p:spPr>
        <p:txBody>
          <a:bodyPr/>
          <a:lstStyle/>
          <a:p>
            <a:endParaRPr lang="en-US"/>
          </a:p>
        </p:txBody>
      </p:sp>
      <p:sp>
        <p:nvSpPr>
          <p:cNvPr id="7" name="Text 5"/>
          <p:cNvSpPr/>
          <p:nvPr/>
        </p:nvSpPr>
        <p:spPr>
          <a:xfrm>
            <a:off x="822960" y="2679192"/>
            <a:ext cx="1371600" cy="502920"/>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SSE-1</a:t>
            </a:r>
            <a:endParaRPr lang="en-US" sz="1500" dirty="0"/>
          </a:p>
        </p:txBody>
      </p:sp>
      <p:sp>
        <p:nvSpPr>
          <p:cNvPr id="8" name="Text 6"/>
          <p:cNvSpPr/>
          <p:nvPr/>
        </p:nvSpPr>
        <p:spPr>
          <a:xfrm>
            <a:off x="2331720" y="2679192"/>
            <a:ext cx="3337560" cy="502920"/>
          </a:xfrm>
          <a:prstGeom prst="rect">
            <a:avLst/>
          </a:prstGeom>
          <a:noFill/>
          <a:ln/>
        </p:spPr>
        <p:txBody>
          <a:bodyPr wrap="square" lIns="0" tIns="0" rIns="0" bIns="0" rtlCol="0" anchor="ctr"/>
          <a:lstStyle/>
          <a:p>
            <a:pPr marL="0" indent="0">
              <a:buNone/>
            </a:pPr>
            <a:r>
              <a:rPr lang="en-US" sz="1250" b="1" dirty="0">
                <a:solidFill>
                  <a:srgbClr val="C7D3F0"/>
                </a:solidFill>
                <a:latin typeface="Calibri" pitchFamily="34" charset="0"/>
                <a:ea typeface="Calibri" pitchFamily="34" charset="-122"/>
                <a:cs typeface="Calibri" pitchFamily="34" charset="-120"/>
              </a:rPr>
              <a:t>CKA1 · No adaptativo</a:t>
            </a:r>
            <a:endParaRPr lang="en-US" sz="1250" dirty="0"/>
          </a:p>
        </p:txBody>
      </p:sp>
      <p:sp>
        <p:nvSpPr>
          <p:cNvPr id="9" name="Shape 7"/>
          <p:cNvSpPr/>
          <p:nvPr/>
        </p:nvSpPr>
        <p:spPr>
          <a:xfrm>
            <a:off x="843750" y="3675889"/>
            <a:ext cx="82296" cy="82296"/>
          </a:xfrm>
          <a:prstGeom prst="ellipse">
            <a:avLst/>
          </a:prstGeom>
          <a:solidFill>
            <a:srgbClr val="D9A441"/>
          </a:solidFill>
          <a:ln/>
        </p:spPr>
        <p:txBody>
          <a:bodyPr/>
          <a:lstStyle/>
          <a:p>
            <a:endParaRPr lang="en-US"/>
          </a:p>
        </p:txBody>
      </p:sp>
      <p:sp>
        <p:nvSpPr>
          <p:cNvPr id="10" name="Text 8"/>
          <p:cNvSpPr/>
          <p:nvPr/>
        </p:nvSpPr>
        <p:spPr>
          <a:xfrm>
            <a:off x="1051560" y="3383280"/>
            <a:ext cx="4572000" cy="621792"/>
          </a:xfrm>
          <a:prstGeom prst="rect">
            <a:avLst/>
          </a:prstGeom>
          <a:noFill/>
          <a:ln/>
        </p:spPr>
        <p:txBody>
          <a:bodyPr wrap="square" lIns="0" tIns="0" rIns="0" bIns="0" rtlCol="0" anchor="ctr"/>
          <a:lstStyle/>
          <a:p>
            <a:pPr marL="0" indent="0">
              <a:lnSpc>
                <a:spcPct val="120000"/>
              </a:lnSpc>
              <a:buNone/>
            </a:pPr>
            <a:r>
              <a:rPr lang="en-US" sz="1150" dirty="0">
                <a:solidFill>
                  <a:srgbClr val="C7D3F0"/>
                </a:solidFill>
                <a:latin typeface="Calibri" pitchFamily="34" charset="0"/>
                <a:ea typeface="Calibri" pitchFamily="34" charset="-122"/>
                <a:cs typeface="Calibri" pitchFamily="34" charset="-120"/>
              </a:rPr>
              <a:t>El adversario fija todas sus consultas por adelantado.</a:t>
            </a:r>
            <a:endParaRPr lang="en-US" sz="1150" dirty="0"/>
          </a:p>
        </p:txBody>
      </p:sp>
      <p:sp>
        <p:nvSpPr>
          <p:cNvPr id="11" name="Shape 9"/>
          <p:cNvSpPr/>
          <p:nvPr/>
        </p:nvSpPr>
        <p:spPr>
          <a:xfrm>
            <a:off x="822960" y="4311396"/>
            <a:ext cx="82296" cy="82296"/>
          </a:xfrm>
          <a:prstGeom prst="ellipse">
            <a:avLst/>
          </a:prstGeom>
          <a:solidFill>
            <a:srgbClr val="D9A441"/>
          </a:solidFill>
          <a:ln/>
        </p:spPr>
        <p:txBody>
          <a:bodyPr/>
          <a:lstStyle/>
          <a:p>
            <a:endParaRPr lang="en-US"/>
          </a:p>
        </p:txBody>
      </p:sp>
      <p:sp>
        <p:nvSpPr>
          <p:cNvPr id="12" name="Text 10"/>
          <p:cNvSpPr/>
          <p:nvPr/>
        </p:nvSpPr>
        <p:spPr>
          <a:xfrm>
            <a:off x="1051560" y="4041648"/>
            <a:ext cx="4572000" cy="621792"/>
          </a:xfrm>
          <a:prstGeom prst="rect">
            <a:avLst/>
          </a:prstGeom>
          <a:noFill/>
          <a:ln/>
        </p:spPr>
        <p:txBody>
          <a:bodyPr wrap="square" lIns="0" tIns="0" rIns="0" bIns="0" rtlCol="0" anchor="ctr"/>
          <a:lstStyle/>
          <a:p>
            <a:pPr marL="0" indent="0">
              <a:lnSpc>
                <a:spcPct val="120000"/>
              </a:lnSpc>
              <a:buNone/>
            </a:pPr>
            <a:r>
              <a:rPr lang="en-US" sz="1150" dirty="0">
                <a:solidFill>
                  <a:srgbClr val="C7D3F0"/>
                </a:solidFill>
                <a:latin typeface="Calibri" pitchFamily="34" charset="0"/>
                <a:ea typeface="Calibri" pitchFamily="34" charset="-122"/>
                <a:cs typeface="Calibri" pitchFamily="34" charset="-120"/>
              </a:rPr>
              <a:t>Una sola PRF deriva claves de nodo y de trapdoor.</a:t>
            </a:r>
            <a:endParaRPr lang="en-US" sz="1150" dirty="0"/>
          </a:p>
        </p:txBody>
      </p:sp>
      <p:sp>
        <p:nvSpPr>
          <p:cNvPr id="13" name="Shape 11"/>
          <p:cNvSpPr/>
          <p:nvPr/>
        </p:nvSpPr>
        <p:spPr>
          <a:xfrm>
            <a:off x="843750" y="4864608"/>
            <a:ext cx="82296" cy="82296"/>
          </a:xfrm>
          <a:prstGeom prst="ellipse">
            <a:avLst/>
          </a:prstGeom>
          <a:solidFill>
            <a:srgbClr val="D9A441"/>
          </a:solidFill>
          <a:ln/>
        </p:spPr>
        <p:txBody>
          <a:bodyPr/>
          <a:lstStyle/>
          <a:p>
            <a:endParaRPr lang="en-US"/>
          </a:p>
        </p:txBody>
      </p:sp>
      <p:sp>
        <p:nvSpPr>
          <p:cNvPr id="14" name="Text 12"/>
          <p:cNvSpPr/>
          <p:nvPr/>
        </p:nvSpPr>
        <p:spPr>
          <a:xfrm>
            <a:off x="1051560" y="4700016"/>
            <a:ext cx="4572000" cy="621792"/>
          </a:xfrm>
          <a:prstGeom prst="rect">
            <a:avLst/>
          </a:prstGeom>
          <a:noFill/>
          <a:ln/>
        </p:spPr>
        <p:txBody>
          <a:bodyPr wrap="square" lIns="0" tIns="0" rIns="0" bIns="0" rtlCol="0" anchor="ctr"/>
          <a:lstStyle/>
          <a:p>
            <a:pPr marL="0" indent="0">
              <a:lnSpc>
                <a:spcPct val="120000"/>
              </a:lnSpc>
              <a:buNone/>
            </a:pPr>
            <a:r>
              <a:rPr lang="en-US" sz="1150" dirty="0">
                <a:solidFill>
                  <a:srgbClr val="C7D3F0"/>
                </a:solidFill>
                <a:latin typeface="Calibri" pitchFamily="34" charset="0"/>
                <a:ea typeface="Calibri" pitchFamily="34" charset="-122"/>
                <a:cs typeface="Calibri" pitchFamily="34" charset="-120"/>
              </a:rPr>
              <a:t>Vulnerable si el servidor correlaciona consultas sucesivas con resultados previos.</a:t>
            </a:r>
            <a:endParaRPr lang="en-US" sz="1150" dirty="0"/>
          </a:p>
        </p:txBody>
      </p:sp>
      <p:sp>
        <p:nvSpPr>
          <p:cNvPr id="15" name="Shape 13"/>
          <p:cNvSpPr/>
          <p:nvPr/>
        </p:nvSpPr>
        <p:spPr>
          <a:xfrm>
            <a:off x="6355080" y="2423160"/>
            <a:ext cx="5349240" cy="2926080"/>
          </a:xfrm>
          <a:prstGeom prst="roundRect">
            <a:avLst>
              <a:gd name="adj" fmla="val 3125"/>
            </a:avLst>
          </a:prstGeom>
          <a:solidFill>
            <a:srgbClr val="262C56"/>
          </a:solidFill>
          <a:ln/>
        </p:spPr>
        <p:txBody>
          <a:bodyPr/>
          <a:lstStyle/>
          <a:p>
            <a:endParaRPr lang="en-US"/>
          </a:p>
        </p:txBody>
      </p:sp>
      <p:sp>
        <p:nvSpPr>
          <p:cNvPr id="16" name="Shape 14"/>
          <p:cNvSpPr/>
          <p:nvPr/>
        </p:nvSpPr>
        <p:spPr>
          <a:xfrm>
            <a:off x="6629400" y="2679192"/>
            <a:ext cx="1371600" cy="502920"/>
          </a:xfrm>
          <a:prstGeom prst="roundRect">
            <a:avLst>
              <a:gd name="adj" fmla="val 10909"/>
            </a:avLst>
          </a:prstGeom>
          <a:solidFill>
            <a:srgbClr val="D9A441"/>
          </a:solidFill>
          <a:ln/>
        </p:spPr>
        <p:txBody>
          <a:bodyPr/>
          <a:lstStyle/>
          <a:p>
            <a:endParaRPr lang="en-US"/>
          </a:p>
        </p:txBody>
      </p:sp>
      <p:sp>
        <p:nvSpPr>
          <p:cNvPr id="17" name="Text 15"/>
          <p:cNvSpPr/>
          <p:nvPr/>
        </p:nvSpPr>
        <p:spPr>
          <a:xfrm>
            <a:off x="6629400" y="2679192"/>
            <a:ext cx="1371600" cy="502920"/>
          </a:xfrm>
          <a:prstGeom prst="rect">
            <a:avLst/>
          </a:prstGeom>
          <a:noFill/>
          <a:ln/>
        </p:spPr>
        <p:txBody>
          <a:bodyPr wrap="square" lIns="0" tIns="0" rIns="0" bIns="0" rtlCol="0" anchor="ctr"/>
          <a:lstStyle/>
          <a:p>
            <a:pPr marL="0" indent="0" algn="ctr">
              <a:buNone/>
            </a:pPr>
            <a:r>
              <a:rPr lang="en-US" sz="1500" b="1" dirty="0">
                <a:solidFill>
                  <a:srgbClr val="1B1F3B"/>
                </a:solidFill>
                <a:latin typeface="Cambria" pitchFamily="34" charset="0"/>
                <a:ea typeface="Cambria" pitchFamily="34" charset="-122"/>
                <a:cs typeface="Cambria" pitchFamily="34" charset="-120"/>
              </a:rPr>
              <a:t>SSE-2</a:t>
            </a:r>
            <a:endParaRPr lang="en-US" sz="1500" dirty="0"/>
          </a:p>
        </p:txBody>
      </p:sp>
      <p:sp>
        <p:nvSpPr>
          <p:cNvPr id="18" name="Text 16"/>
          <p:cNvSpPr/>
          <p:nvPr/>
        </p:nvSpPr>
        <p:spPr>
          <a:xfrm>
            <a:off x="8138160" y="2679192"/>
            <a:ext cx="3337560" cy="502920"/>
          </a:xfrm>
          <a:prstGeom prst="rect">
            <a:avLst/>
          </a:prstGeom>
          <a:noFill/>
          <a:ln/>
        </p:spPr>
        <p:txBody>
          <a:bodyPr wrap="square" lIns="0" tIns="0" rIns="0" bIns="0" rtlCol="0" anchor="ctr"/>
          <a:lstStyle/>
          <a:p>
            <a:pPr marL="0" indent="0">
              <a:buNone/>
            </a:pPr>
            <a:r>
              <a:rPr lang="en-US" sz="1250" b="1" dirty="0">
                <a:solidFill>
                  <a:srgbClr val="C7D3F0"/>
                </a:solidFill>
                <a:latin typeface="Calibri" pitchFamily="34" charset="0"/>
                <a:ea typeface="Calibri" pitchFamily="34" charset="-122"/>
                <a:cs typeface="Calibri" pitchFamily="34" charset="-120"/>
              </a:rPr>
              <a:t>CKA2 · Adaptativo</a:t>
            </a:r>
            <a:endParaRPr lang="en-US" sz="1250" dirty="0"/>
          </a:p>
        </p:txBody>
      </p:sp>
      <p:sp>
        <p:nvSpPr>
          <p:cNvPr id="19" name="Shape 17"/>
          <p:cNvSpPr/>
          <p:nvPr/>
        </p:nvSpPr>
        <p:spPr>
          <a:xfrm>
            <a:off x="6633799" y="3675889"/>
            <a:ext cx="82296" cy="82296"/>
          </a:xfrm>
          <a:prstGeom prst="ellipse">
            <a:avLst/>
          </a:prstGeom>
          <a:solidFill>
            <a:srgbClr val="D9A441"/>
          </a:solidFill>
          <a:ln/>
        </p:spPr>
        <p:txBody>
          <a:bodyPr/>
          <a:lstStyle/>
          <a:p>
            <a:endParaRPr lang="en-US"/>
          </a:p>
        </p:txBody>
      </p:sp>
      <p:sp>
        <p:nvSpPr>
          <p:cNvPr id="20" name="Text 18"/>
          <p:cNvSpPr/>
          <p:nvPr/>
        </p:nvSpPr>
        <p:spPr>
          <a:xfrm>
            <a:off x="6858000" y="3383280"/>
            <a:ext cx="4572000" cy="621792"/>
          </a:xfrm>
          <a:prstGeom prst="rect">
            <a:avLst/>
          </a:prstGeom>
          <a:noFill/>
          <a:ln/>
        </p:spPr>
        <p:txBody>
          <a:bodyPr wrap="square" lIns="0" tIns="0" rIns="0" bIns="0" rtlCol="0" anchor="ctr"/>
          <a:lstStyle/>
          <a:p>
            <a:pPr marL="0" indent="0">
              <a:lnSpc>
                <a:spcPct val="120000"/>
              </a:lnSpc>
              <a:buNone/>
            </a:pPr>
            <a:r>
              <a:rPr lang="en-US" sz="1150" dirty="0">
                <a:solidFill>
                  <a:srgbClr val="C7D3F0"/>
                </a:solidFill>
                <a:latin typeface="Calibri" pitchFamily="34" charset="0"/>
                <a:ea typeface="Calibri" pitchFamily="34" charset="-122"/>
                <a:cs typeface="Calibri" pitchFamily="34" charset="-120"/>
              </a:rPr>
              <a:t>El adversario puede elegir cada consulta tras ver las respuestas anteriores.</a:t>
            </a:r>
            <a:endParaRPr lang="en-US" sz="1150" dirty="0"/>
          </a:p>
        </p:txBody>
      </p:sp>
      <p:sp>
        <p:nvSpPr>
          <p:cNvPr id="21" name="Shape 19"/>
          <p:cNvSpPr/>
          <p:nvPr/>
        </p:nvSpPr>
        <p:spPr>
          <a:xfrm>
            <a:off x="6647688" y="4327182"/>
            <a:ext cx="82296" cy="82296"/>
          </a:xfrm>
          <a:prstGeom prst="ellipse">
            <a:avLst/>
          </a:prstGeom>
          <a:solidFill>
            <a:srgbClr val="D9A441"/>
          </a:solidFill>
          <a:ln/>
        </p:spPr>
        <p:txBody>
          <a:bodyPr/>
          <a:lstStyle/>
          <a:p>
            <a:endParaRPr lang="en-US"/>
          </a:p>
        </p:txBody>
      </p:sp>
      <p:sp>
        <p:nvSpPr>
          <p:cNvPr id="22" name="Text 20"/>
          <p:cNvSpPr/>
          <p:nvPr/>
        </p:nvSpPr>
        <p:spPr>
          <a:xfrm>
            <a:off x="6858000" y="4041648"/>
            <a:ext cx="4572000" cy="621792"/>
          </a:xfrm>
          <a:prstGeom prst="rect">
            <a:avLst/>
          </a:prstGeom>
          <a:noFill/>
          <a:ln/>
        </p:spPr>
        <p:txBody>
          <a:bodyPr wrap="square" lIns="0" tIns="0" rIns="0" bIns="0" rtlCol="0" anchor="ctr"/>
          <a:lstStyle/>
          <a:p>
            <a:pPr marL="0" indent="0">
              <a:lnSpc>
                <a:spcPct val="120000"/>
              </a:lnSpc>
              <a:buNone/>
            </a:pPr>
            <a:r>
              <a:rPr lang="en-US" sz="1150" dirty="0">
                <a:solidFill>
                  <a:srgbClr val="C7D3F0"/>
                </a:solidFill>
                <a:latin typeface="Calibri" pitchFamily="34" charset="0"/>
                <a:ea typeface="Calibri" pitchFamily="34" charset="-122"/>
                <a:cs typeface="Calibri" pitchFamily="34" charset="-120"/>
              </a:rPr>
              <a:t>Dos PRF independientes separan la derivación de claves y de identificadores.</a:t>
            </a:r>
            <a:endParaRPr lang="en-US" sz="1150" dirty="0"/>
          </a:p>
        </p:txBody>
      </p:sp>
      <p:sp>
        <p:nvSpPr>
          <p:cNvPr id="23" name="Shape 21"/>
          <p:cNvSpPr/>
          <p:nvPr/>
        </p:nvSpPr>
        <p:spPr>
          <a:xfrm>
            <a:off x="6647688" y="4864608"/>
            <a:ext cx="82296" cy="82296"/>
          </a:xfrm>
          <a:prstGeom prst="ellipse">
            <a:avLst/>
          </a:prstGeom>
          <a:solidFill>
            <a:srgbClr val="D9A441"/>
          </a:solidFill>
          <a:ln/>
        </p:spPr>
        <p:txBody>
          <a:bodyPr/>
          <a:lstStyle/>
          <a:p>
            <a:endParaRPr lang="en-US"/>
          </a:p>
        </p:txBody>
      </p:sp>
      <p:sp>
        <p:nvSpPr>
          <p:cNvPr id="24" name="Text 22"/>
          <p:cNvSpPr/>
          <p:nvPr/>
        </p:nvSpPr>
        <p:spPr>
          <a:xfrm>
            <a:off x="6858000" y="4700016"/>
            <a:ext cx="4572000" cy="621792"/>
          </a:xfrm>
          <a:prstGeom prst="rect">
            <a:avLst/>
          </a:prstGeom>
          <a:noFill/>
          <a:ln/>
        </p:spPr>
        <p:txBody>
          <a:bodyPr wrap="square" lIns="0" tIns="0" rIns="0" bIns="0" rtlCol="0" anchor="ctr"/>
          <a:lstStyle/>
          <a:p>
            <a:pPr marL="0" indent="0">
              <a:lnSpc>
                <a:spcPct val="120000"/>
              </a:lnSpc>
              <a:buNone/>
            </a:pPr>
            <a:r>
              <a:rPr lang="en-US" sz="1150" dirty="0">
                <a:solidFill>
                  <a:srgbClr val="C7D3F0"/>
                </a:solidFill>
                <a:latin typeface="Calibri" pitchFamily="34" charset="0"/>
                <a:ea typeface="Calibri" pitchFamily="34" charset="-122"/>
                <a:cs typeface="Calibri" pitchFamily="34" charset="-120"/>
              </a:rPr>
              <a:t>La fuga queda acotada al patrón de acceso y de búsqueda — nada más, consulta tras consulta.</a:t>
            </a:r>
            <a:endParaRPr lang="en-US" sz="1150" dirty="0"/>
          </a:p>
        </p:txBody>
      </p:sp>
      <p:sp>
        <p:nvSpPr>
          <p:cNvPr id="25" name="Text 23"/>
          <p:cNvSpPr/>
          <p:nvPr/>
        </p:nvSpPr>
        <p:spPr>
          <a:xfrm>
            <a:off x="548640" y="5623560"/>
            <a:ext cx="11064240" cy="640080"/>
          </a:xfrm>
          <a:prstGeom prst="rect">
            <a:avLst/>
          </a:prstGeom>
          <a:noFill/>
          <a:ln/>
        </p:spPr>
        <p:txBody>
          <a:bodyPr wrap="square" lIns="0" tIns="0" rIns="0" bIns="0" rtlCol="0" anchor="ctr"/>
          <a:lstStyle/>
          <a:p>
            <a:pPr marL="0" indent="0">
              <a:lnSpc>
                <a:spcPct val="120000"/>
              </a:lnSpc>
              <a:buNone/>
            </a:pPr>
            <a:r>
              <a:rPr lang="en-US" sz="1250" b="1" dirty="0">
                <a:solidFill>
                  <a:srgbClr val="D9A441"/>
                </a:solidFill>
                <a:latin typeface="Calibri" pitchFamily="34" charset="0"/>
                <a:ea typeface="Calibri" pitchFamily="34" charset="-122"/>
                <a:cs typeface="Calibri" pitchFamily="34" charset="-120"/>
              </a:rPr>
              <a:t>Para el desarrollador: </a:t>
            </a:r>
            <a:r>
              <a:rPr lang="en-US" sz="1250" dirty="0">
                <a:solidFill>
                  <a:srgbClr val="C7D3F0"/>
                </a:solidFill>
                <a:latin typeface="Calibri" pitchFamily="34" charset="0"/>
                <a:ea typeface="Calibri" pitchFamily="34" charset="-122"/>
                <a:cs typeface="Calibri" pitchFamily="34" charset="-120"/>
              </a:rPr>
              <a:t>adaptativo vs. no-adaptativo no es un matiz académico — define si el esquema resiste a un servidor que observa patrones de tráfico en producción, que es el caso real.</a:t>
            </a:r>
            <a:endParaRPr lang="en-US" sz="1250" dirty="0"/>
          </a:p>
        </p:txBody>
      </p:sp>
      <p:sp>
        <p:nvSpPr>
          <p:cNvPr id="26" name="Text 24"/>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8D98C4"/>
                </a:solidFill>
                <a:latin typeface="Calibri" pitchFamily="34" charset="0"/>
                <a:ea typeface="Calibri" pitchFamily="34" charset="-122"/>
                <a:cs typeface="Calibri" pitchFamily="34" charset="-120"/>
              </a:rPr>
              <a:t>07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QUÉ SE </a:t>
            </a:r>
            <a:r>
              <a:rPr lang="en-US" sz="1200" b="1" kern="0" spc="200">
                <a:solidFill>
                  <a:srgbClr val="D9A441"/>
                </a:solidFill>
                <a:latin typeface="Calibri" pitchFamily="34" charset="0"/>
                <a:ea typeface="Calibri" pitchFamily="34" charset="-122"/>
                <a:cs typeface="Calibri" pitchFamily="34" charset="-120"/>
              </a:rPr>
              <a:t>ACEPTA REVELAR?</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El perfil de fuga (leakage)</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marL="0" indent="0">
              <a:lnSpc>
                <a:spcPct val="125000"/>
              </a:lnSpc>
              <a:buNone/>
            </a:pPr>
            <a:r>
              <a:rPr lang="en-US" sz="1450" dirty="0">
                <a:solidFill>
                  <a:srgbClr val="5B6584"/>
                </a:solidFill>
                <a:latin typeface="Calibri" pitchFamily="34" charset="0"/>
                <a:ea typeface="Calibri" pitchFamily="34" charset="-122"/>
                <a:cs typeface="Calibri" pitchFamily="34" charset="-120"/>
              </a:rPr>
              <a:t>Ningún esquema de SSE es de fuga cero — esa es la concesión que compra la eficiencia. La seguridad formal consiste en probar que no se filtra nada más allá de un perfil de fuga explícito y acotado.</a:t>
            </a:r>
            <a:endParaRPr lang="en-US" sz="1450" dirty="0"/>
          </a:p>
        </p:txBody>
      </p:sp>
      <p:sp>
        <p:nvSpPr>
          <p:cNvPr id="5" name="Shape 3"/>
          <p:cNvSpPr/>
          <p:nvPr/>
        </p:nvSpPr>
        <p:spPr>
          <a:xfrm>
            <a:off x="548640" y="2286000"/>
            <a:ext cx="3520440" cy="2286000"/>
          </a:xfrm>
          <a:prstGeom prst="roundRect">
            <a:avLst>
              <a:gd name="adj" fmla="val 3200"/>
            </a:avLst>
          </a:prstGeom>
          <a:solidFill>
            <a:srgbClr val="FFFFFF"/>
          </a:solidFill>
          <a:ln w="12700">
            <a:solidFill>
              <a:srgbClr val="DCE1F0"/>
            </a:solidFill>
            <a:prstDash val="solid"/>
          </a:ln>
        </p:spPr>
        <p:txBody>
          <a:bodyPr/>
          <a:lstStyle/>
          <a:p>
            <a:endParaRPr lang="en-US"/>
          </a:p>
        </p:txBody>
      </p:sp>
      <p:sp>
        <p:nvSpPr>
          <p:cNvPr id="6" name="Shape 4"/>
          <p:cNvSpPr/>
          <p:nvPr/>
        </p:nvSpPr>
        <p:spPr>
          <a:xfrm>
            <a:off x="777240" y="2514600"/>
            <a:ext cx="457200" cy="457200"/>
          </a:xfrm>
          <a:prstGeom prst="roundRect">
            <a:avLst>
              <a:gd name="adj" fmla="val 12000"/>
            </a:avLst>
          </a:prstGeom>
          <a:solidFill>
            <a:srgbClr val="EFE1C4"/>
          </a:solidFill>
          <a:ln/>
        </p:spPr>
        <p:txBody>
          <a:bodyPr/>
          <a:lstStyle/>
          <a:p>
            <a:endParaRPr lang="en-US"/>
          </a:p>
        </p:txBody>
      </p:sp>
      <p:sp>
        <p:nvSpPr>
          <p:cNvPr id="7" name="Text 5"/>
          <p:cNvSpPr/>
          <p:nvPr/>
        </p:nvSpPr>
        <p:spPr>
          <a:xfrm>
            <a:off x="777240" y="2514600"/>
            <a:ext cx="457200" cy="457200"/>
          </a:xfrm>
          <a:prstGeom prst="rect">
            <a:avLst/>
          </a:prstGeom>
          <a:noFill/>
          <a:ln/>
        </p:spPr>
        <p:txBody>
          <a:bodyPr wrap="square" lIns="0" tIns="0" rIns="0" bIns="0" rtlCol="0" anchor="ctr"/>
          <a:lstStyle/>
          <a:p>
            <a:pPr marL="0" indent="0" algn="ctr">
              <a:buNone/>
            </a:pPr>
            <a:r>
              <a:rPr lang="en-US" sz="1600" b="1" dirty="0">
                <a:solidFill>
                  <a:srgbClr val="B4842E"/>
                </a:solidFill>
                <a:latin typeface="Cambria" pitchFamily="34" charset="0"/>
                <a:ea typeface="Cambria" pitchFamily="34" charset="-122"/>
                <a:cs typeface="Cambria" pitchFamily="34" charset="-120"/>
              </a:rPr>
              <a:t>1</a:t>
            </a:r>
            <a:endParaRPr lang="en-US" sz="1600" dirty="0"/>
          </a:p>
        </p:txBody>
      </p:sp>
      <p:sp>
        <p:nvSpPr>
          <p:cNvPr id="8" name="Text 6"/>
          <p:cNvSpPr/>
          <p:nvPr/>
        </p:nvSpPr>
        <p:spPr>
          <a:xfrm>
            <a:off x="777240" y="3108960"/>
            <a:ext cx="3063240" cy="502920"/>
          </a:xfrm>
          <a:prstGeom prst="rect">
            <a:avLst/>
          </a:prstGeom>
          <a:noFill/>
          <a:ln/>
        </p:spPr>
        <p:txBody>
          <a:bodyPr wrap="square" lIns="0" tIns="0" rIns="0" bIns="0" rtlCol="0" anchor="ctr"/>
          <a:lstStyle/>
          <a:p>
            <a:pPr marL="0" indent="0">
              <a:lnSpc>
                <a:spcPct val="105000"/>
              </a:lnSpc>
              <a:buNone/>
            </a:pPr>
            <a:r>
              <a:rPr lang="en-US" sz="1400" b="1" dirty="0">
                <a:solidFill>
                  <a:srgbClr val="1B1F3B"/>
                </a:solidFill>
                <a:latin typeface="Cambria" pitchFamily="34" charset="0"/>
                <a:ea typeface="Cambria" pitchFamily="34" charset="-122"/>
                <a:cs typeface="Cambria" pitchFamily="34" charset="-120"/>
              </a:rPr>
              <a:t>Patrón de acceso</a:t>
            </a:r>
            <a:endParaRPr lang="en-US" sz="1400" dirty="0"/>
          </a:p>
        </p:txBody>
      </p:sp>
      <p:sp>
        <p:nvSpPr>
          <p:cNvPr id="9" name="Text 7"/>
          <p:cNvSpPr/>
          <p:nvPr/>
        </p:nvSpPr>
        <p:spPr>
          <a:xfrm>
            <a:off x="777240" y="3611880"/>
            <a:ext cx="3063240" cy="868680"/>
          </a:xfrm>
          <a:prstGeom prst="rect">
            <a:avLst/>
          </a:prstGeom>
          <a:noFill/>
          <a:ln/>
        </p:spPr>
        <p:txBody>
          <a:bodyPr wrap="square" lIns="0" tIns="0" rIns="0" bIns="0" rtlCol="0" anchor="ctr"/>
          <a:lstStyle/>
          <a:p>
            <a:pPr marL="0" indent="0">
              <a:lnSpc>
                <a:spcPct val="120000"/>
              </a:lnSpc>
              <a:buNone/>
            </a:pPr>
            <a:r>
              <a:rPr lang="en-US" sz="1150" dirty="0">
                <a:solidFill>
                  <a:srgbClr val="5B6584"/>
                </a:solidFill>
                <a:latin typeface="Calibri" pitchFamily="34" charset="0"/>
                <a:ea typeface="Calibri" pitchFamily="34" charset="-122"/>
                <a:cs typeface="Calibri" pitchFamily="34" charset="-120"/>
              </a:rPr>
              <a:t>Qué documentos (identificadores cifrados) coinciden con cada consulta, aunque no su contenido.</a:t>
            </a:r>
            <a:endParaRPr lang="en-US" sz="1150" dirty="0"/>
          </a:p>
        </p:txBody>
      </p:sp>
      <p:sp>
        <p:nvSpPr>
          <p:cNvPr id="10" name="Shape 8"/>
          <p:cNvSpPr/>
          <p:nvPr/>
        </p:nvSpPr>
        <p:spPr>
          <a:xfrm>
            <a:off x="4343400" y="2286000"/>
            <a:ext cx="3520440" cy="2286000"/>
          </a:xfrm>
          <a:prstGeom prst="roundRect">
            <a:avLst>
              <a:gd name="adj" fmla="val 3200"/>
            </a:avLst>
          </a:prstGeom>
          <a:solidFill>
            <a:srgbClr val="FFFFFF"/>
          </a:solidFill>
          <a:ln w="12700">
            <a:solidFill>
              <a:srgbClr val="DCE1F0"/>
            </a:solidFill>
            <a:prstDash val="solid"/>
          </a:ln>
        </p:spPr>
        <p:txBody>
          <a:bodyPr/>
          <a:lstStyle/>
          <a:p>
            <a:endParaRPr lang="en-US"/>
          </a:p>
        </p:txBody>
      </p:sp>
      <p:sp>
        <p:nvSpPr>
          <p:cNvPr id="11" name="Shape 9"/>
          <p:cNvSpPr/>
          <p:nvPr/>
        </p:nvSpPr>
        <p:spPr>
          <a:xfrm>
            <a:off x="4572000" y="2514600"/>
            <a:ext cx="457200" cy="457200"/>
          </a:xfrm>
          <a:prstGeom prst="roundRect">
            <a:avLst>
              <a:gd name="adj" fmla="val 12000"/>
            </a:avLst>
          </a:prstGeom>
          <a:solidFill>
            <a:srgbClr val="EFE1C4"/>
          </a:solidFill>
          <a:ln/>
        </p:spPr>
        <p:txBody>
          <a:bodyPr/>
          <a:lstStyle/>
          <a:p>
            <a:endParaRPr lang="en-US"/>
          </a:p>
        </p:txBody>
      </p:sp>
      <p:sp>
        <p:nvSpPr>
          <p:cNvPr id="12" name="Text 10"/>
          <p:cNvSpPr/>
          <p:nvPr/>
        </p:nvSpPr>
        <p:spPr>
          <a:xfrm>
            <a:off x="4572000" y="2514600"/>
            <a:ext cx="457200" cy="457200"/>
          </a:xfrm>
          <a:prstGeom prst="rect">
            <a:avLst/>
          </a:prstGeom>
          <a:noFill/>
          <a:ln/>
        </p:spPr>
        <p:txBody>
          <a:bodyPr wrap="square" lIns="0" tIns="0" rIns="0" bIns="0" rtlCol="0" anchor="ctr"/>
          <a:lstStyle/>
          <a:p>
            <a:pPr marL="0" indent="0" algn="ctr">
              <a:buNone/>
            </a:pPr>
            <a:r>
              <a:rPr lang="en-US" sz="1600" b="1" dirty="0">
                <a:solidFill>
                  <a:srgbClr val="B4842E"/>
                </a:solidFill>
                <a:latin typeface="Cambria" pitchFamily="34" charset="0"/>
                <a:ea typeface="Cambria" pitchFamily="34" charset="-122"/>
                <a:cs typeface="Cambria" pitchFamily="34" charset="-120"/>
              </a:rPr>
              <a:t>2</a:t>
            </a:r>
            <a:endParaRPr lang="en-US" sz="1600" dirty="0"/>
          </a:p>
        </p:txBody>
      </p:sp>
      <p:sp>
        <p:nvSpPr>
          <p:cNvPr id="13" name="Text 11"/>
          <p:cNvSpPr/>
          <p:nvPr/>
        </p:nvSpPr>
        <p:spPr>
          <a:xfrm>
            <a:off x="4572000" y="3108960"/>
            <a:ext cx="3063240" cy="502920"/>
          </a:xfrm>
          <a:prstGeom prst="rect">
            <a:avLst/>
          </a:prstGeom>
          <a:noFill/>
          <a:ln/>
        </p:spPr>
        <p:txBody>
          <a:bodyPr wrap="square" lIns="0" tIns="0" rIns="0" bIns="0" rtlCol="0" anchor="ctr"/>
          <a:lstStyle/>
          <a:p>
            <a:pPr marL="0" indent="0">
              <a:lnSpc>
                <a:spcPct val="105000"/>
              </a:lnSpc>
              <a:buNone/>
            </a:pPr>
            <a:r>
              <a:rPr lang="en-US" sz="1400" b="1" dirty="0">
                <a:solidFill>
                  <a:srgbClr val="1B1F3B"/>
                </a:solidFill>
                <a:latin typeface="Cambria" pitchFamily="34" charset="0"/>
                <a:ea typeface="Cambria" pitchFamily="34" charset="-122"/>
                <a:cs typeface="Cambria" pitchFamily="34" charset="-120"/>
              </a:rPr>
              <a:t>Patrón de búsqueda</a:t>
            </a:r>
            <a:endParaRPr lang="en-US" sz="1400" dirty="0"/>
          </a:p>
        </p:txBody>
      </p:sp>
      <p:sp>
        <p:nvSpPr>
          <p:cNvPr id="14" name="Text 12"/>
          <p:cNvSpPr/>
          <p:nvPr/>
        </p:nvSpPr>
        <p:spPr>
          <a:xfrm>
            <a:off x="4572000" y="3611880"/>
            <a:ext cx="3063240" cy="868680"/>
          </a:xfrm>
          <a:prstGeom prst="rect">
            <a:avLst/>
          </a:prstGeom>
          <a:noFill/>
          <a:ln/>
        </p:spPr>
        <p:txBody>
          <a:bodyPr wrap="square" lIns="0" tIns="0" rIns="0" bIns="0" rtlCol="0" anchor="ctr"/>
          <a:lstStyle/>
          <a:p>
            <a:pPr marL="0" indent="0">
              <a:lnSpc>
                <a:spcPct val="120000"/>
              </a:lnSpc>
              <a:buNone/>
            </a:pPr>
            <a:r>
              <a:rPr lang="en-US" sz="1150" dirty="0">
                <a:solidFill>
                  <a:srgbClr val="5B6584"/>
                </a:solidFill>
                <a:latin typeface="Calibri" pitchFamily="34" charset="0"/>
                <a:ea typeface="Calibri" pitchFamily="34" charset="-122"/>
                <a:cs typeface="Calibri" pitchFamily="34" charset="-120"/>
              </a:rPr>
              <a:t>Si dos trapdoors son iguales, el servidor sabe que corresponden a la misma palabra clave, aunque no cuál.</a:t>
            </a:r>
            <a:endParaRPr lang="en-US" sz="1150" dirty="0"/>
          </a:p>
        </p:txBody>
      </p:sp>
      <p:sp>
        <p:nvSpPr>
          <p:cNvPr id="15" name="Shape 13"/>
          <p:cNvSpPr/>
          <p:nvPr/>
        </p:nvSpPr>
        <p:spPr>
          <a:xfrm>
            <a:off x="8138160" y="2286000"/>
            <a:ext cx="3520440" cy="2286000"/>
          </a:xfrm>
          <a:prstGeom prst="roundRect">
            <a:avLst>
              <a:gd name="adj" fmla="val 3200"/>
            </a:avLst>
          </a:prstGeom>
          <a:solidFill>
            <a:srgbClr val="FFFFFF"/>
          </a:solidFill>
          <a:ln w="12700">
            <a:solidFill>
              <a:srgbClr val="DCE1F0"/>
            </a:solidFill>
            <a:prstDash val="solid"/>
          </a:ln>
        </p:spPr>
        <p:txBody>
          <a:bodyPr/>
          <a:lstStyle/>
          <a:p>
            <a:endParaRPr lang="en-US"/>
          </a:p>
        </p:txBody>
      </p:sp>
      <p:sp>
        <p:nvSpPr>
          <p:cNvPr id="16" name="Shape 14"/>
          <p:cNvSpPr/>
          <p:nvPr/>
        </p:nvSpPr>
        <p:spPr>
          <a:xfrm>
            <a:off x="8366760" y="2514600"/>
            <a:ext cx="457200" cy="457200"/>
          </a:xfrm>
          <a:prstGeom prst="roundRect">
            <a:avLst>
              <a:gd name="adj" fmla="val 12000"/>
            </a:avLst>
          </a:prstGeom>
          <a:solidFill>
            <a:srgbClr val="EFE1C4"/>
          </a:solidFill>
          <a:ln/>
        </p:spPr>
        <p:txBody>
          <a:bodyPr/>
          <a:lstStyle/>
          <a:p>
            <a:endParaRPr lang="en-US"/>
          </a:p>
        </p:txBody>
      </p:sp>
      <p:sp>
        <p:nvSpPr>
          <p:cNvPr id="17" name="Text 15"/>
          <p:cNvSpPr/>
          <p:nvPr/>
        </p:nvSpPr>
        <p:spPr>
          <a:xfrm>
            <a:off x="8366760" y="2514600"/>
            <a:ext cx="457200" cy="457200"/>
          </a:xfrm>
          <a:prstGeom prst="rect">
            <a:avLst/>
          </a:prstGeom>
          <a:noFill/>
          <a:ln/>
        </p:spPr>
        <p:txBody>
          <a:bodyPr wrap="square" lIns="0" tIns="0" rIns="0" bIns="0" rtlCol="0" anchor="ctr"/>
          <a:lstStyle/>
          <a:p>
            <a:pPr marL="0" indent="0" algn="ctr">
              <a:buNone/>
            </a:pPr>
            <a:r>
              <a:rPr lang="en-US" sz="1600" b="1" dirty="0">
                <a:solidFill>
                  <a:srgbClr val="B4842E"/>
                </a:solidFill>
                <a:latin typeface="Cambria" pitchFamily="34" charset="0"/>
                <a:ea typeface="Cambria" pitchFamily="34" charset="-122"/>
                <a:cs typeface="Cambria" pitchFamily="34" charset="-120"/>
              </a:rPr>
              <a:t>3</a:t>
            </a:r>
            <a:endParaRPr lang="en-US" sz="1600" dirty="0"/>
          </a:p>
        </p:txBody>
      </p:sp>
      <p:sp>
        <p:nvSpPr>
          <p:cNvPr id="18" name="Text 16"/>
          <p:cNvSpPr/>
          <p:nvPr/>
        </p:nvSpPr>
        <p:spPr>
          <a:xfrm>
            <a:off x="8366760" y="3108960"/>
            <a:ext cx="3063240" cy="502920"/>
          </a:xfrm>
          <a:prstGeom prst="rect">
            <a:avLst/>
          </a:prstGeom>
          <a:noFill/>
          <a:ln/>
        </p:spPr>
        <p:txBody>
          <a:bodyPr wrap="square" lIns="0" tIns="0" rIns="0" bIns="0" rtlCol="0" anchor="ctr"/>
          <a:lstStyle/>
          <a:p>
            <a:pPr marL="0" indent="0">
              <a:lnSpc>
                <a:spcPct val="105000"/>
              </a:lnSpc>
              <a:buNone/>
            </a:pPr>
            <a:r>
              <a:rPr lang="en-US" sz="1400" b="1" dirty="0">
                <a:solidFill>
                  <a:srgbClr val="1B1F3B"/>
                </a:solidFill>
                <a:latin typeface="Cambria" pitchFamily="34" charset="0"/>
                <a:ea typeface="Cambria" pitchFamily="34" charset="-122"/>
                <a:cs typeface="Cambria" pitchFamily="34" charset="-120"/>
              </a:rPr>
              <a:t>Tamaño de la colección</a:t>
            </a:r>
            <a:endParaRPr lang="en-US" sz="1400" dirty="0"/>
          </a:p>
        </p:txBody>
      </p:sp>
      <p:sp>
        <p:nvSpPr>
          <p:cNvPr id="19" name="Text 17"/>
          <p:cNvSpPr/>
          <p:nvPr/>
        </p:nvSpPr>
        <p:spPr>
          <a:xfrm>
            <a:off x="8366760" y="3611880"/>
            <a:ext cx="3063240" cy="868680"/>
          </a:xfrm>
          <a:prstGeom prst="rect">
            <a:avLst/>
          </a:prstGeom>
          <a:noFill/>
          <a:ln/>
        </p:spPr>
        <p:txBody>
          <a:bodyPr wrap="square" lIns="0" tIns="0" rIns="0" bIns="0" rtlCol="0" anchor="ctr"/>
          <a:lstStyle/>
          <a:p>
            <a:pPr marL="0" indent="0">
              <a:lnSpc>
                <a:spcPct val="120000"/>
              </a:lnSpc>
              <a:buNone/>
            </a:pPr>
            <a:r>
              <a:rPr lang="en-US" sz="1150" dirty="0">
                <a:solidFill>
                  <a:srgbClr val="5B6584"/>
                </a:solidFill>
                <a:latin typeface="Calibri" pitchFamily="34" charset="0"/>
                <a:ea typeface="Calibri" pitchFamily="34" charset="-122"/>
                <a:cs typeface="Calibri" pitchFamily="34" charset="-120"/>
              </a:rPr>
              <a:t>Cantidad de documentos y, según el esquema, longitud aproximada del índice.</a:t>
            </a:r>
            <a:endParaRPr lang="en-US" sz="1150" dirty="0"/>
          </a:p>
        </p:txBody>
      </p:sp>
      <p:sp>
        <p:nvSpPr>
          <p:cNvPr id="20" name="Shape 18"/>
          <p:cNvSpPr/>
          <p:nvPr/>
        </p:nvSpPr>
        <p:spPr>
          <a:xfrm>
            <a:off x="548640" y="4892040"/>
            <a:ext cx="11064240" cy="1051560"/>
          </a:xfrm>
          <a:prstGeom prst="roundRect">
            <a:avLst>
              <a:gd name="adj" fmla="val 5217"/>
            </a:avLst>
          </a:prstGeom>
          <a:solidFill>
            <a:srgbClr val="1B1F3B"/>
          </a:solidFill>
          <a:ln/>
        </p:spPr>
        <p:txBody>
          <a:bodyPr/>
          <a:lstStyle/>
          <a:p>
            <a:endParaRPr lang="en-US"/>
          </a:p>
        </p:txBody>
      </p:sp>
      <p:sp>
        <p:nvSpPr>
          <p:cNvPr id="21" name="Text 19"/>
          <p:cNvSpPr/>
          <p:nvPr/>
        </p:nvSpPr>
        <p:spPr>
          <a:xfrm>
            <a:off x="822960" y="4892040"/>
            <a:ext cx="10515600" cy="1051560"/>
          </a:xfrm>
          <a:prstGeom prst="rect">
            <a:avLst/>
          </a:prstGeom>
          <a:noFill/>
          <a:ln/>
        </p:spPr>
        <p:txBody>
          <a:bodyPr wrap="square" lIns="0" tIns="0" rIns="0" bIns="0" rtlCol="0" anchor="ctr"/>
          <a:lstStyle/>
          <a:p>
            <a:pPr marL="0" indent="0">
              <a:lnSpc>
                <a:spcPct val="120000"/>
              </a:lnSpc>
              <a:buNone/>
            </a:pPr>
            <a:r>
              <a:rPr lang="en-US" sz="1300" b="1" dirty="0">
                <a:solidFill>
                  <a:srgbClr val="D9A441"/>
                </a:solidFill>
                <a:latin typeface="Calibri" pitchFamily="34" charset="0"/>
                <a:ea typeface="Calibri" pitchFamily="34" charset="-122"/>
                <a:cs typeface="Calibri" pitchFamily="34" charset="-120"/>
              </a:rPr>
              <a:t>Lo que las primitivas simétricas garantizan:  </a:t>
            </a:r>
            <a:r>
              <a:rPr lang="en-US" sz="1300" dirty="0">
                <a:solidFill>
                  <a:srgbClr val="C7D3F0"/>
                </a:solidFill>
                <a:latin typeface="Calibri" pitchFamily="34" charset="0"/>
                <a:ea typeface="Calibri" pitchFamily="34" charset="-122"/>
                <a:cs typeface="Calibri" pitchFamily="34" charset="-120"/>
              </a:rPr>
              <a:t>más allá de este perfil, cifrado y trapdoors son indistinguibles de valores aleatorios para cualquier adversario computacionalmente acotado — sin ese límite formal, "SSE seguro" es solo marketing.</a:t>
            </a:r>
            <a:endParaRPr lang="en-US" sz="1300" dirty="0"/>
          </a:p>
        </p:txBody>
      </p:sp>
      <p:sp>
        <p:nvSpPr>
          <p:cNvPr id="22" name="Text 20"/>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6F7FB"/>
        </a:solidFill>
        <a:effectLst/>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POR QUÉ IMPORTA QUE SEA SIMÉTRICO</a:t>
            </a:r>
            <a:r>
              <a:rPr lang="es-MX" sz="1200" b="1" kern="0" spc="200" dirty="0">
                <a:solidFill>
                  <a:srgbClr val="D9A441"/>
                </a:solidFill>
                <a:latin typeface="Calibri" pitchFamily="34" charset="0"/>
                <a:ea typeface="Calibri" pitchFamily="34" charset="-122"/>
                <a:cs typeface="Calibri" pitchFamily="34" charset="-120"/>
              </a:rPr>
              <a:t>?</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buNone/>
            </a:pPr>
            <a:r>
              <a:rPr lang="en-US" sz="3000" b="1" dirty="0">
                <a:solidFill>
                  <a:srgbClr val="1B1F3B"/>
                </a:solidFill>
                <a:latin typeface="Cambria" pitchFamily="34" charset="0"/>
                <a:ea typeface="Cambria" pitchFamily="34" charset="-122"/>
                <a:cs typeface="Cambria" pitchFamily="34" charset="-120"/>
              </a:rPr>
              <a:t>Simétrico vs. clave pública: la brecha de eficiencia</a:t>
            </a:r>
            <a:endParaRPr lang="en-US" sz="3000" dirty="0"/>
          </a:p>
        </p:txBody>
      </p:sp>
      <p:sp>
        <p:nvSpPr>
          <p:cNvPr id="4" name="Text 2"/>
          <p:cNvSpPr/>
          <p:nvPr/>
        </p:nvSpPr>
        <p:spPr>
          <a:xfrm>
            <a:off x="548640" y="1371600"/>
            <a:ext cx="11064240" cy="640080"/>
          </a:xfrm>
          <a:prstGeom prst="rect">
            <a:avLst/>
          </a:prstGeom>
          <a:noFill/>
          <a:ln/>
        </p:spPr>
        <p:txBody>
          <a:bodyPr wrap="square" lIns="0" tIns="0" rIns="0" bIns="0" rtlCol="0" anchor="ctr"/>
          <a:lstStyle/>
          <a:p>
            <a:pPr marL="0" indent="0">
              <a:lnSpc>
                <a:spcPct val="125000"/>
              </a:lnSpc>
              <a:buNone/>
            </a:pPr>
            <a:r>
              <a:rPr lang="en-US" sz="1450" dirty="0">
                <a:solidFill>
                  <a:srgbClr val="5B6584"/>
                </a:solidFill>
                <a:latin typeface="Calibri" pitchFamily="34" charset="0"/>
                <a:ea typeface="Calibri" pitchFamily="34" charset="-122"/>
                <a:cs typeface="Calibri" pitchFamily="34" charset="-120"/>
              </a:rPr>
              <a:t>Existe una alternativa de clave pública — PEKS (Public-Key Encryption with Keyword Search) — pero su costo computacional la deja fuera de escala para colecciones grandes.</a:t>
            </a:r>
            <a:endParaRPr lang="en-US" sz="1450" dirty="0"/>
          </a:p>
        </p:txBody>
      </p:sp>
      <p:sp>
        <p:nvSpPr>
          <p:cNvPr id="5" name="Shape 3"/>
          <p:cNvSpPr/>
          <p:nvPr/>
        </p:nvSpPr>
        <p:spPr>
          <a:xfrm>
            <a:off x="548640" y="2240280"/>
            <a:ext cx="11064240" cy="566928"/>
          </a:xfrm>
          <a:prstGeom prst="roundRect">
            <a:avLst>
              <a:gd name="adj" fmla="val 9677"/>
            </a:avLst>
          </a:prstGeom>
          <a:solidFill>
            <a:srgbClr val="1B1F3B"/>
          </a:solidFill>
          <a:ln/>
        </p:spPr>
        <p:txBody>
          <a:bodyPr/>
          <a:lstStyle/>
          <a:p>
            <a:endParaRPr lang="en-US"/>
          </a:p>
        </p:txBody>
      </p:sp>
      <p:sp>
        <p:nvSpPr>
          <p:cNvPr id="6" name="Text 4"/>
          <p:cNvSpPr/>
          <p:nvPr/>
        </p:nvSpPr>
        <p:spPr>
          <a:xfrm>
            <a:off x="731520" y="2240280"/>
            <a:ext cx="3108960" cy="566928"/>
          </a:xfrm>
          <a:prstGeom prst="rect">
            <a:avLst/>
          </a:prstGeom>
          <a:noFill/>
          <a:ln/>
        </p:spPr>
        <p:txBody>
          <a:bodyPr wrap="square" lIns="0" tIns="0" rIns="0" bIns="0" rtlCol="0" anchor="ctr"/>
          <a:lstStyle/>
          <a:p>
            <a:pPr marL="0" indent="0">
              <a:buNone/>
            </a:pPr>
            <a:endParaRPr lang="en-US" sz="1300" dirty="0"/>
          </a:p>
        </p:txBody>
      </p:sp>
      <p:sp>
        <p:nvSpPr>
          <p:cNvPr id="7" name="Text 5"/>
          <p:cNvSpPr/>
          <p:nvPr/>
        </p:nvSpPr>
        <p:spPr>
          <a:xfrm>
            <a:off x="4114800" y="2240280"/>
            <a:ext cx="3566160" cy="566928"/>
          </a:xfrm>
          <a:prstGeom prst="rect">
            <a:avLst/>
          </a:prstGeom>
          <a:noFill/>
          <a:ln/>
        </p:spPr>
        <p:txBody>
          <a:bodyPr wrap="square" lIns="0" tIns="0" rIns="0" bIns="0" rtlCol="0" anchor="ctr"/>
          <a:lstStyle/>
          <a:p>
            <a:pPr marL="0" indent="0">
              <a:buNone/>
            </a:pPr>
            <a:r>
              <a:rPr lang="en-US" sz="1300" b="1" dirty="0">
                <a:solidFill>
                  <a:srgbClr val="D9A441"/>
                </a:solidFill>
                <a:latin typeface="Cambria" pitchFamily="34" charset="0"/>
                <a:ea typeface="Cambria" pitchFamily="34" charset="-122"/>
                <a:cs typeface="Cambria" pitchFamily="34" charset="-120"/>
              </a:rPr>
              <a:t>SSE (simétrico)</a:t>
            </a:r>
            <a:endParaRPr lang="en-US" sz="1300" dirty="0"/>
          </a:p>
        </p:txBody>
      </p:sp>
      <p:sp>
        <p:nvSpPr>
          <p:cNvPr id="8" name="Text 6"/>
          <p:cNvSpPr/>
          <p:nvPr/>
        </p:nvSpPr>
        <p:spPr>
          <a:xfrm>
            <a:off x="7955280" y="2240280"/>
            <a:ext cx="3566160" cy="566928"/>
          </a:xfrm>
          <a:prstGeom prst="rect">
            <a:avLst/>
          </a:prstGeom>
          <a:noFill/>
          <a:ln/>
        </p:spPr>
        <p:txBody>
          <a:bodyPr wrap="square" lIns="0" tIns="0" rIns="0" bIns="0" rtlCol="0" anchor="ctr"/>
          <a:lstStyle/>
          <a:p>
            <a:pPr marL="0" indent="0">
              <a:buNone/>
            </a:pPr>
            <a:r>
              <a:rPr lang="en-US" sz="1300" b="1" dirty="0">
                <a:solidFill>
                  <a:srgbClr val="FFFFFF"/>
                </a:solidFill>
                <a:latin typeface="Cambria" pitchFamily="34" charset="0"/>
                <a:ea typeface="Cambria" pitchFamily="34" charset="-122"/>
                <a:cs typeface="Cambria" pitchFamily="34" charset="-120"/>
              </a:rPr>
              <a:t>PEKS (clave pública)</a:t>
            </a:r>
            <a:endParaRPr lang="en-US" sz="1300" dirty="0"/>
          </a:p>
        </p:txBody>
      </p:sp>
      <p:sp>
        <p:nvSpPr>
          <p:cNvPr id="9" name="Shape 7"/>
          <p:cNvSpPr/>
          <p:nvPr/>
        </p:nvSpPr>
        <p:spPr>
          <a:xfrm>
            <a:off x="548640" y="2807208"/>
            <a:ext cx="11064240" cy="566928"/>
          </a:xfrm>
          <a:prstGeom prst="rect">
            <a:avLst/>
          </a:prstGeom>
          <a:solidFill>
            <a:srgbClr val="FFFFFF"/>
          </a:solidFill>
          <a:ln/>
        </p:spPr>
        <p:txBody>
          <a:bodyPr/>
          <a:lstStyle/>
          <a:p>
            <a:endParaRPr lang="en-US"/>
          </a:p>
        </p:txBody>
      </p:sp>
      <p:sp>
        <p:nvSpPr>
          <p:cNvPr id="10" name="Text 8"/>
          <p:cNvSpPr/>
          <p:nvPr/>
        </p:nvSpPr>
        <p:spPr>
          <a:xfrm>
            <a:off x="731520" y="2807208"/>
            <a:ext cx="3108960" cy="566928"/>
          </a:xfrm>
          <a:prstGeom prst="rect">
            <a:avLst/>
          </a:prstGeom>
          <a:noFill/>
          <a:ln/>
        </p:spPr>
        <p:txBody>
          <a:bodyPr wrap="square" lIns="0" tIns="0" rIns="0" bIns="0" rtlCol="0" anchor="ctr"/>
          <a:lstStyle/>
          <a:p>
            <a:pPr marL="0" indent="0">
              <a:lnSpc>
                <a:spcPct val="105000"/>
              </a:lnSpc>
              <a:buNone/>
            </a:pPr>
            <a:r>
              <a:rPr lang="en-US" sz="1150" b="1" dirty="0">
                <a:solidFill>
                  <a:srgbClr val="1B1F3B"/>
                </a:solidFill>
                <a:latin typeface="Calibri" pitchFamily="34" charset="0"/>
                <a:ea typeface="Calibri" pitchFamily="34" charset="-122"/>
                <a:cs typeface="Calibri" pitchFamily="34" charset="-120"/>
              </a:rPr>
              <a:t>Primitiva base</a:t>
            </a:r>
            <a:endParaRPr lang="en-US" sz="1150" dirty="0"/>
          </a:p>
        </p:txBody>
      </p:sp>
      <p:sp>
        <p:nvSpPr>
          <p:cNvPr id="11" name="Text 9"/>
          <p:cNvSpPr/>
          <p:nvPr/>
        </p:nvSpPr>
        <p:spPr>
          <a:xfrm>
            <a:off x="4114800" y="2807208"/>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3F7D5C"/>
                </a:solidFill>
                <a:latin typeface="Calibri" pitchFamily="34" charset="0"/>
                <a:ea typeface="Calibri" pitchFamily="34" charset="-122"/>
                <a:cs typeface="Calibri" pitchFamily="34" charset="-120"/>
              </a:rPr>
              <a:t>PRF / PRP (p. ej. AES)</a:t>
            </a:r>
            <a:endParaRPr lang="en-US" sz="1150" dirty="0"/>
          </a:p>
        </p:txBody>
      </p:sp>
      <p:sp>
        <p:nvSpPr>
          <p:cNvPr id="12" name="Text 10"/>
          <p:cNvSpPr/>
          <p:nvPr/>
        </p:nvSpPr>
        <p:spPr>
          <a:xfrm>
            <a:off x="7955280" y="2807208"/>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5B6584"/>
                </a:solidFill>
                <a:latin typeface="Calibri" pitchFamily="34" charset="0"/>
                <a:ea typeface="Calibri" pitchFamily="34" charset="-122"/>
                <a:cs typeface="Calibri" pitchFamily="34" charset="-120"/>
              </a:rPr>
              <a:t>Emparejamientos bilineales / RSA</a:t>
            </a:r>
            <a:endParaRPr lang="en-US" sz="1150" dirty="0"/>
          </a:p>
        </p:txBody>
      </p:sp>
      <p:sp>
        <p:nvSpPr>
          <p:cNvPr id="13" name="Shape 11"/>
          <p:cNvSpPr/>
          <p:nvPr/>
        </p:nvSpPr>
        <p:spPr>
          <a:xfrm>
            <a:off x="548640" y="3374136"/>
            <a:ext cx="11064240" cy="566928"/>
          </a:xfrm>
          <a:prstGeom prst="rect">
            <a:avLst/>
          </a:prstGeom>
          <a:solidFill>
            <a:srgbClr val="EEF1F9"/>
          </a:solidFill>
          <a:ln/>
        </p:spPr>
        <p:txBody>
          <a:bodyPr/>
          <a:lstStyle/>
          <a:p>
            <a:endParaRPr lang="en-US"/>
          </a:p>
        </p:txBody>
      </p:sp>
      <p:sp>
        <p:nvSpPr>
          <p:cNvPr id="14" name="Text 12"/>
          <p:cNvSpPr/>
          <p:nvPr/>
        </p:nvSpPr>
        <p:spPr>
          <a:xfrm>
            <a:off x="731520" y="3374136"/>
            <a:ext cx="3108960" cy="566928"/>
          </a:xfrm>
          <a:prstGeom prst="rect">
            <a:avLst/>
          </a:prstGeom>
          <a:noFill/>
          <a:ln/>
        </p:spPr>
        <p:txBody>
          <a:bodyPr wrap="square" lIns="0" tIns="0" rIns="0" bIns="0" rtlCol="0" anchor="ctr"/>
          <a:lstStyle/>
          <a:p>
            <a:pPr marL="0" indent="0">
              <a:lnSpc>
                <a:spcPct val="105000"/>
              </a:lnSpc>
              <a:buNone/>
            </a:pPr>
            <a:r>
              <a:rPr lang="en-US" sz="1150" b="1" dirty="0">
                <a:solidFill>
                  <a:srgbClr val="1B1F3B"/>
                </a:solidFill>
                <a:latin typeface="Calibri" pitchFamily="34" charset="0"/>
                <a:ea typeface="Calibri" pitchFamily="34" charset="-122"/>
                <a:cs typeface="Calibri" pitchFamily="34" charset="-120"/>
              </a:rPr>
              <a:t>Generar un trapdoor</a:t>
            </a:r>
            <a:endParaRPr lang="en-US" sz="1150" dirty="0"/>
          </a:p>
        </p:txBody>
      </p:sp>
      <p:sp>
        <p:nvSpPr>
          <p:cNvPr id="15" name="Text 13"/>
          <p:cNvSpPr/>
          <p:nvPr/>
        </p:nvSpPr>
        <p:spPr>
          <a:xfrm>
            <a:off x="4114800" y="3374136"/>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3F7D5C"/>
                </a:solidFill>
                <a:latin typeface="Calibri" pitchFamily="34" charset="0"/>
                <a:ea typeface="Calibri" pitchFamily="34" charset="-122"/>
                <a:cs typeface="Calibri" pitchFamily="34" charset="-120"/>
              </a:rPr>
              <a:t>Una evaluación de PRF</a:t>
            </a:r>
            <a:endParaRPr lang="en-US" sz="1150" dirty="0"/>
          </a:p>
        </p:txBody>
      </p:sp>
      <p:sp>
        <p:nvSpPr>
          <p:cNvPr id="16" name="Text 14"/>
          <p:cNvSpPr/>
          <p:nvPr/>
        </p:nvSpPr>
        <p:spPr>
          <a:xfrm>
            <a:off x="7955280" y="3374136"/>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5B6584"/>
                </a:solidFill>
                <a:latin typeface="Calibri" pitchFamily="34" charset="0"/>
                <a:ea typeface="Calibri" pitchFamily="34" charset="-122"/>
                <a:cs typeface="Calibri" pitchFamily="34" charset="-120"/>
              </a:rPr>
              <a:t>Una operación de clave pública</a:t>
            </a:r>
            <a:endParaRPr lang="en-US" sz="1150" dirty="0"/>
          </a:p>
        </p:txBody>
      </p:sp>
      <p:sp>
        <p:nvSpPr>
          <p:cNvPr id="17" name="Shape 15"/>
          <p:cNvSpPr/>
          <p:nvPr/>
        </p:nvSpPr>
        <p:spPr>
          <a:xfrm>
            <a:off x="548640" y="3941064"/>
            <a:ext cx="11064240" cy="566928"/>
          </a:xfrm>
          <a:prstGeom prst="rect">
            <a:avLst/>
          </a:prstGeom>
          <a:solidFill>
            <a:srgbClr val="FFFFFF"/>
          </a:solidFill>
          <a:ln/>
        </p:spPr>
        <p:txBody>
          <a:bodyPr/>
          <a:lstStyle/>
          <a:p>
            <a:endParaRPr lang="en-US"/>
          </a:p>
        </p:txBody>
      </p:sp>
      <p:sp>
        <p:nvSpPr>
          <p:cNvPr id="18" name="Text 16"/>
          <p:cNvSpPr/>
          <p:nvPr/>
        </p:nvSpPr>
        <p:spPr>
          <a:xfrm>
            <a:off x="731520" y="3941064"/>
            <a:ext cx="3108960" cy="566928"/>
          </a:xfrm>
          <a:prstGeom prst="rect">
            <a:avLst/>
          </a:prstGeom>
          <a:noFill/>
          <a:ln/>
        </p:spPr>
        <p:txBody>
          <a:bodyPr wrap="square" lIns="0" tIns="0" rIns="0" bIns="0" rtlCol="0" anchor="ctr"/>
          <a:lstStyle/>
          <a:p>
            <a:pPr marL="0" indent="0">
              <a:lnSpc>
                <a:spcPct val="105000"/>
              </a:lnSpc>
              <a:buNone/>
            </a:pPr>
            <a:r>
              <a:rPr lang="en-US" sz="1150" b="1" dirty="0">
                <a:solidFill>
                  <a:srgbClr val="1B1F3B"/>
                </a:solidFill>
                <a:latin typeface="Calibri" pitchFamily="34" charset="0"/>
                <a:ea typeface="Calibri" pitchFamily="34" charset="-122"/>
                <a:cs typeface="Calibri" pitchFamily="34" charset="-120"/>
              </a:rPr>
              <a:t>Costo relativo</a:t>
            </a:r>
            <a:endParaRPr lang="en-US" sz="1150" dirty="0"/>
          </a:p>
        </p:txBody>
      </p:sp>
      <p:sp>
        <p:nvSpPr>
          <p:cNvPr id="19" name="Text 17"/>
          <p:cNvSpPr/>
          <p:nvPr/>
        </p:nvSpPr>
        <p:spPr>
          <a:xfrm>
            <a:off x="4114800" y="3941064"/>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3F7D5C"/>
                </a:solidFill>
                <a:latin typeface="Calibri" pitchFamily="34" charset="0"/>
                <a:ea typeface="Calibri" pitchFamily="34" charset="-122"/>
                <a:cs typeface="Calibri" pitchFamily="34" charset="-120"/>
              </a:rPr>
              <a:t>Órdenes de magnitud más rápido</a:t>
            </a:r>
            <a:endParaRPr lang="en-US" sz="1150" dirty="0"/>
          </a:p>
        </p:txBody>
      </p:sp>
      <p:sp>
        <p:nvSpPr>
          <p:cNvPr id="20" name="Text 18"/>
          <p:cNvSpPr/>
          <p:nvPr/>
        </p:nvSpPr>
        <p:spPr>
          <a:xfrm>
            <a:off x="7955280" y="3941064"/>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5B6584"/>
                </a:solidFill>
                <a:latin typeface="Calibri" pitchFamily="34" charset="0"/>
                <a:ea typeface="Calibri" pitchFamily="34" charset="-122"/>
                <a:cs typeface="Calibri" pitchFamily="34" charset="-120"/>
              </a:rPr>
              <a:t>Cientos–miles de veces más lento</a:t>
            </a:r>
            <a:endParaRPr lang="en-US" sz="1150" dirty="0"/>
          </a:p>
        </p:txBody>
      </p:sp>
      <p:sp>
        <p:nvSpPr>
          <p:cNvPr id="21" name="Shape 19"/>
          <p:cNvSpPr/>
          <p:nvPr/>
        </p:nvSpPr>
        <p:spPr>
          <a:xfrm>
            <a:off x="548640" y="4507992"/>
            <a:ext cx="11064240" cy="566928"/>
          </a:xfrm>
          <a:prstGeom prst="rect">
            <a:avLst/>
          </a:prstGeom>
          <a:solidFill>
            <a:srgbClr val="EEF1F9"/>
          </a:solidFill>
          <a:ln/>
        </p:spPr>
        <p:txBody>
          <a:bodyPr/>
          <a:lstStyle/>
          <a:p>
            <a:endParaRPr lang="en-US"/>
          </a:p>
        </p:txBody>
      </p:sp>
      <p:sp>
        <p:nvSpPr>
          <p:cNvPr id="22" name="Text 20"/>
          <p:cNvSpPr/>
          <p:nvPr/>
        </p:nvSpPr>
        <p:spPr>
          <a:xfrm>
            <a:off x="731520" y="4507992"/>
            <a:ext cx="3108960" cy="566928"/>
          </a:xfrm>
          <a:prstGeom prst="rect">
            <a:avLst/>
          </a:prstGeom>
          <a:noFill/>
          <a:ln/>
        </p:spPr>
        <p:txBody>
          <a:bodyPr wrap="square" lIns="0" tIns="0" rIns="0" bIns="0" rtlCol="0" anchor="ctr"/>
          <a:lstStyle/>
          <a:p>
            <a:pPr marL="0" indent="0">
              <a:lnSpc>
                <a:spcPct val="105000"/>
              </a:lnSpc>
              <a:buNone/>
            </a:pPr>
            <a:r>
              <a:rPr lang="en-US" sz="1150" b="1" dirty="0">
                <a:solidFill>
                  <a:srgbClr val="1B1F3B"/>
                </a:solidFill>
                <a:latin typeface="Calibri" pitchFamily="34" charset="0"/>
                <a:ea typeface="Calibri" pitchFamily="34" charset="-122"/>
                <a:cs typeface="Calibri" pitchFamily="34" charset="-120"/>
              </a:rPr>
              <a:t>Complejidad de búsqueda</a:t>
            </a:r>
            <a:endParaRPr lang="en-US" sz="1150" dirty="0"/>
          </a:p>
        </p:txBody>
      </p:sp>
      <p:sp>
        <p:nvSpPr>
          <p:cNvPr id="23" name="Text 21"/>
          <p:cNvSpPr/>
          <p:nvPr/>
        </p:nvSpPr>
        <p:spPr>
          <a:xfrm>
            <a:off x="4114800" y="4507992"/>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3F7D5C"/>
                </a:solidFill>
                <a:latin typeface="Calibri" pitchFamily="34" charset="0"/>
                <a:ea typeface="Calibri" pitchFamily="34" charset="-122"/>
                <a:cs typeface="Calibri" pitchFamily="34" charset="-120"/>
              </a:rPr>
              <a:t>Sublineal (∝ documentos que matchean)</a:t>
            </a:r>
            <a:endParaRPr lang="en-US" sz="1150" dirty="0"/>
          </a:p>
        </p:txBody>
      </p:sp>
      <p:sp>
        <p:nvSpPr>
          <p:cNvPr id="24" name="Text 22"/>
          <p:cNvSpPr/>
          <p:nvPr/>
        </p:nvSpPr>
        <p:spPr>
          <a:xfrm>
            <a:off x="7955280" y="4507992"/>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5B6584"/>
                </a:solidFill>
                <a:latin typeface="Calibri" pitchFamily="34" charset="0"/>
                <a:ea typeface="Calibri" pitchFamily="34" charset="-122"/>
                <a:cs typeface="Calibri" pitchFamily="34" charset="-120"/>
              </a:rPr>
              <a:t>Lineal en el tamaño del índice, típicamente</a:t>
            </a:r>
            <a:endParaRPr lang="en-US" sz="1150" dirty="0"/>
          </a:p>
        </p:txBody>
      </p:sp>
      <p:sp>
        <p:nvSpPr>
          <p:cNvPr id="25" name="Shape 23"/>
          <p:cNvSpPr/>
          <p:nvPr/>
        </p:nvSpPr>
        <p:spPr>
          <a:xfrm>
            <a:off x="548640" y="5074920"/>
            <a:ext cx="11064240" cy="566928"/>
          </a:xfrm>
          <a:prstGeom prst="rect">
            <a:avLst/>
          </a:prstGeom>
          <a:solidFill>
            <a:srgbClr val="FFFFFF"/>
          </a:solidFill>
          <a:ln/>
        </p:spPr>
        <p:txBody>
          <a:bodyPr/>
          <a:lstStyle/>
          <a:p>
            <a:endParaRPr lang="en-US"/>
          </a:p>
        </p:txBody>
      </p:sp>
      <p:sp>
        <p:nvSpPr>
          <p:cNvPr id="26" name="Text 24"/>
          <p:cNvSpPr/>
          <p:nvPr/>
        </p:nvSpPr>
        <p:spPr>
          <a:xfrm>
            <a:off x="731520" y="5074920"/>
            <a:ext cx="3108960" cy="566928"/>
          </a:xfrm>
          <a:prstGeom prst="rect">
            <a:avLst/>
          </a:prstGeom>
          <a:noFill/>
          <a:ln/>
        </p:spPr>
        <p:txBody>
          <a:bodyPr wrap="square" lIns="0" tIns="0" rIns="0" bIns="0" rtlCol="0" anchor="ctr"/>
          <a:lstStyle/>
          <a:p>
            <a:pPr marL="0" indent="0">
              <a:lnSpc>
                <a:spcPct val="105000"/>
              </a:lnSpc>
              <a:buNone/>
            </a:pPr>
            <a:r>
              <a:rPr lang="en-US" sz="1150" b="1" dirty="0">
                <a:solidFill>
                  <a:srgbClr val="1B1F3B"/>
                </a:solidFill>
                <a:latin typeface="Calibri" pitchFamily="34" charset="0"/>
                <a:ea typeface="Calibri" pitchFamily="34" charset="-122"/>
                <a:cs typeface="Calibri" pitchFamily="34" charset="-120"/>
              </a:rPr>
              <a:t>Escala práctica</a:t>
            </a:r>
            <a:endParaRPr lang="en-US" sz="1150" dirty="0"/>
          </a:p>
        </p:txBody>
      </p:sp>
      <p:sp>
        <p:nvSpPr>
          <p:cNvPr id="27" name="Text 25"/>
          <p:cNvSpPr/>
          <p:nvPr/>
        </p:nvSpPr>
        <p:spPr>
          <a:xfrm>
            <a:off x="4114800" y="5074920"/>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3F7D5C"/>
                </a:solidFill>
                <a:latin typeface="Calibri" pitchFamily="34" charset="0"/>
                <a:ea typeface="Calibri" pitchFamily="34" charset="-122"/>
                <a:cs typeface="Calibri" pitchFamily="34" charset="-120"/>
              </a:rPr>
              <a:t>Millones de documentos</a:t>
            </a:r>
            <a:endParaRPr lang="en-US" sz="1150" dirty="0"/>
          </a:p>
        </p:txBody>
      </p:sp>
      <p:sp>
        <p:nvSpPr>
          <p:cNvPr id="28" name="Text 26"/>
          <p:cNvSpPr/>
          <p:nvPr/>
        </p:nvSpPr>
        <p:spPr>
          <a:xfrm>
            <a:off x="7955280" y="5074920"/>
            <a:ext cx="3566160" cy="566928"/>
          </a:xfrm>
          <a:prstGeom prst="rect">
            <a:avLst/>
          </a:prstGeom>
          <a:noFill/>
          <a:ln/>
        </p:spPr>
        <p:txBody>
          <a:bodyPr wrap="square" lIns="0" tIns="0" rIns="0" bIns="0" rtlCol="0" anchor="ctr"/>
          <a:lstStyle/>
          <a:p>
            <a:pPr marL="0" indent="0">
              <a:lnSpc>
                <a:spcPct val="105000"/>
              </a:lnSpc>
              <a:buNone/>
            </a:pPr>
            <a:r>
              <a:rPr lang="en-US" sz="1150" dirty="0">
                <a:solidFill>
                  <a:srgbClr val="5B6584"/>
                </a:solidFill>
                <a:latin typeface="Calibri" pitchFamily="34" charset="0"/>
                <a:ea typeface="Calibri" pitchFamily="34" charset="-122"/>
                <a:cs typeface="Calibri" pitchFamily="34" charset="-120"/>
              </a:rPr>
              <a:t>Colecciones pequeñas / nichos específicos</a:t>
            </a:r>
            <a:endParaRPr lang="en-US" sz="1150" dirty="0"/>
          </a:p>
        </p:txBody>
      </p:sp>
      <p:sp>
        <p:nvSpPr>
          <p:cNvPr id="29" name="Shape 27"/>
          <p:cNvSpPr/>
          <p:nvPr/>
        </p:nvSpPr>
        <p:spPr>
          <a:xfrm>
            <a:off x="548640" y="2240280"/>
            <a:ext cx="11064240" cy="3401568"/>
          </a:xfrm>
          <a:prstGeom prst="rect">
            <a:avLst/>
          </a:prstGeom>
          <a:ln w="12700">
            <a:solidFill>
              <a:srgbClr val="DCE1F0"/>
            </a:solidFill>
            <a:prstDash val="solid"/>
          </a:ln>
        </p:spPr>
        <p:txBody>
          <a:bodyPr/>
          <a:lstStyle/>
          <a:p>
            <a:endParaRPr lang="en-US"/>
          </a:p>
        </p:txBody>
      </p:sp>
      <p:sp>
        <p:nvSpPr>
          <p:cNvPr id="30" name="Text 28"/>
          <p:cNvSpPr/>
          <p:nvPr/>
        </p:nvSpPr>
        <p:spPr>
          <a:xfrm>
            <a:off x="548640" y="5870448"/>
            <a:ext cx="11064240" cy="457200"/>
          </a:xfrm>
          <a:prstGeom prst="rect">
            <a:avLst/>
          </a:prstGeom>
          <a:noFill/>
          <a:ln/>
        </p:spPr>
        <p:txBody>
          <a:bodyPr wrap="square" lIns="0" tIns="0" rIns="0" bIns="0" rtlCol="0" anchor="ctr"/>
          <a:lstStyle/>
          <a:p>
            <a:pPr marL="0" indent="0">
              <a:lnSpc>
                <a:spcPct val="115000"/>
              </a:lnSpc>
              <a:buNone/>
            </a:pPr>
            <a:r>
              <a:rPr lang="en-US" sz="1300" b="1" dirty="0">
                <a:solidFill>
                  <a:srgbClr val="1B1F3B"/>
                </a:solidFill>
                <a:latin typeface="Calibri" pitchFamily="34" charset="0"/>
                <a:ea typeface="Calibri" pitchFamily="34" charset="-122"/>
                <a:cs typeface="Calibri" pitchFamily="34" charset="-120"/>
              </a:rPr>
              <a:t>Esto no es un detalle de rendimiento marginal: </a:t>
            </a:r>
            <a:r>
              <a:rPr lang="en-US" sz="1300" dirty="0">
                <a:solidFill>
                  <a:srgbClr val="5B6584"/>
                </a:solidFill>
                <a:latin typeface="Calibri" pitchFamily="34" charset="0"/>
                <a:ea typeface="Calibri" pitchFamily="34" charset="-122"/>
                <a:cs typeface="Calibri" pitchFamily="34" charset="-120"/>
              </a:rPr>
              <a:t>es la diferencia entre un sistema de búsqueda cifrada operable en producción y uno que solo funciona en el paper.</a:t>
            </a:r>
            <a:endParaRPr lang="en-US" sz="1300" dirty="0"/>
          </a:p>
        </p:txBody>
      </p:sp>
      <p:sp>
        <p:nvSpPr>
          <p:cNvPr id="31" name="Text 29"/>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5B6584"/>
                </a:solidFill>
                <a:latin typeface="Calibri" pitchFamily="34" charset="0"/>
                <a:ea typeface="Calibri" pitchFamily="34" charset="-122"/>
                <a:cs typeface="Calibri" pitchFamily="34" charset="-120"/>
              </a:rPr>
              <a:t>09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548640" y="164592"/>
            <a:ext cx="11094415" cy="292608"/>
          </a:xfrm>
          <a:prstGeom prst="rect">
            <a:avLst/>
          </a:prstGeom>
          <a:noFill/>
          <a:ln/>
        </p:spPr>
        <p:txBody>
          <a:bodyPr wrap="square" lIns="0" tIns="0" rIns="0" bIns="0" rtlCol="0" anchor="ctr"/>
          <a:lstStyle/>
          <a:p>
            <a:pPr marL="0" indent="0">
              <a:buNone/>
            </a:pPr>
            <a:r>
              <a:rPr lang="en-US" sz="1200" b="1" kern="0" spc="200" dirty="0">
                <a:solidFill>
                  <a:srgbClr val="D9A441"/>
                </a:solidFill>
                <a:latin typeface="Calibri" pitchFamily="34" charset="0"/>
                <a:ea typeface="Calibri" pitchFamily="34" charset="-122"/>
                <a:cs typeface="Calibri" pitchFamily="34" charset="-120"/>
              </a:rPr>
              <a:t>LA TENSIÓN DE DISEÑO</a:t>
            </a:r>
            <a:endParaRPr lang="en-US" sz="1200" dirty="0"/>
          </a:p>
        </p:txBody>
      </p:sp>
      <p:sp>
        <p:nvSpPr>
          <p:cNvPr id="3" name="Text 1"/>
          <p:cNvSpPr/>
          <p:nvPr/>
        </p:nvSpPr>
        <p:spPr>
          <a:xfrm>
            <a:off x="548640" y="411480"/>
            <a:ext cx="11094415" cy="822960"/>
          </a:xfrm>
          <a:prstGeom prst="rect">
            <a:avLst/>
          </a:prstGeom>
          <a:noFill/>
          <a:ln/>
        </p:spPr>
        <p:txBody>
          <a:bodyPr wrap="square" lIns="0" tIns="0" rIns="0" bIns="0" rtlCol="0" anchor="ctr"/>
          <a:lstStyle/>
          <a:p>
            <a:pPr marL="0" indent="0">
              <a:buNone/>
            </a:pPr>
            <a:r>
              <a:rPr lang="en-US" sz="3000" b="1" dirty="0">
                <a:solidFill>
                  <a:srgbClr val="FFFFFF"/>
                </a:solidFill>
                <a:latin typeface="Cambria" pitchFamily="34" charset="0"/>
                <a:ea typeface="Cambria" pitchFamily="34" charset="-122"/>
                <a:cs typeface="Cambria" pitchFamily="34" charset="-120"/>
              </a:rPr>
              <a:t>El trade-off: eficiencia vs. fuga controlada</a:t>
            </a:r>
            <a:endParaRPr lang="en-US" sz="3000" dirty="0"/>
          </a:p>
        </p:txBody>
      </p:sp>
      <p:sp>
        <p:nvSpPr>
          <p:cNvPr id="4" name="Text 2"/>
          <p:cNvSpPr/>
          <p:nvPr/>
        </p:nvSpPr>
        <p:spPr>
          <a:xfrm>
            <a:off x="548640" y="1371600"/>
            <a:ext cx="11064240" cy="685800"/>
          </a:xfrm>
          <a:prstGeom prst="rect">
            <a:avLst/>
          </a:prstGeom>
          <a:noFill/>
          <a:ln/>
        </p:spPr>
        <p:txBody>
          <a:bodyPr wrap="square" lIns="0" tIns="0" rIns="0" bIns="0" rtlCol="0" anchor="ctr"/>
          <a:lstStyle/>
          <a:p>
            <a:pPr marL="0" indent="0">
              <a:lnSpc>
                <a:spcPct val="125000"/>
              </a:lnSpc>
              <a:buNone/>
            </a:pPr>
            <a:r>
              <a:rPr lang="en-US" sz="1400" dirty="0">
                <a:solidFill>
                  <a:srgbClr val="C7D3F0"/>
                </a:solidFill>
                <a:latin typeface="Calibri" pitchFamily="34" charset="0"/>
                <a:ea typeface="Calibri" pitchFamily="34" charset="-122"/>
                <a:cs typeface="Calibri" pitchFamily="34" charset="-120"/>
              </a:rPr>
              <a:t>Todo el espacio de diseño de SSE se mueve sobre un mismo eje. Las primitivas simétricas son las que permiten elegir un punto específico de ese eje, en vez de quedar atado a uno de los dos extremos.</a:t>
            </a:r>
            <a:endParaRPr lang="en-US" sz="1400" dirty="0"/>
          </a:p>
        </p:txBody>
      </p:sp>
      <p:sp>
        <p:nvSpPr>
          <p:cNvPr id="5" name="Shape 3"/>
          <p:cNvSpPr/>
          <p:nvPr/>
        </p:nvSpPr>
        <p:spPr>
          <a:xfrm>
            <a:off x="914400" y="3017520"/>
            <a:ext cx="10332720" cy="320040"/>
          </a:xfrm>
          <a:prstGeom prst="roundRect">
            <a:avLst>
              <a:gd name="adj" fmla="val 48571"/>
            </a:avLst>
          </a:prstGeom>
          <a:solidFill>
            <a:srgbClr val="262C56"/>
          </a:solidFill>
          <a:ln/>
        </p:spPr>
        <p:txBody>
          <a:bodyPr/>
          <a:lstStyle/>
          <a:p>
            <a:endParaRPr lang="en-US"/>
          </a:p>
        </p:txBody>
      </p:sp>
      <p:sp>
        <p:nvSpPr>
          <p:cNvPr id="6" name="Shape 4"/>
          <p:cNvSpPr/>
          <p:nvPr/>
        </p:nvSpPr>
        <p:spPr>
          <a:xfrm>
            <a:off x="914400" y="3017520"/>
            <a:ext cx="439674" cy="320040"/>
          </a:xfrm>
          <a:prstGeom prst="rect">
            <a:avLst/>
          </a:prstGeom>
          <a:solidFill>
            <a:srgbClr val="D9A441">
              <a:alpha val="0"/>
            </a:srgbClr>
          </a:solidFill>
          <a:ln/>
        </p:spPr>
        <p:txBody>
          <a:bodyPr/>
          <a:lstStyle/>
          <a:p>
            <a:endParaRPr lang="en-US"/>
          </a:p>
        </p:txBody>
      </p:sp>
      <p:sp>
        <p:nvSpPr>
          <p:cNvPr id="7" name="Shape 5"/>
          <p:cNvSpPr/>
          <p:nvPr/>
        </p:nvSpPr>
        <p:spPr>
          <a:xfrm>
            <a:off x="1344930" y="3017520"/>
            <a:ext cx="439674" cy="320040"/>
          </a:xfrm>
          <a:prstGeom prst="rect">
            <a:avLst/>
          </a:prstGeom>
          <a:solidFill>
            <a:srgbClr val="D9A441">
              <a:alpha val="4000"/>
            </a:srgbClr>
          </a:solidFill>
          <a:ln/>
        </p:spPr>
        <p:txBody>
          <a:bodyPr/>
          <a:lstStyle/>
          <a:p>
            <a:endParaRPr lang="en-US"/>
          </a:p>
        </p:txBody>
      </p:sp>
      <p:sp>
        <p:nvSpPr>
          <p:cNvPr id="8" name="Shape 6"/>
          <p:cNvSpPr/>
          <p:nvPr/>
        </p:nvSpPr>
        <p:spPr>
          <a:xfrm>
            <a:off x="1775460" y="3017520"/>
            <a:ext cx="439674" cy="320040"/>
          </a:xfrm>
          <a:prstGeom prst="rect">
            <a:avLst/>
          </a:prstGeom>
          <a:solidFill>
            <a:srgbClr val="D9A441">
              <a:alpha val="7000"/>
            </a:srgbClr>
          </a:solidFill>
          <a:ln/>
        </p:spPr>
        <p:txBody>
          <a:bodyPr/>
          <a:lstStyle/>
          <a:p>
            <a:endParaRPr lang="en-US"/>
          </a:p>
        </p:txBody>
      </p:sp>
      <p:sp>
        <p:nvSpPr>
          <p:cNvPr id="9" name="Shape 7"/>
          <p:cNvSpPr/>
          <p:nvPr/>
        </p:nvSpPr>
        <p:spPr>
          <a:xfrm>
            <a:off x="2205990" y="3017520"/>
            <a:ext cx="439674" cy="320040"/>
          </a:xfrm>
          <a:prstGeom prst="rect">
            <a:avLst/>
          </a:prstGeom>
          <a:solidFill>
            <a:srgbClr val="D9A441">
              <a:alpha val="11000"/>
            </a:srgbClr>
          </a:solidFill>
          <a:ln/>
        </p:spPr>
        <p:txBody>
          <a:bodyPr/>
          <a:lstStyle/>
          <a:p>
            <a:endParaRPr lang="en-US"/>
          </a:p>
        </p:txBody>
      </p:sp>
      <p:sp>
        <p:nvSpPr>
          <p:cNvPr id="10" name="Shape 8"/>
          <p:cNvSpPr/>
          <p:nvPr/>
        </p:nvSpPr>
        <p:spPr>
          <a:xfrm>
            <a:off x="2636520" y="3017520"/>
            <a:ext cx="439674" cy="320040"/>
          </a:xfrm>
          <a:prstGeom prst="rect">
            <a:avLst/>
          </a:prstGeom>
          <a:solidFill>
            <a:srgbClr val="D9A441">
              <a:alpha val="15000"/>
            </a:srgbClr>
          </a:solidFill>
          <a:ln/>
        </p:spPr>
        <p:txBody>
          <a:bodyPr/>
          <a:lstStyle/>
          <a:p>
            <a:endParaRPr lang="en-US"/>
          </a:p>
        </p:txBody>
      </p:sp>
      <p:sp>
        <p:nvSpPr>
          <p:cNvPr id="11" name="Shape 9"/>
          <p:cNvSpPr/>
          <p:nvPr/>
        </p:nvSpPr>
        <p:spPr>
          <a:xfrm>
            <a:off x="3067050" y="3017520"/>
            <a:ext cx="439674" cy="320040"/>
          </a:xfrm>
          <a:prstGeom prst="rect">
            <a:avLst/>
          </a:prstGeom>
          <a:solidFill>
            <a:srgbClr val="D9A441">
              <a:alpha val="18000"/>
            </a:srgbClr>
          </a:solidFill>
          <a:ln/>
        </p:spPr>
        <p:txBody>
          <a:bodyPr/>
          <a:lstStyle/>
          <a:p>
            <a:endParaRPr lang="en-US"/>
          </a:p>
        </p:txBody>
      </p:sp>
      <p:sp>
        <p:nvSpPr>
          <p:cNvPr id="12" name="Shape 10"/>
          <p:cNvSpPr/>
          <p:nvPr/>
        </p:nvSpPr>
        <p:spPr>
          <a:xfrm>
            <a:off x="3497580" y="3017520"/>
            <a:ext cx="439674" cy="320040"/>
          </a:xfrm>
          <a:prstGeom prst="rect">
            <a:avLst/>
          </a:prstGeom>
          <a:solidFill>
            <a:srgbClr val="D9A441">
              <a:alpha val="22000"/>
            </a:srgbClr>
          </a:solidFill>
          <a:ln/>
        </p:spPr>
        <p:txBody>
          <a:bodyPr/>
          <a:lstStyle/>
          <a:p>
            <a:endParaRPr lang="en-US"/>
          </a:p>
        </p:txBody>
      </p:sp>
      <p:sp>
        <p:nvSpPr>
          <p:cNvPr id="13" name="Shape 11"/>
          <p:cNvSpPr/>
          <p:nvPr/>
        </p:nvSpPr>
        <p:spPr>
          <a:xfrm>
            <a:off x="3928110" y="3017520"/>
            <a:ext cx="439674" cy="320040"/>
          </a:xfrm>
          <a:prstGeom prst="rect">
            <a:avLst/>
          </a:prstGeom>
          <a:solidFill>
            <a:srgbClr val="D9A441">
              <a:alpha val="26000"/>
            </a:srgbClr>
          </a:solidFill>
          <a:ln/>
        </p:spPr>
        <p:txBody>
          <a:bodyPr/>
          <a:lstStyle/>
          <a:p>
            <a:endParaRPr lang="en-US"/>
          </a:p>
        </p:txBody>
      </p:sp>
      <p:sp>
        <p:nvSpPr>
          <p:cNvPr id="14" name="Shape 12"/>
          <p:cNvSpPr/>
          <p:nvPr/>
        </p:nvSpPr>
        <p:spPr>
          <a:xfrm>
            <a:off x="4358640" y="3017520"/>
            <a:ext cx="439674" cy="320040"/>
          </a:xfrm>
          <a:prstGeom prst="rect">
            <a:avLst/>
          </a:prstGeom>
          <a:solidFill>
            <a:srgbClr val="D9A441">
              <a:alpha val="30000"/>
            </a:srgbClr>
          </a:solidFill>
          <a:ln/>
        </p:spPr>
        <p:txBody>
          <a:bodyPr/>
          <a:lstStyle/>
          <a:p>
            <a:endParaRPr lang="en-US"/>
          </a:p>
        </p:txBody>
      </p:sp>
      <p:sp>
        <p:nvSpPr>
          <p:cNvPr id="15" name="Shape 13"/>
          <p:cNvSpPr/>
          <p:nvPr/>
        </p:nvSpPr>
        <p:spPr>
          <a:xfrm>
            <a:off x="4789170" y="3017520"/>
            <a:ext cx="439674" cy="320040"/>
          </a:xfrm>
          <a:prstGeom prst="rect">
            <a:avLst/>
          </a:prstGeom>
          <a:solidFill>
            <a:srgbClr val="D9A441">
              <a:alpha val="33000"/>
            </a:srgbClr>
          </a:solidFill>
          <a:ln/>
        </p:spPr>
        <p:txBody>
          <a:bodyPr/>
          <a:lstStyle/>
          <a:p>
            <a:endParaRPr lang="en-US"/>
          </a:p>
        </p:txBody>
      </p:sp>
      <p:sp>
        <p:nvSpPr>
          <p:cNvPr id="16" name="Shape 14"/>
          <p:cNvSpPr/>
          <p:nvPr/>
        </p:nvSpPr>
        <p:spPr>
          <a:xfrm>
            <a:off x="5219700" y="3017520"/>
            <a:ext cx="439674" cy="320040"/>
          </a:xfrm>
          <a:prstGeom prst="rect">
            <a:avLst/>
          </a:prstGeom>
          <a:solidFill>
            <a:srgbClr val="D9A441">
              <a:alpha val="37000"/>
            </a:srgbClr>
          </a:solidFill>
          <a:ln/>
        </p:spPr>
        <p:txBody>
          <a:bodyPr/>
          <a:lstStyle/>
          <a:p>
            <a:endParaRPr lang="en-US"/>
          </a:p>
        </p:txBody>
      </p:sp>
      <p:sp>
        <p:nvSpPr>
          <p:cNvPr id="17" name="Shape 15"/>
          <p:cNvSpPr/>
          <p:nvPr/>
        </p:nvSpPr>
        <p:spPr>
          <a:xfrm>
            <a:off x="5650230" y="3017520"/>
            <a:ext cx="439674" cy="320040"/>
          </a:xfrm>
          <a:prstGeom prst="rect">
            <a:avLst/>
          </a:prstGeom>
          <a:solidFill>
            <a:srgbClr val="D9A441">
              <a:alpha val="41000"/>
            </a:srgbClr>
          </a:solidFill>
          <a:ln/>
        </p:spPr>
        <p:txBody>
          <a:bodyPr/>
          <a:lstStyle/>
          <a:p>
            <a:endParaRPr lang="en-US"/>
          </a:p>
        </p:txBody>
      </p:sp>
      <p:sp>
        <p:nvSpPr>
          <p:cNvPr id="18" name="Shape 16"/>
          <p:cNvSpPr/>
          <p:nvPr/>
        </p:nvSpPr>
        <p:spPr>
          <a:xfrm>
            <a:off x="6080760" y="3017520"/>
            <a:ext cx="439674" cy="320040"/>
          </a:xfrm>
          <a:prstGeom prst="rect">
            <a:avLst/>
          </a:prstGeom>
          <a:solidFill>
            <a:srgbClr val="D9A441">
              <a:alpha val="44000"/>
            </a:srgbClr>
          </a:solidFill>
          <a:ln/>
        </p:spPr>
        <p:txBody>
          <a:bodyPr/>
          <a:lstStyle/>
          <a:p>
            <a:endParaRPr lang="en-US"/>
          </a:p>
        </p:txBody>
      </p:sp>
      <p:sp>
        <p:nvSpPr>
          <p:cNvPr id="19" name="Shape 17"/>
          <p:cNvSpPr/>
          <p:nvPr/>
        </p:nvSpPr>
        <p:spPr>
          <a:xfrm>
            <a:off x="6511290" y="3017520"/>
            <a:ext cx="439674" cy="320040"/>
          </a:xfrm>
          <a:prstGeom prst="rect">
            <a:avLst/>
          </a:prstGeom>
          <a:solidFill>
            <a:srgbClr val="D9A441">
              <a:alpha val="48000"/>
            </a:srgbClr>
          </a:solidFill>
          <a:ln/>
        </p:spPr>
        <p:txBody>
          <a:bodyPr/>
          <a:lstStyle/>
          <a:p>
            <a:endParaRPr lang="en-US"/>
          </a:p>
        </p:txBody>
      </p:sp>
      <p:sp>
        <p:nvSpPr>
          <p:cNvPr id="20" name="Shape 18"/>
          <p:cNvSpPr/>
          <p:nvPr/>
        </p:nvSpPr>
        <p:spPr>
          <a:xfrm>
            <a:off x="6941820" y="3017520"/>
            <a:ext cx="439674" cy="320040"/>
          </a:xfrm>
          <a:prstGeom prst="rect">
            <a:avLst/>
          </a:prstGeom>
          <a:solidFill>
            <a:srgbClr val="D9A441">
              <a:alpha val="52000"/>
            </a:srgbClr>
          </a:solidFill>
          <a:ln/>
        </p:spPr>
        <p:txBody>
          <a:bodyPr/>
          <a:lstStyle/>
          <a:p>
            <a:endParaRPr lang="en-US"/>
          </a:p>
        </p:txBody>
      </p:sp>
      <p:sp>
        <p:nvSpPr>
          <p:cNvPr id="21" name="Shape 19"/>
          <p:cNvSpPr/>
          <p:nvPr/>
        </p:nvSpPr>
        <p:spPr>
          <a:xfrm>
            <a:off x="7372350" y="3017520"/>
            <a:ext cx="439674" cy="320040"/>
          </a:xfrm>
          <a:prstGeom prst="rect">
            <a:avLst/>
          </a:prstGeom>
          <a:solidFill>
            <a:srgbClr val="D9A441">
              <a:alpha val="55000"/>
            </a:srgbClr>
          </a:solidFill>
          <a:ln/>
        </p:spPr>
        <p:txBody>
          <a:bodyPr/>
          <a:lstStyle/>
          <a:p>
            <a:endParaRPr lang="en-US"/>
          </a:p>
        </p:txBody>
      </p:sp>
      <p:sp>
        <p:nvSpPr>
          <p:cNvPr id="22" name="Shape 20"/>
          <p:cNvSpPr/>
          <p:nvPr/>
        </p:nvSpPr>
        <p:spPr>
          <a:xfrm>
            <a:off x="7802880" y="3017520"/>
            <a:ext cx="439674" cy="320040"/>
          </a:xfrm>
          <a:prstGeom prst="rect">
            <a:avLst/>
          </a:prstGeom>
          <a:solidFill>
            <a:srgbClr val="D9A441">
              <a:alpha val="59000"/>
            </a:srgbClr>
          </a:solidFill>
          <a:ln/>
        </p:spPr>
        <p:txBody>
          <a:bodyPr/>
          <a:lstStyle/>
          <a:p>
            <a:endParaRPr lang="en-US"/>
          </a:p>
        </p:txBody>
      </p:sp>
      <p:sp>
        <p:nvSpPr>
          <p:cNvPr id="23" name="Shape 21"/>
          <p:cNvSpPr/>
          <p:nvPr/>
        </p:nvSpPr>
        <p:spPr>
          <a:xfrm>
            <a:off x="8233410" y="3017520"/>
            <a:ext cx="439674" cy="320040"/>
          </a:xfrm>
          <a:prstGeom prst="rect">
            <a:avLst/>
          </a:prstGeom>
          <a:solidFill>
            <a:srgbClr val="D9A441">
              <a:alpha val="63000"/>
            </a:srgbClr>
          </a:solidFill>
          <a:ln/>
        </p:spPr>
        <p:txBody>
          <a:bodyPr/>
          <a:lstStyle/>
          <a:p>
            <a:endParaRPr lang="en-US"/>
          </a:p>
        </p:txBody>
      </p:sp>
      <p:sp>
        <p:nvSpPr>
          <p:cNvPr id="24" name="Shape 22"/>
          <p:cNvSpPr/>
          <p:nvPr/>
        </p:nvSpPr>
        <p:spPr>
          <a:xfrm>
            <a:off x="8663940" y="3017520"/>
            <a:ext cx="439674" cy="320040"/>
          </a:xfrm>
          <a:prstGeom prst="rect">
            <a:avLst/>
          </a:prstGeom>
          <a:solidFill>
            <a:srgbClr val="D9A441">
              <a:alpha val="67000"/>
            </a:srgbClr>
          </a:solidFill>
          <a:ln/>
        </p:spPr>
        <p:txBody>
          <a:bodyPr/>
          <a:lstStyle/>
          <a:p>
            <a:endParaRPr lang="en-US"/>
          </a:p>
        </p:txBody>
      </p:sp>
      <p:sp>
        <p:nvSpPr>
          <p:cNvPr id="25" name="Shape 23"/>
          <p:cNvSpPr/>
          <p:nvPr/>
        </p:nvSpPr>
        <p:spPr>
          <a:xfrm>
            <a:off x="9094470" y="3017520"/>
            <a:ext cx="439674" cy="320040"/>
          </a:xfrm>
          <a:prstGeom prst="rect">
            <a:avLst/>
          </a:prstGeom>
          <a:solidFill>
            <a:srgbClr val="D9A441">
              <a:alpha val="70000"/>
            </a:srgbClr>
          </a:solidFill>
          <a:ln/>
        </p:spPr>
        <p:txBody>
          <a:bodyPr/>
          <a:lstStyle/>
          <a:p>
            <a:endParaRPr lang="en-US"/>
          </a:p>
        </p:txBody>
      </p:sp>
      <p:sp>
        <p:nvSpPr>
          <p:cNvPr id="26" name="Shape 24"/>
          <p:cNvSpPr/>
          <p:nvPr/>
        </p:nvSpPr>
        <p:spPr>
          <a:xfrm>
            <a:off x="9525000" y="3017520"/>
            <a:ext cx="439674" cy="320040"/>
          </a:xfrm>
          <a:prstGeom prst="rect">
            <a:avLst/>
          </a:prstGeom>
          <a:solidFill>
            <a:srgbClr val="D9A441">
              <a:alpha val="74000"/>
            </a:srgbClr>
          </a:solidFill>
          <a:ln/>
        </p:spPr>
        <p:txBody>
          <a:bodyPr/>
          <a:lstStyle/>
          <a:p>
            <a:endParaRPr lang="en-US"/>
          </a:p>
        </p:txBody>
      </p:sp>
      <p:sp>
        <p:nvSpPr>
          <p:cNvPr id="27" name="Shape 25"/>
          <p:cNvSpPr/>
          <p:nvPr/>
        </p:nvSpPr>
        <p:spPr>
          <a:xfrm>
            <a:off x="9955530" y="3017520"/>
            <a:ext cx="439674" cy="320040"/>
          </a:xfrm>
          <a:prstGeom prst="rect">
            <a:avLst/>
          </a:prstGeom>
          <a:solidFill>
            <a:srgbClr val="D9A441">
              <a:alpha val="78000"/>
            </a:srgbClr>
          </a:solidFill>
          <a:ln/>
        </p:spPr>
        <p:txBody>
          <a:bodyPr/>
          <a:lstStyle/>
          <a:p>
            <a:endParaRPr lang="en-US"/>
          </a:p>
        </p:txBody>
      </p:sp>
      <p:sp>
        <p:nvSpPr>
          <p:cNvPr id="28" name="Shape 26"/>
          <p:cNvSpPr/>
          <p:nvPr/>
        </p:nvSpPr>
        <p:spPr>
          <a:xfrm>
            <a:off x="10386060" y="3017520"/>
            <a:ext cx="439674" cy="320040"/>
          </a:xfrm>
          <a:prstGeom prst="rect">
            <a:avLst/>
          </a:prstGeom>
          <a:solidFill>
            <a:srgbClr val="D9A441">
              <a:alpha val="81000"/>
            </a:srgbClr>
          </a:solidFill>
          <a:ln/>
        </p:spPr>
        <p:txBody>
          <a:bodyPr/>
          <a:lstStyle/>
          <a:p>
            <a:endParaRPr lang="en-US"/>
          </a:p>
        </p:txBody>
      </p:sp>
      <p:sp>
        <p:nvSpPr>
          <p:cNvPr id="29" name="Shape 27"/>
          <p:cNvSpPr/>
          <p:nvPr/>
        </p:nvSpPr>
        <p:spPr>
          <a:xfrm>
            <a:off x="10816590" y="3017520"/>
            <a:ext cx="439674" cy="320040"/>
          </a:xfrm>
          <a:prstGeom prst="rect">
            <a:avLst/>
          </a:prstGeom>
          <a:solidFill>
            <a:srgbClr val="D9A441">
              <a:alpha val="85000"/>
            </a:srgbClr>
          </a:solidFill>
          <a:ln/>
        </p:spPr>
        <p:txBody>
          <a:bodyPr/>
          <a:lstStyle/>
          <a:p>
            <a:endParaRPr lang="en-US"/>
          </a:p>
        </p:txBody>
      </p:sp>
      <p:sp>
        <p:nvSpPr>
          <p:cNvPr id="30" name="Text 28"/>
          <p:cNvSpPr/>
          <p:nvPr/>
        </p:nvSpPr>
        <p:spPr>
          <a:xfrm>
            <a:off x="822960" y="2633472"/>
            <a:ext cx="2926080" cy="274320"/>
          </a:xfrm>
          <a:prstGeom prst="rect">
            <a:avLst/>
          </a:prstGeom>
          <a:noFill/>
          <a:ln/>
        </p:spPr>
        <p:txBody>
          <a:bodyPr wrap="square" lIns="0" tIns="0" rIns="0" bIns="0" rtlCol="0" anchor="ctr"/>
          <a:lstStyle/>
          <a:p>
            <a:pPr marL="0" indent="0">
              <a:buNone/>
            </a:pPr>
            <a:r>
              <a:rPr lang="en-US" sz="1050" b="1" kern="0" spc="100" dirty="0">
                <a:solidFill>
                  <a:srgbClr val="C7D3F0"/>
                </a:solidFill>
                <a:latin typeface="Calibri" pitchFamily="34" charset="0"/>
                <a:ea typeface="Calibri" pitchFamily="34" charset="-122"/>
                <a:cs typeface="Calibri" pitchFamily="34" charset="-120"/>
              </a:rPr>
              <a:t>MÁXIMA SEGURIDAD</a:t>
            </a:r>
            <a:endParaRPr lang="en-US" sz="1050" dirty="0"/>
          </a:p>
        </p:txBody>
      </p:sp>
      <p:sp>
        <p:nvSpPr>
          <p:cNvPr id="31" name="Text 29"/>
          <p:cNvSpPr/>
          <p:nvPr/>
        </p:nvSpPr>
        <p:spPr>
          <a:xfrm>
            <a:off x="822960" y="3401568"/>
            <a:ext cx="2926080" cy="274320"/>
          </a:xfrm>
          <a:prstGeom prst="rect">
            <a:avLst/>
          </a:prstGeom>
          <a:noFill/>
          <a:ln/>
        </p:spPr>
        <p:txBody>
          <a:bodyPr wrap="square" lIns="0" tIns="0" rIns="0" bIns="0" rtlCol="0" anchor="ctr"/>
          <a:lstStyle/>
          <a:p>
            <a:pPr marL="0" indent="0">
              <a:buNone/>
            </a:pPr>
            <a:r>
              <a:rPr lang="en-US" sz="1000" i="1" dirty="0">
                <a:solidFill>
                  <a:srgbClr val="8D98C4"/>
                </a:solidFill>
                <a:latin typeface="Calibri" pitchFamily="34" charset="0"/>
                <a:ea typeface="Calibri" pitchFamily="34" charset="-122"/>
                <a:cs typeface="Calibri" pitchFamily="34" charset="-120"/>
              </a:rPr>
              <a:t>ORAM / fuga ~nula · costo alto</a:t>
            </a:r>
            <a:endParaRPr lang="en-US" sz="1000" dirty="0"/>
          </a:p>
        </p:txBody>
      </p:sp>
      <p:sp>
        <p:nvSpPr>
          <p:cNvPr id="32" name="Text 30"/>
          <p:cNvSpPr/>
          <p:nvPr/>
        </p:nvSpPr>
        <p:spPr>
          <a:xfrm>
            <a:off x="8412480" y="2633472"/>
            <a:ext cx="2926080" cy="274320"/>
          </a:xfrm>
          <a:prstGeom prst="rect">
            <a:avLst/>
          </a:prstGeom>
          <a:noFill/>
          <a:ln/>
        </p:spPr>
        <p:txBody>
          <a:bodyPr wrap="square" lIns="0" tIns="0" rIns="0" bIns="0" rtlCol="0" anchor="ctr"/>
          <a:lstStyle/>
          <a:p>
            <a:pPr marL="0" indent="0" algn="r">
              <a:buNone/>
            </a:pPr>
            <a:r>
              <a:rPr lang="en-US" sz="1050" b="1" kern="0" spc="100" dirty="0">
                <a:solidFill>
                  <a:srgbClr val="D9A441"/>
                </a:solidFill>
                <a:latin typeface="Calibri" pitchFamily="34" charset="0"/>
                <a:ea typeface="Calibri" pitchFamily="34" charset="-122"/>
                <a:cs typeface="Calibri" pitchFamily="34" charset="-120"/>
              </a:rPr>
              <a:t>MÁXIMA EFICIENCIA</a:t>
            </a:r>
            <a:endParaRPr lang="en-US" sz="1050" dirty="0"/>
          </a:p>
        </p:txBody>
      </p:sp>
      <p:sp>
        <p:nvSpPr>
          <p:cNvPr id="33" name="Text 31"/>
          <p:cNvSpPr/>
          <p:nvPr/>
        </p:nvSpPr>
        <p:spPr>
          <a:xfrm>
            <a:off x="8412480" y="3401568"/>
            <a:ext cx="2926080" cy="274320"/>
          </a:xfrm>
          <a:prstGeom prst="rect">
            <a:avLst/>
          </a:prstGeom>
          <a:noFill/>
          <a:ln/>
        </p:spPr>
        <p:txBody>
          <a:bodyPr wrap="square" lIns="0" tIns="0" rIns="0" bIns="0" rtlCol="0" anchor="ctr"/>
          <a:lstStyle/>
          <a:p>
            <a:pPr marL="0" indent="0" algn="r">
              <a:buNone/>
            </a:pPr>
            <a:r>
              <a:rPr lang="en-US" sz="1000" i="1" dirty="0">
                <a:solidFill>
                  <a:srgbClr val="8D98C4"/>
                </a:solidFill>
                <a:latin typeface="Calibri" pitchFamily="34" charset="0"/>
                <a:ea typeface="Calibri" pitchFamily="34" charset="-122"/>
                <a:cs typeface="Calibri" pitchFamily="34" charset="-120"/>
              </a:rPr>
              <a:t>cifrado determinista · fuga alta</a:t>
            </a:r>
            <a:endParaRPr lang="en-US" sz="1000" dirty="0"/>
          </a:p>
        </p:txBody>
      </p:sp>
      <p:sp>
        <p:nvSpPr>
          <p:cNvPr id="34" name="Shape 32"/>
          <p:cNvSpPr/>
          <p:nvPr/>
        </p:nvSpPr>
        <p:spPr>
          <a:xfrm>
            <a:off x="7426757" y="3076956"/>
            <a:ext cx="201168" cy="201168"/>
          </a:xfrm>
          <a:prstGeom prst="ellipse">
            <a:avLst/>
          </a:prstGeom>
          <a:solidFill>
            <a:srgbClr val="FFFFFF"/>
          </a:solidFill>
          <a:ln w="25400">
            <a:solidFill>
              <a:srgbClr val="1B1F3B"/>
            </a:solidFill>
            <a:prstDash val="solid"/>
          </a:ln>
        </p:spPr>
        <p:txBody>
          <a:bodyPr/>
          <a:lstStyle/>
          <a:p>
            <a:endParaRPr lang="en-US"/>
          </a:p>
        </p:txBody>
      </p:sp>
      <p:sp>
        <p:nvSpPr>
          <p:cNvPr id="35" name="Text 33"/>
          <p:cNvSpPr/>
          <p:nvPr/>
        </p:nvSpPr>
        <p:spPr>
          <a:xfrm>
            <a:off x="6521501" y="3840480"/>
            <a:ext cx="2011680" cy="502920"/>
          </a:xfrm>
          <a:prstGeom prst="rect">
            <a:avLst/>
          </a:prstGeom>
          <a:noFill/>
          <a:ln/>
        </p:spPr>
        <p:txBody>
          <a:bodyPr wrap="square" lIns="0" tIns="0" rIns="0" bIns="0" rtlCol="0" anchor="ctr"/>
          <a:lstStyle/>
          <a:p>
            <a:pPr marL="0" indent="0" algn="ctr">
              <a:lnSpc>
                <a:spcPct val="110000"/>
              </a:lnSpc>
              <a:buNone/>
            </a:pPr>
            <a:r>
              <a:rPr lang="en-US" sz="1100" b="1" dirty="0">
                <a:solidFill>
                  <a:srgbClr val="FFFFFF"/>
                </a:solidFill>
                <a:latin typeface="Calibri" pitchFamily="34" charset="0"/>
                <a:ea typeface="Calibri" pitchFamily="34" charset="-122"/>
                <a:cs typeface="Calibri" pitchFamily="34" charset="-120"/>
              </a:rPr>
              <a:t>SSE-1 / SSE-2</a:t>
            </a:r>
            <a:endParaRPr lang="en-US" sz="1100" dirty="0"/>
          </a:p>
          <a:p>
            <a:pPr marL="0" indent="0" algn="ctr">
              <a:lnSpc>
                <a:spcPct val="110000"/>
              </a:lnSpc>
              <a:buNone/>
            </a:pPr>
            <a:r>
              <a:rPr lang="en-US" sz="1100" b="1" dirty="0">
                <a:solidFill>
                  <a:srgbClr val="FFFFFF"/>
                </a:solidFill>
                <a:latin typeface="Calibri" pitchFamily="34" charset="0"/>
                <a:ea typeface="Calibri" pitchFamily="34" charset="-122"/>
                <a:cs typeface="Calibri" pitchFamily="34" charset="-120"/>
              </a:rPr>
              <a:t>(PRF + PRP)</a:t>
            </a:r>
            <a:endParaRPr lang="en-US" sz="1100" dirty="0"/>
          </a:p>
        </p:txBody>
      </p:sp>
      <p:sp>
        <p:nvSpPr>
          <p:cNvPr id="36" name="Shape 34"/>
          <p:cNvSpPr/>
          <p:nvPr/>
        </p:nvSpPr>
        <p:spPr>
          <a:xfrm>
            <a:off x="548640" y="4892040"/>
            <a:ext cx="5349240" cy="1417320"/>
          </a:xfrm>
          <a:prstGeom prst="roundRect">
            <a:avLst>
              <a:gd name="adj" fmla="val 5161"/>
            </a:avLst>
          </a:prstGeom>
          <a:solidFill>
            <a:srgbClr val="262C56"/>
          </a:solidFill>
          <a:ln/>
        </p:spPr>
        <p:txBody>
          <a:bodyPr/>
          <a:lstStyle/>
          <a:p>
            <a:endParaRPr lang="en-US"/>
          </a:p>
        </p:txBody>
      </p:sp>
      <p:sp>
        <p:nvSpPr>
          <p:cNvPr id="37" name="Text 35"/>
          <p:cNvSpPr/>
          <p:nvPr/>
        </p:nvSpPr>
        <p:spPr>
          <a:xfrm>
            <a:off x="777240" y="5029200"/>
            <a:ext cx="4892040" cy="411480"/>
          </a:xfrm>
          <a:prstGeom prst="rect">
            <a:avLst/>
          </a:prstGeom>
          <a:noFill/>
          <a:ln/>
        </p:spPr>
        <p:txBody>
          <a:bodyPr wrap="square" lIns="0" tIns="0" rIns="0" bIns="0" rtlCol="0" anchor="ctr"/>
          <a:lstStyle/>
          <a:p>
            <a:pPr marL="0" indent="0">
              <a:buNone/>
            </a:pPr>
            <a:r>
              <a:rPr lang="en-US" sz="1400" b="1" dirty="0">
                <a:solidFill>
                  <a:srgbClr val="D9A441"/>
                </a:solidFill>
                <a:latin typeface="Cambria" pitchFamily="34" charset="0"/>
                <a:ea typeface="Cambria" pitchFamily="34" charset="-122"/>
                <a:cs typeface="Cambria" pitchFamily="34" charset="-120"/>
              </a:rPr>
              <a:t>El límite no es la clave pública</a:t>
            </a:r>
            <a:endParaRPr lang="en-US" sz="1400" dirty="0"/>
          </a:p>
        </p:txBody>
      </p:sp>
      <p:sp>
        <p:nvSpPr>
          <p:cNvPr id="38" name="Text 36"/>
          <p:cNvSpPr/>
          <p:nvPr/>
        </p:nvSpPr>
        <p:spPr>
          <a:xfrm>
            <a:off x="777240" y="5458968"/>
            <a:ext cx="4892040" cy="777240"/>
          </a:xfrm>
          <a:prstGeom prst="rect">
            <a:avLst/>
          </a:prstGeom>
          <a:noFill/>
          <a:ln/>
        </p:spPr>
        <p:txBody>
          <a:bodyPr wrap="square" lIns="0" tIns="0" rIns="0" bIns="0" rtlCol="0" anchor="ctr"/>
          <a:lstStyle/>
          <a:p>
            <a:pPr marL="0" indent="0">
              <a:lnSpc>
                <a:spcPct val="120000"/>
              </a:lnSpc>
              <a:buNone/>
            </a:pPr>
            <a:r>
              <a:rPr lang="en-US" sz="1150" dirty="0">
                <a:solidFill>
                  <a:srgbClr val="C7D3F0"/>
                </a:solidFill>
                <a:latin typeface="Calibri" pitchFamily="34" charset="0"/>
                <a:ea typeface="Calibri" pitchFamily="34" charset="-122"/>
                <a:cs typeface="Calibri" pitchFamily="34" charset="-120"/>
              </a:rPr>
              <a:t>El problema nunca fue cifrar — fue cifrar de forma que el patrón de acceso resultante siga siendo demostrablemente acotado.</a:t>
            </a:r>
            <a:endParaRPr lang="en-US" sz="1150" dirty="0"/>
          </a:p>
        </p:txBody>
      </p:sp>
      <p:sp>
        <p:nvSpPr>
          <p:cNvPr id="39" name="Shape 37"/>
          <p:cNvSpPr/>
          <p:nvPr/>
        </p:nvSpPr>
        <p:spPr>
          <a:xfrm>
            <a:off x="6355080" y="4892040"/>
            <a:ext cx="5349240" cy="1417320"/>
          </a:xfrm>
          <a:prstGeom prst="roundRect">
            <a:avLst>
              <a:gd name="adj" fmla="val 5161"/>
            </a:avLst>
          </a:prstGeom>
          <a:solidFill>
            <a:srgbClr val="262C56"/>
          </a:solidFill>
          <a:ln/>
        </p:spPr>
        <p:txBody>
          <a:bodyPr/>
          <a:lstStyle/>
          <a:p>
            <a:endParaRPr lang="en-US"/>
          </a:p>
        </p:txBody>
      </p:sp>
      <p:sp>
        <p:nvSpPr>
          <p:cNvPr id="40" name="Text 38"/>
          <p:cNvSpPr/>
          <p:nvPr/>
        </p:nvSpPr>
        <p:spPr>
          <a:xfrm>
            <a:off x="6583680" y="5029200"/>
            <a:ext cx="4892040" cy="411480"/>
          </a:xfrm>
          <a:prstGeom prst="rect">
            <a:avLst/>
          </a:prstGeom>
          <a:noFill/>
          <a:ln/>
        </p:spPr>
        <p:txBody>
          <a:bodyPr wrap="square" lIns="0" tIns="0" rIns="0" bIns="0" rtlCol="0" anchor="ctr"/>
          <a:lstStyle/>
          <a:p>
            <a:pPr marL="0" indent="0">
              <a:buNone/>
            </a:pPr>
            <a:r>
              <a:rPr lang="en-US" sz="1400" b="1" dirty="0">
                <a:solidFill>
                  <a:srgbClr val="D9A441"/>
                </a:solidFill>
                <a:latin typeface="Cambria" pitchFamily="34" charset="0"/>
                <a:ea typeface="Cambria" pitchFamily="34" charset="-122"/>
                <a:cs typeface="Cambria" pitchFamily="34" charset="-120"/>
              </a:rPr>
              <a:t>El diseño está en la estructura</a:t>
            </a:r>
            <a:endParaRPr lang="en-US" sz="1400" dirty="0"/>
          </a:p>
        </p:txBody>
      </p:sp>
      <p:sp>
        <p:nvSpPr>
          <p:cNvPr id="41" name="Text 39"/>
          <p:cNvSpPr/>
          <p:nvPr/>
        </p:nvSpPr>
        <p:spPr>
          <a:xfrm>
            <a:off x="6583680" y="5458968"/>
            <a:ext cx="4892040" cy="777240"/>
          </a:xfrm>
          <a:prstGeom prst="rect">
            <a:avLst/>
          </a:prstGeom>
          <a:noFill/>
          <a:ln/>
        </p:spPr>
        <p:txBody>
          <a:bodyPr wrap="square" lIns="0" tIns="0" rIns="0" bIns="0" rtlCol="0" anchor="ctr"/>
          <a:lstStyle/>
          <a:p>
            <a:pPr marL="0" indent="0">
              <a:lnSpc>
                <a:spcPct val="120000"/>
              </a:lnSpc>
              <a:buNone/>
            </a:pPr>
            <a:r>
              <a:rPr lang="en-US" sz="1150" dirty="0">
                <a:solidFill>
                  <a:srgbClr val="C7D3F0"/>
                </a:solidFill>
                <a:latin typeface="Calibri" pitchFamily="34" charset="0"/>
                <a:ea typeface="Calibri" pitchFamily="34" charset="-122"/>
                <a:cs typeface="Calibri" pitchFamily="34" charset="-120"/>
              </a:rPr>
              <a:t>PRF y PRP dan la velocidad; la estructura del índice (T + A) decide exactamente qué se filtra y cuándo.</a:t>
            </a:r>
            <a:endParaRPr lang="en-US" sz="1150" dirty="0"/>
          </a:p>
        </p:txBody>
      </p:sp>
      <p:sp>
        <p:nvSpPr>
          <p:cNvPr id="42" name="Text 40"/>
          <p:cNvSpPr/>
          <p:nvPr/>
        </p:nvSpPr>
        <p:spPr>
          <a:xfrm>
            <a:off x="11368735" y="6400800"/>
            <a:ext cx="457200" cy="274320"/>
          </a:xfrm>
          <a:prstGeom prst="rect">
            <a:avLst/>
          </a:prstGeom>
          <a:noFill/>
          <a:ln/>
        </p:spPr>
        <p:txBody>
          <a:bodyPr wrap="square" lIns="0" tIns="0" rIns="0" bIns="0" rtlCol="0" anchor="ctr"/>
          <a:lstStyle/>
          <a:p>
            <a:pPr marL="0" indent="0" algn="r">
              <a:buNone/>
            </a:pPr>
            <a:r>
              <a:rPr lang="en-US" sz="1000" dirty="0">
                <a:solidFill>
                  <a:srgbClr val="8D98C4"/>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B1F3B"/>
        </a:solidFill>
        <a:effectLst/>
      </p:bgPr>
    </p:bg>
    <p:spTree>
      <p:nvGrpSpPr>
        <p:cNvPr id="1" name=""/>
        <p:cNvGrpSpPr/>
        <p:nvPr/>
      </p:nvGrpSpPr>
      <p:grpSpPr>
        <a:xfrm>
          <a:off x="0" y="0"/>
          <a:ext cx="0" cy="0"/>
          <a:chOff x="0" y="0"/>
          <a:chExt cx="0" cy="0"/>
        </a:xfrm>
      </p:grpSpPr>
      <p:sp>
        <p:nvSpPr>
          <p:cNvPr id="2" name="Text 0"/>
          <p:cNvSpPr/>
          <p:nvPr/>
        </p:nvSpPr>
        <p:spPr>
          <a:xfrm>
            <a:off x="822960" y="822960"/>
            <a:ext cx="7315200" cy="365760"/>
          </a:xfrm>
          <a:prstGeom prst="rect">
            <a:avLst/>
          </a:prstGeom>
          <a:noFill/>
          <a:ln/>
        </p:spPr>
        <p:txBody>
          <a:bodyPr wrap="square" lIns="0" tIns="0" rIns="0" bIns="0" rtlCol="0" anchor="ctr"/>
          <a:lstStyle/>
          <a:p>
            <a:pPr marL="0" indent="0">
              <a:buNone/>
            </a:pPr>
            <a:r>
              <a:rPr lang="en-US" sz="1300" b="1" kern="0" spc="300" dirty="0">
                <a:solidFill>
                  <a:srgbClr val="D9A441"/>
                </a:solidFill>
                <a:latin typeface="Calibri" pitchFamily="34" charset="0"/>
                <a:ea typeface="Calibri" pitchFamily="34" charset="-122"/>
                <a:cs typeface="Calibri" pitchFamily="34" charset="-120"/>
              </a:rPr>
              <a:t>EN SÍNTESIS</a:t>
            </a:r>
            <a:endParaRPr lang="en-US" sz="1300" dirty="0"/>
          </a:p>
        </p:txBody>
      </p:sp>
      <p:sp>
        <p:nvSpPr>
          <p:cNvPr id="3" name="Text 1"/>
          <p:cNvSpPr/>
          <p:nvPr/>
        </p:nvSpPr>
        <p:spPr>
          <a:xfrm>
            <a:off x="777240" y="1234440"/>
            <a:ext cx="10515600" cy="1463040"/>
          </a:xfrm>
          <a:prstGeom prst="rect">
            <a:avLst/>
          </a:prstGeom>
          <a:noFill/>
          <a:ln/>
        </p:spPr>
        <p:txBody>
          <a:bodyPr wrap="square" lIns="0" tIns="0" rIns="0" bIns="0" rtlCol="0" anchor="ctr"/>
          <a:lstStyle/>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El cifrado simétrico no es un detalle</a:t>
            </a:r>
            <a:endParaRPr lang="en-US" sz="3400" dirty="0"/>
          </a:p>
          <a:p>
            <a:pPr marL="0" indent="0">
              <a:lnSpc>
                <a:spcPct val="110000"/>
              </a:lnSpc>
              <a:buNone/>
            </a:pPr>
            <a:r>
              <a:rPr lang="en-US" sz="3400" b="1" dirty="0">
                <a:solidFill>
                  <a:srgbClr val="FFFFFF"/>
                </a:solidFill>
                <a:latin typeface="Cambria" pitchFamily="34" charset="0"/>
                <a:ea typeface="Cambria" pitchFamily="34" charset="-122"/>
                <a:cs typeface="Cambria" pitchFamily="34" charset="-120"/>
              </a:rPr>
              <a:t>de implementación de SSE</a:t>
            </a:r>
            <a:endParaRPr lang="en-US" sz="3400" dirty="0"/>
          </a:p>
        </p:txBody>
      </p:sp>
      <p:sp>
        <p:nvSpPr>
          <p:cNvPr id="4" name="Text 2"/>
          <p:cNvSpPr/>
          <p:nvPr/>
        </p:nvSpPr>
        <p:spPr>
          <a:xfrm>
            <a:off x="822960" y="2697480"/>
            <a:ext cx="9601200" cy="594360"/>
          </a:xfrm>
          <a:prstGeom prst="rect">
            <a:avLst/>
          </a:prstGeom>
          <a:noFill/>
          <a:ln/>
        </p:spPr>
        <p:txBody>
          <a:bodyPr wrap="square" lIns="0" tIns="0" rIns="0" bIns="0" rtlCol="0" anchor="ctr"/>
          <a:lstStyle/>
          <a:p>
            <a:pPr marL="0" indent="0">
              <a:lnSpc>
                <a:spcPct val="125000"/>
              </a:lnSpc>
              <a:buNone/>
            </a:pPr>
            <a:r>
              <a:rPr lang="en-US" sz="1500" dirty="0">
                <a:solidFill>
                  <a:srgbClr val="C7D3F0"/>
                </a:solidFill>
                <a:latin typeface="Calibri" pitchFamily="34" charset="0"/>
                <a:ea typeface="Calibri" pitchFamily="34" charset="-122"/>
                <a:cs typeface="Calibri" pitchFamily="34" charset="-120"/>
              </a:rPr>
              <a:t>Es la razón por la que la búsqueda sobre datos cifrados es viable en la práctica — no solo un resultado teórico de un paper.</a:t>
            </a:r>
            <a:endParaRPr lang="en-US" sz="1500" dirty="0"/>
          </a:p>
        </p:txBody>
      </p:sp>
      <p:sp>
        <p:nvSpPr>
          <p:cNvPr id="5" name="Shape 3"/>
          <p:cNvSpPr/>
          <p:nvPr/>
        </p:nvSpPr>
        <p:spPr>
          <a:xfrm>
            <a:off x="822960" y="3520440"/>
            <a:ext cx="54864" cy="457200"/>
          </a:xfrm>
          <a:prstGeom prst="roundRect">
            <a:avLst/>
          </a:prstGeom>
          <a:solidFill>
            <a:srgbClr val="D9A441"/>
          </a:solidFill>
          <a:ln/>
        </p:spPr>
        <p:txBody>
          <a:bodyPr/>
          <a:lstStyle/>
          <a:p>
            <a:endParaRPr lang="en-US"/>
          </a:p>
        </p:txBody>
      </p:sp>
      <p:sp>
        <p:nvSpPr>
          <p:cNvPr id="6" name="Text 4"/>
          <p:cNvSpPr/>
          <p:nvPr/>
        </p:nvSpPr>
        <p:spPr>
          <a:xfrm>
            <a:off x="1051560" y="3447288"/>
            <a:ext cx="9875520" cy="594360"/>
          </a:xfrm>
          <a:prstGeom prst="rect">
            <a:avLst/>
          </a:prstGeom>
          <a:noFill/>
          <a:ln/>
        </p:spPr>
        <p:txBody>
          <a:bodyPr wrap="square" lIns="0" tIns="0" rIns="0" bIns="0" rtlCol="0" anchor="ctr"/>
          <a:lstStyle/>
          <a:p>
            <a:pPr marL="0" indent="0">
              <a:lnSpc>
                <a:spcPct val="115000"/>
              </a:lnSpc>
              <a:buNone/>
            </a:pPr>
            <a:r>
              <a:rPr lang="en-US" sz="1400" dirty="0">
                <a:solidFill>
                  <a:srgbClr val="FFFFFF"/>
                </a:solidFill>
                <a:latin typeface="Calibri" pitchFamily="34" charset="0"/>
                <a:ea typeface="Calibri" pitchFamily="34" charset="-122"/>
                <a:cs typeface="Calibri" pitchFamily="34" charset="-120"/>
              </a:rPr>
              <a:t>PRF y PRP dan la velocidad que el cifrado de clave pública no puede ofrecer a escala.</a:t>
            </a:r>
            <a:endParaRPr lang="en-US" sz="1400" dirty="0"/>
          </a:p>
        </p:txBody>
      </p:sp>
      <p:sp>
        <p:nvSpPr>
          <p:cNvPr id="7" name="Shape 5"/>
          <p:cNvSpPr/>
          <p:nvPr/>
        </p:nvSpPr>
        <p:spPr>
          <a:xfrm>
            <a:off x="822960" y="4142232"/>
            <a:ext cx="54864" cy="457200"/>
          </a:xfrm>
          <a:prstGeom prst="roundRect">
            <a:avLst/>
          </a:prstGeom>
          <a:solidFill>
            <a:srgbClr val="D9A441"/>
          </a:solidFill>
          <a:ln/>
        </p:spPr>
        <p:txBody>
          <a:bodyPr/>
          <a:lstStyle/>
          <a:p>
            <a:endParaRPr lang="en-US"/>
          </a:p>
        </p:txBody>
      </p:sp>
      <p:sp>
        <p:nvSpPr>
          <p:cNvPr id="8" name="Text 6"/>
          <p:cNvSpPr/>
          <p:nvPr/>
        </p:nvSpPr>
        <p:spPr>
          <a:xfrm>
            <a:off x="1051560" y="4069080"/>
            <a:ext cx="9875520" cy="594360"/>
          </a:xfrm>
          <a:prstGeom prst="rect">
            <a:avLst/>
          </a:prstGeom>
          <a:noFill/>
          <a:ln/>
        </p:spPr>
        <p:txBody>
          <a:bodyPr wrap="square" lIns="0" tIns="0" rIns="0" bIns="0" rtlCol="0" anchor="ctr"/>
          <a:lstStyle/>
          <a:p>
            <a:pPr marL="0" indent="0">
              <a:lnSpc>
                <a:spcPct val="115000"/>
              </a:lnSpc>
              <a:buNone/>
            </a:pPr>
            <a:r>
              <a:rPr lang="en-US" sz="1400" dirty="0">
                <a:solidFill>
                  <a:srgbClr val="FFFFFF"/>
                </a:solidFill>
                <a:latin typeface="Calibri" pitchFamily="34" charset="0"/>
                <a:ea typeface="Calibri" pitchFamily="34" charset="-122"/>
                <a:cs typeface="Calibri" pitchFamily="34" charset="-120"/>
              </a:rPr>
              <a:t>La estructura del índice (T + A) — no la primitiva sola — determina qué se filtra.</a:t>
            </a:r>
            <a:endParaRPr lang="en-US" sz="1400" dirty="0"/>
          </a:p>
        </p:txBody>
      </p:sp>
      <p:sp>
        <p:nvSpPr>
          <p:cNvPr id="9" name="Shape 7"/>
          <p:cNvSpPr/>
          <p:nvPr/>
        </p:nvSpPr>
        <p:spPr>
          <a:xfrm>
            <a:off x="822960" y="4764024"/>
            <a:ext cx="54864" cy="457200"/>
          </a:xfrm>
          <a:prstGeom prst="roundRect">
            <a:avLst/>
          </a:prstGeom>
          <a:solidFill>
            <a:srgbClr val="D9A441"/>
          </a:solidFill>
          <a:ln/>
        </p:spPr>
        <p:txBody>
          <a:bodyPr/>
          <a:lstStyle/>
          <a:p>
            <a:endParaRPr lang="en-US"/>
          </a:p>
        </p:txBody>
      </p:sp>
      <p:sp>
        <p:nvSpPr>
          <p:cNvPr id="10" name="Text 8"/>
          <p:cNvSpPr/>
          <p:nvPr/>
        </p:nvSpPr>
        <p:spPr>
          <a:xfrm>
            <a:off x="1051560" y="4690872"/>
            <a:ext cx="9875520" cy="594360"/>
          </a:xfrm>
          <a:prstGeom prst="rect">
            <a:avLst/>
          </a:prstGeom>
          <a:noFill/>
          <a:ln/>
        </p:spPr>
        <p:txBody>
          <a:bodyPr wrap="square" lIns="0" tIns="0" rIns="0" bIns="0" rtlCol="0" anchor="ctr"/>
          <a:lstStyle/>
          <a:p>
            <a:pPr marL="0" indent="0">
              <a:lnSpc>
                <a:spcPct val="115000"/>
              </a:lnSpc>
              <a:buNone/>
            </a:pPr>
            <a:r>
              <a:rPr lang="en-US" sz="1400" dirty="0">
                <a:solidFill>
                  <a:srgbClr val="FFFFFF"/>
                </a:solidFill>
                <a:latin typeface="Calibri" pitchFamily="34" charset="0"/>
                <a:ea typeface="Calibri" pitchFamily="34" charset="-122"/>
                <a:cs typeface="Calibri" pitchFamily="34" charset="-120"/>
              </a:rPr>
              <a:t>SSE-2 muestra que la seguridad adaptativa se logra sin abandonar el modelo simétrico.</a:t>
            </a:r>
            <a:endParaRPr lang="en-US" sz="1400" dirty="0"/>
          </a:p>
        </p:txBody>
      </p:sp>
      <p:sp>
        <p:nvSpPr>
          <p:cNvPr id="11" name="Shape 9"/>
          <p:cNvSpPr/>
          <p:nvPr/>
        </p:nvSpPr>
        <p:spPr>
          <a:xfrm>
            <a:off x="822960" y="5385816"/>
            <a:ext cx="54864" cy="457200"/>
          </a:xfrm>
          <a:prstGeom prst="roundRect">
            <a:avLst/>
          </a:prstGeom>
          <a:solidFill>
            <a:srgbClr val="D9A441"/>
          </a:solidFill>
          <a:ln/>
        </p:spPr>
        <p:txBody>
          <a:bodyPr/>
          <a:lstStyle/>
          <a:p>
            <a:endParaRPr lang="en-US"/>
          </a:p>
        </p:txBody>
      </p:sp>
      <p:sp>
        <p:nvSpPr>
          <p:cNvPr id="12" name="Text 10"/>
          <p:cNvSpPr/>
          <p:nvPr/>
        </p:nvSpPr>
        <p:spPr>
          <a:xfrm>
            <a:off x="1051560" y="5312664"/>
            <a:ext cx="9875520" cy="594360"/>
          </a:xfrm>
          <a:prstGeom prst="rect">
            <a:avLst/>
          </a:prstGeom>
          <a:noFill/>
          <a:ln/>
        </p:spPr>
        <p:txBody>
          <a:bodyPr wrap="square" lIns="0" tIns="0" rIns="0" bIns="0" rtlCol="0" anchor="ctr"/>
          <a:lstStyle/>
          <a:p>
            <a:pPr marL="0" indent="0">
              <a:lnSpc>
                <a:spcPct val="115000"/>
              </a:lnSpc>
              <a:buNone/>
            </a:pPr>
            <a:r>
              <a:rPr lang="en-US" sz="1400" dirty="0">
                <a:solidFill>
                  <a:srgbClr val="FFFFFF"/>
                </a:solidFill>
                <a:latin typeface="Calibri" pitchFamily="34" charset="0"/>
                <a:ea typeface="Calibri" pitchFamily="34" charset="-122"/>
                <a:cs typeface="Calibri" pitchFamily="34" charset="-120"/>
              </a:rPr>
              <a:t>Todo esquema real SSE elige un punto explícito en el eje eficiencia ↔ fuga controlada.</a:t>
            </a:r>
            <a:endParaRPr lang="en-US" sz="1400" dirty="0"/>
          </a:p>
        </p:txBody>
      </p:sp>
      <p:sp>
        <p:nvSpPr>
          <p:cNvPr id="13" name="Text 11"/>
          <p:cNvSpPr/>
          <p:nvPr/>
        </p:nvSpPr>
        <p:spPr>
          <a:xfrm>
            <a:off x="822960" y="6263640"/>
            <a:ext cx="10058400" cy="365760"/>
          </a:xfrm>
          <a:prstGeom prst="rect">
            <a:avLst/>
          </a:prstGeom>
          <a:noFill/>
          <a:ln/>
        </p:spPr>
        <p:txBody>
          <a:bodyPr wrap="square" lIns="0" tIns="0" rIns="0" bIns="0" rtlCol="0" anchor="ctr"/>
          <a:lstStyle/>
          <a:p>
            <a:pPr marL="0" indent="0">
              <a:buNone/>
            </a:pPr>
            <a:r>
              <a:rPr lang="en-US" sz="1050" i="1" dirty="0">
                <a:solidFill>
                  <a:srgbClr val="8D98C4"/>
                </a:solidFill>
                <a:latin typeface="Calibri" pitchFamily="34" charset="0"/>
                <a:ea typeface="Calibri" pitchFamily="34" charset="-122"/>
                <a:cs typeface="Calibri" pitchFamily="34" charset="-120"/>
              </a:rPr>
              <a:t>Curtmola · Garay · Kamara · Ostrovsky — "Searchable Symmetric Encryption: Improved Definitions and Efficient Constructions" (2006)</a:t>
            </a:r>
            <a:endParaRPr lang="en-US"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4157</Words>
  <Application>Microsoft Office PowerPoint</Application>
  <PresentationFormat>Widescreen</PresentationFormat>
  <Paragraphs>260</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Hernan Herrera</cp:lastModifiedBy>
  <cp:revision>2</cp:revision>
  <dcterms:created xsi:type="dcterms:W3CDTF">2026-07-11T21:29:47Z</dcterms:created>
  <dcterms:modified xsi:type="dcterms:W3CDTF">2026-07-14T01:55:11Z</dcterms:modified>
</cp:coreProperties>
</file>